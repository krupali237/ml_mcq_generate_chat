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83" r:id="rId2"/>
    <p:sldId id="292" r:id="rId3"/>
    <p:sldId id="430" r:id="rId4"/>
    <p:sldId id="432" r:id="rId5"/>
    <p:sldId id="433" r:id="rId6"/>
    <p:sldId id="437" r:id="rId7"/>
    <p:sldId id="436" r:id="rId8"/>
    <p:sldId id="439" r:id="rId9"/>
    <p:sldId id="373" r:id="rId10"/>
    <p:sldId id="440" r:id="rId11"/>
    <p:sldId id="441" r:id="rId12"/>
    <p:sldId id="442" r:id="rId13"/>
    <p:sldId id="443" r:id="rId14"/>
    <p:sldId id="377" r:id="rId15"/>
    <p:sldId id="378" r:id="rId16"/>
    <p:sldId id="379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453" r:id="rId33"/>
    <p:sldId id="454" r:id="rId34"/>
    <p:sldId id="455" r:id="rId35"/>
    <p:sldId id="457" r:id="rId36"/>
    <p:sldId id="458" r:id="rId37"/>
    <p:sldId id="456" r:id="rId38"/>
    <p:sldId id="500" r:id="rId39"/>
    <p:sldId id="526" r:id="rId40"/>
    <p:sldId id="528" r:id="rId41"/>
    <p:sldId id="506" r:id="rId42"/>
    <p:sldId id="510" r:id="rId43"/>
    <p:sldId id="530" r:id="rId44"/>
    <p:sldId id="531" r:id="rId45"/>
    <p:sldId id="529" r:id="rId46"/>
    <p:sldId id="525" r:id="rId47"/>
    <p:sldId id="444" r:id="rId48"/>
    <p:sldId id="446" r:id="rId49"/>
    <p:sldId id="464" r:id="rId50"/>
    <p:sldId id="447" r:id="rId51"/>
    <p:sldId id="448" r:id="rId52"/>
    <p:sldId id="449" r:id="rId53"/>
    <p:sldId id="452" r:id="rId54"/>
    <p:sldId id="527" r:id="rId55"/>
    <p:sldId id="470" r:id="rId56"/>
    <p:sldId id="471" r:id="rId57"/>
    <p:sldId id="472" r:id="rId58"/>
    <p:sldId id="473" r:id="rId59"/>
    <p:sldId id="474" r:id="rId60"/>
    <p:sldId id="475" r:id="rId61"/>
    <p:sldId id="477" r:id="rId62"/>
    <p:sldId id="478" r:id="rId63"/>
    <p:sldId id="479" r:id="rId64"/>
    <p:sldId id="480" r:id="rId65"/>
    <p:sldId id="482" r:id="rId66"/>
    <p:sldId id="483" r:id="rId67"/>
    <p:sldId id="489" r:id="rId68"/>
    <p:sldId id="507" r:id="rId69"/>
    <p:sldId id="484" r:id="rId70"/>
    <p:sldId id="490" r:id="rId71"/>
    <p:sldId id="491" r:id="rId72"/>
    <p:sldId id="509" r:id="rId73"/>
    <p:sldId id="485" r:id="rId74"/>
    <p:sldId id="486" r:id="rId75"/>
    <p:sldId id="512" r:id="rId76"/>
    <p:sldId id="518" r:id="rId77"/>
    <p:sldId id="488" r:id="rId78"/>
    <p:sldId id="519" r:id="rId79"/>
    <p:sldId id="487" r:id="rId80"/>
    <p:sldId id="532" r:id="rId81"/>
    <p:sldId id="523" r:id="rId82"/>
    <p:sldId id="513" r:id="rId83"/>
    <p:sldId id="514" r:id="rId84"/>
    <p:sldId id="515" r:id="rId85"/>
    <p:sldId id="516" r:id="rId86"/>
    <p:sldId id="517" r:id="rId87"/>
    <p:sldId id="520" r:id="rId88"/>
    <p:sldId id="522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/hK5bsAwGJ2dmyD4+vkWQ==" hashData="cq5cedcI53KhH7qG7Lpry4NvTiXNp5PwCi6El+gdKVi0urdBHEF42HzZx1FAi3MWA6cp0LW+xWkz5wzhIQrEm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ED524F"/>
    <a:srgbClr val="00CC99"/>
    <a:srgbClr val="301B92"/>
    <a:srgbClr val="673BB7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18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ROC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FPR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Sheet1!$G$2:$G$11</c:f>
              <c:numCache>
                <c:formatCode>0.0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</c:numCache>
            </c:numRef>
          </c:xVal>
          <c:yVal>
            <c:numRef>
              <c:f>Sheet1!$F$2:$F$11</c:f>
              <c:numCache>
                <c:formatCode>0.0</c:formatCode>
                <c:ptCount val="10"/>
                <c:pt idx="0">
                  <c:v>0.2</c:v>
                </c:pt>
                <c:pt idx="1">
                  <c:v>0.4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1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4D-6E41-A0BC-EFDC4B3F1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6202656"/>
        <c:axId val="766012048"/>
      </c:scatterChart>
      <c:valAx>
        <c:axId val="7662026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FPR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6012048"/>
        <c:crosses val="autoZero"/>
        <c:crossBetween val="midCat"/>
      </c:valAx>
      <c:valAx>
        <c:axId val="766012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TPR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62026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3956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FD703-A923-5FFC-49A0-8C313F0B42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2" y="596629"/>
            <a:ext cx="2976891" cy="90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52AF9-0738-907E-5BBA-0ED5F6A1485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1" y="1741817"/>
            <a:ext cx="2976891" cy="11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969" y="556389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43663646-67F9-47C4-84E3-B4EEDA5FB900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0958F6-32DB-4A2F-BFC3-1FBEA359C54B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323F2-F0D8-4EB7-83AE-DFAA81BC49DE}"/>
              </a:ext>
            </a:extLst>
          </p:cNvPr>
          <p:cNvSpPr/>
          <p:nvPr userDrawn="1"/>
        </p:nvSpPr>
        <p:spPr>
          <a:xfrm rot="10800000"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D27AE-1148-4B42-8B61-FEBB2397EFD9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3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408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3 –  Classification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920005"/>
            <a:ext cx="11929641" cy="553400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F0D05C3-99AA-773B-0F49-09924E81855A}"/>
              </a:ext>
            </a:extLst>
          </p:cNvPr>
          <p:cNvGrpSpPr/>
          <p:nvPr userDrawn="1"/>
        </p:nvGrpSpPr>
        <p:grpSpPr>
          <a:xfrm>
            <a:off x="10411778" y="921114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79EDFC-ED4D-861A-E37D-14D7E6B051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E3FA7F-857D-E61D-5C28-13E2D70838D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8021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3 –  Classification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785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ebdings" panose="05030102010509060703" pitchFamily="18" charset="2"/>
              <a:buChar char="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1618DA6-ADDC-7E6E-7A51-8D40B3889FE6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D5E089-7BE6-03A1-CD63-E67BAD576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C36E20-EF18-6B0D-305F-4B32B1F5F4C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24815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3 –  Classification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2673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A3AED85-A54D-97C1-DD2C-9FDEA4914919}"/>
              </a:ext>
            </a:extLst>
          </p:cNvPr>
          <p:cNvGrpSpPr/>
          <p:nvPr userDrawn="1"/>
        </p:nvGrpSpPr>
        <p:grpSpPr>
          <a:xfrm>
            <a:off x="131180" y="598891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01B37D-BAE9-0650-58F2-BC78CED44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A2DE62-0FAB-499C-3FF7-8E3E8DDDF86C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8F205C-D692-3A8F-DB67-62DFE62B7370}"/>
              </a:ext>
            </a:extLst>
          </p:cNvPr>
          <p:cNvGrpSpPr/>
          <p:nvPr userDrawn="1"/>
        </p:nvGrpSpPr>
        <p:grpSpPr>
          <a:xfrm>
            <a:off x="10359675" y="6131022"/>
            <a:ext cx="1649043" cy="501287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DDAE99-2697-C009-4B54-2913BF8DCC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BF6B26-56F5-A99C-23BA-B1DAF78C0F4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EA6E7FD-9D74-A53E-354C-AEDE33361F68}"/>
              </a:ext>
            </a:extLst>
          </p:cNvPr>
          <p:cNvGrpSpPr/>
          <p:nvPr userDrawn="1"/>
        </p:nvGrpSpPr>
        <p:grpSpPr>
          <a:xfrm>
            <a:off x="10253733" y="119603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648CBA-7265-39F8-D1B9-0E15C03485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50395-FD5C-D870-AB87-21ADE7A84320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D3440BC-6A73-AF16-1513-F5FFB0D86493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E47C1E-ADCB-A740-5C5D-E07477F1CD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6726FA-F8E4-08AE-4611-17B220D8428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11904-2EF7-7EB7-D8E1-64D669405E2D}"/>
              </a:ext>
            </a:extLst>
          </p:cNvPr>
          <p:cNvGrpSpPr/>
          <p:nvPr userDrawn="1"/>
        </p:nvGrpSpPr>
        <p:grpSpPr>
          <a:xfrm>
            <a:off x="164674" y="5980196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E576EA-E9D4-7CEC-3198-56D174FDDB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54B836-2324-D134-A2A1-533073B97009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38.png"/><Relationship Id="rId4" Type="http://schemas.openxmlformats.org/officeDocument/2006/relationships/image" Target="../media/image28.wmf"/><Relationship Id="rId9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374" y="1019474"/>
            <a:ext cx="7060510" cy="24974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Unit-03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Classification</a:t>
            </a:r>
            <a:endParaRPr lang="en-US" sz="4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jayesh.vagadiya@darshan.ac.in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9537133260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46560"/>
            <a:ext cx="3735998" cy="290081"/>
          </a:xfrm>
        </p:spPr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Jayesh D. </a:t>
            </a:r>
            <a:r>
              <a:rPr lang="en-US" dirty="0" err="1"/>
              <a:t>vagadiya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Machine Learning </a:t>
            </a:r>
            <a:r>
              <a:rPr lang="en-US" sz="20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(ML)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2301CS621 </a:t>
            </a:r>
            <a:r>
              <a:rPr lang="en-IN" sz="2000" dirty="0">
                <a:effectLst/>
              </a:rPr>
              <a:t> </a:t>
            </a:r>
            <a:endParaRPr lang="en-US" sz="20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53A6AA-5BE7-25F7-2841-55E5AC4CF8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" name="Picture Placeholder 4">
            <a:extLst>
              <a:ext uri="{FF2B5EF4-FFF2-40B4-BE49-F238E27FC236}">
                <a16:creationId xmlns:a16="http://schemas.microsoft.com/office/drawing/2014/main" id="{C9D17E62-5C4C-182E-001B-DBEFCFD2D4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569" y="5211250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42995"/>
            <a:ext cx="8810452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Decision trees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Probabilistic (conditional and generative)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k- Nearest </a:t>
            </a:r>
            <a:r>
              <a:rPr lang="en-US" sz="2100" dirty="0" err="1">
                <a:solidFill>
                  <a:schemeClr val="accent6"/>
                </a:solidFill>
              </a:rPr>
              <a:t>Neighbour</a:t>
            </a:r>
            <a:endParaRPr lang="en-US" sz="2100" dirty="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Support vector classification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Model Selection &amp; Evaluation techniques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Ensemble Learning: Bagging, Random Forest, Boosting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1C0C-9F04-172E-5272-C19DC657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7CDC8-8F52-1CB0-AEF0-41571F03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method of data analysis uses a </a:t>
            </a:r>
            <a:r>
              <a:rPr lang="en-US" dirty="0">
                <a:solidFill>
                  <a:srgbClr val="C00000"/>
                </a:solidFill>
              </a:rPr>
              <a:t>model</a:t>
            </a:r>
            <a:r>
              <a:rPr lang="en-US" dirty="0"/>
              <a:t> derived from previously </a:t>
            </a:r>
            <a:r>
              <a:rPr lang="en-US" dirty="0">
                <a:solidFill>
                  <a:srgbClr val="C00000"/>
                </a:solidFill>
              </a:rPr>
              <a:t>collected data to predict </a:t>
            </a:r>
            <a:r>
              <a:rPr lang="en-US" dirty="0"/>
              <a:t>a class </a:t>
            </a:r>
            <a:r>
              <a:rPr lang="en-US" dirty="0">
                <a:solidFill>
                  <a:srgbClr val="C00000"/>
                </a:solidFill>
              </a:rPr>
              <a:t>label for fresh data</a:t>
            </a:r>
            <a:r>
              <a:rPr lang="en-US" dirty="0"/>
              <a:t>.</a:t>
            </a:r>
          </a:p>
          <a:p>
            <a:r>
              <a:rPr lang="en-US" dirty="0"/>
              <a:t>Such model is known as </a:t>
            </a:r>
            <a:r>
              <a:rPr lang="en-US" dirty="0">
                <a:solidFill>
                  <a:srgbClr val="C00000"/>
                </a:solidFill>
              </a:rPr>
              <a:t>classifiers to predict </a:t>
            </a:r>
            <a:r>
              <a:rPr lang="en-US" dirty="0"/>
              <a:t>categorical (discrete, unordered) </a:t>
            </a:r>
            <a:r>
              <a:rPr lang="en-US" dirty="0">
                <a:solidFill>
                  <a:srgbClr val="C00000"/>
                </a:solidFill>
              </a:rPr>
              <a:t>class labels</a:t>
            </a:r>
            <a:r>
              <a:rPr lang="en-US" dirty="0"/>
              <a:t>. 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we can build a classification model to categorize bank loan applications as either </a:t>
            </a:r>
            <a:r>
              <a:rPr lang="en-US" dirty="0">
                <a:solidFill>
                  <a:srgbClr val="C00000"/>
                </a:solidFill>
              </a:rPr>
              <a:t>safe or risky</a:t>
            </a:r>
            <a:r>
              <a:rPr lang="en-US" dirty="0"/>
              <a:t>.</a:t>
            </a:r>
          </a:p>
          <a:p>
            <a:r>
              <a:rPr lang="en-US" dirty="0"/>
              <a:t>The goal of classification is to learn a </a:t>
            </a:r>
            <a:r>
              <a:rPr lang="en-US" dirty="0">
                <a:solidFill>
                  <a:srgbClr val="C00000"/>
                </a:solidFill>
              </a:rPr>
              <a:t>model</a:t>
            </a:r>
            <a:r>
              <a:rPr lang="en-US" dirty="0"/>
              <a:t> that can automatically determine the appropriate </a:t>
            </a:r>
            <a:r>
              <a:rPr lang="en-US" dirty="0">
                <a:solidFill>
                  <a:srgbClr val="C00000"/>
                </a:solidFill>
              </a:rPr>
              <a:t>class for new, unseen data based </a:t>
            </a:r>
            <a:r>
              <a:rPr lang="en-US" dirty="0"/>
              <a:t>on </a:t>
            </a:r>
            <a:r>
              <a:rPr lang="en-US" dirty="0">
                <a:solidFill>
                  <a:srgbClr val="C00000"/>
                </a:solidFill>
              </a:rPr>
              <a:t>patterns</a:t>
            </a:r>
            <a:r>
              <a:rPr lang="en-US" dirty="0"/>
              <a:t> it has learned from a labeled </a:t>
            </a:r>
            <a:r>
              <a:rPr lang="en-US" dirty="0">
                <a:solidFill>
                  <a:srgbClr val="C00000"/>
                </a:solidFill>
              </a:rPr>
              <a:t>training dataset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54EF-49EA-FE18-C603-75829FD2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Classification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B6B568-D3E2-59AB-2E4D-53616D7B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785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Classification is two step process.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First Step:</a:t>
            </a:r>
          </a:p>
          <a:p>
            <a:pPr>
              <a:lnSpc>
                <a:spcPct val="100000"/>
              </a:lnSpc>
            </a:pPr>
            <a:r>
              <a:rPr lang="en-US" dirty="0"/>
              <a:t>We build a classification </a:t>
            </a:r>
            <a:r>
              <a:rPr lang="en-US" dirty="0">
                <a:solidFill>
                  <a:srgbClr val="C00000"/>
                </a:solidFill>
              </a:rPr>
              <a:t>model based on previous </a:t>
            </a:r>
            <a:r>
              <a:rPr lang="en-US" dirty="0"/>
              <a:t>data.</a:t>
            </a:r>
          </a:p>
          <a:p>
            <a:pPr>
              <a:lnSpc>
                <a:spcPct val="100000"/>
              </a:lnSpc>
            </a:pPr>
            <a:r>
              <a:rPr lang="en-US" dirty="0"/>
              <a:t> Classification algorithm builds the classifier by analyzing or “learning from” a training set made up of database tuples and their associated class labels. </a:t>
            </a:r>
          </a:p>
          <a:p>
            <a:pPr>
              <a:lnSpc>
                <a:spcPct val="100000"/>
              </a:lnSpc>
            </a:pPr>
            <a:r>
              <a:rPr lang="en-US" dirty="0"/>
              <a:t>First step also know as </a:t>
            </a:r>
            <a:r>
              <a:rPr lang="en-US" dirty="0">
                <a:solidFill>
                  <a:srgbClr val="C00000"/>
                </a:solidFill>
              </a:rPr>
              <a:t>learning step (or training phase) 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00000"/>
                </a:solidFill>
              </a:rPr>
              <a:t>Second Step:</a:t>
            </a:r>
          </a:p>
          <a:p>
            <a:pPr>
              <a:lnSpc>
                <a:spcPct val="100000"/>
              </a:lnSpc>
            </a:pPr>
            <a:r>
              <a:rPr lang="en-US" dirty="0"/>
              <a:t>We use the model to classify new data. </a:t>
            </a:r>
          </a:p>
          <a:p>
            <a:pPr>
              <a:lnSpc>
                <a:spcPct val="100000"/>
              </a:lnSpc>
            </a:pPr>
            <a:r>
              <a:rPr lang="en-US" dirty="0"/>
              <a:t>Second step also know as classification step.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1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06CB-929A-8F94-B107-732BA0F2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0AA50A0-2AF5-C56C-A45E-E4B7E37BB856}"/>
              </a:ext>
            </a:extLst>
          </p:cNvPr>
          <p:cNvGraphicFramePr>
            <a:graphicFrameLocks/>
          </p:cNvGraphicFramePr>
          <p:nvPr/>
        </p:nvGraphicFramePr>
        <p:xfrm>
          <a:off x="179820" y="846713"/>
          <a:ext cx="6764990" cy="4297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7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11">
                  <a:extLst>
                    <a:ext uri="{9D8B030D-6E8A-4147-A177-3AD203B41FA5}">
                      <a16:colId xmlns:a16="http://schemas.microsoft.com/office/drawing/2014/main" val="1084441450"/>
                    </a:ext>
                  </a:extLst>
                </a:gridCol>
                <a:gridCol w="1723801">
                  <a:extLst>
                    <a:ext uri="{9D8B030D-6E8A-4147-A177-3AD203B41FA5}">
                      <a16:colId xmlns:a16="http://schemas.microsoft.com/office/drawing/2014/main" val="1865361981"/>
                    </a:ext>
                  </a:extLst>
                </a:gridCol>
              </a:tblGrid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income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loan_decision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Sandy Jones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youth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Bill Lee 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+mn-lt"/>
                        </a:rPr>
                        <a:t>youth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Caroline Fox 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+mn-lt"/>
                        </a:rPr>
                        <a:t>middle_aged</a:t>
                      </a:r>
                      <a:r>
                        <a:rPr lang="en-US" sz="18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+mn-lt"/>
                        </a:rPr>
                        <a:t>high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Rick Field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 err="1">
                          <a:latin typeface="+mn-lt"/>
                        </a:rPr>
                        <a:t>middle_aged</a:t>
                      </a:r>
                      <a:r>
                        <a:rPr lang="en-US" sz="18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Susan Lake 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+mn-lt"/>
                        </a:rPr>
                        <a:t>senior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Claire Phips 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latin typeface="+mn-lt"/>
                        </a:rPr>
                        <a:t>senior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800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Joe Smith 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+mn-lt"/>
                        </a:rPr>
                        <a:t>middle_aged</a:t>
                      </a:r>
                      <a:r>
                        <a:rPr lang="en-US" sz="18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+mn-lt"/>
                        </a:rPr>
                        <a:t>high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34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Juan Bello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senior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Sylvia Crest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middle_aged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risky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Anne Yee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middle_aged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 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45937"/>
                  </a:ext>
                </a:extLst>
              </a:tr>
            </a:tbl>
          </a:graphicData>
        </a:graphic>
      </p:graphicFrame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3B9B65C0-F919-64CE-0E02-4227CD1CBFF5}"/>
              </a:ext>
            </a:extLst>
          </p:cNvPr>
          <p:cNvSpPr/>
          <p:nvPr/>
        </p:nvSpPr>
        <p:spPr>
          <a:xfrm>
            <a:off x="8783707" y="928568"/>
            <a:ext cx="2829173" cy="653818"/>
          </a:xfrm>
          <a:prstGeom prst="wedgeRoundRectCallout">
            <a:avLst>
              <a:gd name="adj1" fmla="val -114489"/>
              <a:gd name="adj2" fmla="val -95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Class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ECF0E-89E7-C4F1-2EB2-C1AF92A5C966}"/>
              </a:ext>
            </a:extLst>
          </p:cNvPr>
          <p:cNvSpPr/>
          <p:nvPr/>
        </p:nvSpPr>
        <p:spPr>
          <a:xfrm>
            <a:off x="179819" y="1469986"/>
            <a:ext cx="7471045" cy="2596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rgbClr val="FF0000"/>
              </a:solidFill>
            </a:endParaRP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86C8C40D-2877-204A-4968-59D836C74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062" y="2300883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Tanning Data 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9EDC5-63EB-C9CA-F9D4-D093E6DFF3A9}"/>
              </a:ext>
            </a:extLst>
          </p:cNvPr>
          <p:cNvSpPr/>
          <p:nvPr/>
        </p:nvSpPr>
        <p:spPr>
          <a:xfrm>
            <a:off x="179819" y="4066830"/>
            <a:ext cx="7471045" cy="1077563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EB87C7B4-06A1-F9ED-394C-A57FC52B9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062" y="4259897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Testing Data Set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CCD2AA06-FC0B-24EB-73C2-01847AB7C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19" y="5354220"/>
            <a:ext cx="6764989" cy="64633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tx2"/>
                </a:solidFill>
              </a:rPr>
              <a:t>Class Label is provided in so this learning is known as 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0386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 autoUpdateAnimBg="0"/>
      <p:bldP spid="10" grpId="0" animBg="1"/>
      <p:bldP spid="11" grpId="0" animBg="1" autoUpdateAnimBg="0"/>
      <p:bldP spid="1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5A97-A347-7FF0-FC72-16BA112B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2E4A4073-24B2-D853-79E1-E86D2E83A0AC}"/>
              </a:ext>
            </a:extLst>
          </p:cNvPr>
          <p:cNvGrpSpPr>
            <a:grpSpLocks/>
          </p:cNvGrpSpPr>
          <p:nvPr/>
        </p:nvGrpSpPr>
        <p:grpSpPr bwMode="auto">
          <a:xfrm>
            <a:off x="1777821" y="1115454"/>
            <a:ext cx="1698625" cy="1506538"/>
            <a:chOff x="1283" y="1118"/>
            <a:chExt cx="1070" cy="949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285E2F2F-D5F8-31BD-D75B-8D8C2711219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FB85661-3E5A-76D9-95BE-6B8ED1A6A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5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Training</a:t>
              </a:r>
            </a:p>
            <a:p>
              <a:pPr algn="ctr"/>
              <a:r>
                <a:rPr lang="en-US" altLang="en-US" dirty="0">
                  <a:latin typeface="+mn-lt"/>
                </a:rPr>
                <a:t>Data</a:t>
              </a:r>
            </a:p>
          </p:txBody>
        </p:sp>
      </p:grpSp>
      <p:sp>
        <p:nvSpPr>
          <p:cNvPr id="9" name="Line 7">
            <a:extLst>
              <a:ext uri="{FF2B5EF4-FFF2-40B4-BE49-F238E27FC236}">
                <a16:creationId xmlns:a16="http://schemas.microsoft.com/office/drawing/2014/main" id="{5F74A6B3-BC94-3292-2F04-A2335D60A2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968" y="2441016"/>
            <a:ext cx="1677266" cy="76834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CDF30CAD-CF57-5695-7037-B4341431F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447" y="2421490"/>
            <a:ext cx="1890712" cy="76834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79EB3AA6-CEE4-584D-722E-9F6AE742B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160" y="945002"/>
            <a:ext cx="1870075" cy="83502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Classification</a:t>
            </a:r>
          </a:p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Algorithms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9E8B5F71-71A9-2ADD-3BFE-B7841596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782" y="1623450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+mn-lt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89357F6-B5F3-3334-7CAC-9C92748B8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355081"/>
            <a:ext cx="4457952" cy="147797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IF 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age = youth </a:t>
            </a:r>
            <a:r>
              <a:rPr lang="en-US" altLang="en-US" sz="1800" dirty="0">
                <a:latin typeface="+mn-lt"/>
              </a:rPr>
              <a:t>THEN </a:t>
            </a:r>
            <a:r>
              <a:rPr lang="en-US" altLang="en-US" sz="1800" dirty="0" err="1">
                <a:solidFill>
                  <a:srgbClr val="C00000"/>
                </a:solidFill>
                <a:latin typeface="+mn-lt"/>
              </a:rPr>
              <a:t>loan_decision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 = risky</a:t>
            </a:r>
            <a:r>
              <a:rPr lang="en-US" altLang="en-US" sz="1800" dirty="0">
                <a:latin typeface="+mn-lt"/>
              </a:rPr>
              <a:t>; </a:t>
            </a:r>
          </a:p>
          <a:p>
            <a:r>
              <a:rPr lang="en-US" altLang="en-US" sz="1800" dirty="0">
                <a:latin typeface="+mn-lt"/>
              </a:rPr>
              <a:t>IF 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income = high </a:t>
            </a:r>
            <a:r>
              <a:rPr lang="en-US" altLang="en-US" sz="1800" dirty="0">
                <a:latin typeface="+mn-lt"/>
              </a:rPr>
              <a:t>THEN </a:t>
            </a:r>
            <a:r>
              <a:rPr lang="en-US" altLang="en-US" sz="1800" dirty="0" err="1">
                <a:solidFill>
                  <a:srgbClr val="C00000"/>
                </a:solidFill>
                <a:latin typeface="+mn-lt"/>
              </a:rPr>
              <a:t>loan_decision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 = safe</a:t>
            </a:r>
            <a:r>
              <a:rPr lang="en-US" altLang="en-US" sz="1800" dirty="0">
                <a:latin typeface="+mn-lt"/>
              </a:rPr>
              <a:t>; </a:t>
            </a:r>
          </a:p>
          <a:p>
            <a:r>
              <a:rPr lang="en-US" altLang="en-US" sz="1800" dirty="0">
                <a:latin typeface="+mn-lt"/>
              </a:rPr>
              <a:t>IF 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age = </a:t>
            </a:r>
            <a:r>
              <a:rPr lang="en-US" altLang="en-US" sz="1800" dirty="0" err="1">
                <a:solidFill>
                  <a:srgbClr val="C00000"/>
                </a:solidFill>
                <a:latin typeface="+mn-lt"/>
              </a:rPr>
              <a:t>middle_aged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 AND income = low </a:t>
            </a:r>
            <a:r>
              <a:rPr lang="en-US" altLang="en-US" sz="1800" dirty="0">
                <a:latin typeface="+mn-lt"/>
              </a:rPr>
              <a:t>THEN </a:t>
            </a:r>
          </a:p>
          <a:p>
            <a:r>
              <a:rPr lang="en-US" altLang="en-US" sz="1800" dirty="0" err="1">
                <a:solidFill>
                  <a:srgbClr val="C00000"/>
                </a:solidFill>
                <a:latin typeface="+mn-lt"/>
              </a:rPr>
              <a:t>loan_decision</a:t>
            </a:r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 = risky; </a:t>
            </a:r>
          </a:p>
          <a:p>
            <a:endParaRPr lang="en-US" altLang="en-US" sz="1800" dirty="0">
              <a:latin typeface="+mn-lt"/>
            </a:endParaRPr>
          </a:p>
        </p:txBody>
      </p:sp>
      <p:grpSp>
        <p:nvGrpSpPr>
          <p:cNvPr id="14" name="Group 12">
            <a:extLst>
              <a:ext uri="{FF2B5EF4-FFF2-40B4-BE49-F238E27FC236}">
                <a16:creationId xmlns:a16="http://schemas.microsoft.com/office/drawing/2014/main" id="{8AB12656-B7F4-6D19-46A7-842B59FF0201}"/>
              </a:ext>
            </a:extLst>
          </p:cNvPr>
          <p:cNvGrpSpPr>
            <a:grpSpLocks/>
          </p:cNvGrpSpPr>
          <p:nvPr/>
        </p:nvGrpSpPr>
        <p:grpSpPr bwMode="auto">
          <a:xfrm>
            <a:off x="7250985" y="2538852"/>
            <a:ext cx="1889125" cy="1506538"/>
            <a:chOff x="4081" y="2026"/>
            <a:chExt cx="1190" cy="949"/>
          </a:xfrm>
        </p:grpSpPr>
        <p:pic>
          <p:nvPicPr>
            <p:cNvPr id="15" name="Picture 13">
              <a:extLst>
                <a:ext uri="{FF2B5EF4-FFF2-40B4-BE49-F238E27FC236}">
                  <a16:creationId xmlns:a16="http://schemas.microsoft.com/office/drawing/2014/main" id="{D1294227-DD7E-9C9D-6766-8B9714CD003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hq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BB196CBE-55BF-F18E-3E52-F5D585470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" y="2303"/>
              <a:ext cx="843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Classifier</a:t>
              </a:r>
            </a:p>
            <a:p>
              <a:pPr algn="ctr"/>
              <a:r>
                <a:rPr lang="en-US" altLang="en-US" dirty="0">
                  <a:latin typeface="+mn-lt"/>
                </a:rPr>
                <a:t>(Model)</a:t>
              </a:r>
            </a:p>
          </p:txBody>
        </p:sp>
      </p:grpSp>
      <p:sp>
        <p:nvSpPr>
          <p:cNvPr id="17" name="Line 15">
            <a:extLst>
              <a:ext uri="{FF2B5EF4-FFF2-40B4-BE49-F238E27FC236}">
                <a16:creationId xmlns:a16="http://schemas.microsoft.com/office/drawing/2014/main" id="{512E86DE-E6B5-0E6F-3E56-F5120B1505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5998" y="3866003"/>
            <a:ext cx="1197848" cy="48907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1B102163-3672-FB29-DD30-9A6D219CE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1696" y="3866004"/>
            <a:ext cx="1412256" cy="48907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38CF61E0-300D-2714-54B8-2B414E858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147" y="1899091"/>
            <a:ext cx="546100" cy="48418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+mn-lt"/>
            </a:endParaRPr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34BBBCA2-5E47-BF0C-4FD0-70CE20152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512" y="746122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Step - 1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15ABA69-CC1B-CDB7-D0DC-D751AB5B2423}"/>
              </a:ext>
            </a:extLst>
          </p:cNvPr>
          <p:cNvGraphicFramePr>
            <a:graphicFrameLocks noGrp="1"/>
          </p:cNvGraphicFramePr>
          <p:nvPr/>
        </p:nvGraphicFramePr>
        <p:xfrm>
          <a:off x="100555" y="3189835"/>
          <a:ext cx="5309466" cy="262444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42499">
                  <a:extLst>
                    <a:ext uri="{9D8B030D-6E8A-4147-A177-3AD203B41FA5}">
                      <a16:colId xmlns:a16="http://schemas.microsoft.com/office/drawing/2014/main" val="531526812"/>
                    </a:ext>
                  </a:extLst>
                </a:gridCol>
                <a:gridCol w="1747799">
                  <a:extLst>
                    <a:ext uri="{9D8B030D-6E8A-4147-A177-3AD203B41FA5}">
                      <a16:colId xmlns:a16="http://schemas.microsoft.com/office/drawing/2014/main" val="3334948317"/>
                    </a:ext>
                  </a:extLst>
                </a:gridCol>
                <a:gridCol w="766252">
                  <a:extLst>
                    <a:ext uri="{9D8B030D-6E8A-4147-A177-3AD203B41FA5}">
                      <a16:colId xmlns:a16="http://schemas.microsoft.com/office/drawing/2014/main" val="3535675144"/>
                    </a:ext>
                  </a:extLst>
                </a:gridCol>
                <a:gridCol w="1352916">
                  <a:extLst>
                    <a:ext uri="{9D8B030D-6E8A-4147-A177-3AD203B41FA5}">
                      <a16:colId xmlns:a16="http://schemas.microsoft.com/office/drawing/2014/main" val="728453430"/>
                    </a:ext>
                  </a:extLst>
                </a:gridCol>
              </a:tblGrid>
              <a:tr h="49084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income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loan_decision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219601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Sandy Jones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youth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46100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Bill Lee 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+mn-lt"/>
                        </a:rPr>
                        <a:t>youth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50807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Caroline Fox 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 err="1">
                          <a:latin typeface="+mn-lt"/>
                        </a:rPr>
                        <a:t>middle_aged</a:t>
                      </a:r>
                      <a:r>
                        <a:rPr lang="en-US" sz="14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+mn-lt"/>
                        </a:rPr>
                        <a:t>high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52755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Rick Field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 err="1">
                          <a:latin typeface="+mn-lt"/>
                        </a:rPr>
                        <a:t>middle_aged</a:t>
                      </a:r>
                      <a:r>
                        <a:rPr lang="en-US" sz="14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risky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500085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Susan Lake 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+mn-lt"/>
                        </a:rPr>
                        <a:t>senior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90315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Claire Phips 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+mn-lt"/>
                        </a:rPr>
                        <a:t>senior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26236"/>
                  </a:ext>
                </a:extLst>
              </a:tr>
              <a:tr h="280482"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Joe Smith 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 err="1">
                          <a:latin typeface="+mn-lt"/>
                        </a:rPr>
                        <a:t>middle_aged</a:t>
                      </a:r>
                      <a:r>
                        <a:rPr lang="en-US" sz="1400" i="0" dirty="0">
                          <a:latin typeface="+mn-lt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+mn-lt"/>
                        </a:rPr>
                        <a:t>high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525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46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 autoUpdateAnimBg="0"/>
      <p:bldP spid="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DF53-6466-756D-5CF1-1AC82F1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0FB07D9-CC52-EC67-F82B-84864F67DF46}"/>
              </a:ext>
            </a:extLst>
          </p:cNvPr>
          <p:cNvSpPr txBox="1">
            <a:spLocks/>
          </p:cNvSpPr>
          <p:nvPr/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FA33FD63-0045-864F-8701-1E1059B7D92E}" type="slidenum">
              <a:rPr lang="en-US" altLang="en-US" sz="1200" smtClean="0">
                <a:latin typeface="+mn-lt"/>
              </a:rPr>
              <a:pPr/>
              <a:t>7</a:t>
            </a:fld>
            <a:endParaRPr lang="en-US" altLang="en-US" sz="1200">
              <a:latin typeface="+mn-lt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F6C17AB6-FA97-85EB-DC4D-91367ED2C499}"/>
              </a:ext>
            </a:extLst>
          </p:cNvPr>
          <p:cNvGrpSpPr>
            <a:grpSpLocks/>
          </p:cNvGrpSpPr>
          <p:nvPr/>
        </p:nvGrpSpPr>
        <p:grpSpPr bwMode="auto">
          <a:xfrm>
            <a:off x="4776787" y="1286220"/>
            <a:ext cx="1889125" cy="1506537"/>
            <a:chOff x="2800" y="989"/>
            <a:chExt cx="1190" cy="949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2C8C0B5E-F626-6C7D-2AFE-FDD4029BA29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3C8F045-E654-FF68-CBB6-48CAE015F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8" y="1267"/>
              <a:ext cx="843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Classifier</a:t>
              </a:r>
            </a:p>
            <a:p>
              <a:pPr algn="ctr"/>
              <a:r>
                <a:rPr lang="en-US" altLang="en-US" dirty="0">
                  <a:latin typeface="+mn-lt"/>
                </a:rPr>
                <a:t>(Model)</a:t>
              </a:r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0D98C53C-E40D-E049-DE52-D3E9A07C82A7}"/>
              </a:ext>
            </a:extLst>
          </p:cNvPr>
          <p:cNvGrpSpPr>
            <a:grpSpLocks/>
          </p:cNvGrpSpPr>
          <p:nvPr/>
        </p:nvGrpSpPr>
        <p:grpSpPr bwMode="auto">
          <a:xfrm>
            <a:off x="1921050" y="2507008"/>
            <a:ext cx="1698625" cy="1506537"/>
            <a:chOff x="1359" y="1723"/>
            <a:chExt cx="1070" cy="949"/>
          </a:xfrm>
        </p:grpSpPr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BCD323AF-4B60-B0F0-A644-9D414F8FE58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7A9D23A-FA8F-6E1A-3F6A-9ED23929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" y="2000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+mn-lt"/>
                </a:rPr>
                <a:t>Testing</a:t>
              </a:r>
            </a:p>
            <a:p>
              <a:pPr algn="ctr"/>
              <a:r>
                <a:rPr lang="en-US" altLang="en-US">
                  <a:latin typeface="+mn-lt"/>
                </a:rPr>
                <a:t>Data</a:t>
              </a:r>
            </a:p>
          </p:txBody>
        </p:sp>
      </p:grpSp>
      <p:sp>
        <p:nvSpPr>
          <p:cNvPr id="12" name="Line 10">
            <a:extLst>
              <a:ext uri="{FF2B5EF4-FFF2-40B4-BE49-F238E27FC236}">
                <a16:creationId xmlns:a16="http://schemas.microsoft.com/office/drawing/2014/main" id="{A2A659EB-A56E-2E58-4BC3-E87E908FF9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93" y="3843683"/>
            <a:ext cx="1798170" cy="7448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86EFE55D-D24F-7FE4-C713-DE7A20374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1262" y="3843683"/>
            <a:ext cx="1889125" cy="7448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8C9A1ED9-3EDB-1FC8-2ABB-13954EA7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900" y="4339548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+mn-lt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465EAAF3-F4C4-4FC2-F974-A4B5D2180F7B}"/>
              </a:ext>
            </a:extLst>
          </p:cNvPr>
          <p:cNvSpPr>
            <a:spLocks/>
          </p:cNvSpPr>
          <p:nvPr/>
        </p:nvSpPr>
        <p:spPr bwMode="auto">
          <a:xfrm>
            <a:off x="6793819" y="1581836"/>
            <a:ext cx="1458930" cy="815974"/>
          </a:xfrm>
          <a:custGeom>
            <a:avLst/>
            <a:gdLst>
              <a:gd name="T0" fmla="*/ 0 w 593"/>
              <a:gd name="T1" fmla="*/ 2147483647 h 483"/>
              <a:gd name="T2" fmla="*/ 2147483647 w 593"/>
              <a:gd name="T3" fmla="*/ 0 h 483"/>
              <a:gd name="T4" fmla="*/ 2147483647 w 593"/>
              <a:gd name="T5" fmla="*/ 2147483647 h 483"/>
              <a:gd name="T6" fmla="*/ 2147483647 w 593"/>
              <a:gd name="T7" fmla="*/ 2147483647 h 483"/>
              <a:gd name="T8" fmla="*/ 2147483647 w 593"/>
              <a:gd name="T9" fmla="*/ 2147483647 h 483"/>
              <a:gd name="T10" fmla="*/ 2147483647 w 593"/>
              <a:gd name="T11" fmla="*/ 2147483647 h 483"/>
              <a:gd name="T12" fmla="*/ 2147483647 w 593"/>
              <a:gd name="T13" fmla="*/ 2147483647 h 483"/>
              <a:gd name="T14" fmla="*/ 2147483647 w 593"/>
              <a:gd name="T15" fmla="*/ 2147483647 h 483"/>
              <a:gd name="T16" fmla="*/ 2147483647 w 593"/>
              <a:gd name="T17" fmla="*/ 2147483647 h 483"/>
              <a:gd name="T18" fmla="*/ 2147483647 w 593"/>
              <a:gd name="T19" fmla="*/ 2147483647 h 483"/>
              <a:gd name="T20" fmla="*/ 0 w 593"/>
              <a:gd name="T21" fmla="*/ 2147483647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B4B72C11-9699-3C63-4AB5-049CB96801F3}"/>
              </a:ext>
            </a:extLst>
          </p:cNvPr>
          <p:cNvGrpSpPr>
            <a:grpSpLocks/>
          </p:cNvGrpSpPr>
          <p:nvPr/>
        </p:nvGrpSpPr>
        <p:grpSpPr bwMode="auto">
          <a:xfrm>
            <a:off x="7362161" y="2468658"/>
            <a:ext cx="1781175" cy="815975"/>
            <a:chOff x="4187" y="2008"/>
            <a:chExt cx="1122" cy="514"/>
          </a:xfrm>
        </p:grpSpPr>
        <p:pic>
          <p:nvPicPr>
            <p:cNvPr id="17" name="Picture 15">
              <a:extLst>
                <a:ext uri="{FF2B5EF4-FFF2-40B4-BE49-F238E27FC236}">
                  <a16:creationId xmlns:a16="http://schemas.microsoft.com/office/drawing/2014/main" id="{6610A85B-AEBF-85A6-5E95-5823AFE89F6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hq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13348ABE-7318-6D08-6383-7D099F1C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2149"/>
              <a:ext cx="10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Unseen Data</a:t>
              </a:r>
            </a:p>
          </p:txBody>
        </p:sp>
      </p:grpSp>
      <p:sp>
        <p:nvSpPr>
          <p:cNvPr id="19" name="Rectangle 17">
            <a:extLst>
              <a:ext uri="{FF2B5EF4-FFF2-40B4-BE49-F238E27FC236}">
                <a16:creationId xmlns:a16="http://schemas.microsoft.com/office/drawing/2014/main" id="{85060DBC-CFF1-9705-FA21-F455CDC0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3650905"/>
            <a:ext cx="2644775" cy="46230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latin typeface="+mn-lt"/>
              </a:rPr>
              <a:t>(XYZ, youth, low)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4901D330-F986-6998-0209-C457B6AB5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3572" y="3207095"/>
            <a:ext cx="287339" cy="44380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4ADEF42-BDBB-00E3-F93A-CF00F8E31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3335" y="3207095"/>
            <a:ext cx="515014" cy="44380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1AED3755-234C-8FF1-2F14-3D16810C930A}"/>
              </a:ext>
            </a:extLst>
          </p:cNvPr>
          <p:cNvSpPr>
            <a:spLocks/>
          </p:cNvSpPr>
          <p:nvPr/>
        </p:nvSpPr>
        <p:spPr bwMode="auto">
          <a:xfrm>
            <a:off x="3272718" y="1698969"/>
            <a:ext cx="1350963" cy="885825"/>
          </a:xfrm>
          <a:custGeom>
            <a:avLst/>
            <a:gdLst>
              <a:gd name="T0" fmla="*/ 2147483647 w 568"/>
              <a:gd name="T1" fmla="*/ 2147483647 h 374"/>
              <a:gd name="T2" fmla="*/ 2147483647 w 568"/>
              <a:gd name="T3" fmla="*/ 2147483647 h 374"/>
              <a:gd name="T4" fmla="*/ 2147483647 w 568"/>
              <a:gd name="T5" fmla="*/ 2147483647 h 374"/>
              <a:gd name="T6" fmla="*/ 2147483647 w 568"/>
              <a:gd name="T7" fmla="*/ 2147483647 h 374"/>
              <a:gd name="T8" fmla="*/ 2147483647 w 568"/>
              <a:gd name="T9" fmla="*/ 2147483647 h 374"/>
              <a:gd name="T10" fmla="*/ 0 w 568"/>
              <a:gd name="T11" fmla="*/ 2147483647 h 374"/>
              <a:gd name="T12" fmla="*/ 2147483647 w 568"/>
              <a:gd name="T13" fmla="*/ 2147483647 h 374"/>
              <a:gd name="T14" fmla="*/ 2147483647 w 568"/>
              <a:gd name="T15" fmla="*/ 2147483647 h 374"/>
              <a:gd name="T16" fmla="*/ 2147483647 w 568"/>
              <a:gd name="T17" fmla="*/ 2147483647 h 374"/>
              <a:gd name="T18" fmla="*/ 2147483647 w 568"/>
              <a:gd name="T19" fmla="*/ 0 h 374"/>
              <a:gd name="T20" fmla="*/ 2147483647 w 568"/>
              <a:gd name="T21" fmla="*/ 2147483647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86A5F05A-9F23-5D48-C326-4415D2E12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436" y="4300991"/>
            <a:ext cx="2399696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loan_decision</a:t>
            </a: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</a:t>
            </a:r>
          </a:p>
        </p:txBody>
      </p:sp>
      <p:sp>
        <p:nvSpPr>
          <p:cNvPr id="25" name="Text Box 31">
            <a:extLst>
              <a:ext uri="{FF2B5EF4-FFF2-40B4-BE49-F238E27FC236}">
                <a16:creationId xmlns:a16="http://schemas.microsoft.com/office/drawing/2014/main" id="{5BCD13BD-1361-8D28-56D5-34E8D16AC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512" y="746122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Step - 2</a:t>
            </a:r>
          </a:p>
        </p:txBody>
      </p:sp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BD5C7EE4-A7EE-1AB6-B0E9-16E2AB563046}"/>
              </a:ext>
            </a:extLst>
          </p:cNvPr>
          <p:cNvGraphicFramePr>
            <a:graphicFrameLocks/>
          </p:cNvGraphicFramePr>
          <p:nvPr/>
        </p:nvGraphicFramePr>
        <p:xfrm>
          <a:off x="122880" y="4592983"/>
          <a:ext cx="5439673" cy="126139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7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044">
                  <a:extLst>
                    <a:ext uri="{9D8B030D-6E8A-4147-A177-3AD203B41FA5}">
                      <a16:colId xmlns:a16="http://schemas.microsoft.com/office/drawing/2014/main" val="1084441450"/>
                    </a:ext>
                  </a:extLst>
                </a:gridCol>
                <a:gridCol w="1386094">
                  <a:extLst>
                    <a:ext uri="{9D8B030D-6E8A-4147-A177-3AD203B41FA5}">
                      <a16:colId xmlns:a16="http://schemas.microsoft.com/office/drawing/2014/main" val="1865361981"/>
                    </a:ext>
                  </a:extLst>
                </a:gridCol>
              </a:tblGrid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income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loan_decision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Juan Bello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senior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latin typeface="+mn-lt"/>
                        </a:rPr>
                        <a:t>safe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Sylvia Crest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middle_aged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risky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Anne Yee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middle_aged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 </a:t>
                      </a:r>
                      <a:endParaRPr lang="en-IN" sz="14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45937"/>
                  </a:ext>
                </a:extLst>
              </a:tr>
            </a:tbl>
          </a:graphicData>
        </a:graphic>
      </p:graphicFrame>
      <p:sp>
        <p:nvSpPr>
          <p:cNvPr id="27" name="Rectangle 22">
            <a:extLst>
              <a:ext uri="{FF2B5EF4-FFF2-40B4-BE49-F238E27FC236}">
                <a16:creationId xmlns:a16="http://schemas.microsoft.com/office/drawing/2014/main" id="{54D7FEB2-6BAE-C728-7FFF-FDC07E87C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6041" y="5100070"/>
            <a:ext cx="96981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Risky</a:t>
            </a:r>
          </a:p>
        </p:txBody>
      </p:sp>
    </p:spTree>
    <p:extLst>
      <p:ext uri="{BB962C8B-B14F-4D97-AF65-F5344CB8AC3E}">
        <p14:creationId xmlns:p14="http://schemas.microsoft.com/office/powerpoint/2010/main" val="287601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4" grpId="0"/>
      <p:bldP spid="25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54EF-49EA-FE18-C603-75829FD2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Decision Tree Induction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B6B568-D3E2-59AB-2E4D-53616D7B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15754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Decision tree induction is the </a:t>
            </a:r>
            <a:r>
              <a:rPr lang="en-US" dirty="0">
                <a:solidFill>
                  <a:srgbClr val="C00000"/>
                </a:solidFill>
              </a:rPr>
              <a:t>learning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decision trees </a:t>
            </a:r>
            <a:r>
              <a:rPr lang="en-US" dirty="0"/>
              <a:t>from </a:t>
            </a:r>
            <a:r>
              <a:rPr lang="en-US" dirty="0">
                <a:solidFill>
                  <a:srgbClr val="C00000"/>
                </a:solidFill>
              </a:rPr>
              <a:t>class-labeled training </a:t>
            </a:r>
            <a:r>
              <a:rPr lang="en-US" dirty="0"/>
              <a:t>tuples.</a:t>
            </a:r>
          </a:p>
          <a:p>
            <a:pPr>
              <a:lnSpc>
                <a:spcPct val="100000"/>
              </a:lnSpc>
            </a:pPr>
            <a:r>
              <a:rPr lang="en-US" dirty="0"/>
              <a:t>A decision tree is a flowchart-like tree structure.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Inner node </a:t>
            </a:r>
            <a:r>
              <a:rPr lang="en-US" dirty="0"/>
              <a:t>represents </a:t>
            </a:r>
            <a:r>
              <a:rPr lang="en-US" dirty="0">
                <a:solidFill>
                  <a:srgbClr val="C00000"/>
                </a:solidFill>
              </a:rPr>
              <a:t>an attribute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Edge represents a test on attribute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Leaf represent </a:t>
            </a:r>
            <a:r>
              <a:rPr lang="en-US" dirty="0">
                <a:solidFill>
                  <a:srgbClr val="C00000"/>
                </a:solidFill>
              </a:rPr>
              <a:t>one of the classes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endParaRPr lang="en-IN" dirty="0"/>
          </a:p>
        </p:txBody>
      </p:sp>
      <p:sp>
        <p:nvSpPr>
          <p:cNvPr id="3" name="Rounded Rectangle 31">
            <a:extLst>
              <a:ext uri="{FF2B5EF4-FFF2-40B4-BE49-F238E27FC236}">
                <a16:creationId xmlns:a16="http://schemas.microsoft.com/office/drawing/2014/main" id="{6F915CD2-A069-5234-8EA9-43A52D61FE18}"/>
              </a:ext>
            </a:extLst>
          </p:cNvPr>
          <p:cNvSpPr/>
          <p:nvPr/>
        </p:nvSpPr>
        <p:spPr>
          <a:xfrm>
            <a:off x="4166396" y="2866706"/>
            <a:ext cx="2188684" cy="61306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  <a:latin typeface="+mj-lt"/>
              </a:rPr>
              <a:t>age? </a:t>
            </a:r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F7E4E97B-6B1F-6332-A25D-987382213F26}"/>
              </a:ext>
            </a:extLst>
          </p:cNvPr>
          <p:cNvSpPr/>
          <p:nvPr/>
        </p:nvSpPr>
        <p:spPr>
          <a:xfrm>
            <a:off x="1977712" y="4396245"/>
            <a:ext cx="2188684" cy="61306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dirty="0">
                <a:solidFill>
                  <a:schemeClr val="tx1"/>
                </a:solidFill>
                <a:latin typeface="+mj-lt"/>
              </a:rPr>
              <a:t>student? </a:t>
            </a:r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AED0F93A-3F64-B105-2C7E-8AF6F534A7ED}"/>
              </a:ext>
            </a:extLst>
          </p:cNvPr>
          <p:cNvSpPr/>
          <p:nvPr/>
        </p:nvSpPr>
        <p:spPr>
          <a:xfrm>
            <a:off x="6355080" y="4396245"/>
            <a:ext cx="2188684" cy="61306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dirty="0" err="1">
                <a:solidFill>
                  <a:schemeClr val="tx1"/>
                </a:solidFill>
                <a:latin typeface="+mj-lt"/>
              </a:rPr>
              <a:t>credit_rating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?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A058F8-E248-9A31-0398-4F7BFB5FE284}"/>
              </a:ext>
            </a:extLst>
          </p:cNvPr>
          <p:cNvSpPr/>
          <p:nvPr/>
        </p:nvSpPr>
        <p:spPr>
          <a:xfrm>
            <a:off x="1383030" y="5857207"/>
            <a:ext cx="1222723" cy="5715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9E74FF-BB46-E55B-50B8-8583036C8FD5}"/>
              </a:ext>
            </a:extLst>
          </p:cNvPr>
          <p:cNvSpPr/>
          <p:nvPr/>
        </p:nvSpPr>
        <p:spPr>
          <a:xfrm>
            <a:off x="3569970" y="5857207"/>
            <a:ext cx="1222723" cy="5715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AD347C-422F-73EE-6780-542175AB500A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3072054" y="3479767"/>
            <a:ext cx="2188684" cy="91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A193B5-A0AB-5B18-1808-90ACDB597AA9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260738" y="3479767"/>
            <a:ext cx="2188684" cy="91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26B677-48A2-E237-2A23-AF32117FA3A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1994392" y="5009306"/>
            <a:ext cx="1077662" cy="847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A851D5-C210-6C65-C3F1-B2CBE76D3D5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072054" y="5009306"/>
            <a:ext cx="1109278" cy="847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501F90D-DF4A-819A-460E-990BDAE258CD}"/>
              </a:ext>
            </a:extLst>
          </p:cNvPr>
          <p:cNvSpPr/>
          <p:nvPr/>
        </p:nvSpPr>
        <p:spPr>
          <a:xfrm>
            <a:off x="5836921" y="5880164"/>
            <a:ext cx="1222723" cy="5715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8F6877-F515-C8ED-ADDE-FA85061F1875}"/>
              </a:ext>
            </a:extLst>
          </p:cNvPr>
          <p:cNvSpPr/>
          <p:nvPr/>
        </p:nvSpPr>
        <p:spPr>
          <a:xfrm>
            <a:off x="8023861" y="5880164"/>
            <a:ext cx="1222723" cy="5715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BE7068-1DB3-5314-FD37-D62DDC25716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448283" y="5032263"/>
            <a:ext cx="1077662" cy="847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9E7A1F-077D-B1F1-E143-BCE4FAAD89C5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525945" y="5032263"/>
            <a:ext cx="1109278" cy="847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8AA186-44DC-7FE0-41D9-040B77950054}"/>
              </a:ext>
            </a:extLst>
          </p:cNvPr>
          <p:cNvSpPr txBox="1"/>
          <p:nvPr/>
        </p:nvSpPr>
        <p:spPr>
          <a:xfrm>
            <a:off x="3706655" y="364007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youth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5F142-99D6-F509-B530-EF6BAFE6ECF8}"/>
              </a:ext>
            </a:extLst>
          </p:cNvPr>
          <p:cNvSpPr txBox="1"/>
          <p:nvPr/>
        </p:nvSpPr>
        <p:spPr>
          <a:xfrm>
            <a:off x="6743331" y="3640079"/>
            <a:ext cx="76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senior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A6097-FCDF-EB86-F5FC-4BD96C0F2380}"/>
              </a:ext>
            </a:extLst>
          </p:cNvPr>
          <p:cNvSpPr txBox="1"/>
          <p:nvPr/>
        </p:nvSpPr>
        <p:spPr>
          <a:xfrm>
            <a:off x="2133526" y="524555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0AD0D1-FB4A-F41E-4922-CF3C6FCD08D6}"/>
              </a:ext>
            </a:extLst>
          </p:cNvPr>
          <p:cNvSpPr txBox="1"/>
          <p:nvPr/>
        </p:nvSpPr>
        <p:spPr>
          <a:xfrm>
            <a:off x="3852434" y="5245555"/>
            <a:ext cx="59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2AFACD-6082-E138-F4AB-B747DA5071E9}"/>
              </a:ext>
            </a:extLst>
          </p:cNvPr>
          <p:cNvSpPr txBox="1"/>
          <p:nvPr/>
        </p:nvSpPr>
        <p:spPr>
          <a:xfrm>
            <a:off x="6422141" y="524414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35AB55-89CB-1008-7AFF-A0A8C7775096}"/>
              </a:ext>
            </a:extLst>
          </p:cNvPr>
          <p:cNvSpPr txBox="1"/>
          <p:nvPr/>
        </p:nvSpPr>
        <p:spPr>
          <a:xfrm>
            <a:off x="8297113" y="5297528"/>
            <a:ext cx="1109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excellent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ED7FE4-F086-5F3E-3D51-8237B64841D7}"/>
              </a:ext>
            </a:extLst>
          </p:cNvPr>
          <p:cNvSpPr/>
          <p:nvPr/>
        </p:nvSpPr>
        <p:spPr>
          <a:xfrm>
            <a:off x="4652840" y="4481955"/>
            <a:ext cx="1222723" cy="5715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FFC966-C525-0B5F-1E8D-07760BEF2F64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264202" y="3539665"/>
            <a:ext cx="0" cy="94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B4C4B1-5335-B305-A1DE-E79DD00FE9AF}"/>
              </a:ext>
            </a:extLst>
          </p:cNvPr>
          <p:cNvSpPr txBox="1"/>
          <p:nvPr/>
        </p:nvSpPr>
        <p:spPr>
          <a:xfrm>
            <a:off x="4553139" y="3938006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middle_aged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10A60FCC-E914-1000-548B-7D16750AA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5754" y="2591872"/>
            <a:ext cx="4054058" cy="14773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tx2"/>
                </a:solidFill>
              </a:rPr>
              <a:t>A decision tree for the concept buys computer, indicating whether an </a:t>
            </a:r>
            <a:r>
              <a:rPr lang="en-US" altLang="en-US" b="1" dirty="0" err="1">
                <a:solidFill>
                  <a:schemeClr val="tx2"/>
                </a:solidFill>
              </a:rPr>
              <a:t>AllElectronics</a:t>
            </a:r>
            <a:r>
              <a:rPr lang="en-US" altLang="en-US" b="1" dirty="0">
                <a:solidFill>
                  <a:schemeClr val="tx2"/>
                </a:solidFill>
              </a:rPr>
              <a:t> customer is likely to purchase a computer. </a:t>
            </a: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17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5" grpId="0"/>
      <p:bldP spid="2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Decision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During the late 1970s and early 1980s, J. Ross Quinlan, a researcher in machine learning, developed a decision tree algorithm known as </a:t>
            </a:r>
            <a:r>
              <a:rPr lang="en-US" dirty="0">
                <a:solidFill>
                  <a:srgbClr val="C00000"/>
                </a:solidFill>
              </a:rPr>
              <a:t>ID3 (Iterative </a:t>
            </a:r>
            <a:r>
              <a:rPr lang="en-US" dirty="0" err="1">
                <a:solidFill>
                  <a:srgbClr val="C00000"/>
                </a:solidFill>
              </a:rPr>
              <a:t>Dichotomiser</a:t>
            </a:r>
            <a:r>
              <a:rPr lang="en-US" dirty="0">
                <a:solidFill>
                  <a:srgbClr val="C00000"/>
                </a:solidFill>
              </a:rPr>
              <a:t>)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This work expanded on earlier work on concept learning systems, described by E. B. Hunt, J. Marin, and P. T. Stone. Quinlan later presented </a:t>
            </a:r>
            <a:r>
              <a:rPr lang="en-US" dirty="0">
                <a:solidFill>
                  <a:srgbClr val="C00000"/>
                </a:solidFill>
              </a:rPr>
              <a:t>C4.5 (a successor of ID3)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In 1984, a group of statisticians (L. </a:t>
            </a:r>
            <a:r>
              <a:rPr lang="en-US" dirty="0" err="1"/>
              <a:t>Breiman</a:t>
            </a:r>
            <a:r>
              <a:rPr lang="en-US" dirty="0"/>
              <a:t>, J. Friedman, R. </a:t>
            </a:r>
            <a:r>
              <a:rPr lang="en-US" dirty="0" err="1"/>
              <a:t>Olshen</a:t>
            </a:r>
            <a:r>
              <a:rPr lang="en-US" dirty="0"/>
              <a:t>, and C. Stone) published the book </a:t>
            </a:r>
            <a:r>
              <a:rPr lang="en-US" dirty="0">
                <a:solidFill>
                  <a:srgbClr val="C00000"/>
                </a:solidFill>
              </a:rPr>
              <a:t>Classification and Regression Trees (CART)</a:t>
            </a:r>
            <a:r>
              <a:rPr lang="en-US" dirty="0"/>
              <a:t>, which described the generation of binary decision trees.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</a:rPr>
              <a:t>ID3, C4.5, and CART </a:t>
            </a:r>
            <a:r>
              <a:rPr lang="en-US" dirty="0"/>
              <a:t>adopt a </a:t>
            </a:r>
            <a:r>
              <a:rPr lang="en-US" dirty="0">
                <a:solidFill>
                  <a:srgbClr val="C00000"/>
                </a:solidFill>
              </a:rPr>
              <a:t>greedy</a:t>
            </a:r>
            <a:r>
              <a:rPr lang="en-US" dirty="0"/>
              <a:t> (i.e., non-backtracking) </a:t>
            </a:r>
            <a:r>
              <a:rPr lang="en-US" dirty="0">
                <a:solidFill>
                  <a:srgbClr val="C00000"/>
                </a:solidFill>
              </a:rPr>
              <a:t>approach</a:t>
            </a:r>
            <a:r>
              <a:rPr lang="en-US" dirty="0"/>
              <a:t> in which decision trees are constructed in a </a:t>
            </a:r>
            <a:r>
              <a:rPr lang="en-US" dirty="0">
                <a:solidFill>
                  <a:srgbClr val="C00000"/>
                </a:solidFill>
              </a:rPr>
              <a:t>top-down recursive divide-and-conquer </a:t>
            </a:r>
            <a:r>
              <a:rPr lang="en-US" dirty="0"/>
              <a:t>manner. 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9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B84C-9C4D-3A80-CB0E-F2627FAC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Induction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94DA-CCEB-45FD-9DD7-7E0FC3208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Basic algorithm (a greedy algorithm):</a:t>
            </a:r>
          </a:p>
          <a:p>
            <a:r>
              <a:rPr lang="en-US" dirty="0"/>
              <a:t>Tree is constructed in a </a:t>
            </a:r>
            <a:r>
              <a:rPr lang="en-US" dirty="0">
                <a:solidFill>
                  <a:srgbClr val="C00000"/>
                </a:solidFill>
              </a:rPr>
              <a:t>top-down recursive divide-and-conquer manner</a:t>
            </a:r>
          </a:p>
          <a:p>
            <a:r>
              <a:rPr lang="en-US" dirty="0"/>
              <a:t>At start, all the training examples </a:t>
            </a:r>
            <a:r>
              <a:rPr lang="en-US" dirty="0">
                <a:solidFill>
                  <a:srgbClr val="C00000"/>
                </a:solidFill>
              </a:rPr>
              <a:t>are at the root</a:t>
            </a:r>
          </a:p>
          <a:p>
            <a:r>
              <a:rPr lang="en-US" dirty="0"/>
              <a:t>Attributes are </a:t>
            </a:r>
            <a:r>
              <a:rPr lang="en-US" dirty="0">
                <a:solidFill>
                  <a:srgbClr val="C00000"/>
                </a:solidFill>
              </a:rPr>
              <a:t>categorical </a:t>
            </a:r>
            <a:r>
              <a:rPr lang="en-US" dirty="0"/>
              <a:t>(if continuous-valued, they are </a:t>
            </a:r>
            <a:r>
              <a:rPr lang="en-US" dirty="0">
                <a:solidFill>
                  <a:srgbClr val="C00000"/>
                </a:solidFill>
              </a:rPr>
              <a:t>discretized in advance</a:t>
            </a:r>
            <a:r>
              <a:rPr lang="en-US" dirty="0"/>
              <a:t>)</a:t>
            </a:r>
          </a:p>
          <a:p>
            <a:r>
              <a:rPr lang="en-US" dirty="0"/>
              <a:t>Examples are partitioned recursively based on </a:t>
            </a:r>
            <a:r>
              <a:rPr lang="en-US" dirty="0">
                <a:solidFill>
                  <a:srgbClr val="C00000"/>
                </a:solidFill>
              </a:rPr>
              <a:t>selected attributes</a:t>
            </a:r>
          </a:p>
          <a:p>
            <a:r>
              <a:rPr lang="en-US" dirty="0"/>
              <a:t>Test attributes are selected on the basis of a </a:t>
            </a:r>
            <a:r>
              <a:rPr lang="en-US" dirty="0">
                <a:solidFill>
                  <a:srgbClr val="C00000"/>
                </a:solidFill>
              </a:rPr>
              <a:t>heuristic or statistical measure </a:t>
            </a:r>
            <a:r>
              <a:rPr lang="en-US" dirty="0"/>
              <a:t>(e.g., </a:t>
            </a:r>
            <a:r>
              <a:rPr lang="en-US" dirty="0">
                <a:solidFill>
                  <a:srgbClr val="C00000"/>
                </a:solidFill>
              </a:rPr>
              <a:t>information gain)</a:t>
            </a:r>
          </a:p>
          <a:p>
            <a:r>
              <a:rPr lang="en-US" b="1" dirty="0">
                <a:solidFill>
                  <a:srgbClr val="C00000"/>
                </a:solidFill>
              </a:rPr>
              <a:t>Conditions for stopping partitioning:</a:t>
            </a:r>
          </a:p>
          <a:p>
            <a:r>
              <a:rPr lang="en-US" dirty="0"/>
              <a:t>All samples for a given node belong to the </a:t>
            </a:r>
            <a:r>
              <a:rPr lang="en-US" dirty="0">
                <a:solidFill>
                  <a:srgbClr val="C00000"/>
                </a:solidFill>
              </a:rPr>
              <a:t>same class</a:t>
            </a:r>
          </a:p>
          <a:p>
            <a:r>
              <a:rPr lang="en-US" dirty="0"/>
              <a:t>There are no remaining attributes for further partitioning – majority voting is employed for </a:t>
            </a:r>
            <a:r>
              <a:rPr lang="en-US" dirty="0">
                <a:solidFill>
                  <a:srgbClr val="C00000"/>
                </a:solidFill>
              </a:rPr>
              <a:t>classifying the leaf</a:t>
            </a:r>
          </a:p>
          <a:p>
            <a:r>
              <a:rPr lang="en-US" dirty="0"/>
              <a:t>There are no </a:t>
            </a:r>
            <a:r>
              <a:rPr lang="en-US" dirty="0">
                <a:solidFill>
                  <a:srgbClr val="C00000"/>
                </a:solidFill>
              </a:rPr>
              <a:t>samples left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76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BCB9-988F-2A66-3C91-003261E5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Induction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13024-33E0-6DA8-45FD-7CA5F446F160}"/>
              </a:ext>
            </a:extLst>
          </p:cNvPr>
          <p:cNvSpPr txBox="1"/>
          <p:nvPr/>
        </p:nvSpPr>
        <p:spPr>
          <a:xfrm>
            <a:off x="186705" y="858799"/>
            <a:ext cx="11503724" cy="2308324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INPUT: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partition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D, which is a set of training tuples and their associated class labels;</a:t>
            </a:r>
          </a:p>
          <a:p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list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the set of candidate attributes;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selection method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a procedure to determine the splitting criterion that “best” partitions the data tuples into individual classes. This criterion consists of a</a:t>
            </a:r>
            <a:b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splitting attribute and, possibly, either a split-point or splitting subset.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E88F2-C72B-1A69-F245-6A51DC71924C}"/>
              </a:ext>
            </a:extLst>
          </p:cNvPr>
          <p:cNvSpPr txBox="1"/>
          <p:nvPr/>
        </p:nvSpPr>
        <p:spPr>
          <a:xfrm>
            <a:off x="186705" y="3314721"/>
            <a:ext cx="11503724" cy="646331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decision tree.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8C70D-2125-6A9D-AA6F-7DED00E7416F}"/>
              </a:ext>
            </a:extLst>
          </p:cNvPr>
          <p:cNvSpPr txBox="1"/>
          <p:nvPr/>
        </p:nvSpPr>
        <p:spPr>
          <a:xfrm>
            <a:off x="2563586" y="52088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4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B4FA-9E13-200F-095B-F45D1D7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Induction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11C45-566A-22FC-195B-C85363CB7D4D}"/>
              </a:ext>
            </a:extLst>
          </p:cNvPr>
          <p:cNvSpPr txBox="1"/>
          <p:nvPr/>
        </p:nvSpPr>
        <p:spPr>
          <a:xfrm>
            <a:off x="74097" y="996434"/>
            <a:ext cx="12043805" cy="5355312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create a node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;</a:t>
            </a:r>
            <a:b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if tuples in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are all of the same class,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then 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 a leaf node labeled with the class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if attribute list is empty then 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 a leaf node labeled with the majority class in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	majority voting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pply </a:t>
            </a:r>
            <a:r>
              <a:rPr lang="en-IN" sz="1800" b="1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Attribute_selection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IN" sz="1800" b="1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method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attribute list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 find 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 highest Attribute selection measure and Label node 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IN" sz="1800" b="1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IN" b="1" i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is discrete-valued and multiway splits allowed then </a:t>
            </a:r>
            <a:r>
              <a:rPr lang="en-IN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not restricted to binary trees 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attribute list ← attribute list − A; </a:t>
            </a:r>
            <a:endParaRPr lang="en-IN" sz="1800" b="1" i="1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For each value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of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partition the tuples and grow subtrees for each partition 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IN" sz="1800" b="1" i="1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sz="1800" b="1" i="1" baseline="-250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IN" sz="1800" b="1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 the set of data tuples in 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sz="1800" b="1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b="1" i="1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IN" b="1" i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</a:t>
            </a:r>
            <a:r>
              <a:rPr lang="en-IN" b="1" i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b="1" i="1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b="1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is Empty then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    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attach a leaf </a:t>
            </a:r>
            <a:r>
              <a:rPr lang="en-IN" sz="18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labeled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with the majority class in 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to node </a:t>
            </a:r>
            <a:r>
              <a:rPr lang="en-IN" sz="1800" b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else 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	     attach the node returned by 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Generate_decision_tree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b="1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attribute list) 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 node 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 for </a:t>
            </a:r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IN" sz="1800" b="1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IN" sz="18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3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687C-EF71-2AF5-5E2E-3D450378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Selection Measures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41F-D99F-B61C-D3F3-3AB6E7E62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 selection measures are known as </a:t>
            </a:r>
            <a:r>
              <a:rPr lang="en-US" dirty="0">
                <a:solidFill>
                  <a:srgbClr val="C00000"/>
                </a:solidFill>
              </a:rPr>
              <a:t>splitting rules because </a:t>
            </a:r>
            <a:r>
              <a:rPr lang="en-US" dirty="0"/>
              <a:t>they determine how the tuples at a </a:t>
            </a:r>
            <a:r>
              <a:rPr lang="en-US" dirty="0">
                <a:solidFill>
                  <a:srgbClr val="C00000"/>
                </a:solidFill>
              </a:rPr>
              <a:t>given node are to be split</a:t>
            </a:r>
            <a:r>
              <a:rPr lang="en-US" dirty="0"/>
              <a:t>. </a:t>
            </a:r>
          </a:p>
          <a:p>
            <a:r>
              <a:rPr lang="en-US" dirty="0"/>
              <a:t>An attribute selection measure is a </a:t>
            </a:r>
            <a:r>
              <a:rPr lang="en-US" dirty="0">
                <a:solidFill>
                  <a:srgbClr val="C00000"/>
                </a:solidFill>
              </a:rPr>
              <a:t>heuristic</a:t>
            </a:r>
            <a:r>
              <a:rPr lang="en-US" dirty="0"/>
              <a:t> for selecting the splitting criterion that “best” </a:t>
            </a:r>
            <a:r>
              <a:rPr lang="en-US" dirty="0">
                <a:solidFill>
                  <a:srgbClr val="C00000"/>
                </a:solidFill>
              </a:rPr>
              <a:t>separates</a:t>
            </a:r>
            <a:r>
              <a:rPr lang="en-US" dirty="0"/>
              <a:t> a given </a:t>
            </a:r>
            <a:r>
              <a:rPr lang="en-US" dirty="0">
                <a:solidFill>
                  <a:srgbClr val="C00000"/>
                </a:solidFill>
              </a:rPr>
              <a:t>data partition, </a:t>
            </a:r>
            <a:r>
              <a:rPr lang="en-US" i="1" dirty="0">
                <a:solidFill>
                  <a:srgbClr val="C00000"/>
                </a:solidFill>
              </a:rPr>
              <a:t>D</a:t>
            </a:r>
            <a:r>
              <a:rPr lang="en-US" dirty="0"/>
              <a:t>, of class-labeled training tuples into individual classes. </a:t>
            </a:r>
          </a:p>
          <a:p>
            <a:r>
              <a:rPr lang="en-US" dirty="0"/>
              <a:t>The tree node created for partition </a:t>
            </a:r>
            <a:r>
              <a:rPr lang="en-US" i="1" dirty="0"/>
              <a:t>D</a:t>
            </a:r>
            <a:r>
              <a:rPr lang="en-US" dirty="0"/>
              <a:t> is labeled with the </a:t>
            </a:r>
            <a:r>
              <a:rPr lang="en-US" dirty="0">
                <a:solidFill>
                  <a:srgbClr val="C00000"/>
                </a:solidFill>
              </a:rPr>
              <a:t>splitting criterion</a:t>
            </a:r>
            <a:r>
              <a:rPr lang="en-US" dirty="0"/>
              <a:t>, branches are grown for each outcome of </a:t>
            </a:r>
            <a:r>
              <a:rPr lang="en-US" dirty="0">
                <a:solidFill>
                  <a:srgbClr val="C00000"/>
                </a:solidFill>
              </a:rPr>
              <a:t>the criterion</a:t>
            </a:r>
            <a:r>
              <a:rPr lang="en-US" dirty="0"/>
              <a:t>, and the tuples </a:t>
            </a:r>
            <a:r>
              <a:rPr lang="en-US" dirty="0">
                <a:solidFill>
                  <a:srgbClr val="C00000"/>
                </a:solidFill>
              </a:rPr>
              <a:t>are partitioned accordingly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Three popular attribute selection measures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Information gain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Gain ratio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Gini index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0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</a:t>
            </a:r>
            <a:r>
              <a:rPr lang="en-US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</a:rPr>
              <a:t>ID3 </a:t>
            </a:r>
            <a:r>
              <a:rPr lang="en-US" dirty="0"/>
              <a:t>uses </a:t>
            </a:r>
            <a:r>
              <a:rPr lang="en-US" dirty="0">
                <a:solidFill>
                  <a:srgbClr val="C00000"/>
                </a:solidFill>
              </a:rPr>
              <a:t>information gain </a:t>
            </a:r>
            <a:r>
              <a:rPr lang="en-US" dirty="0"/>
              <a:t>as its attribute selection measure. </a:t>
            </a:r>
          </a:p>
          <a:p>
            <a:pPr>
              <a:lnSpc>
                <a:spcPct val="100000"/>
              </a:lnSpc>
            </a:pPr>
            <a:r>
              <a:rPr lang="en-US" dirty="0"/>
              <a:t>Let node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 represent or hold the tuples of partition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dirty="0"/>
              <a:t>. The </a:t>
            </a:r>
            <a:r>
              <a:rPr lang="en-US" dirty="0">
                <a:solidFill>
                  <a:srgbClr val="C00000"/>
                </a:solidFill>
              </a:rPr>
              <a:t>attribute</a:t>
            </a:r>
            <a:r>
              <a:rPr lang="en-US" dirty="0"/>
              <a:t> with the </a:t>
            </a:r>
            <a:r>
              <a:rPr lang="en-US" dirty="0">
                <a:solidFill>
                  <a:srgbClr val="C00000"/>
                </a:solidFill>
              </a:rPr>
              <a:t>highest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information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gain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chosen</a:t>
            </a:r>
            <a:r>
              <a:rPr lang="en-US" dirty="0"/>
              <a:t> as the splitting attribute for node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This attribute minimizes the information needed to classify the tuples in the resulting partitions and reflects the least randomness or “impurity” in these partitions.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1BDA4CC-7D0A-4DB5-A29D-9F3E1C549F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3024554"/>
                <a:ext cx="11929641" cy="34143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ebdings" panose="05030102010509060703" pitchFamily="18" charset="2"/>
                  <a:buChar char="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The expected information needed to classify a tuple in D is given by</a:t>
                </a:r>
              </a:p>
              <a:p>
                <a:pPr marL="0" indent="0" algn="ctr">
                  <a:lnSpc>
                    <a:spcPct val="100000"/>
                  </a:lnSpc>
                  <a:buFont typeface="Webdings" panose="05030102010509060703" pitchFamily="18" charset="2"/>
                  <a:buNone/>
                </a:pPr>
                <a:endParaRPr lang="en-IN" dirty="0"/>
              </a:p>
              <a:p>
                <a:pPr marL="0" indent="0">
                  <a:lnSpc>
                    <a:spcPct val="100000"/>
                  </a:lnSpc>
                  <a:buFont typeface="Webdings" panose="05030102010509060703" pitchFamily="18" charset="2"/>
                  <a:buNone/>
                </a:pPr>
                <a:endParaRPr lang="en-IN" dirty="0"/>
              </a:p>
              <a:p>
                <a:pPr marL="268288" indent="0">
                  <a:lnSpc>
                    <a:spcPct val="100000"/>
                  </a:lnSpc>
                  <a:buFont typeface="Webdings" panose="05030102010509060703" pitchFamily="18" charset="2"/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- </a:t>
                </a:r>
                <a:r>
                  <a:rPr lang="en-US" dirty="0"/>
                  <a:t>nonzero </a:t>
                </a:r>
                <a:r>
                  <a:rPr lang="en-US" dirty="0">
                    <a:solidFill>
                      <a:srgbClr val="C00000"/>
                    </a:solidFill>
                  </a:rPr>
                  <a:t>probability</a:t>
                </a:r>
                <a:r>
                  <a:rPr lang="en-US" dirty="0"/>
                  <a:t> that an arbitrary tuple in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belongs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00000"/>
                    </a:solidFill>
                  </a:rPr>
                  <a:t>class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𝑖</m:t>
                            </m:r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IN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IN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Info(D)</a:t>
                </a:r>
                <a:r>
                  <a:rPr lang="en-US" dirty="0">
                    <a:latin typeface="+mj-lt"/>
                    <a:ea typeface="Cambria" panose="02040503050406030204" pitchFamily="18" charset="0"/>
                  </a:rPr>
                  <a:t> is just the average amount of information needed to identify the class label of a tuple in D.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Info(D)</a:t>
                </a:r>
                <a:r>
                  <a:rPr lang="en-US" dirty="0">
                    <a:latin typeface="+mj-lt"/>
                    <a:ea typeface="Cambria" panose="02040503050406030204" pitchFamily="18" charset="0"/>
                  </a:rPr>
                  <a:t> is also known as the </a:t>
                </a:r>
                <a:r>
                  <a:rPr lang="en-US" dirty="0">
                    <a:solidFill>
                      <a:srgbClr val="C00000"/>
                    </a:solidFill>
                    <a:latin typeface="+mj-lt"/>
                    <a:ea typeface="Cambria" panose="02040503050406030204" pitchFamily="18" charset="0"/>
                  </a:rPr>
                  <a:t>Entropy</a:t>
                </a:r>
                <a:r>
                  <a:rPr lang="en-US" dirty="0">
                    <a:latin typeface="+mj-lt"/>
                    <a:ea typeface="Cambria" panose="02040503050406030204" pitchFamily="18" charset="0"/>
                  </a:rPr>
                  <a:t> of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dirty="0">
                    <a:latin typeface="+mj-lt"/>
                    <a:ea typeface="Cambria" panose="02040503050406030204" pitchFamily="18" charset="0"/>
                  </a:rPr>
                  <a:t>.</a:t>
                </a:r>
                <a:endParaRPr lang="en-IN" dirty="0">
                  <a:latin typeface="+mj-lt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1BDA4CC-7D0A-4DB5-A29D-9F3E1C549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3024554"/>
                <a:ext cx="11929641" cy="3414346"/>
              </a:xfrm>
              <a:prstGeom prst="rect">
                <a:avLst/>
              </a:prstGeom>
              <a:blipFill>
                <a:blip r:embed="rId2"/>
                <a:stretch>
                  <a:fillRect l="-562" t="-1250" r="-818" b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AE25DA3-0343-4C73-AC9B-926429C754E4}"/>
                  </a:ext>
                </a:extLst>
              </p:cNvPr>
              <p:cNvSpPr/>
              <p:nvPr/>
            </p:nvSpPr>
            <p:spPr>
              <a:xfrm>
                <a:off x="4176412" y="3535307"/>
                <a:ext cx="5337487" cy="932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/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func>
                            <m:func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/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AE25DA3-0343-4C73-AC9B-926429C75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412" y="3535307"/>
                <a:ext cx="5337487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6BA8FF-A386-45A7-9214-7C6B8E7B7EEB}"/>
                  </a:ext>
                </a:extLst>
              </p:cNvPr>
              <p:cNvSpPr/>
              <p:nvPr/>
            </p:nvSpPr>
            <p:spPr>
              <a:xfrm>
                <a:off x="1190865" y="3520172"/>
                <a:ext cx="4506683" cy="932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6BA8FF-A386-45A7-9214-7C6B8E7B7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865" y="3520172"/>
                <a:ext cx="4506683" cy="9326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47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</a:t>
            </a:r>
            <a:r>
              <a:rPr lang="en-US" dirty="0"/>
              <a:t>Information Gain Cont..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How much more information would we still need (after the partitioning) to arrive at an exact classification? This amount is measured by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IN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𝐼𝑛𝑓𝑜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268288" indent="0">
                  <a:lnSpc>
                    <a:spcPct val="100000"/>
                  </a:lnSpc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</m:oMath>
                </a14:m>
                <a:r>
                  <a:rPr lang="en-IN" dirty="0"/>
                  <a:t> - weight of the </a:t>
                </a:r>
                <a:r>
                  <a:rPr lang="en-IN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IN" baseline="30000" dirty="0" err="1"/>
                  <a:t>th</a:t>
                </a:r>
                <a:r>
                  <a:rPr lang="en-IN" dirty="0"/>
                  <a:t> partition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𝐼𝑛𝑓𝑜</m:t>
                    </m:r>
                    <m:r>
                      <a:rPr lang="en-IN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IN" dirty="0"/>
                  <a:t> - </a:t>
                </a:r>
                <a:r>
                  <a:rPr lang="en-US" dirty="0"/>
                  <a:t>the expected information required to classify a tuple from </a:t>
                </a:r>
                <a:r>
                  <a:rPr lang="en-US" i="1" dirty="0"/>
                  <a:t>D</a:t>
                </a:r>
                <a:r>
                  <a:rPr lang="en-US" dirty="0"/>
                  <a:t> based on the partitioning by </a:t>
                </a:r>
                <a:r>
                  <a:rPr lang="en-US" i="1" dirty="0"/>
                  <a:t>A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smaller the expected information </a:t>
                </a:r>
                <a:r>
                  <a:rPr lang="en-US" dirty="0"/>
                  <a:t>(still) required, the </a:t>
                </a:r>
                <a:r>
                  <a:rPr lang="en-US" dirty="0">
                    <a:solidFill>
                      <a:srgbClr val="C00000"/>
                    </a:solidFill>
                  </a:rPr>
                  <a:t>greater the purity </a:t>
                </a:r>
                <a:r>
                  <a:rPr lang="en-US" dirty="0"/>
                  <a:t>of the partitions.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12" t="-777" r="-8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39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</a:t>
            </a:r>
            <a:r>
              <a:rPr lang="en-US" dirty="0"/>
              <a:t>Information Gain Cont..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Information gain</a:t>
                </a:r>
                <a:r>
                  <a:rPr lang="en-US" dirty="0"/>
                  <a:t> is defined as the </a:t>
                </a:r>
                <a:r>
                  <a:rPr lang="en-US" dirty="0">
                    <a:solidFill>
                      <a:srgbClr val="C00000"/>
                    </a:solidFill>
                  </a:rPr>
                  <a:t>difference</a:t>
                </a:r>
                <a:r>
                  <a:rPr lang="en-US" dirty="0"/>
                  <a:t> between the </a:t>
                </a:r>
                <a:r>
                  <a:rPr lang="en-US" dirty="0">
                    <a:solidFill>
                      <a:srgbClr val="C00000"/>
                    </a:solidFill>
                  </a:rPr>
                  <a:t>original information requirement</a:t>
                </a:r>
                <a:r>
                  <a:rPr lang="en-US" dirty="0"/>
                  <a:t> (i.e., based on just the proportion of classes) and the </a:t>
                </a:r>
                <a:r>
                  <a:rPr lang="en-US" dirty="0">
                    <a:solidFill>
                      <a:srgbClr val="C00000"/>
                    </a:solidFill>
                  </a:rPr>
                  <a:t>new requirement</a:t>
                </a:r>
                <a:r>
                  <a:rPr lang="en-US" dirty="0"/>
                  <a:t> (i.e., obtained after partitioning on A).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𝐼𝑛𝑓𝑜𝐴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attribute A with the </a:t>
                </a:r>
                <a:r>
                  <a:rPr lang="en-US" dirty="0">
                    <a:solidFill>
                      <a:srgbClr val="C00000"/>
                    </a:solidFill>
                  </a:rPr>
                  <a:t>highest information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gain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rgbClr val="C00000"/>
                    </a:solidFill>
                  </a:rPr>
                  <a:t>chosen</a:t>
                </a:r>
                <a:r>
                  <a:rPr lang="en-US" dirty="0"/>
                  <a:t> as the splitting attribute at node N. 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12" t="-777" r="-8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93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7BFD125D-E17E-4540-B5CA-7C44A9A3E8C4}"/>
              </a:ext>
            </a:extLst>
          </p:cNvPr>
          <p:cNvGraphicFramePr>
            <a:graphicFrameLocks/>
          </p:cNvGraphicFramePr>
          <p:nvPr/>
        </p:nvGraphicFramePr>
        <p:xfrm>
          <a:off x="261938" y="983597"/>
          <a:ext cx="11668128" cy="54864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593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54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RID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income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Class: </a:t>
                      </a:r>
                      <a:r>
                        <a:rPr lang="en-IN" dirty="0" err="1"/>
                        <a:t>buys_computer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IN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C03C25-9061-4161-AA7F-6D06C388BECE}"/>
              </a:ext>
            </a:extLst>
          </p:cNvPr>
          <p:cNvSpPr txBox="1"/>
          <p:nvPr/>
        </p:nvSpPr>
        <p:spPr>
          <a:xfrm>
            <a:off x="261938" y="287774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Information Gain - Example</a:t>
            </a:r>
          </a:p>
        </p:txBody>
      </p:sp>
    </p:spTree>
    <p:extLst>
      <p:ext uri="{BB962C8B-B14F-4D97-AF65-F5344CB8AC3E}">
        <p14:creationId xmlns:p14="http://schemas.microsoft.com/office/powerpoint/2010/main" val="1796236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Information Gain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3135329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class label attribute, </a:t>
                </a:r>
                <a:r>
                  <a:rPr lang="en-US" i="1" dirty="0" err="1">
                    <a:solidFill>
                      <a:srgbClr val="C00000"/>
                    </a:solidFill>
                  </a:rPr>
                  <a:t>buys_computer</a:t>
                </a:r>
                <a:r>
                  <a:rPr lang="en-US" dirty="0"/>
                  <a:t>, has two distinct values namely, {yes, no}, therefore, there are two distinct classes i.e., </a:t>
                </a:r>
                <a:r>
                  <a:rPr lang="en-US" dirty="0">
                    <a:solidFill>
                      <a:srgbClr val="C00000"/>
                    </a:solidFill>
                  </a:rPr>
                  <a:t>m = 2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Let class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correspond to </a:t>
                </a:r>
                <a:r>
                  <a:rPr lang="en-US" i="1" dirty="0">
                    <a:solidFill>
                      <a:srgbClr val="C00000"/>
                    </a:solidFill>
                  </a:rPr>
                  <a:t>yes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and class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correspond to </a:t>
                </a:r>
                <a:r>
                  <a:rPr lang="en-US" i="1" dirty="0">
                    <a:solidFill>
                      <a:srgbClr val="C00000"/>
                    </a:solidFill>
                  </a:rPr>
                  <a:t>no</a:t>
                </a:r>
                <a:r>
                  <a:rPr lang="en-US" i="1" dirty="0"/>
                  <a:t>.</a:t>
                </a: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has </a:t>
                </a:r>
                <a:r>
                  <a:rPr lang="en-US" dirty="0">
                    <a:solidFill>
                      <a:srgbClr val="C00000"/>
                    </a:solidFill>
                  </a:rPr>
                  <a:t>9</a:t>
                </a:r>
                <a:r>
                  <a:rPr lang="en-US" dirty="0"/>
                  <a:t> tuples &amp;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has </a:t>
                </a:r>
                <a:r>
                  <a:rPr lang="en-US" dirty="0">
                    <a:solidFill>
                      <a:srgbClr val="C00000"/>
                    </a:solidFill>
                  </a:rPr>
                  <a:t>5</a:t>
                </a:r>
                <a:r>
                  <a:rPr lang="en-US" dirty="0"/>
                  <a:t> tuples.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Info(D) </a:t>
                </a:r>
                <a:r>
                  <a:rPr lang="en-US" dirty="0"/>
                  <a:t>is computed as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=0.940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𝑏𝑖𝑡𝑠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3135329"/>
              </a:xfrm>
              <a:blipFill>
                <a:blip r:embed="rId2"/>
                <a:stretch>
                  <a:fillRect l="-532" t="-1613" r="-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C47F7FEE-C51C-5BFD-C024-225C3D4F28FB}"/>
              </a:ext>
            </a:extLst>
          </p:cNvPr>
          <p:cNvGraphicFramePr>
            <a:graphicFrameLocks/>
          </p:cNvGraphicFramePr>
          <p:nvPr/>
        </p:nvGraphicFramePr>
        <p:xfrm>
          <a:off x="9036399" y="1375221"/>
          <a:ext cx="2468838" cy="1737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16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Distinct Values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Total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45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90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Information Gain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Computing for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age</a:t>
                </a:r>
                <a:r>
                  <a:rPr lang="en-US" b="1" dirty="0">
                    <a:solidFill>
                      <a:srgbClr val="C00000"/>
                    </a:solidFill>
                  </a:rPr>
                  <a:t> attribute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the </a:t>
                </a:r>
                <a:r>
                  <a:rPr lang="en-US" i="1" dirty="0"/>
                  <a:t>age</a:t>
                </a:r>
                <a:r>
                  <a:rPr lang="en-US" dirty="0"/>
                  <a:t> category “</a:t>
                </a:r>
                <a:r>
                  <a:rPr lang="en-US" i="1" dirty="0">
                    <a:solidFill>
                      <a:srgbClr val="C00000"/>
                    </a:solidFill>
                  </a:rPr>
                  <a:t>youth</a:t>
                </a:r>
                <a:r>
                  <a:rPr lang="en-US" dirty="0"/>
                  <a:t>” – </a:t>
                </a:r>
                <a:r>
                  <a:rPr lang="en-US" i="1" dirty="0">
                    <a:solidFill>
                      <a:srgbClr val="C00000"/>
                    </a:solidFill>
                  </a:rPr>
                  <a:t>2 yes </a:t>
                </a:r>
                <a:r>
                  <a:rPr lang="en-US" dirty="0"/>
                  <a:t>tuples &amp; </a:t>
                </a:r>
                <a:r>
                  <a:rPr lang="en-US" i="1" dirty="0">
                    <a:solidFill>
                      <a:srgbClr val="C00000"/>
                    </a:solidFill>
                  </a:rPr>
                  <a:t>3 no </a:t>
                </a:r>
                <a:r>
                  <a:rPr lang="en-US" dirty="0"/>
                  <a:t>tuples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the category “</a:t>
                </a:r>
                <a:r>
                  <a:rPr lang="en-US" i="1" dirty="0" err="1">
                    <a:solidFill>
                      <a:srgbClr val="C00000"/>
                    </a:solidFill>
                  </a:rPr>
                  <a:t>middle_aged</a:t>
                </a:r>
                <a:r>
                  <a:rPr lang="en-US" dirty="0"/>
                  <a:t>” – </a:t>
                </a:r>
                <a:r>
                  <a:rPr lang="en-US" i="1" dirty="0">
                    <a:solidFill>
                      <a:srgbClr val="C00000"/>
                    </a:solidFill>
                  </a:rPr>
                  <a:t>4 yes </a:t>
                </a:r>
                <a:r>
                  <a:rPr lang="en-US" dirty="0"/>
                  <a:t>tuples &amp; </a:t>
                </a:r>
                <a:r>
                  <a:rPr lang="en-US" i="1" dirty="0">
                    <a:solidFill>
                      <a:srgbClr val="C00000"/>
                    </a:solidFill>
                  </a:rPr>
                  <a:t>0 no </a:t>
                </a:r>
                <a:r>
                  <a:rPr lang="en-US" dirty="0"/>
                  <a:t>tuples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the category “</a:t>
                </a:r>
                <a:r>
                  <a:rPr lang="en-US" i="1" dirty="0">
                    <a:solidFill>
                      <a:srgbClr val="C00000"/>
                    </a:solidFill>
                  </a:rPr>
                  <a:t>senior</a:t>
                </a:r>
                <a:r>
                  <a:rPr lang="en-US" dirty="0"/>
                  <a:t>” - </a:t>
                </a:r>
                <a:r>
                  <a:rPr lang="en-US" i="1" dirty="0">
                    <a:solidFill>
                      <a:srgbClr val="C00000"/>
                    </a:solidFill>
                  </a:rPr>
                  <a:t>3 yes </a:t>
                </a:r>
                <a:r>
                  <a:rPr lang="en-US" dirty="0"/>
                  <a:t>tuples &amp; </a:t>
                </a:r>
                <a:r>
                  <a:rPr lang="en-US" i="1" dirty="0">
                    <a:solidFill>
                      <a:srgbClr val="C00000"/>
                    </a:solidFill>
                  </a:rPr>
                  <a:t>2 no </a:t>
                </a:r>
                <a:r>
                  <a:rPr lang="en-US" dirty="0"/>
                  <a:t>tuples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𝐼𝑛𝑓𝑜</m:t>
                    </m:r>
                    <m:r>
                      <a:rPr lang="en-IN" i="1" baseline="-25000">
                        <a:latin typeface="Cambria Math" panose="02040503050406030204" pitchFamily="18" charset="0"/>
                      </a:rPr>
                      <m:t>𝑎𝑔𝑒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=0.694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𝑏𝑖𝑡𝑠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32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D165FABB-4017-82E7-FBC6-3D5CE2970C0C}"/>
              </a:ext>
            </a:extLst>
          </p:cNvPr>
          <p:cNvGraphicFramePr>
            <a:graphicFrameLocks/>
          </p:cNvGraphicFramePr>
          <p:nvPr/>
        </p:nvGraphicFramePr>
        <p:xfrm>
          <a:off x="7674015" y="1051130"/>
          <a:ext cx="4109013" cy="20116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8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161">
                  <a:extLst>
                    <a:ext uri="{9D8B030D-6E8A-4147-A177-3AD203B41FA5}">
                      <a16:colId xmlns:a16="http://schemas.microsoft.com/office/drawing/2014/main" val="132591613"/>
                    </a:ext>
                  </a:extLst>
                </a:gridCol>
                <a:gridCol w="1074161">
                  <a:extLst>
                    <a:ext uri="{9D8B030D-6E8A-4147-A177-3AD203B41FA5}">
                      <a16:colId xmlns:a16="http://schemas.microsoft.com/office/drawing/2014/main" val="364764334"/>
                    </a:ext>
                  </a:extLst>
                </a:gridCol>
              </a:tblGrid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Distinct Values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youth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effectLst/>
                        </a:rPr>
                        <a:t>middle_aged</a:t>
                      </a:r>
                      <a:endParaRPr lang="en-IN" sz="180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senior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4593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E1E74BB-7719-B148-11C8-C17CAD05F534}"/>
              </a:ext>
            </a:extLst>
          </p:cNvPr>
          <p:cNvSpPr/>
          <p:nvPr/>
        </p:nvSpPr>
        <p:spPr>
          <a:xfrm>
            <a:off x="1794077" y="3692324"/>
            <a:ext cx="3044142" cy="798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rgbClr val="FF0000"/>
              </a:solidFill>
            </a:endParaRP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702C01A4-8D6D-F2CB-69E1-1EF9F70A5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897" y="4860140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i="1" dirty="0">
                <a:solidFill>
                  <a:schemeClr val="tx2"/>
                </a:solidFill>
              </a:rPr>
              <a:t>Info(youth)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6E13115B-83AA-37CA-7F85-9A6B9B2E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747" y="4860140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i="1" dirty="0">
                <a:solidFill>
                  <a:schemeClr val="tx2"/>
                </a:solidFill>
              </a:rPr>
              <a:t>Info(</a:t>
            </a:r>
            <a:r>
              <a:rPr lang="en-US" altLang="en-US" b="1" i="1" dirty="0" err="1">
                <a:solidFill>
                  <a:schemeClr val="tx2"/>
                </a:solidFill>
              </a:rPr>
              <a:t>middle_age</a:t>
            </a:r>
            <a:r>
              <a:rPr lang="en-US" altLang="en-US" b="1" i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F0DE6BD1-16D2-083B-CD94-72FC70E0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270" y="4904683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i="1" dirty="0">
                <a:solidFill>
                  <a:schemeClr val="tx2"/>
                </a:solidFill>
              </a:rPr>
              <a:t>Info(senior)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DAE94-B660-06BE-98CE-9EF8EF49C3C5}"/>
              </a:ext>
            </a:extLst>
          </p:cNvPr>
          <p:cNvSpPr/>
          <p:nvPr/>
        </p:nvSpPr>
        <p:spPr>
          <a:xfrm>
            <a:off x="5768053" y="3692323"/>
            <a:ext cx="1643606" cy="798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A358C-96C0-D530-3DE6-E177B3B7D922}"/>
              </a:ext>
            </a:extLst>
          </p:cNvPr>
          <p:cNvSpPr/>
          <p:nvPr/>
        </p:nvSpPr>
        <p:spPr>
          <a:xfrm>
            <a:off x="8341493" y="3692323"/>
            <a:ext cx="2990122" cy="798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34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Information Gain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IN" dirty="0"/>
                  <a:t>Gain in information for </a:t>
                </a:r>
                <a:r>
                  <a:rPr lang="en-IN" i="1" dirty="0">
                    <a:solidFill>
                      <a:srgbClr val="C00000"/>
                    </a:solidFill>
                  </a:rPr>
                  <a:t>age</a:t>
                </a:r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:r>
                  <a:rPr lang="en-IN" dirty="0"/>
                  <a:t>attribute is given as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𝐼𝑛𝑓𝑜𝑎𝑔𝑒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=0.940−0.694=0.246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𝑏𝑖𝑡𝑠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IN" dirty="0"/>
                  <a:t>Similarly,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IN" dirty="0"/>
                  <a:t>Gain(income) = 0.029 bits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IN" dirty="0"/>
                  <a:t>Gain(student) = 0.151 bits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IN" dirty="0"/>
                  <a:t>Gain(</a:t>
                </a:r>
                <a:r>
                  <a:rPr lang="en-IN" dirty="0" err="1"/>
                  <a:t>credit_rating</a:t>
                </a:r>
                <a:r>
                  <a:rPr lang="en-IN" dirty="0"/>
                  <a:t>) = 0.048 bits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i="1" dirty="0">
                    <a:solidFill>
                      <a:srgbClr val="C00000"/>
                    </a:solidFill>
                  </a:rPr>
                  <a:t>age</a:t>
                </a:r>
                <a:r>
                  <a:rPr lang="en-IN" dirty="0"/>
                  <a:t> attribute has </a:t>
                </a:r>
                <a:r>
                  <a:rPr lang="en-IN" dirty="0">
                    <a:solidFill>
                      <a:srgbClr val="C00000"/>
                    </a:solidFill>
                  </a:rPr>
                  <a:t>highest Information Gain</a:t>
                </a:r>
                <a:r>
                  <a:rPr lang="en-IN" dirty="0"/>
                  <a:t> among all attributes.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dirty="0"/>
                  <a:t>Therefore </a:t>
                </a:r>
                <a:r>
                  <a:rPr lang="en-IN" b="1" dirty="0"/>
                  <a:t>node N is labelled with age </a:t>
                </a:r>
                <a:r>
                  <a:rPr lang="en-IN" dirty="0"/>
                  <a:t>and </a:t>
                </a:r>
                <a:r>
                  <a:rPr lang="en-IN" b="1" dirty="0"/>
                  <a:t>branches grow for each of the attributes value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12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4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Information Gain - Example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9E7BE67-C6DD-4E3A-BF36-EC3C3C7E7CCB}"/>
              </a:ext>
            </a:extLst>
          </p:cNvPr>
          <p:cNvSpPr/>
          <p:nvPr/>
        </p:nvSpPr>
        <p:spPr>
          <a:xfrm>
            <a:off x="5382349" y="954743"/>
            <a:ext cx="1398494" cy="5378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age?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700564-CC55-4165-909A-E3C1A0E0994C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3451976" y="1492625"/>
            <a:ext cx="2629620" cy="5850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98E0B0-326B-447C-9FC1-9BBF60DD8EA5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6078598" y="1492625"/>
            <a:ext cx="2998" cy="2866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A04AE3-87D3-4841-AEB0-317C0E06959B}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6081596" y="1492625"/>
            <a:ext cx="2670478" cy="5850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D76B84-209E-494D-AF45-36BC40A7CFDA}"/>
              </a:ext>
            </a:extLst>
          </p:cNvPr>
          <p:cNvSpPr txBox="1"/>
          <p:nvPr/>
        </p:nvSpPr>
        <p:spPr>
          <a:xfrm>
            <a:off x="4225903" y="146008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youth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49638-DCB4-4902-892C-0AC371718867}"/>
              </a:ext>
            </a:extLst>
          </p:cNvPr>
          <p:cNvSpPr txBox="1"/>
          <p:nvPr/>
        </p:nvSpPr>
        <p:spPr>
          <a:xfrm>
            <a:off x="7258562" y="144664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senior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B95D8-2175-48F1-BF41-43ED9E4FF196}"/>
              </a:ext>
            </a:extLst>
          </p:cNvPr>
          <p:cNvSpPr txBox="1"/>
          <p:nvPr/>
        </p:nvSpPr>
        <p:spPr>
          <a:xfrm>
            <a:off x="5386828" y="1698814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middle_aged</a:t>
            </a:r>
            <a:endParaRPr lang="en-IN" dirty="0"/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358B17C8-DC6F-4354-A5A9-CA7A117B60C6}"/>
              </a:ext>
            </a:extLst>
          </p:cNvPr>
          <p:cNvGraphicFramePr>
            <a:graphicFrameLocks/>
          </p:cNvGraphicFramePr>
          <p:nvPr/>
        </p:nvGraphicFramePr>
        <p:xfrm>
          <a:off x="1461265" y="2077652"/>
          <a:ext cx="3981423" cy="21945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6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004">
                <a:tc>
                  <a:txBody>
                    <a:bodyPr/>
                    <a:lstStyle/>
                    <a:p>
                      <a:r>
                        <a:rPr lang="en-IN" i="1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67FD55AD-ACF6-408D-BD8D-36A8D5BCE34A}"/>
              </a:ext>
            </a:extLst>
          </p:cNvPr>
          <p:cNvGraphicFramePr>
            <a:graphicFrameLocks/>
          </p:cNvGraphicFramePr>
          <p:nvPr/>
        </p:nvGraphicFramePr>
        <p:xfrm>
          <a:off x="4088031" y="4358813"/>
          <a:ext cx="3981134" cy="18288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004">
                <a:tc>
                  <a:txBody>
                    <a:bodyPr/>
                    <a:lstStyle/>
                    <a:p>
                      <a:r>
                        <a:rPr lang="en-IN" i="1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BCCE15F8-6F70-4549-A714-6EE5028B8567}"/>
              </a:ext>
            </a:extLst>
          </p:cNvPr>
          <p:cNvGraphicFramePr>
            <a:graphicFrameLocks/>
          </p:cNvGraphicFramePr>
          <p:nvPr/>
        </p:nvGraphicFramePr>
        <p:xfrm>
          <a:off x="6773414" y="2077652"/>
          <a:ext cx="3957321" cy="21945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004">
                <a:tc>
                  <a:txBody>
                    <a:bodyPr/>
                    <a:lstStyle/>
                    <a:p>
                      <a:r>
                        <a:rPr lang="en-IN" i="1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004"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43FE990-E053-46D7-B1AC-0F493353305D}"/>
              </a:ext>
            </a:extLst>
          </p:cNvPr>
          <p:cNvSpPr txBox="1"/>
          <p:nvPr/>
        </p:nvSpPr>
        <p:spPr>
          <a:xfrm>
            <a:off x="1798405" y="971783"/>
            <a:ext cx="3517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Splitting Attribute </a:t>
            </a:r>
            <a:r>
              <a:rPr lang="en-IN" sz="2400" i="1" dirty="0">
                <a:solidFill>
                  <a:srgbClr val="C00000"/>
                </a:solidFill>
              </a:rPr>
              <a:t>age</a:t>
            </a:r>
            <a:r>
              <a:rPr lang="en-IN" dirty="0"/>
              <a:t> at Root node</a:t>
            </a:r>
          </a:p>
        </p:txBody>
      </p:sp>
    </p:spTree>
    <p:extLst>
      <p:ext uri="{BB962C8B-B14F-4D97-AF65-F5344CB8AC3E}">
        <p14:creationId xmlns:p14="http://schemas.microsoft.com/office/powerpoint/2010/main" val="257019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2. Gain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information gain</a:t>
                </a:r>
                <a:r>
                  <a:rPr lang="en-US" dirty="0"/>
                  <a:t> measure is </a:t>
                </a:r>
                <a:r>
                  <a:rPr lang="en-US" dirty="0">
                    <a:solidFill>
                      <a:srgbClr val="C00000"/>
                    </a:solidFill>
                  </a:rPr>
                  <a:t>biased</a:t>
                </a:r>
                <a:r>
                  <a:rPr lang="en-US" dirty="0"/>
                  <a:t> toward tests with </a:t>
                </a:r>
                <a:r>
                  <a:rPr lang="en-US" dirty="0">
                    <a:solidFill>
                      <a:srgbClr val="C00000"/>
                    </a:solidFill>
                  </a:rPr>
                  <a:t>many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outcomes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example, consider an attribute that acts as a unique identifier such as </a:t>
                </a:r>
                <a:r>
                  <a:rPr lang="en-US" i="1" dirty="0" err="1">
                    <a:solidFill>
                      <a:srgbClr val="C00000"/>
                    </a:solidFill>
                  </a:rPr>
                  <a:t>product_ID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 split on </a:t>
                </a:r>
                <a:r>
                  <a:rPr lang="en-US" dirty="0" err="1">
                    <a:solidFill>
                      <a:srgbClr val="C00000"/>
                    </a:solidFill>
                  </a:rPr>
                  <a:t>product_ID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would result in a large number of partitions each one containing just </a:t>
                </a:r>
                <a:r>
                  <a:rPr lang="en-US" dirty="0">
                    <a:solidFill>
                      <a:srgbClr val="C00000"/>
                    </a:solidFill>
                  </a:rPr>
                  <a:t>one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tuple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𝐼𝑛𝑓𝑜</m:t>
                    </m:r>
                    <m:r>
                      <a:rPr lang="en-IN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IN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𝐼𝐷</m:t>
                    </m:r>
                    <m:d>
                      <m:d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for </a:t>
                </a:r>
                <a:r>
                  <a:rPr lang="en-US" i="1" dirty="0" err="1">
                    <a:solidFill>
                      <a:srgbClr val="C00000"/>
                    </a:solidFill>
                  </a:rPr>
                  <a:t>product_ID</a:t>
                </a:r>
                <a:r>
                  <a:rPr lang="en-US" dirty="0"/>
                  <a:t> attribute which results in </a:t>
                </a:r>
                <a:r>
                  <a:rPr lang="en-US" dirty="0">
                    <a:solidFill>
                      <a:srgbClr val="C00000"/>
                    </a:solidFill>
                  </a:rPr>
                  <a:t>maximum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information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gain</a:t>
                </a:r>
                <a:r>
                  <a:rPr lang="en-US" dirty="0"/>
                  <a:t>. Clearly, such a partitioning is useless for classification.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32" t="-922" r="-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0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2. Gain Ratio Cont</a:t>
            </a:r>
            <a:r>
              <a:rPr lang="en-IN" dirty="0"/>
              <a:t>..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C4.5</a:t>
                </a:r>
                <a:r>
                  <a:rPr lang="en-US" dirty="0"/>
                  <a:t> uses an extension to information gain known as </a:t>
                </a:r>
                <a:r>
                  <a:rPr lang="en-US" dirty="0">
                    <a:solidFill>
                      <a:srgbClr val="C00000"/>
                    </a:solidFill>
                  </a:rPr>
                  <a:t>gain ratio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It applies a kind of </a:t>
                </a:r>
                <a:r>
                  <a:rPr lang="en-US" dirty="0">
                    <a:solidFill>
                      <a:srgbClr val="C00000"/>
                    </a:solidFill>
                  </a:rPr>
                  <a:t>normalization</a:t>
                </a:r>
                <a:r>
                  <a:rPr lang="en-US" dirty="0"/>
                  <a:t> to information gain using a “</a:t>
                </a:r>
                <a:r>
                  <a:rPr lang="en-US" dirty="0">
                    <a:solidFill>
                      <a:srgbClr val="C00000"/>
                    </a:solidFill>
                  </a:rPr>
                  <a:t>split information</a:t>
                </a:r>
                <a:r>
                  <a:rPr lang="en-US" dirty="0"/>
                  <a:t>” value defined with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𝐼𝑛𝑓𝑜</m:t>
                    </m:r>
                    <m:d>
                      <m:d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as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𝑆𝑝𝑙𝑖𝑡𝐼𝑛𝑓𝑜</m:t>
                      </m:r>
                      <m:r>
                        <a:rPr lang="en-IN" i="1" baseline="-2500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e>
                      </m:nary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This value represents the potential information generated by splitting the training data set,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dirty="0"/>
                  <a:t>, into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v</a:t>
                </a:r>
                <a:r>
                  <a:rPr lang="en-US" dirty="0"/>
                  <a:t> partitions, corresponding to the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v</a:t>
                </a:r>
                <a:r>
                  <a:rPr lang="en-US" dirty="0"/>
                  <a:t> outcomes of a test on attribute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Gain Ratio </a:t>
                </a:r>
                <a:r>
                  <a:rPr lang="en-US" dirty="0"/>
                  <a:t>is defined as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𝐺𝑎𝑖𝑛𝑅𝑎𝑡𝑖𝑜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𝐺𝑎𝑖𝑛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𝑆𝑝𝑙𝑖𝑡𝐼𝑛𝑓𝑜</m:t>
                          </m:r>
                          <m:r>
                            <a:rPr lang="en-IN" i="1" baseline="-2500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IN" i="1" baseline="-25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attribute</a:t>
                </a:r>
                <a:r>
                  <a:rPr lang="en-US" dirty="0"/>
                  <a:t> with the </a:t>
                </a:r>
                <a:r>
                  <a:rPr lang="en-US" dirty="0">
                    <a:solidFill>
                      <a:srgbClr val="C00000"/>
                    </a:solidFill>
                  </a:rPr>
                  <a:t>maximum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gain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ratio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rgbClr val="C00000"/>
                    </a:solidFill>
                  </a:rPr>
                  <a:t>selected</a:t>
                </a:r>
                <a:r>
                  <a:rPr lang="en-US" dirty="0"/>
                  <a:t> as the splitting attribute.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12" t="-777" r="-8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82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2. Gain Ratio - Example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E8A73EF-E0CB-4016-9D5F-BE80284EDB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7975" y="869297"/>
          <a:ext cx="8952401" cy="54864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59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3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i="1" dirty="0"/>
                        <a:t>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Class: </a:t>
                      </a:r>
                      <a:r>
                        <a:rPr lang="en-IN" i="1" dirty="0" err="1"/>
                        <a:t>buys_computer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778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61B7-FEAA-4923-A967-5D137DDA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Gain Ratio for the attribute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income</a:t>
            </a:r>
            <a:r>
              <a:rPr lang="en-IN" dirty="0"/>
              <a:t>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7D4B8-67F9-43D9-AD14-13FA4B632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281458" cy="5578501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IN" dirty="0"/>
                  <a:t>To compute the gain ratio of </a:t>
                </a:r>
                <a:r>
                  <a:rPr lang="en-IN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income</a:t>
                </a:r>
                <a:r>
                  <a:rPr lang="en-IN" dirty="0"/>
                  <a:t> </a:t>
                </a:r>
                <a:endParaRPr lang="en-US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𝑆𝑝𝑙𝑖𝑡𝐼𝑛𝑓𝑜</m:t>
                      </m:r>
                      <m:r>
                        <a:rPr lang="en-IN" sz="2400" b="0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𝑖𝑛𝑐𝑜𝑚𝑒</m:t>
                      </m:r>
                      <m:d>
                        <m:d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=1.557</m:t>
                      </m:r>
                    </m:oMath>
                  </m:oMathPara>
                </a14:m>
                <a:endParaRPr lang="en-IN" sz="2400" b="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𝑖𝑛𝑐𝑜𝑚𝑒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=0.029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𝐺𝑎𝑖𝑛𝑅𝑎𝑡𝑖𝑜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𝑖𝑛𝑐𝑜𝑚𝑒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0.029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1.557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=0.019</m:t>
                    </m:r>
                  </m:oMath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Similarly, </a:t>
                </a:r>
                <a:r>
                  <a:rPr lang="en-US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GainRatio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(age), </a:t>
                </a:r>
                <a:r>
                  <a:rPr lang="en-US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GainRatio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(student), </a:t>
                </a:r>
                <a:r>
                  <a:rPr lang="en-US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GainRatio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(</a:t>
                </a:r>
                <a:r>
                  <a:rPr lang="en-US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credit_rating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:r>
                  <a:rPr lang="en-US" dirty="0">
                    <a:latin typeface="+mj-lt"/>
                    <a:ea typeface="Cambria" panose="02040503050406030204" pitchFamily="18" charset="0"/>
                  </a:rPr>
                  <a:t>is to be computed.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7D4B8-67F9-43D9-AD14-13FA4B632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281458" cy="5578501"/>
              </a:xfrm>
              <a:blipFill>
                <a:blip r:embed="rId2"/>
                <a:stretch>
                  <a:fillRect l="-562" t="-909" r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399377-B82F-BA66-9E67-82E739C1C4F8}"/>
              </a:ext>
            </a:extLst>
          </p:cNvPr>
          <p:cNvGraphicFramePr>
            <a:graphicFrameLocks/>
          </p:cNvGraphicFramePr>
          <p:nvPr/>
        </p:nvGraphicFramePr>
        <p:xfrm>
          <a:off x="613458" y="1475193"/>
          <a:ext cx="3239475" cy="16123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1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007">
                  <a:extLst>
                    <a:ext uri="{9D8B030D-6E8A-4147-A177-3AD203B41FA5}">
                      <a16:colId xmlns:a16="http://schemas.microsoft.com/office/drawing/2014/main" val="364764334"/>
                    </a:ext>
                  </a:extLst>
                </a:gridCol>
              </a:tblGrid>
              <a:tr h="51502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Distinct Values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medium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  <a:tr h="333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low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45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20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lang="en-IN" b="1" dirty="0"/>
              <a:t>3. Gini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CART </a:t>
                </a:r>
                <a:r>
                  <a:rPr lang="en-US" dirty="0"/>
                  <a:t>uses </a:t>
                </a:r>
                <a:r>
                  <a:rPr lang="en-US" dirty="0" err="1">
                    <a:solidFill>
                      <a:srgbClr val="C00000"/>
                    </a:solidFill>
                  </a:rPr>
                  <a:t>Gini</a:t>
                </a:r>
                <a:r>
                  <a:rPr lang="en-US" dirty="0">
                    <a:solidFill>
                      <a:srgbClr val="C00000"/>
                    </a:solidFill>
                  </a:rPr>
                  <a:t> Index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Gini</a:t>
                </a:r>
                <a:r>
                  <a:rPr lang="en-US" dirty="0"/>
                  <a:t> index measures the impurity of D, a data partition or set of training tuples, as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dirty="0"/>
              </a:p>
              <a:p>
                <a:pPr marL="268288" indent="0"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US" dirty="0"/>
                  <a:t>is the </a:t>
                </a:r>
                <a:r>
                  <a:rPr lang="en-US" dirty="0">
                    <a:solidFill>
                      <a:srgbClr val="C00000"/>
                    </a:solidFill>
                  </a:rPr>
                  <a:t>probability</a:t>
                </a:r>
                <a:r>
                  <a:rPr lang="en-US" dirty="0"/>
                  <a:t> that a tuple in D belongs to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is estimated by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IN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dirty="0" err="1">
                    <a:solidFill>
                      <a:srgbClr val="C00000"/>
                    </a:solidFill>
                  </a:rPr>
                  <a:t>Gini</a:t>
                </a:r>
                <a:r>
                  <a:rPr lang="en-US" dirty="0">
                    <a:solidFill>
                      <a:srgbClr val="C00000"/>
                    </a:solidFill>
                  </a:rPr>
                  <a:t> index</a:t>
                </a:r>
                <a:r>
                  <a:rPr lang="en-US" dirty="0"/>
                  <a:t> considers a </a:t>
                </a:r>
                <a:r>
                  <a:rPr lang="en-US" dirty="0">
                    <a:solidFill>
                      <a:srgbClr val="C00000"/>
                    </a:solidFill>
                  </a:rPr>
                  <a:t>binary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split</a:t>
                </a:r>
                <a:r>
                  <a:rPr lang="en-US" dirty="0"/>
                  <a:t> for each attribute.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16778A-3931-4558-9EAA-1CFF5C66F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77" y="846362"/>
                <a:ext cx="11910423" cy="5490938"/>
              </a:xfrm>
              <a:blipFill>
                <a:blip r:embed="rId2"/>
                <a:stretch>
                  <a:fillRect l="-512" t="-1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8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28A8-1FC5-4A5E-9690-2A552361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3. Gini Index Cont..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B1E7BE-3F8A-4DA3-91E4-D029321C3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IN" dirty="0">
                    <a:solidFill>
                      <a:srgbClr val="C00000"/>
                    </a:solidFill>
                  </a:rPr>
                  <a:t>The Gini index considers a binary split for each attribute. 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Consider the case where </a:t>
                </a:r>
                <a:r>
                  <a:rPr lang="en-US" i="1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/>
                  <a:t> is a discrete-valued attribute having </a:t>
                </a:r>
                <a:r>
                  <a:rPr lang="en-US" i="1" dirty="0">
                    <a:solidFill>
                      <a:srgbClr val="C00000"/>
                    </a:solidFill>
                  </a:rPr>
                  <a:t>v</a:t>
                </a:r>
                <a:r>
                  <a:rPr lang="en-US" dirty="0"/>
                  <a:t> distinct values, </a:t>
                </a:r>
                <a:r>
                  <a:rPr lang="en-US" dirty="0">
                    <a:solidFill>
                      <a:srgbClr val="C00000"/>
                    </a:solidFill>
                  </a:rPr>
                  <a:t>{</a:t>
                </a:r>
                <a:r>
                  <a:rPr lang="en-US" i="1" dirty="0">
                    <a:solidFill>
                      <a:srgbClr val="C00000"/>
                    </a:solidFill>
                  </a:rPr>
                  <a:t>a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i="1" dirty="0">
                    <a:solidFill>
                      <a:srgbClr val="C00000"/>
                    </a:solidFill>
                  </a:rPr>
                  <a:t>,a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i="1" dirty="0">
                    <a:solidFill>
                      <a:srgbClr val="C00000"/>
                    </a:solidFill>
                  </a:rPr>
                  <a:t>,…,a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v</a:t>
                </a:r>
                <a:r>
                  <a:rPr lang="en-US" dirty="0">
                    <a:solidFill>
                      <a:srgbClr val="C00000"/>
                    </a:solidFill>
                  </a:rPr>
                  <a:t>}.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Examine all the possible subsets that can be formed using </a:t>
                </a:r>
                <a:r>
                  <a:rPr lang="en-US" dirty="0">
                    <a:solidFill>
                      <a:srgbClr val="C00000"/>
                    </a:solidFill>
                  </a:rPr>
                  <a:t>known values of </a:t>
                </a:r>
                <a:r>
                  <a:rPr lang="en-US" i="1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Each subset </a:t>
                </a:r>
                <a:r>
                  <a:rPr lang="en-US" i="1" dirty="0">
                    <a:solidFill>
                      <a:srgbClr val="C00000"/>
                    </a:solidFill>
                  </a:rPr>
                  <a:t>S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/>
                  <a:t>, can be considered as a </a:t>
                </a:r>
                <a:r>
                  <a:rPr lang="en-US" dirty="0">
                    <a:solidFill>
                      <a:srgbClr val="C00000"/>
                    </a:solidFill>
                  </a:rPr>
                  <a:t>binary test for attribute </a:t>
                </a:r>
                <a:r>
                  <a:rPr lang="en-US" i="1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>
                    <a:solidFill>
                      <a:srgbClr val="C00000"/>
                    </a:solidFill>
                  </a:rPr>
                  <a:t> of the form “</a:t>
                </a:r>
                <a:r>
                  <a:rPr lang="en-US" i="1" dirty="0">
                    <a:solidFill>
                      <a:srgbClr val="C00000"/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S</a:t>
                </a:r>
                <a:r>
                  <a:rPr lang="en-US" i="1" baseline="-25000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>
                    <a:solidFill>
                      <a:srgbClr val="C00000"/>
                    </a:solidFill>
                  </a:rPr>
                  <a:t>”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example, if </a:t>
                </a:r>
                <a:r>
                  <a:rPr lang="en-US" i="1" dirty="0"/>
                  <a:t>income</a:t>
                </a:r>
                <a:r>
                  <a:rPr lang="en-US" dirty="0"/>
                  <a:t> has </a:t>
                </a:r>
                <a:r>
                  <a:rPr lang="en-US" dirty="0">
                    <a:solidFill>
                      <a:srgbClr val="C00000"/>
                    </a:solidFill>
                  </a:rPr>
                  <a:t>three possible values, namely {low, medium, high}, </a:t>
                </a:r>
                <a:r>
                  <a:rPr lang="en-US" dirty="0"/>
                  <a:t>then the possible subsets are </a:t>
                </a:r>
                <a:r>
                  <a:rPr lang="en-US" dirty="0">
                    <a:solidFill>
                      <a:srgbClr val="C00000"/>
                    </a:solidFill>
                  </a:rPr>
                  <a:t>{low, medium, high}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{low, medium}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{low, high}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{medium, high}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{low}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{medium}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{high},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C00000"/>
                    </a:solidFill>
                  </a:rPr>
                  <a:t>{}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Excluding the </a:t>
                </a:r>
                <a:r>
                  <a:rPr lang="en-US" dirty="0">
                    <a:solidFill>
                      <a:srgbClr val="C00000"/>
                    </a:solidFill>
                  </a:rPr>
                  <a:t>power set and the empty set</a:t>
                </a:r>
                <a:r>
                  <a:rPr lang="en-US" dirty="0"/>
                  <a:t>, there are </a:t>
                </a:r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V</a:t>
                </a:r>
                <a:r>
                  <a:rPr lang="en-US" dirty="0">
                    <a:solidFill>
                      <a:srgbClr val="C00000"/>
                    </a:solidFill>
                  </a:rPr>
                  <a:t> — 2 </a:t>
                </a:r>
                <a:r>
                  <a:rPr lang="en-US" dirty="0"/>
                  <a:t>possible ways to form two partitions of the data, D, </a:t>
                </a:r>
                <a:r>
                  <a:rPr lang="en-US" dirty="0">
                    <a:solidFill>
                      <a:srgbClr val="C00000"/>
                    </a:solidFill>
                  </a:rPr>
                  <a:t>based on a binary split on A</a:t>
                </a:r>
                <a:r>
                  <a:rPr lang="en-US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B1E7BE-3F8A-4DA3-91E4-D029321C3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2" t="-909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26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9D90-323E-4B75-8E7E-4B245D06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Gini Index Cont..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2C273-799D-4F20-A1AA-D4014A1F2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Compute a weighted sum of the impurity of each resulting partition. For example, if a binary split on </a:t>
                </a:r>
                <a:r>
                  <a:rPr lang="en-US" i="1" dirty="0"/>
                  <a:t>A</a:t>
                </a:r>
                <a:r>
                  <a:rPr lang="en-US" dirty="0"/>
                  <a:t> partitions </a:t>
                </a:r>
                <a:r>
                  <a:rPr lang="en-US" i="1" dirty="0"/>
                  <a:t>D</a:t>
                </a:r>
                <a:r>
                  <a:rPr lang="en-US" dirty="0"/>
                  <a:t> into </a:t>
                </a:r>
                <a:r>
                  <a:rPr lang="en-US" i="1" dirty="0"/>
                  <a:t>D</a:t>
                </a:r>
                <a:r>
                  <a:rPr lang="en-US" i="1" baseline="-25000" dirty="0"/>
                  <a:t>1</a:t>
                </a:r>
                <a:r>
                  <a:rPr lang="en-US" dirty="0"/>
                  <a:t> and </a:t>
                </a:r>
                <a:r>
                  <a:rPr lang="en-US" i="1" dirty="0"/>
                  <a:t>D</a:t>
                </a:r>
                <a:r>
                  <a:rPr lang="en-US" i="1" baseline="-25000" dirty="0"/>
                  <a:t>2</a:t>
                </a:r>
                <a:r>
                  <a:rPr lang="en-US" dirty="0"/>
                  <a:t>, the </a:t>
                </a:r>
                <a:r>
                  <a:rPr lang="en-US" dirty="0" err="1"/>
                  <a:t>Gini</a:t>
                </a:r>
                <a:r>
                  <a:rPr lang="en-US" dirty="0"/>
                  <a:t> index of </a:t>
                </a:r>
                <a:r>
                  <a:rPr lang="en-US" i="1" dirty="0"/>
                  <a:t>D</a:t>
                </a:r>
                <a:r>
                  <a:rPr lang="en-US" dirty="0"/>
                  <a:t> given that partitioning is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IN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a discrete-valued attribute, the </a:t>
                </a:r>
                <a:r>
                  <a:rPr lang="en-US" dirty="0">
                    <a:solidFill>
                      <a:srgbClr val="C00000"/>
                    </a:solidFill>
                  </a:rPr>
                  <a:t>subset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rgbClr val="C00000"/>
                    </a:solidFill>
                  </a:rPr>
                  <a:t>gives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rgbClr val="C00000"/>
                    </a:solidFill>
                  </a:rPr>
                  <a:t>minimum</a:t>
                </a:r>
                <a:r>
                  <a:rPr lang="en-US" dirty="0"/>
                  <a:t> </a:t>
                </a:r>
                <a:r>
                  <a:rPr lang="en-US" dirty="0" err="1"/>
                  <a:t>Gini</a:t>
                </a:r>
                <a:r>
                  <a:rPr lang="en-US" dirty="0"/>
                  <a:t> index for that attribute is </a:t>
                </a:r>
                <a:r>
                  <a:rPr lang="en-US" dirty="0">
                    <a:solidFill>
                      <a:srgbClr val="C00000"/>
                    </a:solidFill>
                  </a:rPr>
                  <a:t>selected</a:t>
                </a:r>
                <a:r>
                  <a:rPr lang="en-US" dirty="0"/>
                  <a:t> as its </a:t>
                </a:r>
                <a:r>
                  <a:rPr lang="en-US" dirty="0">
                    <a:solidFill>
                      <a:srgbClr val="C00000"/>
                    </a:solidFill>
                  </a:rPr>
                  <a:t>splitting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subset</a:t>
                </a:r>
                <a:r>
                  <a:rPr lang="en-US" dirty="0"/>
                  <a:t>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2C273-799D-4F20-A1AA-D4014A1F2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2" t="-763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4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3</a:t>
            </a:r>
            <a:r>
              <a:rPr lang="en-IN" b="1" dirty="0"/>
              <a:t>. </a:t>
            </a:r>
            <a:r>
              <a:rPr lang="en-IN" dirty="0"/>
              <a:t>Gini Index </a:t>
            </a:r>
            <a:r>
              <a:rPr lang="en-IN" b="1" dirty="0"/>
              <a:t>- Example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E8A73EF-E0CB-4016-9D5F-BE80284EDB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7975" y="869297"/>
          <a:ext cx="8952401" cy="54864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59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3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i="1" dirty="0"/>
                        <a:t>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 err="1"/>
                        <a:t>credit_rating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Class: </a:t>
                      </a:r>
                      <a:r>
                        <a:rPr lang="en-IN" i="1" dirty="0" err="1"/>
                        <a:t>buys_computer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middle_aged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8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5355-45F2-4C44-88CC-905BF0EA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3</a:t>
            </a:r>
            <a:r>
              <a:rPr lang="en-IN" b="1" dirty="0"/>
              <a:t>. </a:t>
            </a:r>
            <a:r>
              <a:rPr lang="en-IN" dirty="0"/>
              <a:t>Gini Index </a:t>
            </a:r>
            <a:r>
              <a:rPr lang="en-IN" b="1" dirty="0"/>
              <a:t>– Example Cont</a:t>
            </a:r>
            <a:r>
              <a:rPr lang="en-IN" dirty="0"/>
              <a:t>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139FB-4C8F-44B5-88A4-993005E6C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Considering the data of </a:t>
                </a:r>
                <a:r>
                  <a:rPr lang="en-US" dirty="0" err="1"/>
                  <a:t>AllElectronics</a:t>
                </a:r>
                <a:r>
                  <a:rPr lang="en-US" dirty="0"/>
                  <a:t>,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i="1" dirty="0" err="1"/>
                  <a:t>buys_computer</a:t>
                </a:r>
                <a:r>
                  <a:rPr lang="en-US" i="1" dirty="0"/>
                  <a:t> = yes </a:t>
                </a:r>
                <a:r>
                  <a:rPr lang="en-US" dirty="0"/>
                  <a:t>- 9 tuples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i="1" dirty="0" err="1"/>
                  <a:t>buys_computer</a:t>
                </a:r>
                <a:r>
                  <a:rPr lang="en-US" i="1" dirty="0"/>
                  <a:t> = no </a:t>
                </a:r>
                <a:r>
                  <a:rPr lang="en-US" dirty="0"/>
                  <a:t>- 5 tuples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 err="1"/>
                  <a:t>Gini</a:t>
                </a:r>
                <a:r>
                  <a:rPr lang="en-US" dirty="0"/>
                  <a:t> index to compute the impurity of </a:t>
                </a:r>
                <a:r>
                  <a:rPr lang="en-US" i="1" dirty="0"/>
                  <a:t>D</a:t>
                </a:r>
                <a:r>
                  <a:rPr lang="en-US" dirty="0"/>
                  <a:t> is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=0.459</m:t>
                      </m:r>
                    </m:oMath>
                  </m:oMathPara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139FB-4C8F-44B5-88A4-993005E6C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2" t="-7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70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7DDD1-89FB-4713-8F22-6C6BEBD4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</a:t>
            </a:r>
            <a:r>
              <a:rPr lang="en-IN" b="1" dirty="0"/>
              <a:t>. </a:t>
            </a:r>
            <a:r>
              <a:rPr lang="en-IN" dirty="0"/>
              <a:t>Gini Index </a:t>
            </a:r>
            <a:r>
              <a:rPr lang="en-IN" b="1" dirty="0"/>
              <a:t>– Example Cont</a:t>
            </a:r>
            <a:r>
              <a:rPr lang="en-IN" dirty="0"/>
              <a:t>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D0722-FC2A-40E1-BEB4-BCF6D1556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221532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Consider each of the possible </a:t>
                </a:r>
                <a:r>
                  <a:rPr lang="en-US" dirty="0">
                    <a:solidFill>
                      <a:srgbClr val="C00000"/>
                    </a:solidFill>
                  </a:rPr>
                  <a:t>splitting subsets for income attribute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Consider the subset </a:t>
                </a:r>
                <a:r>
                  <a:rPr lang="en-US" dirty="0">
                    <a:solidFill>
                      <a:srgbClr val="C00000"/>
                    </a:solidFill>
                  </a:rPr>
                  <a:t>{low, medium}.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10 tuples in partition </a:t>
                </a:r>
                <a:r>
                  <a:rPr lang="en-US" i="1" dirty="0"/>
                  <a:t>D</a:t>
                </a:r>
                <a:r>
                  <a:rPr lang="en-US" i="1" baseline="-25000" dirty="0"/>
                  <a:t>1</a:t>
                </a:r>
                <a:r>
                  <a:rPr lang="en-US" dirty="0"/>
                  <a:t> satisfying the condition “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𝑖𝑛𝑐𝑜𝑚𝑒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𝑙𝑜𝑤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𝑚𝑒𝑑𝑖𝑢𝑚</m:t>
                        </m:r>
                      </m:e>
                    </m:d>
                  </m:oMath>
                </a14:m>
                <a:r>
                  <a:rPr lang="en-US" dirty="0"/>
                  <a:t>”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4 tuples of </a:t>
                </a:r>
                <a:r>
                  <a:rPr lang="en-US" i="1" dirty="0"/>
                  <a:t>D</a:t>
                </a:r>
                <a:r>
                  <a:rPr lang="en-US" dirty="0"/>
                  <a:t> would be assigned to partition </a:t>
                </a:r>
                <a:r>
                  <a:rPr lang="en-US" i="1" dirty="0"/>
                  <a:t>D</a:t>
                </a:r>
                <a:r>
                  <a:rPr lang="en-US" i="1" baseline="-25000" dirty="0"/>
                  <a:t>2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 err="1"/>
                  <a:t>Gini</a:t>
                </a:r>
                <a:r>
                  <a:rPr lang="en-US" dirty="0"/>
                  <a:t> index value computed based on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D0722-FC2A-40E1-BEB4-BCF6D1556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2215320"/>
              </a:xfrm>
              <a:blipFill>
                <a:blip r:embed="rId2"/>
                <a:stretch>
                  <a:fillRect l="-532" t="-2286" b="-4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B4356-7523-4DED-A126-D0F1611E5211}"/>
                  </a:ext>
                </a:extLst>
              </p:cNvPr>
              <p:cNvSpPr txBox="1"/>
              <p:nvPr/>
            </p:nvSpPr>
            <p:spPr>
              <a:xfrm>
                <a:off x="867147" y="3272759"/>
                <a:ext cx="4306263" cy="3958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𝑚𝑒𝑑𝑖𝑢𝑚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8B4356-7523-4DED-A126-D0F1611E5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47" y="3272759"/>
                <a:ext cx="4306263" cy="395814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D860B9-9A56-4972-B32B-0C740A07AFF3}"/>
                  </a:ext>
                </a:extLst>
              </p:cNvPr>
              <p:cNvSpPr/>
              <p:nvPr/>
            </p:nvSpPr>
            <p:spPr>
              <a:xfrm>
                <a:off x="4704599" y="3078764"/>
                <a:ext cx="4035400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400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sz="240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D860B9-9A56-4972-B32B-0C740A07A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9" y="3078764"/>
                <a:ext cx="4035400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74FB7F-59AC-4F72-AAF9-CAA66F01C11C}"/>
                  </a:ext>
                </a:extLst>
              </p:cNvPr>
              <p:cNvSpPr/>
              <p:nvPr/>
            </p:nvSpPr>
            <p:spPr>
              <a:xfrm>
                <a:off x="4704599" y="3902940"/>
                <a:ext cx="7226145" cy="10574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d>
                        <m:d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74FB7F-59AC-4F72-AAF9-CAA66F01C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9" y="3902940"/>
                <a:ext cx="7226145" cy="10574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B9AA4B-B4FF-49E8-A708-C6AB5BFC35B4}"/>
                  </a:ext>
                </a:extLst>
              </p:cNvPr>
              <p:cNvSpPr/>
              <p:nvPr/>
            </p:nvSpPr>
            <p:spPr>
              <a:xfrm>
                <a:off x="4704599" y="5000781"/>
                <a:ext cx="13120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0.443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B9AA4B-B4FF-49E8-A708-C6AB5BFC35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9" y="5000781"/>
                <a:ext cx="131209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1B69A9-9AF6-4AE5-8423-27856E407806}"/>
                  </a:ext>
                </a:extLst>
              </p:cNvPr>
              <p:cNvSpPr/>
              <p:nvPr/>
            </p:nvSpPr>
            <p:spPr>
              <a:xfrm>
                <a:off x="4704599" y="5502818"/>
                <a:ext cx="3261855" cy="4917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h𝑖𝑔h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1B69A9-9AF6-4AE5-8423-27856E4078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9" y="5502818"/>
                <a:ext cx="3261855" cy="491738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CDD478BD-EA19-9E7B-6965-54EF5624C9DF}"/>
              </a:ext>
            </a:extLst>
          </p:cNvPr>
          <p:cNvGraphicFramePr>
            <a:graphicFrameLocks/>
          </p:cNvGraphicFramePr>
          <p:nvPr/>
        </p:nvGraphicFramePr>
        <p:xfrm>
          <a:off x="363383" y="4090529"/>
          <a:ext cx="4109013" cy="16459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5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161">
                  <a:extLst>
                    <a:ext uri="{9D8B030D-6E8A-4147-A177-3AD203B41FA5}">
                      <a16:colId xmlns:a16="http://schemas.microsoft.com/office/drawing/2014/main" val="132591613"/>
                    </a:ext>
                  </a:extLst>
                </a:gridCol>
                <a:gridCol w="1074161">
                  <a:extLst>
                    <a:ext uri="{9D8B030D-6E8A-4147-A177-3AD203B41FA5}">
                      <a16:colId xmlns:a16="http://schemas.microsoft.com/office/drawing/2014/main" val="364764334"/>
                    </a:ext>
                  </a:extLst>
                </a:gridCol>
              </a:tblGrid>
              <a:tr h="3469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Distinct Values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Low, Medium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76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effectLst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5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53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1356-0EA3-54C2-630F-02E2BC36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</a:t>
            </a:r>
            <a:r>
              <a:rPr lang="en-IN" b="1" dirty="0"/>
              <a:t>. </a:t>
            </a:r>
            <a:r>
              <a:rPr lang="en-IN" dirty="0"/>
              <a:t>Gini Index </a:t>
            </a:r>
            <a:r>
              <a:rPr lang="en-IN" b="1" dirty="0"/>
              <a:t>– Example Cont</a:t>
            </a:r>
            <a:r>
              <a:rPr lang="en-IN" dirty="0"/>
              <a:t>..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235165-D45B-1A15-35C3-B6744903A11A}"/>
                  </a:ext>
                </a:extLst>
              </p:cNvPr>
              <p:cNvSpPr txBox="1"/>
              <p:nvPr/>
            </p:nvSpPr>
            <p:spPr>
              <a:xfrm>
                <a:off x="1258956" y="991525"/>
                <a:ext cx="7664406" cy="11960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𝑚𝑒𝑑𝑖𝑢𝑚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en-IN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h𝑖𝑔h</m:t>
                          </m:r>
                          <m:r>
                            <a:rPr lang="en-US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IN" sz="2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h𝑖𝑔h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𝑚𝑒𝑑𝑖𝑢𝑚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0.458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𝑚𝑒𝑑𝑖𝑢𝑚</m:t>
                              </m:r>
                              <m: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h𝑖𝑔h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=0.45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235165-D45B-1A15-35C3-B6744903A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6" y="991525"/>
                <a:ext cx="7664406" cy="1196097"/>
              </a:xfrm>
              <a:prstGeom prst="rect">
                <a:avLst/>
              </a:prstGeom>
              <a:blipFill>
                <a:blip r:embed="rId2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0C1D0D-AD9E-6F4B-1E2B-976526930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587" y="1008004"/>
            <a:ext cx="415023" cy="394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39C49-08B0-888F-6B39-D7CFDBB6BC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800" y="1419011"/>
            <a:ext cx="341123" cy="341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65D001-721B-32A1-45A6-7112BDC822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538" y="1803316"/>
            <a:ext cx="341123" cy="341123"/>
          </a:xfrm>
          <a:prstGeom prst="rect">
            <a:avLst/>
          </a:prstGeom>
        </p:spPr>
      </p:pic>
      <p:sp>
        <p:nvSpPr>
          <p:cNvPr id="11" name="Text Box 31">
            <a:extLst>
              <a:ext uri="{FF2B5EF4-FFF2-40B4-BE49-F238E27FC236}">
                <a16:creationId xmlns:a16="http://schemas.microsoft.com/office/drawing/2014/main" id="{E0AC2B91-FF01-B357-522B-D915EEBEA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7" y="1404906"/>
            <a:ext cx="1258956" cy="43088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2200" b="1" i="1" dirty="0">
                <a:solidFill>
                  <a:schemeClr val="tx2"/>
                </a:solidFill>
              </a:rPr>
              <a:t>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277C3-4352-96C8-FC5C-D1D09571318A}"/>
                  </a:ext>
                </a:extLst>
              </p:cNvPr>
              <p:cNvSpPr txBox="1"/>
              <p:nvPr/>
            </p:nvSpPr>
            <p:spPr>
              <a:xfrm>
                <a:off x="1258956" y="2655675"/>
                <a:ext cx="8232510" cy="491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𝑦𝑜𝑢𝑡h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𝑠𝑒𝑛𝑖𝑜𝑟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𝑚𝑖𝑑𝑑𝑙𝑒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𝑎𝑔𝑒𝑑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=0.357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E277C3-4352-96C8-FC5C-D1D095713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6" y="2655675"/>
                <a:ext cx="8232510" cy="491738"/>
              </a:xfrm>
              <a:prstGeom prst="rect">
                <a:avLst/>
              </a:prstGeom>
              <a:blipFill>
                <a:blip r:embed="rId5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31">
            <a:extLst>
              <a:ext uri="{FF2B5EF4-FFF2-40B4-BE49-F238E27FC236}">
                <a16:creationId xmlns:a16="http://schemas.microsoft.com/office/drawing/2014/main" id="{3D183152-7B76-C69E-80A2-8A5F514D3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7" y="2716878"/>
            <a:ext cx="1258956" cy="43088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2200" b="1" i="1" dirty="0">
                <a:solidFill>
                  <a:schemeClr val="tx2"/>
                </a:solidFill>
              </a:rPr>
              <a:t>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C8227-3B28-A888-9BBF-03270B5476DA}"/>
                  </a:ext>
                </a:extLst>
              </p:cNvPr>
              <p:cNvSpPr txBox="1"/>
              <p:nvPr/>
            </p:nvSpPr>
            <p:spPr>
              <a:xfrm>
                <a:off x="1351723" y="3771791"/>
                <a:ext cx="4347472" cy="49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𝑦𝑒𝑠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𝑛𝑜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=0.367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C8227-3B28-A888-9BBF-03270B547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3" y="3771791"/>
                <a:ext cx="4347472" cy="490840"/>
              </a:xfrm>
              <a:prstGeom prst="rect">
                <a:avLst/>
              </a:prstGeom>
              <a:blipFill>
                <a:blip r:embed="rId6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31">
            <a:extLst>
              <a:ext uri="{FF2B5EF4-FFF2-40B4-BE49-F238E27FC236}">
                <a16:creationId xmlns:a16="http://schemas.microsoft.com/office/drawing/2014/main" id="{3E2A26E0-183F-6556-374C-B51553E68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34" y="3832994"/>
            <a:ext cx="1258956" cy="43088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2200" b="1" i="1" dirty="0">
                <a:solidFill>
                  <a:schemeClr val="tx2"/>
                </a:solidFill>
              </a:rPr>
              <a:t>Student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2EDBB3-8AD0-C7C9-D9DD-953AC3424BE4}"/>
                  </a:ext>
                </a:extLst>
              </p:cNvPr>
              <p:cNvSpPr txBox="1"/>
              <p:nvPr/>
            </p:nvSpPr>
            <p:spPr>
              <a:xfrm>
                <a:off x="1351723" y="4846467"/>
                <a:ext cx="5816849" cy="491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𝑐𝑟𝑒𝑑𝑖𝑡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𝑟𝑎𝑡𝑖𝑛𝑔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𝑓𝑎𝑖𝑟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𝑒𝑥𝑐𝑒𝑙𝑙𝑒𝑛𝑡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=0.429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2EDBB3-8AD0-C7C9-D9DD-953AC342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3" y="4846467"/>
                <a:ext cx="5816849" cy="491738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31">
            <a:extLst>
              <a:ext uri="{FF2B5EF4-FFF2-40B4-BE49-F238E27FC236}">
                <a16:creationId xmlns:a16="http://schemas.microsoft.com/office/drawing/2014/main" id="{89140B9B-9C28-4D36-3325-1A077B20C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7" y="4707166"/>
            <a:ext cx="1258956" cy="76944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2200" b="1" i="1" dirty="0">
                <a:solidFill>
                  <a:schemeClr val="tx2"/>
                </a:solidFill>
              </a:rPr>
              <a:t>Credit</a:t>
            </a:r>
          </a:p>
          <a:p>
            <a:pPr algn="ctr"/>
            <a:r>
              <a:rPr lang="en-US" altLang="en-US" sz="2200" b="1" i="1" dirty="0">
                <a:solidFill>
                  <a:schemeClr val="tx2"/>
                </a:solidFill>
              </a:rPr>
              <a:t>Rating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B35210-1278-19B3-0CE8-866A468FF4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632" y="2704280"/>
            <a:ext cx="415023" cy="394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E341D3-5AFF-7CC0-9170-1B348C2EB8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81" y="1402532"/>
            <a:ext cx="341123" cy="3411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8968A5-B059-9D95-E41E-2108DAE43D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580" y="3846649"/>
            <a:ext cx="341123" cy="3411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0BD5F1-9552-1A8A-6FEF-B6883FF896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532" y="4921324"/>
            <a:ext cx="341123" cy="34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3" grpId="0"/>
      <p:bldP spid="14" grpId="0" animBg="1"/>
      <p:bldP spid="15" grpId="0"/>
      <p:bldP spid="16" grpId="0" animBg="1"/>
      <p:bldP spid="17" grpId="0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265D-0A9F-C5E2-B37C-C3395BB0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(K- Nearest neighbors)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6340-CB44-92A8-D00A-9880E28F9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KNN algorithm is one of the </a:t>
            </a:r>
            <a:r>
              <a:rPr lang="en-US" dirty="0">
                <a:solidFill>
                  <a:srgbClr val="C00000"/>
                </a:solidFill>
              </a:rPr>
              <a:t>simplest classification</a:t>
            </a:r>
            <a:r>
              <a:rPr lang="en-US" dirty="0"/>
              <a:t> algorithm</a:t>
            </a:r>
          </a:p>
          <a:p>
            <a:r>
              <a:rPr lang="en-US" dirty="0"/>
              <a:t>Non-parametric</a:t>
            </a:r>
          </a:p>
          <a:p>
            <a:pPr lvl="1"/>
            <a:r>
              <a:rPr lang="en-US" dirty="0"/>
              <a:t>it does </a:t>
            </a:r>
            <a:r>
              <a:rPr lang="en-US" dirty="0">
                <a:solidFill>
                  <a:srgbClr val="C00000"/>
                </a:solidFill>
              </a:rPr>
              <a:t>not make any assumptions </a:t>
            </a:r>
            <a:r>
              <a:rPr lang="en-US" dirty="0"/>
              <a:t>on the </a:t>
            </a:r>
            <a:r>
              <a:rPr lang="en-US" dirty="0">
                <a:solidFill>
                  <a:srgbClr val="C00000"/>
                </a:solidFill>
              </a:rPr>
              <a:t>underlying data distribution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lazy learning algorithm</a:t>
            </a:r>
            <a:r>
              <a:rPr lang="en-US" dirty="0"/>
              <a:t>. </a:t>
            </a:r>
          </a:p>
          <a:p>
            <a:r>
              <a:rPr lang="en-US" dirty="0"/>
              <a:t>There is no </a:t>
            </a:r>
            <a:r>
              <a:rPr lang="en-US" dirty="0">
                <a:solidFill>
                  <a:srgbClr val="C00000"/>
                </a:solidFill>
              </a:rPr>
              <a:t>explicit training phase </a:t>
            </a:r>
            <a:r>
              <a:rPr lang="en-US" dirty="0"/>
              <a:t>or it is very minimal. </a:t>
            </a:r>
          </a:p>
          <a:p>
            <a:r>
              <a:rPr lang="en-US" dirty="0"/>
              <a:t>Also means that the training phase is pretty fast . </a:t>
            </a:r>
          </a:p>
          <a:p>
            <a:r>
              <a:rPr lang="en-US" dirty="0"/>
              <a:t>Lack of generalization means that KNN </a:t>
            </a:r>
            <a:r>
              <a:rPr lang="en-US" dirty="0">
                <a:solidFill>
                  <a:srgbClr val="C00000"/>
                </a:solidFill>
              </a:rPr>
              <a:t>keeps all the training data</a:t>
            </a:r>
            <a:r>
              <a:rPr lang="en-US" dirty="0"/>
              <a:t>. </a:t>
            </a:r>
          </a:p>
          <a:p>
            <a:r>
              <a:rPr lang="en-US" dirty="0"/>
              <a:t>Its purpose is to use a database in which the data points are separated into </a:t>
            </a:r>
            <a:r>
              <a:rPr lang="en-US" dirty="0">
                <a:solidFill>
                  <a:srgbClr val="C00000"/>
                </a:solidFill>
              </a:rPr>
              <a:t>several classes </a:t>
            </a:r>
            <a:r>
              <a:rPr lang="en-US" dirty="0"/>
              <a:t>to predict the classification of a </a:t>
            </a:r>
            <a:r>
              <a:rPr lang="en-US" dirty="0">
                <a:solidFill>
                  <a:srgbClr val="C00000"/>
                </a:solidFill>
              </a:rPr>
              <a:t>new sample point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0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3BAA-1A75-63E6-9361-FEA48E3F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(K- Nearest neighbors) - Example</a:t>
            </a:r>
          </a:p>
        </p:txBody>
      </p:sp>
      <p:sp>
        <p:nvSpPr>
          <p:cNvPr id="4" name="Oval 12">
            <a:extLst>
              <a:ext uri="{FF2B5EF4-FFF2-40B4-BE49-F238E27FC236}">
                <a16:creationId xmlns:a16="http://schemas.microsoft.com/office/drawing/2014/main" id="{0BFE5CA5-1076-0885-C63A-05DE16F0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423" y="3643490"/>
            <a:ext cx="3048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A6AD6A8A-4EA0-734D-AE0D-A7FA96324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223" y="1509890"/>
            <a:ext cx="1295400" cy="1295400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AC62AD31-E4F0-A71A-0C92-BDFE92C15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023" y="227189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CF69E4ED-7F14-1714-20E3-256698219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223" y="227189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76805A2A-F5F3-FF20-F856-E83EFBDC5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423" y="2652890"/>
            <a:ext cx="228600" cy="1524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ED647082-AB0E-36BE-4D92-22C8B8BBF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023" y="143369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A037BA30-5C84-49C6-6739-3C1064121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623" y="1662290"/>
            <a:ext cx="228600" cy="2286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186FB245-6F16-831B-1B7F-6C4BE711B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1" y="2966156"/>
            <a:ext cx="2286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7E3B9BDD-B681-D90E-927E-778B93C0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6823" y="3719690"/>
            <a:ext cx="2286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AF7AF31C-0D22-FF0B-89E2-AB396DB2BC4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68223" y="2271890"/>
            <a:ext cx="3048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4A928-B139-36B0-A924-D63EA9BF852A}"/>
              </a:ext>
            </a:extLst>
          </p:cNvPr>
          <p:cNvSpPr txBox="1"/>
          <p:nvPr/>
        </p:nvSpPr>
        <p:spPr>
          <a:xfrm>
            <a:off x="1981203" y="4651022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 = 1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DBF79DC4-80F4-7356-C277-8396318B9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979" y="1459090"/>
            <a:ext cx="2209800" cy="2133600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C96E91AF-BB49-A089-E49E-15E466C4E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779" y="229729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2FD0D7F6-37BC-8787-4E9C-BE882E2D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979" y="2297290"/>
            <a:ext cx="3048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01E0C740-57D1-9DB0-B7B9-4C3634F57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179" y="2678290"/>
            <a:ext cx="2286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19" name="Oval 9">
            <a:extLst>
              <a:ext uri="{FF2B5EF4-FFF2-40B4-BE49-F238E27FC236}">
                <a16:creationId xmlns:a16="http://schemas.microsoft.com/office/drawing/2014/main" id="{E5DDB7F0-6AA2-5D36-DB05-933D68BBC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779" y="145909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857B58C3-5411-8EFB-4CFE-3900955D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0379" y="1687690"/>
            <a:ext cx="228600" cy="2286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687B738D-C4D3-ED24-448F-21A88DE60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180" y="3036713"/>
            <a:ext cx="2286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2" name="Oval 12">
            <a:extLst>
              <a:ext uri="{FF2B5EF4-FFF2-40B4-BE49-F238E27FC236}">
                <a16:creationId xmlns:a16="http://schemas.microsoft.com/office/drawing/2014/main" id="{A310F189-2087-6F60-CE85-26C719F3D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6579" y="3745090"/>
            <a:ext cx="2286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3" name="Oval 13">
            <a:extLst>
              <a:ext uri="{FF2B5EF4-FFF2-40B4-BE49-F238E27FC236}">
                <a16:creationId xmlns:a16="http://schemas.microsoft.com/office/drawing/2014/main" id="{853BCA37-AA62-2539-448F-EA720F39A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1179" y="3364090"/>
            <a:ext cx="3048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3E55281B-1061-39E4-D460-9BC2C57B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179" y="2602090"/>
            <a:ext cx="304800" cy="152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9633A-E99B-1155-A4BE-939E5D90701E}"/>
              </a:ext>
            </a:extLst>
          </p:cNvPr>
          <p:cNvSpPr txBox="1"/>
          <p:nvPr/>
        </p:nvSpPr>
        <p:spPr>
          <a:xfrm>
            <a:off x="8884719" y="4677643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 = 3</a:t>
            </a:r>
          </a:p>
        </p:txBody>
      </p:sp>
    </p:spTree>
    <p:extLst>
      <p:ext uri="{BB962C8B-B14F-4D97-AF65-F5344CB8AC3E}">
        <p14:creationId xmlns:p14="http://schemas.microsoft.com/office/powerpoint/2010/main" val="377175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3BB8-15DE-45CE-FD29-ECC2DD16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-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78F14-EFCC-6261-8470-B43DF1F2A0D0}"/>
              </a:ext>
            </a:extLst>
          </p:cNvPr>
          <p:cNvSpPr txBox="1"/>
          <p:nvPr/>
        </p:nvSpPr>
        <p:spPr>
          <a:xfrm>
            <a:off x="148195" y="872256"/>
            <a:ext cx="12043805" cy="2031325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1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: Choose the number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of </a:t>
            </a:r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2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: Take the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nearest 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of the new data point, according to the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distance</a:t>
            </a:r>
          </a:p>
          <a:p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3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: Among these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count the number of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points in each category</a:t>
            </a:r>
          </a:p>
          <a:p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4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: Assign the new data point to the category where you </a:t>
            </a:r>
            <a:r>
              <a:rPr lang="en-I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counted the most </a:t>
            </a:r>
            <a:r>
              <a:rPr lang="en-IN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endParaRPr lang="en-IN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37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3528-CD90-D1CD-66F8-827A45D2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E5373A-EFDB-7335-5ECB-E82F56E0E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 is the </a:t>
                </a:r>
                <a:r>
                  <a:rPr lang="en-US" dirty="0">
                    <a:solidFill>
                      <a:srgbClr val="C00000"/>
                    </a:solidFill>
                  </a:rPr>
                  <a:t>number of nearest neighbors considered</a:t>
                </a:r>
                <a:r>
                  <a:rPr lang="en-US" dirty="0"/>
                  <a:t> when predicting the class (for classification) or value (for regression) of a data point.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Classification:</a:t>
                </a:r>
                <a:r>
                  <a:rPr lang="en-US" dirty="0"/>
                  <a:t> The majority class among the k neighbors.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Regression: </a:t>
                </a:r>
                <a:r>
                  <a:rPr lang="en-US" dirty="0"/>
                  <a:t>The average (or weighted average) of the k neighbors' values.</a:t>
                </a:r>
              </a:p>
              <a:p>
                <a:r>
                  <a:rPr lang="en-US" dirty="0"/>
                  <a:t>A smaller </a:t>
                </a:r>
                <a:r>
                  <a:rPr lang="en-US" dirty="0">
                    <a:solidFill>
                      <a:srgbClr val="C00000"/>
                    </a:solidFill>
                  </a:rPr>
                  <a:t>k makes the model more sensitive to noise </a:t>
                </a:r>
                <a:r>
                  <a:rPr lang="en-US" dirty="0"/>
                  <a:t>but might overfit.</a:t>
                </a:r>
              </a:p>
              <a:p>
                <a:r>
                  <a:rPr lang="en-US" dirty="0"/>
                  <a:t>While a larger k provides a smoother prediction but might lose detail.(</a:t>
                </a:r>
                <a:r>
                  <a:rPr lang="en-US" dirty="0">
                    <a:solidFill>
                      <a:srgbClr val="C00000"/>
                    </a:solidFill>
                  </a:rPr>
                  <a:t>Prone to underfitting; may ignore local patterns.)</a:t>
                </a:r>
              </a:p>
              <a:p>
                <a:r>
                  <a:rPr lang="en-IN" dirty="0">
                    <a:solidFill>
                      <a:srgbClr val="C00000"/>
                    </a:solidFill>
                  </a:rPr>
                  <a:t>Rule of Thumb : </a:t>
                </a:r>
                <a:r>
                  <a:rPr lang="en-US" dirty="0"/>
                  <a:t>Start with k=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​, where </a:t>
                </a:r>
                <a:r>
                  <a:rPr lang="en-US" dirty="0">
                    <a:solidFill>
                      <a:srgbClr val="C00000"/>
                    </a:solidFill>
                  </a:rPr>
                  <a:t>n is the number of data points in the training set</a:t>
                </a:r>
                <a:r>
                  <a:rPr lang="en-US" dirty="0"/>
                  <a:t>.</a:t>
                </a:r>
              </a:p>
              <a:p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</a:rPr>
                  <a:t>Adjust k based on validation performance.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E5373A-EFDB-7335-5ECB-E82F56E0E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2" t="-1818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2411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4626-1EDA-14A7-261B-7ABBB79B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99541-BA23-6498-5D2C-0C926E16352B}"/>
              </a:ext>
            </a:extLst>
          </p:cNvPr>
          <p:cNvSpPr/>
          <p:nvPr/>
        </p:nvSpPr>
        <p:spPr>
          <a:xfrm>
            <a:off x="715063" y="1122101"/>
            <a:ext cx="11261866" cy="5509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pandas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pyplot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read_csv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Social_Network_Ads.csv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iloc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[:,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]].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iloc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[:,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preprocessing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fit_transform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classifier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B23DF-C13B-B70A-1812-D5D1CB1BD053}"/>
              </a:ext>
            </a:extLst>
          </p:cNvPr>
          <p:cNvSpPr/>
          <p:nvPr/>
        </p:nvSpPr>
        <p:spPr>
          <a:xfrm>
            <a:off x="215071" y="1122101"/>
            <a:ext cx="499993" cy="5509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FADD326-37EA-EF75-65C6-DB6D27A33AE2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KNN.py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1328D-CAF7-0829-3767-91FFE3B90168}"/>
              </a:ext>
            </a:extLst>
          </p:cNvPr>
          <p:cNvSpPr txBox="1"/>
          <p:nvPr/>
        </p:nvSpPr>
        <p:spPr>
          <a:xfrm>
            <a:off x="5524522" y="711201"/>
            <a:ext cx="645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Columns : User ID, Gender, Age, </a:t>
            </a:r>
            <a:r>
              <a:rPr lang="en-US" dirty="0" err="1"/>
              <a:t>EstimatedSalary</a:t>
            </a:r>
            <a:r>
              <a:rPr lang="en-US" dirty="0"/>
              <a:t>, Purchased </a:t>
            </a:r>
          </a:p>
        </p:txBody>
      </p:sp>
    </p:spTree>
    <p:extLst>
      <p:ext uri="{BB962C8B-B14F-4D97-AF65-F5344CB8AC3E}">
        <p14:creationId xmlns:p14="http://schemas.microsoft.com/office/powerpoint/2010/main" val="325414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62DC3792-41DB-10AA-0B87-490D7AC37EDA}"/>
              </a:ext>
            </a:extLst>
          </p:cNvPr>
          <p:cNvSpPr/>
          <p:nvPr/>
        </p:nvSpPr>
        <p:spPr>
          <a:xfrm rot="19944870">
            <a:off x="744911" y="2859711"/>
            <a:ext cx="4251359" cy="48542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42FC7-31C3-9A32-334A-FB134482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(Support Vector Classification)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299054-2409-6B93-BE28-0F55BCB12A7E}"/>
              </a:ext>
            </a:extLst>
          </p:cNvPr>
          <p:cNvCxnSpPr>
            <a:cxnSpLocks/>
          </p:cNvCxnSpPr>
          <p:nvPr/>
        </p:nvCxnSpPr>
        <p:spPr>
          <a:xfrm flipV="1">
            <a:off x="632658" y="1538111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DD8385-FA76-1275-A9D0-314AEABC4A60}"/>
              </a:ext>
            </a:extLst>
          </p:cNvPr>
          <p:cNvCxnSpPr>
            <a:cxnSpLocks/>
          </p:cNvCxnSpPr>
          <p:nvPr/>
        </p:nvCxnSpPr>
        <p:spPr>
          <a:xfrm>
            <a:off x="237546" y="4953000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2996C30-9FA6-E4E3-AD60-EBB9D03E21EF}"/>
              </a:ext>
            </a:extLst>
          </p:cNvPr>
          <p:cNvSpPr/>
          <p:nvPr/>
        </p:nvSpPr>
        <p:spPr>
          <a:xfrm>
            <a:off x="1789484" y="4047756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D23858-1F40-4EC8-D2FB-FC878DBF9473}"/>
              </a:ext>
            </a:extLst>
          </p:cNvPr>
          <p:cNvSpPr/>
          <p:nvPr/>
        </p:nvSpPr>
        <p:spPr>
          <a:xfrm>
            <a:off x="2303324" y="30461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388E77-A540-8D35-A858-ADF9D8955365}"/>
              </a:ext>
            </a:extLst>
          </p:cNvPr>
          <p:cNvSpPr/>
          <p:nvPr/>
        </p:nvSpPr>
        <p:spPr>
          <a:xfrm>
            <a:off x="3037191" y="3406418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F2AFD3-9486-AF9A-8721-20D425732BF7}"/>
              </a:ext>
            </a:extLst>
          </p:cNvPr>
          <p:cNvSpPr/>
          <p:nvPr/>
        </p:nvSpPr>
        <p:spPr>
          <a:xfrm>
            <a:off x="2653847" y="342900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FE43ED-0765-BEC9-3BC6-62923C115E42}"/>
              </a:ext>
            </a:extLst>
          </p:cNvPr>
          <p:cNvSpPr txBox="1"/>
          <p:nvPr/>
        </p:nvSpPr>
        <p:spPr>
          <a:xfrm>
            <a:off x="488365" y="1219854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D773E9-F522-05DF-E153-13103384EB68}"/>
              </a:ext>
            </a:extLst>
          </p:cNvPr>
          <p:cNvSpPr txBox="1"/>
          <p:nvPr/>
        </p:nvSpPr>
        <p:spPr>
          <a:xfrm>
            <a:off x="5208866" y="4768334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E2D0C3-04C8-D512-DF9E-D259F0F5AE4B}"/>
              </a:ext>
            </a:extLst>
          </p:cNvPr>
          <p:cNvSpPr txBox="1"/>
          <p:nvPr/>
        </p:nvSpPr>
        <p:spPr>
          <a:xfrm>
            <a:off x="1861167" y="976799"/>
            <a:ext cx="361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0" u="none" strike="noStrike" dirty="0">
                <a:solidFill>
                  <a:srgbClr val="001D35"/>
                </a:solidFill>
                <a:effectLst/>
              </a:rPr>
              <a:t>ε</a:t>
            </a:r>
            <a:r>
              <a:rPr lang="en-US" sz="2400" b="0" i="0" u="none" strike="noStrike" dirty="0">
                <a:solidFill>
                  <a:srgbClr val="001D35"/>
                </a:solidFill>
                <a:effectLst/>
              </a:rPr>
              <a:t> - </a:t>
            </a:r>
            <a:r>
              <a:rPr lang="en-US" sz="2400" dirty="0"/>
              <a:t>Insensitive Tube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95345D-0406-99BC-14F7-682E9EA6F6B7}"/>
              </a:ext>
            </a:extLst>
          </p:cNvPr>
          <p:cNvCxnSpPr/>
          <p:nvPr/>
        </p:nvCxnSpPr>
        <p:spPr>
          <a:xfrm>
            <a:off x="4391378" y="2024900"/>
            <a:ext cx="0" cy="272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4378C2-A8BB-9D39-1423-4C93CE8C2144}"/>
              </a:ext>
            </a:extLst>
          </p:cNvPr>
          <p:cNvCxnSpPr>
            <a:cxnSpLocks/>
          </p:cNvCxnSpPr>
          <p:nvPr/>
        </p:nvCxnSpPr>
        <p:spPr>
          <a:xfrm>
            <a:off x="4391378" y="2296905"/>
            <a:ext cx="0" cy="272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DCEC1FC-D9BA-EF22-3F9B-2851F67F9335}"/>
              </a:ext>
            </a:extLst>
          </p:cNvPr>
          <p:cNvSpPr txBox="1"/>
          <p:nvPr/>
        </p:nvSpPr>
        <p:spPr>
          <a:xfrm>
            <a:off x="4405845" y="2203090"/>
            <a:ext cx="45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ε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B174C-B963-DDBC-02B4-11647C56F12F}"/>
              </a:ext>
            </a:extLst>
          </p:cNvPr>
          <p:cNvSpPr txBox="1"/>
          <p:nvPr/>
        </p:nvSpPr>
        <p:spPr>
          <a:xfrm>
            <a:off x="4388632" y="1902960"/>
            <a:ext cx="45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ε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2937FE-984E-D398-B57F-E02F3506B0F4}"/>
              </a:ext>
            </a:extLst>
          </p:cNvPr>
          <p:cNvCxnSpPr>
            <a:cxnSpLocks/>
          </p:cNvCxnSpPr>
          <p:nvPr/>
        </p:nvCxnSpPr>
        <p:spPr>
          <a:xfrm flipV="1">
            <a:off x="361245" y="1797269"/>
            <a:ext cx="5003273" cy="26208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C14D0D0-62BE-5D09-E41A-8177EE45F185}"/>
              </a:ext>
            </a:extLst>
          </p:cNvPr>
          <p:cNvSpPr txBox="1"/>
          <p:nvPr/>
        </p:nvSpPr>
        <p:spPr>
          <a:xfrm>
            <a:off x="1054257" y="1980100"/>
            <a:ext cx="1552028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Support Vector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583C374-562C-1BAE-1D58-0826789B38AD}"/>
              </a:ext>
            </a:extLst>
          </p:cNvPr>
          <p:cNvCxnSpPr>
            <a:cxnSpLocks/>
            <a:stCxn id="55" idx="2"/>
            <a:endCxn id="67" idx="6"/>
          </p:cNvCxnSpPr>
          <p:nvPr/>
        </p:nvCxnSpPr>
        <p:spPr>
          <a:xfrm>
            <a:off x="1830271" y="2349432"/>
            <a:ext cx="908154" cy="505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E92F535-3290-6B98-E0B9-069176B4FB36}"/>
              </a:ext>
            </a:extLst>
          </p:cNvPr>
          <p:cNvSpPr/>
          <p:nvPr/>
        </p:nvSpPr>
        <p:spPr>
          <a:xfrm>
            <a:off x="2653368" y="3827622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57A7D7-610B-E1A5-25F2-3A887AF491AE}"/>
              </a:ext>
            </a:extLst>
          </p:cNvPr>
          <p:cNvSpPr/>
          <p:nvPr/>
        </p:nvSpPr>
        <p:spPr>
          <a:xfrm>
            <a:off x="2411865" y="3821976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B885C0-BCFB-73A9-37D0-9B128D06F71D}"/>
              </a:ext>
            </a:extLst>
          </p:cNvPr>
          <p:cNvSpPr/>
          <p:nvPr/>
        </p:nvSpPr>
        <p:spPr>
          <a:xfrm>
            <a:off x="3353280" y="3748599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D1D3927-D956-3210-7610-F202DC8FD466}"/>
              </a:ext>
            </a:extLst>
          </p:cNvPr>
          <p:cNvSpPr/>
          <p:nvPr/>
        </p:nvSpPr>
        <p:spPr>
          <a:xfrm>
            <a:off x="2805768" y="3980022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71B8AE1-B911-7540-7746-12138465BBCA}"/>
              </a:ext>
            </a:extLst>
          </p:cNvPr>
          <p:cNvSpPr/>
          <p:nvPr/>
        </p:nvSpPr>
        <p:spPr>
          <a:xfrm>
            <a:off x="2382346" y="4106705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346EE3F-D10A-18FC-D026-7FDB9175E4F8}"/>
              </a:ext>
            </a:extLst>
          </p:cNvPr>
          <p:cNvSpPr/>
          <p:nvPr/>
        </p:nvSpPr>
        <p:spPr>
          <a:xfrm>
            <a:off x="3505680" y="3900999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53C101A-B08A-8739-E65A-1E33E2DD682E}"/>
              </a:ext>
            </a:extLst>
          </p:cNvPr>
          <p:cNvSpPr/>
          <p:nvPr/>
        </p:nvSpPr>
        <p:spPr>
          <a:xfrm>
            <a:off x="3032755" y="3709087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07FEA91-2C12-6170-A82C-1E6FE818D51C}"/>
              </a:ext>
            </a:extLst>
          </p:cNvPr>
          <p:cNvSpPr/>
          <p:nvPr/>
        </p:nvSpPr>
        <p:spPr>
          <a:xfrm>
            <a:off x="3111777" y="4121188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23E5F7F-25DE-B4C3-3612-A187B0852BE2}"/>
              </a:ext>
            </a:extLst>
          </p:cNvPr>
          <p:cNvSpPr/>
          <p:nvPr/>
        </p:nvSpPr>
        <p:spPr>
          <a:xfrm>
            <a:off x="3501508" y="342900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1F5B239-75B5-2198-6197-408914C9642B}"/>
              </a:ext>
            </a:extLst>
          </p:cNvPr>
          <p:cNvSpPr/>
          <p:nvPr/>
        </p:nvSpPr>
        <p:spPr>
          <a:xfrm>
            <a:off x="2659403" y="281512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BD5D937-5844-0E50-467F-8FAAFD4ED92B}"/>
              </a:ext>
            </a:extLst>
          </p:cNvPr>
          <p:cNvSpPr/>
          <p:nvPr/>
        </p:nvSpPr>
        <p:spPr>
          <a:xfrm>
            <a:off x="1875298" y="320211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3300DD1-608F-7A35-F078-57C8805CE2F0}"/>
              </a:ext>
            </a:extLst>
          </p:cNvPr>
          <p:cNvSpPr/>
          <p:nvPr/>
        </p:nvSpPr>
        <p:spPr>
          <a:xfrm>
            <a:off x="2805768" y="266074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EB3AE1C-3EC6-5C55-230D-7E179E53D4CD}"/>
              </a:ext>
            </a:extLst>
          </p:cNvPr>
          <p:cNvSpPr/>
          <p:nvPr/>
        </p:nvSpPr>
        <p:spPr>
          <a:xfrm>
            <a:off x="3000036" y="254000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7F7DE1A-6807-FB06-03C1-FA49D5B691A0}"/>
              </a:ext>
            </a:extLst>
          </p:cNvPr>
          <p:cNvSpPr/>
          <p:nvPr/>
        </p:nvSpPr>
        <p:spPr>
          <a:xfrm>
            <a:off x="2316389" y="282201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6B7BF6F-04FE-13F0-1C51-A02DEE86EE06}"/>
              </a:ext>
            </a:extLst>
          </p:cNvPr>
          <p:cNvSpPr/>
          <p:nvPr/>
        </p:nvSpPr>
        <p:spPr>
          <a:xfrm>
            <a:off x="1782145" y="294961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4A6E009-BA3B-6118-E31E-895749DA7FDF}"/>
              </a:ext>
            </a:extLst>
          </p:cNvPr>
          <p:cNvSpPr/>
          <p:nvPr/>
        </p:nvSpPr>
        <p:spPr>
          <a:xfrm>
            <a:off x="2732390" y="242715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D6C541A-2B01-846B-5C33-E0C43AD4F6D8}"/>
              </a:ext>
            </a:extLst>
          </p:cNvPr>
          <p:cNvSpPr/>
          <p:nvPr/>
        </p:nvSpPr>
        <p:spPr>
          <a:xfrm>
            <a:off x="3190799" y="23536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0580F3F-D684-BCCF-4C6E-64DC0D21F5CA}"/>
              </a:ext>
            </a:extLst>
          </p:cNvPr>
          <p:cNvSpPr/>
          <p:nvPr/>
        </p:nvSpPr>
        <p:spPr>
          <a:xfrm>
            <a:off x="1828995" y="265167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6A86C16-C45F-5A41-79AD-709BEDAA159D}"/>
              </a:ext>
            </a:extLst>
          </p:cNvPr>
          <p:cNvSpPr/>
          <p:nvPr/>
        </p:nvSpPr>
        <p:spPr>
          <a:xfrm>
            <a:off x="1476743" y="285463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908D6C3-CD0B-BB62-F3C5-37707A12E4E1}"/>
              </a:ext>
            </a:extLst>
          </p:cNvPr>
          <p:cNvSpPr/>
          <p:nvPr/>
        </p:nvSpPr>
        <p:spPr>
          <a:xfrm>
            <a:off x="2778025" y="209636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786B8A-BC09-C710-B215-36A217CE6A64}"/>
              </a:ext>
            </a:extLst>
          </p:cNvPr>
          <p:cNvSpPr/>
          <p:nvPr/>
        </p:nvSpPr>
        <p:spPr>
          <a:xfrm>
            <a:off x="3072266" y="216357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1837B4D-5739-42F9-831B-22CE8B29D16E}"/>
              </a:ext>
            </a:extLst>
          </p:cNvPr>
          <p:cNvSpPr/>
          <p:nvPr/>
        </p:nvSpPr>
        <p:spPr>
          <a:xfrm>
            <a:off x="2012886" y="291010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E5253CE-1896-C10D-7F7F-FC64FC368B4E}"/>
              </a:ext>
            </a:extLst>
          </p:cNvPr>
          <p:cNvSpPr/>
          <p:nvPr/>
        </p:nvSpPr>
        <p:spPr>
          <a:xfrm>
            <a:off x="1554773" y="313407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26EC34-771A-AE59-5992-C0C8E4A5069F}"/>
              </a:ext>
            </a:extLst>
          </p:cNvPr>
          <p:cNvSpPr txBox="1"/>
          <p:nvPr/>
        </p:nvSpPr>
        <p:spPr>
          <a:xfrm>
            <a:off x="7038844" y="2928849"/>
            <a:ext cx="4278994" cy="64633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Maximum margin hyperplane</a:t>
            </a:r>
          </a:p>
          <a:p>
            <a:r>
              <a:rPr lang="en-US" dirty="0">
                <a:solidFill>
                  <a:srgbClr val="00B050"/>
                </a:solidFill>
              </a:rPr>
              <a:t>(Maximum Margin Classifier)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6FD037-5412-2827-A5DE-BCB6F4A56333}"/>
              </a:ext>
            </a:extLst>
          </p:cNvPr>
          <p:cNvCxnSpPr>
            <a:cxnSpLocks/>
            <a:stCxn id="91" idx="1"/>
          </p:cNvCxnSpPr>
          <p:nvPr/>
        </p:nvCxnSpPr>
        <p:spPr>
          <a:xfrm flipH="1" flipV="1">
            <a:off x="3354534" y="2902879"/>
            <a:ext cx="3684310" cy="349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0B4039D-F21E-AA7C-4325-A5BC27E42871}"/>
              </a:ext>
            </a:extLst>
          </p:cNvPr>
          <p:cNvSpPr txBox="1"/>
          <p:nvPr/>
        </p:nvSpPr>
        <p:spPr>
          <a:xfrm>
            <a:off x="4694866" y="1129188"/>
            <a:ext cx="2202639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Maximum Margin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8B5CD87-44F7-7EE2-054B-F180AFEEF334}"/>
              </a:ext>
            </a:extLst>
          </p:cNvPr>
          <p:cNvCxnSpPr>
            <a:cxnSpLocks/>
            <a:stCxn id="96" idx="2"/>
          </p:cNvCxnSpPr>
          <p:nvPr/>
        </p:nvCxnSpPr>
        <p:spPr>
          <a:xfrm flipH="1">
            <a:off x="4755425" y="1498520"/>
            <a:ext cx="1040761" cy="51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0CFFA6-7576-7A42-9BDB-F0059867DEE8}"/>
              </a:ext>
            </a:extLst>
          </p:cNvPr>
          <p:cNvSpPr txBox="1"/>
          <p:nvPr/>
        </p:nvSpPr>
        <p:spPr>
          <a:xfrm>
            <a:off x="6720614" y="1702350"/>
            <a:ext cx="2024922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Positive Hyperplane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6B26D2-F65F-0296-33AA-B43A72E4DDB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037191" y="2071682"/>
            <a:ext cx="4695884" cy="65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92316E-F232-7A98-1A8A-7493A8C3CB2C}"/>
              </a:ext>
            </a:extLst>
          </p:cNvPr>
          <p:cNvCxnSpPr>
            <a:cxnSpLocks/>
          </p:cNvCxnSpPr>
          <p:nvPr/>
        </p:nvCxnSpPr>
        <p:spPr>
          <a:xfrm>
            <a:off x="1815805" y="2343680"/>
            <a:ext cx="627126" cy="1291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8036681-11A2-1494-3973-F9728BCAB712}"/>
              </a:ext>
            </a:extLst>
          </p:cNvPr>
          <p:cNvSpPr txBox="1"/>
          <p:nvPr/>
        </p:nvSpPr>
        <p:spPr>
          <a:xfrm>
            <a:off x="6375203" y="4280261"/>
            <a:ext cx="2024922" cy="64633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Negative Hyperplane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FCD373-AEEC-B02F-3693-000A7A76D853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3398630" y="3125215"/>
            <a:ext cx="3989034" cy="115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76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35" grpId="0" animBg="1"/>
      <p:bldP spid="36" grpId="0" animBg="1"/>
      <p:bldP spid="38" grpId="0" animBg="1"/>
      <p:bldP spid="40" grpId="0" animBg="1"/>
      <p:bldP spid="52" grpId="0"/>
      <p:bldP spid="53" grpId="0"/>
      <p:bldP spid="69" grpId="0"/>
      <p:bldP spid="18" grpId="0"/>
      <p:bldP spid="26" grpId="0"/>
      <p:bldP spid="55" grpId="0" animBg="1"/>
      <p:bldP spid="3" grpId="0" animBg="1"/>
      <p:bldP spid="6" grpId="0" animBg="1"/>
      <p:bldP spid="17" grpId="0" animBg="1"/>
      <p:bldP spid="56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75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1" grpId="0" animBg="1"/>
      <p:bldP spid="96" grpId="0" animBg="1"/>
      <p:bldP spid="7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7A34-130E-8230-FE1C-B59C7CED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Classification</a:t>
            </a:r>
          </a:p>
        </p:txBody>
      </p:sp>
      <p:cxnSp>
        <p:nvCxnSpPr>
          <p:cNvPr id="5" name="AutoShape 4">
            <a:extLst>
              <a:ext uri="{FF2B5EF4-FFF2-40B4-BE49-F238E27FC236}">
                <a16:creationId xmlns:a16="http://schemas.microsoft.com/office/drawing/2014/main" id="{C0E7FE42-8456-9B61-2919-694308C5E6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95839" y="1668962"/>
            <a:ext cx="0" cy="3240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cxnSp>
        <p:nvCxnSpPr>
          <p:cNvPr id="6" name="AutoShape 5">
            <a:extLst>
              <a:ext uri="{FF2B5EF4-FFF2-40B4-BE49-F238E27FC236}">
                <a16:creationId xmlns:a16="http://schemas.microsoft.com/office/drawing/2014/main" id="{52089498-A037-6C95-F282-D4DC993A80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7064" y="4621712"/>
            <a:ext cx="44640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sp>
        <p:nvSpPr>
          <p:cNvPr id="7" name="AutoShape 6">
            <a:extLst>
              <a:ext uri="{FF2B5EF4-FFF2-40B4-BE49-F238E27FC236}">
                <a16:creationId xmlns:a16="http://schemas.microsoft.com/office/drawing/2014/main" id="{376FFF46-1FE1-35DB-B1EF-328C54E422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4764" y="3469187"/>
            <a:ext cx="144462" cy="144463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504247E2-8CF6-ED5C-2C52-3A13B147E7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45126" y="3540625"/>
            <a:ext cx="144463" cy="144462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356B61D8-5F70-EA79-E1D8-4520CA1D783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9226" y="4261350"/>
            <a:ext cx="144463" cy="144462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95179168-9E63-CC22-F108-5A0C79CAFAB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21389" y="3685087"/>
            <a:ext cx="144462" cy="144463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30844FDD-1008-3FCF-C184-4AE9DADDC1A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21389" y="4261350"/>
            <a:ext cx="144462" cy="144462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0EF86210-652E-B2A0-3E2E-7558CD0A2F8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4764" y="2532562"/>
            <a:ext cx="144462" cy="144463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7EE92238-AE80-CD7C-8831-BF5FA0753D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45351" y="4332787"/>
            <a:ext cx="144463" cy="144463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4D5E3697-F2B8-2988-87B7-E1F77452DA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796064" y="3974012"/>
            <a:ext cx="144462" cy="144463"/>
          </a:xfrm>
          <a:prstGeom prst="flowChartConnector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CC002FE9-9AA1-59C4-9DF3-0FAC271C6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889" y="1668962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6" name="AutoShape 19">
            <a:extLst>
              <a:ext uri="{FF2B5EF4-FFF2-40B4-BE49-F238E27FC236}">
                <a16:creationId xmlns:a16="http://schemas.microsoft.com/office/drawing/2014/main" id="{16E0CD79-9BC3-CAD7-76FB-EE8325218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51" y="2677025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D6B8E7F1-9F3C-903F-ABAC-743CCAB4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851" y="2389687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AFFE2087-FBAE-0CE0-3D2B-A028FAFAC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489" y="2892925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9" name="AutoShape 22">
            <a:extLst>
              <a:ext uri="{FF2B5EF4-FFF2-40B4-BE49-F238E27FC236}">
                <a16:creationId xmlns:a16="http://schemas.microsoft.com/office/drawing/2014/main" id="{CFFDD003-99F3-2335-B23E-000C6F55C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751" y="3037387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0" name="AutoShape 23">
            <a:extLst>
              <a:ext uri="{FF2B5EF4-FFF2-40B4-BE49-F238E27FC236}">
                <a16:creationId xmlns:a16="http://schemas.microsoft.com/office/drawing/2014/main" id="{FCDF7AC1-6230-3FE9-34F0-794168D7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389" y="1524500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B050"/>
              </a:solidFill>
              <a:ea typeface="+mn-ea"/>
            </a:endParaRPr>
          </a:p>
        </p:txBody>
      </p:sp>
      <p:cxnSp>
        <p:nvCxnSpPr>
          <p:cNvPr id="21" name="AutoShape 25">
            <a:extLst>
              <a:ext uri="{FF2B5EF4-FFF2-40B4-BE49-F238E27FC236}">
                <a16:creationId xmlns:a16="http://schemas.microsoft.com/office/drawing/2014/main" id="{A416A4FE-BAE7-95BA-A9CE-9295AC65B05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95495" y="3829550"/>
            <a:ext cx="1296988" cy="92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sp>
        <p:nvSpPr>
          <p:cNvPr id="22" name="Text Box 26">
            <a:extLst>
              <a:ext uri="{FF2B5EF4-FFF2-40B4-BE49-F238E27FC236}">
                <a16:creationId xmlns:a16="http://schemas.microsoft.com/office/drawing/2014/main" id="{3EF3ED9B-2878-23E1-0CD0-1EE33A02E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714" y="3469187"/>
            <a:ext cx="20161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A separating hyperplane </a:t>
            </a:r>
          </a:p>
        </p:txBody>
      </p:sp>
      <p:sp>
        <p:nvSpPr>
          <p:cNvPr id="23" name="AutoShape 27">
            <a:extLst>
              <a:ext uri="{FF2B5EF4-FFF2-40B4-BE49-F238E27FC236}">
                <a16:creationId xmlns:a16="http://schemas.microsoft.com/office/drawing/2014/main" id="{65D9ACF0-97EB-7596-AC58-CD080A283A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5976" y="2245225"/>
            <a:ext cx="144463" cy="144462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32">
            <a:extLst>
              <a:ext uri="{FF2B5EF4-FFF2-40B4-BE49-F238E27FC236}">
                <a16:creationId xmlns:a16="http://schemas.microsoft.com/office/drawing/2014/main" id="{8A8923EF-47FE-0880-9B01-FCB833B3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51" y="1740400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7" name="AutoShape 44">
            <a:extLst>
              <a:ext uri="{FF2B5EF4-FFF2-40B4-BE49-F238E27FC236}">
                <a16:creationId xmlns:a16="http://schemas.microsoft.com/office/drawing/2014/main" id="{254F0F09-97BE-578B-20B5-97F18DB18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3189" y="2173787"/>
            <a:ext cx="228600" cy="228600"/>
          </a:xfrm>
          <a:prstGeom prst="star5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graphicFrame>
        <p:nvGraphicFramePr>
          <p:cNvPr id="30" name="Object 35">
            <a:extLst>
              <a:ext uri="{FF2B5EF4-FFF2-40B4-BE49-F238E27FC236}">
                <a16:creationId xmlns:a16="http://schemas.microsoft.com/office/drawing/2014/main" id="{07444AE5-9117-772C-F7C7-F5E06733F3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005525"/>
              </p:ext>
            </p:extLst>
          </p:nvPr>
        </p:nvGraphicFramePr>
        <p:xfrm>
          <a:off x="5956651" y="4693150"/>
          <a:ext cx="268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52280" imgH="228600" progId="">
                  <p:embed/>
                </p:oleObj>
              </mc:Choice>
              <mc:Fallback>
                <p:oleObj name="Equation" r:id="rId3" imgW="152280" imgH="228600" progId="">
                  <p:embed/>
                  <p:pic>
                    <p:nvPicPr>
                      <p:cNvPr id="3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651" y="4693150"/>
                        <a:ext cx="26828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6">
            <a:extLst>
              <a:ext uri="{FF2B5EF4-FFF2-40B4-BE49-F238E27FC236}">
                <a16:creationId xmlns:a16="http://schemas.microsoft.com/office/drawing/2014/main" id="{0289D88E-B78A-73B8-9A8A-B2F35E3D8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04975"/>
              </p:ext>
            </p:extLst>
          </p:nvPr>
        </p:nvGraphicFramePr>
        <p:xfrm>
          <a:off x="1708501" y="1308600"/>
          <a:ext cx="2905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64880" imgH="228600" progId="Equation.3">
                  <p:embed/>
                </p:oleObj>
              </mc:Choice>
              <mc:Fallback>
                <p:oleObj name="Equation" r:id="rId5" imgW="164880" imgH="228600" progId="Equation.3">
                  <p:embed/>
                  <p:pic>
                    <p:nvPicPr>
                      <p:cNvPr id="3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501" y="1308600"/>
                        <a:ext cx="29051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AutoShape 63">
            <a:extLst>
              <a:ext uri="{FF2B5EF4-FFF2-40B4-BE49-F238E27FC236}">
                <a16:creationId xmlns:a16="http://schemas.microsoft.com/office/drawing/2014/main" id="{CA293218-BFF3-CC2A-83FE-16BF5FAAD4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1739" y="2059487"/>
            <a:ext cx="3671887" cy="2447925"/>
          </a:xfrm>
          <a:prstGeom prst="straightConnector1">
            <a:avLst/>
          </a:prstGeom>
          <a:ln>
            <a:headEnd/>
            <a:tailEnd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AutoShape 72">
            <a:extLst>
              <a:ext uri="{FF2B5EF4-FFF2-40B4-BE49-F238E27FC236}">
                <a16:creationId xmlns:a16="http://schemas.microsoft.com/office/drawing/2014/main" id="{EBFA5872-A72B-44FA-EA81-BAEACF5E77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5339" y="1483224"/>
            <a:ext cx="1873250" cy="3095625"/>
          </a:xfrm>
          <a:prstGeom prst="straightConnector1">
            <a:avLst/>
          </a:prstGeom>
          <a:noFill/>
          <a:ln w="9525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73">
            <a:extLst>
              <a:ext uri="{FF2B5EF4-FFF2-40B4-BE49-F238E27FC236}">
                <a16:creationId xmlns:a16="http://schemas.microsoft.com/office/drawing/2014/main" id="{5DBCC0CC-4166-D45E-793F-6B7DB5E0DB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40301" y="2419849"/>
            <a:ext cx="4464050" cy="122396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cxnSp>
        <p:nvCxnSpPr>
          <p:cNvPr id="35" name="AutoShape 74">
            <a:extLst>
              <a:ext uri="{FF2B5EF4-FFF2-40B4-BE49-F238E27FC236}">
                <a16:creationId xmlns:a16="http://schemas.microsoft.com/office/drawing/2014/main" id="{D0E7BDCB-3E11-C861-35E5-5BBB0A87B4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27639" y="1770562"/>
            <a:ext cx="3529012" cy="2592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p:cxnSp>
        <p:nvCxnSpPr>
          <p:cNvPr id="36" name="AutoShape 75">
            <a:extLst>
              <a:ext uri="{FF2B5EF4-FFF2-40B4-BE49-F238E27FC236}">
                <a16:creationId xmlns:a16="http://schemas.microsoft.com/office/drawing/2014/main" id="{20289E4E-CE02-2259-A6F9-5BBC475811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56201" y="2203949"/>
            <a:ext cx="3887788" cy="2087563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="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398767-45AB-D678-281F-3E76E28253F9}"/>
                  </a:ext>
                </a:extLst>
              </p:cNvPr>
              <p:cNvSpPr txBox="1"/>
              <p:nvPr/>
            </p:nvSpPr>
            <p:spPr>
              <a:xfrm>
                <a:off x="6963126" y="896689"/>
                <a:ext cx="31914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398767-45AB-D678-281F-3E76E2825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126" y="896689"/>
                <a:ext cx="3191451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208B5D-4128-C26D-414C-454EE4BACEC1}"/>
                  </a:ext>
                </a:extLst>
              </p:cNvPr>
              <p:cNvSpPr txBox="1"/>
              <p:nvPr/>
            </p:nvSpPr>
            <p:spPr>
              <a:xfrm>
                <a:off x="6963126" y="4214225"/>
                <a:ext cx="1888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208B5D-4128-C26D-414C-454EE4BAC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126" y="4214225"/>
                <a:ext cx="1888081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5000F1F-E75A-3C3B-31EB-9C641130C110}"/>
                  </a:ext>
                </a:extLst>
              </p:cNvPr>
              <p:cNvSpPr txBox="1"/>
              <p:nvPr/>
            </p:nvSpPr>
            <p:spPr>
              <a:xfrm>
                <a:off x="667394" y="1618460"/>
                <a:ext cx="13157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5000F1F-E75A-3C3B-31EB-9C641130C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94" y="1618460"/>
                <a:ext cx="1315745" cy="461665"/>
              </a:xfrm>
              <a:prstGeom prst="rect">
                <a:avLst/>
              </a:prstGeom>
              <a:blipFill>
                <a:blip r:embed="rId9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7E9540-E3B1-A31E-CDBC-756630505AEC}"/>
                  </a:ext>
                </a:extLst>
              </p:cNvPr>
              <p:cNvSpPr txBox="1"/>
              <p:nvPr/>
            </p:nvSpPr>
            <p:spPr>
              <a:xfrm>
                <a:off x="664220" y="2045291"/>
                <a:ext cx="13157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7E9540-E3B1-A31E-CDBC-756630505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20" y="2045291"/>
                <a:ext cx="1315745" cy="461665"/>
              </a:xfrm>
              <a:prstGeom prst="rect">
                <a:avLst/>
              </a:prstGeom>
              <a:blipFill>
                <a:blip r:embed="rId10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2FC71CE-8108-2BD4-9CBF-94EAD283A59B}"/>
              </a:ext>
            </a:extLst>
          </p:cNvPr>
          <p:cNvSpPr txBox="1"/>
          <p:nvPr/>
        </p:nvSpPr>
        <p:spPr>
          <a:xfrm>
            <a:off x="7142221" y="1413365"/>
            <a:ext cx="46923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is the feature vector.</a:t>
            </a:r>
          </a:p>
          <a:p>
            <a:r>
              <a:rPr lang="en-US" dirty="0"/>
              <a:t>w is the weight vector (normal to the hyperplane).</a:t>
            </a:r>
          </a:p>
          <a:p>
            <a:r>
              <a:rPr lang="en-US" dirty="0"/>
              <a:t>b is the bias term.</a:t>
            </a:r>
          </a:p>
          <a:p>
            <a:r>
              <a:rPr lang="en-US" dirty="0"/>
              <a:t>f(x) determines which side of the hyperplane </a:t>
            </a:r>
          </a:p>
          <a:p>
            <a:r>
              <a:rPr lang="en-US" dirty="0"/>
              <a:t>x lies on.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402AC1-FB5E-FF74-7868-9EB986CB5FF5}"/>
              </a:ext>
            </a:extLst>
          </p:cNvPr>
          <p:cNvSpPr txBox="1"/>
          <p:nvPr/>
        </p:nvSpPr>
        <p:spPr>
          <a:xfrm>
            <a:off x="1813790" y="5236281"/>
            <a:ext cx="31918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Classification Rule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If f(x)&gt;0, classify x as class +1.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If f(x)&lt;0, classify xx as class −1.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6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 animBg="1"/>
      <p:bldP spid="25" grpId="0" animBg="1"/>
      <p:bldP spid="27" grpId="0" animBg="1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7E7B-3052-21EC-7860-A756EF2E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Support Vector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C34C1-DD6F-4F86-CC5C-F59775B2F6D6}"/>
              </a:ext>
            </a:extLst>
          </p:cNvPr>
          <p:cNvSpPr txBox="1"/>
          <p:nvPr/>
        </p:nvSpPr>
        <p:spPr>
          <a:xfrm>
            <a:off x="270933" y="925689"/>
            <a:ext cx="696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goal of SVC is to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maximize this margin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 The margin width is given by: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1AD684-84DE-373D-E855-111B45209F14}"/>
                  </a:ext>
                </a:extLst>
              </p:cNvPr>
              <p:cNvSpPr txBox="1"/>
              <p:nvPr/>
            </p:nvSpPr>
            <p:spPr>
              <a:xfrm>
                <a:off x="7240661" y="780649"/>
                <a:ext cx="1978427" cy="65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𝑴𝒂𝒓𝒈𝒊𝒏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1AD684-84DE-373D-E855-111B45209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661" y="780649"/>
                <a:ext cx="1978427" cy="659411"/>
              </a:xfrm>
              <a:prstGeom prst="rect">
                <a:avLst/>
              </a:prstGeom>
              <a:blipFill>
                <a:blip r:embed="rId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A78CB8-5A87-801F-A150-8A9D9C5E8B9F}"/>
              </a:ext>
            </a:extLst>
          </p:cNvPr>
          <p:cNvSpPr txBox="1"/>
          <p:nvPr/>
        </p:nvSpPr>
        <p:spPr>
          <a:xfrm>
            <a:off x="270933" y="2050534"/>
            <a:ext cx="47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Hard Margin SVM (For Perfectly Separable Data)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CA8B4-3A23-8B6B-7992-0A41D2A3E055}"/>
              </a:ext>
            </a:extLst>
          </p:cNvPr>
          <p:cNvSpPr txBox="1"/>
          <p:nvPr/>
        </p:nvSpPr>
        <p:spPr>
          <a:xfrm>
            <a:off x="5853288" y="1926019"/>
            <a:ext cx="3812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Soft Margin SVM (For Overlapping Data / Real-World Use Case)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C8BC3A-2145-ACC1-B8DC-4A852FF51BE1}"/>
                  </a:ext>
                </a:extLst>
              </p:cNvPr>
              <p:cNvSpPr txBox="1"/>
              <p:nvPr/>
            </p:nvSpPr>
            <p:spPr>
              <a:xfrm>
                <a:off x="1061156" y="2946400"/>
                <a:ext cx="2052100" cy="812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f>
                        <m:f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  <m:sup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5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C8BC3A-2145-ACC1-B8DC-4A852FF51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56" y="2946400"/>
                <a:ext cx="2052100" cy="812595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130132-D1BD-CE7B-74D3-625C74F910BA}"/>
                  </a:ext>
                </a:extLst>
              </p:cNvPr>
              <p:cNvSpPr txBox="1"/>
              <p:nvPr/>
            </p:nvSpPr>
            <p:spPr>
              <a:xfrm>
                <a:off x="6699956" y="2870375"/>
                <a:ext cx="3430619" cy="1181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f>
                        <m:f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  <m:sup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𝑪</m:t>
                      </m:r>
                      <m:nary>
                        <m:naryPr>
                          <m:chr m:val="∑"/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500" b="1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5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130132-D1BD-CE7B-74D3-625C74F91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956" y="2870375"/>
                <a:ext cx="3430619" cy="1181670"/>
              </a:xfrm>
              <a:prstGeom prst="rect">
                <a:avLst/>
              </a:prstGeom>
              <a:blipFill>
                <a:blip r:embed="rId4"/>
                <a:stretch>
                  <a:fillRect t="-101064" r="-10332" b="-15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6DC771-229B-D4AF-2697-AE2541DD9CF4}"/>
                  </a:ext>
                </a:extLst>
              </p:cNvPr>
              <p:cNvSpPr txBox="1"/>
              <p:nvPr/>
            </p:nvSpPr>
            <p:spPr>
              <a:xfrm>
                <a:off x="270933" y="4413956"/>
                <a:ext cx="43123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b="0" i="1" u="none" strike="noStrike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dirty="0">
                            <a:solidFill>
                              <a:srgbClr val="C00000"/>
                            </a:solidFill>
                          </a:rPr>
                          <m:t>∥</m:t>
                        </m:r>
                        <m:r>
                          <m:rPr>
                            <m:nor/>
                          </m:rPr>
                          <a:rPr lang="en-IN" dirty="0">
                            <a:solidFill>
                              <a:srgbClr val="C00000"/>
                            </a:solidFill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IN" dirty="0">
                            <a:solidFill>
                              <a:srgbClr val="C00000"/>
                            </a:solidFill>
                          </a:rPr>
                          <m:t>∥</m:t>
                        </m:r>
                      </m:e>
                      <m:sup>
                        <m:r>
                          <a:rPr lang="en-US" b="0" i="1" u="none" strike="noStrike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b="0" i="0" u="none" strike="noStrike" dirty="0">
                    <a:solidFill>
                      <a:srgbClr val="C00000"/>
                    </a:solidFill>
                    <a:effectLst/>
                  </a:rPr>
                  <a:t> </a:t>
                </a:r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</a:rPr>
                  <a:t>controls the margin width (minimizing this maximizes the margin).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6DC771-229B-D4AF-2697-AE2541DD9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33" y="4413956"/>
                <a:ext cx="4312356" cy="646331"/>
              </a:xfrm>
              <a:prstGeom prst="rect">
                <a:avLst/>
              </a:prstGeom>
              <a:blipFill>
                <a:blip r:embed="rId5"/>
                <a:stretch>
                  <a:fillRect l="-117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1B38C16-12C3-563D-E647-47ABC9C15583}"/>
              </a:ext>
            </a:extLst>
          </p:cNvPr>
          <p:cNvSpPr txBox="1"/>
          <p:nvPr/>
        </p:nvSpPr>
        <p:spPr>
          <a:xfrm>
            <a:off x="270933" y="4952059"/>
            <a:ext cx="2993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</a:rPr>
              <a:t>yi</a:t>
            </a:r>
            <a:r>
              <a:rPr lang="en-IN" dirty="0">
                <a:solidFill>
                  <a:srgbClr val="C00000"/>
                </a:solidFill>
              </a:rPr>
              <a:t>​∈{+1,−1} </a:t>
            </a:r>
            <a:r>
              <a:rPr lang="en-IN" dirty="0"/>
              <a:t>are the class labels.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8EE20-3154-1631-FF8C-1DBF72B0BF35}"/>
              </a:ext>
            </a:extLst>
          </p:cNvPr>
          <p:cNvSpPr txBox="1"/>
          <p:nvPr/>
        </p:nvSpPr>
        <p:spPr>
          <a:xfrm>
            <a:off x="270933" y="5345916"/>
            <a:ext cx="419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(</a:t>
            </a:r>
            <a:r>
              <a:rPr lang="en-IN" b="0" i="0" u="none" strike="noStrike" dirty="0" err="1">
                <a:solidFill>
                  <a:srgbClr val="C00000"/>
                </a:solidFill>
                <a:effectLst/>
              </a:rPr>
              <a:t>w.xi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​+b) 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gives the signed distance from the hyperplane.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98BA6A-CB46-E388-10AE-6708A9A2D2D0}"/>
                  </a:ext>
                </a:extLst>
              </p:cNvPr>
              <p:cNvSpPr txBox="1"/>
              <p:nvPr/>
            </p:nvSpPr>
            <p:spPr>
              <a:xfrm>
                <a:off x="5853288" y="4408312"/>
                <a:ext cx="55484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(slack variables) </a:t>
                </a:r>
                <a:r>
                  <a:rPr lang="en-US" dirty="0"/>
                  <a:t>measure how much point ii violates the margin constraint.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98BA6A-CB46-E388-10AE-6708A9A2D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288" y="4408312"/>
                <a:ext cx="5548490" cy="646331"/>
              </a:xfrm>
              <a:prstGeom prst="rect">
                <a:avLst/>
              </a:prstGeom>
              <a:blipFill>
                <a:blip r:embed="rId6"/>
                <a:stretch>
                  <a:fillRect l="-913" t="-3922" r="-685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8087273-6D7F-E348-9AEF-B783C28AB2D2}"/>
              </a:ext>
            </a:extLst>
          </p:cNvPr>
          <p:cNvSpPr txBox="1"/>
          <p:nvPr/>
        </p:nvSpPr>
        <p:spPr>
          <a:xfrm>
            <a:off x="5853288" y="5054643"/>
            <a:ext cx="544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 is a hyperparameter </a:t>
            </a:r>
            <a:r>
              <a:rPr lang="en-US" dirty="0"/>
              <a:t>that controls the trade-off between margin maximization and misclassification penalty.</a:t>
            </a:r>
          </a:p>
        </p:txBody>
      </p:sp>
    </p:spTree>
    <p:extLst>
      <p:ext uri="{BB962C8B-B14F-4D97-AF65-F5344CB8AC3E}">
        <p14:creationId xmlns:p14="http://schemas.microsoft.com/office/powerpoint/2010/main" val="269412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A47A-CC34-3D9A-2F0F-5547F853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EE15-8180-851B-B02B-3CF2083C6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classification (SVC) is a </a:t>
            </a:r>
            <a:r>
              <a:rPr lang="en-US" dirty="0">
                <a:solidFill>
                  <a:srgbClr val="C00000"/>
                </a:solidFill>
              </a:rPr>
              <a:t>supervised machine learning algorithm</a:t>
            </a:r>
            <a:r>
              <a:rPr lang="en-US" dirty="0"/>
              <a:t> that applies the principles of </a:t>
            </a:r>
            <a:r>
              <a:rPr lang="en-US" dirty="0">
                <a:solidFill>
                  <a:srgbClr val="C00000"/>
                </a:solidFill>
              </a:rPr>
              <a:t>Support Vector Machines (SVM)</a:t>
            </a:r>
            <a:r>
              <a:rPr lang="en-US" dirty="0"/>
              <a:t> to classification problems.</a:t>
            </a:r>
          </a:p>
          <a:p>
            <a:r>
              <a:rPr lang="en-US" b="1" dirty="0">
                <a:solidFill>
                  <a:srgbClr val="C00000"/>
                </a:solidFill>
              </a:rPr>
              <a:t>Terminology in SVC</a:t>
            </a:r>
            <a:r>
              <a:rPr lang="en-US" b="1" dirty="0"/>
              <a:t>:</a:t>
            </a:r>
          </a:p>
          <a:p>
            <a:r>
              <a:rPr lang="en-US" b="1" dirty="0"/>
              <a:t>Hyperplane: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A decision boundary that separates data points of different classes. In 2D, it's a line; in 3D, it's a plane; in higher dimensions, it's a hyperplane.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/>
              <a:t>Margin (</a:t>
            </a:r>
            <a:r>
              <a:rPr lang="el-GR" b="1" dirty="0"/>
              <a:t>ε-</a:t>
            </a:r>
            <a:r>
              <a:rPr lang="en-US" b="1" dirty="0"/>
              <a:t>insensitive loss):</a:t>
            </a:r>
          </a:p>
          <a:p>
            <a:pPr lvl="1"/>
            <a:r>
              <a:rPr lang="en-US" dirty="0"/>
              <a:t>The distance between the hyperplane and the closest data points (called support vectors). SVM aims to maximize this margin to improve classification performance and generalization.</a:t>
            </a:r>
          </a:p>
          <a:p>
            <a:pPr lvl="1"/>
            <a:r>
              <a:rPr lang="en-US" dirty="0"/>
              <a:t>If the margin is larger in between the classes, then it is considered a good margin, a smaller margin is a bad margin.</a:t>
            </a:r>
          </a:p>
          <a:p>
            <a:r>
              <a:rPr lang="en-US" b="1" dirty="0"/>
              <a:t>Support Vectors:</a:t>
            </a:r>
          </a:p>
          <a:p>
            <a:pPr lvl="1"/>
            <a:r>
              <a:rPr lang="en-US" dirty="0"/>
              <a:t>The data points closest to the hyperplane, which are critical in defining its position and orientation. They "support" the hyperplane.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4D9C-245D-BB8B-281C-86F25211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23E8-2DF6-B953-2173-7EB26629E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51823"/>
          </a:xfrm>
        </p:spPr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Linear vs. Nonlinear Data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IN" b="1" dirty="0">
                <a:solidFill>
                  <a:srgbClr val="000000"/>
                </a:solidFill>
              </a:rPr>
              <a:t>Linear 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SVM: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Works when data is linearly separable, meaning classes can be separated by a straight line (or hyperplane).</a:t>
            </a: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Nonlinear SVM: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For complex, nonlinearly separable data, SVM uses the kernel trick to project data into a higher-dimensional space where a hyperplane can separate the classes.</a:t>
            </a:r>
          </a:p>
          <a:p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5E29BCC-8A70-D84E-B308-8F1832799D13}"/>
              </a:ext>
            </a:extLst>
          </p:cNvPr>
          <p:cNvCxnSpPr>
            <a:cxnSpLocks/>
          </p:cNvCxnSpPr>
          <p:nvPr/>
        </p:nvCxnSpPr>
        <p:spPr>
          <a:xfrm flipV="1">
            <a:off x="700392" y="3253791"/>
            <a:ext cx="0" cy="3340397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E3A817-634B-23E4-3D62-3F2F851C58D5}"/>
              </a:ext>
            </a:extLst>
          </p:cNvPr>
          <p:cNvCxnSpPr>
            <a:cxnSpLocks/>
          </p:cNvCxnSpPr>
          <p:nvPr/>
        </p:nvCxnSpPr>
        <p:spPr>
          <a:xfrm>
            <a:off x="428979" y="6409522"/>
            <a:ext cx="486599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676F469-38F2-E112-8AB6-B35CDB700168}"/>
              </a:ext>
            </a:extLst>
          </p:cNvPr>
          <p:cNvSpPr/>
          <p:nvPr/>
        </p:nvSpPr>
        <p:spPr>
          <a:xfrm>
            <a:off x="1857218" y="5504278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1F1F425-D3CB-3551-751D-8271A92A02B2}"/>
              </a:ext>
            </a:extLst>
          </p:cNvPr>
          <p:cNvSpPr/>
          <p:nvPr/>
        </p:nvSpPr>
        <p:spPr>
          <a:xfrm>
            <a:off x="2371058" y="450271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C8B32B7-B063-26DC-6346-96118A5364AA}"/>
              </a:ext>
            </a:extLst>
          </p:cNvPr>
          <p:cNvSpPr/>
          <p:nvPr/>
        </p:nvSpPr>
        <p:spPr>
          <a:xfrm>
            <a:off x="3104925" y="486294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0455BC3-7631-1333-EBF9-97504429AE84}"/>
              </a:ext>
            </a:extLst>
          </p:cNvPr>
          <p:cNvSpPr/>
          <p:nvPr/>
        </p:nvSpPr>
        <p:spPr>
          <a:xfrm>
            <a:off x="2721581" y="4885522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574902-79E5-C371-805F-F7A7D906B95D}"/>
              </a:ext>
            </a:extLst>
          </p:cNvPr>
          <p:cNvSpPr txBox="1"/>
          <p:nvPr/>
        </p:nvSpPr>
        <p:spPr>
          <a:xfrm>
            <a:off x="547145" y="2852037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B910DA-A8A6-9031-DF42-2F8DBD63E228}"/>
              </a:ext>
            </a:extLst>
          </p:cNvPr>
          <p:cNvSpPr txBox="1"/>
          <p:nvPr/>
        </p:nvSpPr>
        <p:spPr>
          <a:xfrm>
            <a:off x="5276600" y="6224856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6244BF-8891-F169-1E7E-EAC4951757DB}"/>
              </a:ext>
            </a:extLst>
          </p:cNvPr>
          <p:cNvCxnSpPr>
            <a:cxnSpLocks/>
          </p:cNvCxnSpPr>
          <p:nvPr/>
        </p:nvCxnSpPr>
        <p:spPr>
          <a:xfrm flipV="1">
            <a:off x="428979" y="3691009"/>
            <a:ext cx="3962399" cy="218365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41EB1BF7-5B6C-D751-C534-A5ABE07B7A2F}"/>
              </a:ext>
            </a:extLst>
          </p:cNvPr>
          <p:cNvSpPr/>
          <p:nvPr/>
        </p:nvSpPr>
        <p:spPr>
          <a:xfrm>
            <a:off x="2721102" y="5284144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C27B3FD-5C1A-08F3-FA54-3E01432B0E64}"/>
              </a:ext>
            </a:extLst>
          </p:cNvPr>
          <p:cNvSpPr/>
          <p:nvPr/>
        </p:nvSpPr>
        <p:spPr>
          <a:xfrm>
            <a:off x="2479599" y="5278498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A707ED4-071B-7371-E1C7-805EA3C62BA2}"/>
              </a:ext>
            </a:extLst>
          </p:cNvPr>
          <p:cNvSpPr/>
          <p:nvPr/>
        </p:nvSpPr>
        <p:spPr>
          <a:xfrm>
            <a:off x="3421014" y="5205121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3631BFD-146A-31DE-1492-BB7CF650F4A0}"/>
              </a:ext>
            </a:extLst>
          </p:cNvPr>
          <p:cNvSpPr/>
          <p:nvPr/>
        </p:nvSpPr>
        <p:spPr>
          <a:xfrm>
            <a:off x="2873502" y="5436544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8B3537-136F-49D5-3D4C-38018B09C9BE}"/>
              </a:ext>
            </a:extLst>
          </p:cNvPr>
          <p:cNvSpPr/>
          <p:nvPr/>
        </p:nvSpPr>
        <p:spPr>
          <a:xfrm>
            <a:off x="2450080" y="5563227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EA92D6E-A9A5-0BB2-1F3F-C1E29DF93E3D}"/>
              </a:ext>
            </a:extLst>
          </p:cNvPr>
          <p:cNvSpPr/>
          <p:nvPr/>
        </p:nvSpPr>
        <p:spPr>
          <a:xfrm>
            <a:off x="3573414" y="5357521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2EDE81-42F2-CBF8-4653-9027C6CA51AD}"/>
              </a:ext>
            </a:extLst>
          </p:cNvPr>
          <p:cNvSpPr/>
          <p:nvPr/>
        </p:nvSpPr>
        <p:spPr>
          <a:xfrm>
            <a:off x="3100489" y="5165609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4BF22A5-B779-2699-772C-D059D7C573D6}"/>
              </a:ext>
            </a:extLst>
          </p:cNvPr>
          <p:cNvSpPr/>
          <p:nvPr/>
        </p:nvSpPr>
        <p:spPr>
          <a:xfrm>
            <a:off x="3179511" y="557771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8DE5546-6273-D00B-BF97-4981F72DF46D}"/>
              </a:ext>
            </a:extLst>
          </p:cNvPr>
          <p:cNvSpPr/>
          <p:nvPr/>
        </p:nvSpPr>
        <p:spPr>
          <a:xfrm>
            <a:off x="3569242" y="4885522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3A24BAC-4518-14C3-418B-B70441E3DC38}"/>
              </a:ext>
            </a:extLst>
          </p:cNvPr>
          <p:cNvSpPr/>
          <p:nvPr/>
        </p:nvSpPr>
        <p:spPr>
          <a:xfrm>
            <a:off x="2727137" y="427164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4715A10-2E9F-1ADC-4A8E-CB23AB55897A}"/>
              </a:ext>
            </a:extLst>
          </p:cNvPr>
          <p:cNvSpPr/>
          <p:nvPr/>
        </p:nvSpPr>
        <p:spPr>
          <a:xfrm>
            <a:off x="1943032" y="465863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1059A6-349D-07BF-92AD-C18E35DCFF56}"/>
              </a:ext>
            </a:extLst>
          </p:cNvPr>
          <p:cNvSpPr/>
          <p:nvPr/>
        </p:nvSpPr>
        <p:spPr>
          <a:xfrm>
            <a:off x="2873502" y="411726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3ABA1FC-F486-B77B-AD25-E573FD47D0AE}"/>
              </a:ext>
            </a:extLst>
          </p:cNvPr>
          <p:cNvSpPr/>
          <p:nvPr/>
        </p:nvSpPr>
        <p:spPr>
          <a:xfrm>
            <a:off x="3067770" y="399653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E5A8DF8-E278-97E3-4B00-3366BAD56AEC}"/>
              </a:ext>
            </a:extLst>
          </p:cNvPr>
          <p:cNvSpPr/>
          <p:nvPr/>
        </p:nvSpPr>
        <p:spPr>
          <a:xfrm>
            <a:off x="2384123" y="427853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817B2A0-DA7F-BBC9-9BC6-50E1D75D2500}"/>
              </a:ext>
            </a:extLst>
          </p:cNvPr>
          <p:cNvSpPr/>
          <p:nvPr/>
        </p:nvSpPr>
        <p:spPr>
          <a:xfrm>
            <a:off x="1849879" y="440613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22DAC05-7E91-DFB9-688F-7014272D74EB}"/>
              </a:ext>
            </a:extLst>
          </p:cNvPr>
          <p:cNvSpPr/>
          <p:nvPr/>
        </p:nvSpPr>
        <p:spPr>
          <a:xfrm>
            <a:off x="2800124" y="38836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5906040-96BB-B749-82DD-7CC646A2833E}"/>
              </a:ext>
            </a:extLst>
          </p:cNvPr>
          <p:cNvSpPr/>
          <p:nvPr/>
        </p:nvSpPr>
        <p:spPr>
          <a:xfrm>
            <a:off x="3258533" y="381014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9D0C1A0-C4EB-8D4A-AEC4-EE0CE1540754}"/>
              </a:ext>
            </a:extLst>
          </p:cNvPr>
          <p:cNvSpPr/>
          <p:nvPr/>
        </p:nvSpPr>
        <p:spPr>
          <a:xfrm>
            <a:off x="1896729" y="410819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FC1EC03-F27D-BC1D-0838-D1B3E669F269}"/>
              </a:ext>
            </a:extLst>
          </p:cNvPr>
          <p:cNvSpPr/>
          <p:nvPr/>
        </p:nvSpPr>
        <p:spPr>
          <a:xfrm>
            <a:off x="1544477" y="431115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323BC49-91FD-7A56-085D-9523F967D1BB}"/>
              </a:ext>
            </a:extLst>
          </p:cNvPr>
          <p:cNvSpPr/>
          <p:nvPr/>
        </p:nvSpPr>
        <p:spPr>
          <a:xfrm>
            <a:off x="2845759" y="355288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EA60E5C-BAB1-3869-1ECA-653068E7B49B}"/>
              </a:ext>
            </a:extLst>
          </p:cNvPr>
          <p:cNvSpPr/>
          <p:nvPr/>
        </p:nvSpPr>
        <p:spPr>
          <a:xfrm>
            <a:off x="3140000" y="362010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BB44D56-7652-2907-DE5A-626059503BD1}"/>
              </a:ext>
            </a:extLst>
          </p:cNvPr>
          <p:cNvSpPr/>
          <p:nvPr/>
        </p:nvSpPr>
        <p:spPr>
          <a:xfrm>
            <a:off x="2080620" y="436662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E63AE66-FE58-EBA1-0071-D0114B9C71E5}"/>
              </a:ext>
            </a:extLst>
          </p:cNvPr>
          <p:cNvSpPr/>
          <p:nvPr/>
        </p:nvSpPr>
        <p:spPr>
          <a:xfrm>
            <a:off x="1622507" y="459059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D721E787-70E8-7FC4-1076-813CC092CAAA}"/>
              </a:ext>
            </a:extLst>
          </p:cNvPr>
          <p:cNvCxnSpPr>
            <a:cxnSpLocks/>
          </p:cNvCxnSpPr>
          <p:nvPr/>
        </p:nvCxnSpPr>
        <p:spPr>
          <a:xfrm flipV="1">
            <a:off x="5820622" y="3253791"/>
            <a:ext cx="0" cy="3340397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7075BDA-58CD-F3B1-1CF7-5A484E3AA0A3}"/>
              </a:ext>
            </a:extLst>
          </p:cNvPr>
          <p:cNvCxnSpPr>
            <a:cxnSpLocks/>
          </p:cNvCxnSpPr>
          <p:nvPr/>
        </p:nvCxnSpPr>
        <p:spPr>
          <a:xfrm>
            <a:off x="5667375" y="6409522"/>
            <a:ext cx="4357158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F0D82693-5136-E2A1-C515-B6E63321AE2F}"/>
              </a:ext>
            </a:extLst>
          </p:cNvPr>
          <p:cNvSpPr/>
          <p:nvPr/>
        </p:nvSpPr>
        <p:spPr>
          <a:xfrm>
            <a:off x="7136514" y="4971134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52804D45-AE3E-9072-F293-DF3544BB1995}"/>
              </a:ext>
            </a:extLst>
          </p:cNvPr>
          <p:cNvSpPr/>
          <p:nvPr/>
        </p:nvSpPr>
        <p:spPr>
          <a:xfrm>
            <a:off x="7491288" y="450271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555909D7-74C6-FA8E-7D71-0654C08D034C}"/>
              </a:ext>
            </a:extLst>
          </p:cNvPr>
          <p:cNvSpPr/>
          <p:nvPr/>
        </p:nvSpPr>
        <p:spPr>
          <a:xfrm>
            <a:off x="7617873" y="4722204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C15DB9B-3421-1BE4-861B-53C44AB3C2F9}"/>
              </a:ext>
            </a:extLst>
          </p:cNvPr>
          <p:cNvSpPr/>
          <p:nvPr/>
        </p:nvSpPr>
        <p:spPr>
          <a:xfrm>
            <a:off x="7447331" y="4885522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281F65F-9317-A4A1-2EC5-551C2D9180A4}"/>
              </a:ext>
            </a:extLst>
          </p:cNvPr>
          <p:cNvSpPr txBox="1"/>
          <p:nvPr/>
        </p:nvSpPr>
        <p:spPr>
          <a:xfrm>
            <a:off x="5667375" y="2852037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5128F36-D5C6-1665-983F-BCFDE9726572}"/>
              </a:ext>
            </a:extLst>
          </p:cNvPr>
          <p:cNvSpPr txBox="1"/>
          <p:nvPr/>
        </p:nvSpPr>
        <p:spPr>
          <a:xfrm>
            <a:off x="10024533" y="6224856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2F1A4351-9824-0EFA-9E6D-21A29C6C8702}"/>
              </a:ext>
            </a:extLst>
          </p:cNvPr>
          <p:cNvSpPr/>
          <p:nvPr/>
        </p:nvSpPr>
        <p:spPr>
          <a:xfrm>
            <a:off x="7556982" y="5126097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8CBAB210-9715-C112-9EA5-529BDD0BF313}"/>
              </a:ext>
            </a:extLst>
          </p:cNvPr>
          <p:cNvSpPr/>
          <p:nvPr/>
        </p:nvSpPr>
        <p:spPr>
          <a:xfrm>
            <a:off x="7368309" y="513061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B0845B9-AEEE-B440-A1FF-9CD2644DB156}"/>
              </a:ext>
            </a:extLst>
          </p:cNvPr>
          <p:cNvSpPr/>
          <p:nvPr/>
        </p:nvSpPr>
        <p:spPr>
          <a:xfrm>
            <a:off x="7712867" y="5139503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DE17E333-AEF0-12D2-E346-EDC0687E2B9C}"/>
              </a:ext>
            </a:extLst>
          </p:cNvPr>
          <p:cNvSpPr/>
          <p:nvPr/>
        </p:nvSpPr>
        <p:spPr>
          <a:xfrm>
            <a:off x="7657384" y="4964545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871035B-05A0-CA48-2ECB-ACC773784AFB}"/>
              </a:ext>
            </a:extLst>
          </p:cNvPr>
          <p:cNvSpPr/>
          <p:nvPr/>
        </p:nvSpPr>
        <p:spPr>
          <a:xfrm>
            <a:off x="7199794" y="5219348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5B15BB96-D0C8-3408-0A7D-21AB0359FD3B}"/>
              </a:ext>
            </a:extLst>
          </p:cNvPr>
          <p:cNvSpPr/>
          <p:nvPr/>
        </p:nvSpPr>
        <p:spPr>
          <a:xfrm>
            <a:off x="6911981" y="5030810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627717C-6BB5-5ED4-2117-4867A3FDF9C5}"/>
              </a:ext>
            </a:extLst>
          </p:cNvPr>
          <p:cNvSpPr/>
          <p:nvPr/>
        </p:nvSpPr>
        <p:spPr>
          <a:xfrm>
            <a:off x="7023751" y="5186423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F1B0E9A-9F72-DD2D-9AD8-C8C35F914751}"/>
              </a:ext>
            </a:extLst>
          </p:cNvPr>
          <p:cNvSpPr/>
          <p:nvPr/>
        </p:nvSpPr>
        <p:spPr>
          <a:xfrm>
            <a:off x="7407820" y="5285141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1ED4A64D-DCF9-0002-07BA-59A7053817FD}"/>
              </a:ext>
            </a:extLst>
          </p:cNvPr>
          <p:cNvSpPr/>
          <p:nvPr/>
        </p:nvSpPr>
        <p:spPr>
          <a:xfrm>
            <a:off x="7827926" y="4905524"/>
            <a:ext cx="79022" cy="790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A725AC8D-6CC7-3308-4753-54F255AFFE1C}"/>
              </a:ext>
            </a:extLst>
          </p:cNvPr>
          <p:cNvSpPr/>
          <p:nvPr/>
        </p:nvSpPr>
        <p:spPr>
          <a:xfrm>
            <a:off x="7827926" y="449390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9B4C855-EC24-2894-2B62-C73B881E0A1D}"/>
              </a:ext>
            </a:extLst>
          </p:cNvPr>
          <p:cNvSpPr/>
          <p:nvPr/>
        </p:nvSpPr>
        <p:spPr>
          <a:xfrm>
            <a:off x="7063262" y="465863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046E55C9-63A5-12B9-CEDE-AD9F9350008C}"/>
              </a:ext>
            </a:extLst>
          </p:cNvPr>
          <p:cNvSpPr/>
          <p:nvPr/>
        </p:nvSpPr>
        <p:spPr>
          <a:xfrm>
            <a:off x="8005500" y="469118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5DE1F3E6-99C2-DEAE-D6FA-2C59C635F58B}"/>
              </a:ext>
            </a:extLst>
          </p:cNvPr>
          <p:cNvSpPr/>
          <p:nvPr/>
        </p:nvSpPr>
        <p:spPr>
          <a:xfrm>
            <a:off x="8029704" y="503737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8661DCE4-F620-B206-1D81-065E6CD2B584}"/>
              </a:ext>
            </a:extLst>
          </p:cNvPr>
          <p:cNvSpPr/>
          <p:nvPr/>
        </p:nvSpPr>
        <p:spPr>
          <a:xfrm>
            <a:off x="7504353" y="427853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0BC970CB-6186-F4AA-E21C-9DAC29C47D4A}"/>
              </a:ext>
            </a:extLst>
          </p:cNvPr>
          <p:cNvSpPr/>
          <p:nvPr/>
        </p:nvSpPr>
        <p:spPr>
          <a:xfrm>
            <a:off x="6970109" y="440613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E3423CCB-600C-501F-71ED-6B1EB04BFCCF}"/>
              </a:ext>
            </a:extLst>
          </p:cNvPr>
          <p:cNvSpPr/>
          <p:nvPr/>
        </p:nvSpPr>
        <p:spPr>
          <a:xfrm>
            <a:off x="7608980" y="545171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90812116-5FC2-44C1-BF5D-D21D4745896E}"/>
              </a:ext>
            </a:extLst>
          </p:cNvPr>
          <p:cNvSpPr/>
          <p:nvPr/>
        </p:nvSpPr>
        <p:spPr>
          <a:xfrm>
            <a:off x="7928405" y="534816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8C010568-F261-5C48-A959-E54CA4CA9CA9}"/>
              </a:ext>
            </a:extLst>
          </p:cNvPr>
          <p:cNvSpPr/>
          <p:nvPr/>
        </p:nvSpPr>
        <p:spPr>
          <a:xfrm>
            <a:off x="6779428" y="539536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6F2F4F93-EE40-98B3-6B50-4EFC62A5E572}"/>
              </a:ext>
            </a:extLst>
          </p:cNvPr>
          <p:cNvSpPr/>
          <p:nvPr/>
        </p:nvSpPr>
        <p:spPr>
          <a:xfrm>
            <a:off x="6699492" y="507688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4A4CA576-C246-BC20-AD1A-73C5732A2649}"/>
              </a:ext>
            </a:extLst>
          </p:cNvPr>
          <p:cNvSpPr/>
          <p:nvPr/>
        </p:nvSpPr>
        <p:spPr>
          <a:xfrm>
            <a:off x="7289287" y="550427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0997A194-7156-0447-1EEA-18BB54A4E94F}"/>
              </a:ext>
            </a:extLst>
          </p:cNvPr>
          <p:cNvSpPr/>
          <p:nvPr/>
        </p:nvSpPr>
        <p:spPr>
          <a:xfrm>
            <a:off x="7034090" y="55257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E189BC5-84E1-3F97-E528-015723635479}"/>
              </a:ext>
            </a:extLst>
          </p:cNvPr>
          <p:cNvSpPr/>
          <p:nvPr/>
        </p:nvSpPr>
        <p:spPr>
          <a:xfrm>
            <a:off x="7200850" y="436662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CFB653B-A66C-15B6-466F-5ECA3BA64DB7}"/>
              </a:ext>
            </a:extLst>
          </p:cNvPr>
          <p:cNvSpPr/>
          <p:nvPr/>
        </p:nvSpPr>
        <p:spPr>
          <a:xfrm>
            <a:off x="6742737" y="459059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8CE30AE-5BE3-133B-FCCD-64A50AF6E478}"/>
              </a:ext>
            </a:extLst>
          </p:cNvPr>
          <p:cNvSpPr txBox="1"/>
          <p:nvPr/>
        </p:nvSpPr>
        <p:spPr>
          <a:xfrm>
            <a:off x="3723117" y="4146196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Linear Data</a:t>
            </a:r>
            <a:endParaRPr lang="en-US" b="1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229A135-6740-FCC0-46F6-C3BC33D11669}"/>
              </a:ext>
            </a:extLst>
          </p:cNvPr>
          <p:cNvSpPr txBox="1"/>
          <p:nvPr/>
        </p:nvSpPr>
        <p:spPr>
          <a:xfrm>
            <a:off x="8660099" y="4003915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Nonlinear 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6147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1" grpId="0"/>
      <p:bldP spid="62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73" grpId="0" animBg="1"/>
      <p:bldP spid="174" grpId="0" animBg="1"/>
      <p:bldP spid="175" grpId="0" animBg="1"/>
      <p:bldP spid="176" grpId="0" animBg="1"/>
      <p:bldP spid="177" grpId="0"/>
      <p:bldP spid="178" grpId="0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5" grpId="0"/>
      <p:bldP spid="20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AF58-5AEB-F239-4FFD-BE4BE32F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147B-2CF6-6451-9564-A16A1055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kernel function in </a:t>
            </a:r>
            <a:r>
              <a:rPr lang="en-US" dirty="0">
                <a:solidFill>
                  <a:srgbClr val="C00000"/>
                </a:solidFill>
              </a:rPr>
              <a:t>Support Vector Machine (SVM) </a:t>
            </a:r>
            <a:r>
              <a:rPr lang="en-US" dirty="0"/>
              <a:t>is a </a:t>
            </a:r>
            <a:r>
              <a:rPr lang="en-US" dirty="0">
                <a:solidFill>
                  <a:srgbClr val="C00000"/>
                </a:solidFill>
              </a:rPr>
              <a:t>trick to transform non-linearly separable data into a higher-dimensional space.</a:t>
            </a:r>
          </a:p>
          <a:p>
            <a:r>
              <a:rPr lang="en-US" dirty="0"/>
              <a:t>Where </a:t>
            </a:r>
            <a:r>
              <a:rPr lang="en-US" dirty="0">
                <a:solidFill>
                  <a:srgbClr val="C00000"/>
                </a:solidFill>
              </a:rPr>
              <a:t>linear separator can be applied</a:t>
            </a:r>
            <a:r>
              <a:rPr lang="en-US" dirty="0"/>
              <a:t>. This is called the Kernel Trick.</a:t>
            </a:r>
          </a:p>
          <a:p>
            <a:r>
              <a:rPr lang="en-US" dirty="0"/>
              <a:t>Real-world data </a:t>
            </a:r>
            <a:r>
              <a:rPr lang="en-US" dirty="0">
                <a:solidFill>
                  <a:srgbClr val="C00000"/>
                </a:solidFill>
              </a:rPr>
              <a:t>is often non-linearly separable</a:t>
            </a:r>
            <a:r>
              <a:rPr lang="en-US" dirty="0"/>
              <a:t>.</a:t>
            </a:r>
          </a:p>
          <a:p>
            <a:r>
              <a:rPr lang="en-US" dirty="0"/>
              <a:t>A simple</a:t>
            </a:r>
            <a:r>
              <a:rPr lang="en-US" dirty="0">
                <a:solidFill>
                  <a:srgbClr val="C00000"/>
                </a:solidFill>
              </a:rPr>
              <a:t> linear SVM won't work well </a:t>
            </a:r>
            <a:r>
              <a:rPr lang="en-US" dirty="0"/>
              <a:t>for complex patterns.</a:t>
            </a:r>
          </a:p>
          <a:p>
            <a:r>
              <a:rPr lang="en-US" dirty="0"/>
              <a:t>Kernel functions </a:t>
            </a:r>
            <a:r>
              <a:rPr lang="en-US" dirty="0">
                <a:solidFill>
                  <a:srgbClr val="C00000"/>
                </a:solidFill>
              </a:rPr>
              <a:t>map input data to a higher-dimensional space</a:t>
            </a:r>
            <a:r>
              <a:rPr lang="en-US" dirty="0"/>
              <a:t>, making it easier to classify with </a:t>
            </a:r>
            <a:r>
              <a:rPr lang="en-US" dirty="0">
                <a:solidFill>
                  <a:srgbClr val="C00000"/>
                </a:solidFill>
              </a:rPr>
              <a:t>a linear hyperplane</a:t>
            </a:r>
            <a:r>
              <a:rPr lang="en-US" dirty="0"/>
              <a:t>.</a:t>
            </a:r>
          </a:p>
          <a:p>
            <a:r>
              <a:rPr lang="en-US" dirty="0"/>
              <a:t>Imagine a dataset </a:t>
            </a:r>
            <a:r>
              <a:rPr lang="en-US" dirty="0">
                <a:solidFill>
                  <a:srgbClr val="C00000"/>
                </a:solidFill>
              </a:rPr>
              <a:t>where classes are circularly distributed</a:t>
            </a:r>
            <a:r>
              <a:rPr lang="en-US" dirty="0"/>
              <a:t>. A linear SVM </a:t>
            </a:r>
            <a:r>
              <a:rPr lang="en-US" dirty="0">
                <a:solidFill>
                  <a:srgbClr val="C00000"/>
                </a:solidFill>
              </a:rPr>
              <a:t>cannot separate them</a:t>
            </a:r>
            <a:r>
              <a:rPr lang="en-US" dirty="0"/>
              <a:t>, but using a </a:t>
            </a:r>
            <a:r>
              <a:rPr lang="en-US" dirty="0">
                <a:solidFill>
                  <a:srgbClr val="C00000"/>
                </a:solidFill>
              </a:rPr>
              <a:t>Radial Basis Function (RBF) Kernel</a:t>
            </a:r>
            <a:r>
              <a:rPr lang="en-US" dirty="0"/>
              <a:t>, we can transform it </a:t>
            </a:r>
            <a:r>
              <a:rPr lang="en-US" dirty="0">
                <a:solidFill>
                  <a:srgbClr val="C00000"/>
                </a:solidFill>
              </a:rPr>
              <a:t>into a higher dimension </a:t>
            </a:r>
            <a:r>
              <a:rPr lang="en-US" dirty="0"/>
              <a:t>where it is separable.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8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6ED4-1E4C-8F4E-2DB1-9B5076B1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- 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4A4AAF-77EA-6F1E-18A6-16DFAED2CC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4407850"/>
                  </p:ext>
                </p:extLst>
              </p:nvPr>
            </p:nvGraphicFramePr>
            <p:xfrm>
              <a:off x="349956" y="936978"/>
              <a:ext cx="10995377" cy="444782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901244">
                      <a:extLst>
                        <a:ext uri="{9D8B030D-6E8A-4147-A177-3AD203B41FA5}">
                          <a16:colId xmlns:a16="http://schemas.microsoft.com/office/drawing/2014/main" val="3567681047"/>
                        </a:ext>
                      </a:extLst>
                    </a:gridCol>
                    <a:gridCol w="4526991">
                      <a:extLst>
                        <a:ext uri="{9D8B030D-6E8A-4147-A177-3AD203B41FA5}">
                          <a16:colId xmlns:a16="http://schemas.microsoft.com/office/drawing/2014/main" val="2631472704"/>
                        </a:ext>
                      </a:extLst>
                    </a:gridCol>
                    <a:gridCol w="3567142">
                      <a:extLst>
                        <a:ext uri="{9D8B030D-6E8A-4147-A177-3AD203B41FA5}">
                          <a16:colId xmlns:a16="http://schemas.microsoft.com/office/drawing/2014/main" val="3454545813"/>
                        </a:ext>
                      </a:extLst>
                    </a:gridCol>
                  </a:tblGrid>
                  <a:tr h="50832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Kernel Type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919435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Linear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Best for linearly separable data. Fast and simple.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3241952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Polynomial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Used for curved decision boundaries with degree 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5512226"/>
                      </a:ext>
                    </a:extLst>
                  </a:tr>
                  <a:tr h="127080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Radial Basis Function (RBF)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⁡(−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||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||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Works well for non-linearly separable data. Most commonly used.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7013315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Sigmoid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𝑡𝑎𝑛h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Used in neural networks. Less common in SVM.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0252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44A4AAF-77EA-6F1E-18A6-16DFAED2CC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4407850"/>
                  </p:ext>
                </p:extLst>
              </p:nvPr>
            </p:nvGraphicFramePr>
            <p:xfrm>
              <a:off x="349956" y="936978"/>
              <a:ext cx="10995377" cy="444782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901244">
                      <a:extLst>
                        <a:ext uri="{9D8B030D-6E8A-4147-A177-3AD203B41FA5}">
                          <a16:colId xmlns:a16="http://schemas.microsoft.com/office/drawing/2014/main" val="3567681047"/>
                        </a:ext>
                      </a:extLst>
                    </a:gridCol>
                    <a:gridCol w="4526991">
                      <a:extLst>
                        <a:ext uri="{9D8B030D-6E8A-4147-A177-3AD203B41FA5}">
                          <a16:colId xmlns:a16="http://schemas.microsoft.com/office/drawing/2014/main" val="2631472704"/>
                        </a:ext>
                      </a:extLst>
                    </a:gridCol>
                    <a:gridCol w="3567142">
                      <a:extLst>
                        <a:ext uri="{9D8B030D-6E8A-4147-A177-3AD203B41FA5}">
                          <a16:colId xmlns:a16="http://schemas.microsoft.com/office/drawing/2014/main" val="3454545813"/>
                        </a:ext>
                      </a:extLst>
                    </a:gridCol>
                  </a:tblGrid>
                  <a:tr h="50832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Kernel Type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Use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919435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Linear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426" t="-58571" r="-78992" b="-34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Best for linearly separable data. Fast and simple.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3241952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Polynomial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426" t="-156338" r="-78992" b="-242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Used for curved decision boundaries with degree 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5512226"/>
                      </a:ext>
                    </a:extLst>
                  </a:tr>
                  <a:tr h="127080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Radial Basis Function (RBF)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426" t="-182000" r="-78992" b="-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Works well for non-linearly separable data. Most commonly used.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7013315"/>
                      </a:ext>
                    </a:extLst>
                  </a:tr>
                  <a:tr h="8895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Sigmoid Kernel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426" t="-402857" r="-7899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Used in neural networks. Less common in SVM.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02526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447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68CB-EC34-2701-065A-C6FEAEB9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0E4C9F-5C57-5B07-CFAE-F53A8FC41FBA}"/>
              </a:ext>
            </a:extLst>
          </p:cNvPr>
          <p:cNvSpPr/>
          <p:nvPr/>
        </p:nvSpPr>
        <p:spPr>
          <a:xfrm>
            <a:off x="715063" y="1122101"/>
            <a:ext cx="7062981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preprocessing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.target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fit_transform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kernel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rbf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xxw_test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"Accuracy:"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206BC-F68B-8166-1A54-E92FFF127F88}"/>
              </a:ext>
            </a:extLst>
          </p:cNvPr>
          <p:cNvSpPr/>
          <p:nvPr/>
        </p:nvSpPr>
        <p:spPr>
          <a:xfrm>
            <a:off x="215071" y="1122101"/>
            <a:ext cx="499993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F071CED-5292-B5AA-F371-B042CCF20A30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SVC.py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6737B8-D382-29D7-D40F-6988CB63708E}"/>
              </a:ext>
            </a:extLst>
          </p:cNvPr>
          <p:cNvSpPr/>
          <p:nvPr/>
        </p:nvSpPr>
        <p:spPr>
          <a:xfrm>
            <a:off x="8018547" y="1286693"/>
            <a:ext cx="417345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Accuracy: 1.0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1FC1108-93F7-39D6-4158-1DA73DBC9EC0}"/>
              </a:ext>
            </a:extLst>
          </p:cNvPr>
          <p:cNvSpPr/>
          <p:nvPr/>
        </p:nvSpPr>
        <p:spPr>
          <a:xfrm>
            <a:off x="8018547" y="957509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B6F8-4CDB-D636-3F14-A49DF54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Bayesian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CD47-06BC-0E6D-C413-11B8CEE79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Naive Bayes classifier works on the principle of </a:t>
            </a:r>
            <a:r>
              <a:rPr lang="en-US" dirty="0">
                <a:solidFill>
                  <a:srgbClr val="C00000"/>
                </a:solidFill>
              </a:rPr>
              <a:t>conditional probability</a:t>
            </a:r>
            <a:r>
              <a:rPr lang="en-US" dirty="0"/>
              <a:t>, as given by the Bayes theorem.</a:t>
            </a:r>
          </a:p>
          <a:p>
            <a:r>
              <a:rPr lang="en-US" dirty="0"/>
              <a:t>They can predict class membership probabilities such as the probability that a given tuple belongs to a </a:t>
            </a:r>
            <a:r>
              <a:rPr lang="en-US" dirty="0">
                <a:solidFill>
                  <a:srgbClr val="C00000"/>
                </a:solidFill>
              </a:rPr>
              <a:t>particular class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23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8FAE-8B09-164D-4CE6-0E1AEB8A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38E9-6934-C14C-03D4-A12672D6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9406359" cy="5578501"/>
          </a:xfrm>
        </p:spPr>
        <p:txBody>
          <a:bodyPr/>
          <a:lstStyle/>
          <a:p>
            <a:r>
              <a:rPr lang="en-US" dirty="0"/>
              <a:t>Bayesian classification is used to find conditional probabilities.</a:t>
            </a:r>
          </a:p>
          <a:p>
            <a:r>
              <a:rPr lang="en-US" sz="2400" dirty="0"/>
              <a:t>Consider a data set </a:t>
            </a:r>
            <a:r>
              <a:rPr lang="en-US" sz="2400" b="1" dirty="0">
                <a:solidFill>
                  <a:srgbClr val="C00000"/>
                </a:solidFill>
              </a:rPr>
              <a:t>D</a:t>
            </a:r>
            <a:r>
              <a:rPr lang="en-US" sz="2400" dirty="0"/>
              <a:t> with a tuple 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 in Bayes Theorem 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b="1" dirty="0"/>
              <a:t> </a:t>
            </a:r>
            <a:r>
              <a:rPr lang="en-US" sz="2400" dirty="0"/>
              <a:t>works as an evidence. 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P(H|X)</a:t>
            </a:r>
            <a:r>
              <a:rPr lang="en-US" sz="2400" dirty="0"/>
              <a:t> : </a:t>
            </a:r>
          </a:p>
          <a:p>
            <a:r>
              <a:rPr lang="en-IN" dirty="0"/>
              <a:t>The probability of </a:t>
            </a:r>
            <a:r>
              <a:rPr lang="en-IN" dirty="0">
                <a:solidFill>
                  <a:srgbClr val="C00000"/>
                </a:solidFill>
              </a:rPr>
              <a:t>customer X purchasing a computer</a:t>
            </a:r>
            <a:r>
              <a:rPr lang="en-IN" dirty="0"/>
              <a:t>, considering the information about the </a:t>
            </a:r>
            <a:r>
              <a:rPr lang="en-IN" dirty="0">
                <a:solidFill>
                  <a:srgbClr val="C00000"/>
                </a:solidFill>
              </a:rPr>
              <a:t>customer's age and income</a:t>
            </a:r>
            <a:r>
              <a:rPr lang="en-IN" dirty="0"/>
              <a:t>.</a:t>
            </a:r>
          </a:p>
          <a:p>
            <a:r>
              <a:rPr lang="en-US" dirty="0"/>
              <a:t>Here</a:t>
            </a:r>
            <a:r>
              <a:rPr lang="en-US" sz="2400" dirty="0"/>
              <a:t> H conditioned on X.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24BE9D-92AD-683A-004B-35CF715F592E}"/>
                  </a:ext>
                </a:extLst>
              </p:cNvPr>
              <p:cNvSpPr txBox="1"/>
              <p:nvPr/>
            </p:nvSpPr>
            <p:spPr>
              <a:xfrm>
                <a:off x="9676435" y="1875099"/>
                <a:ext cx="2297424" cy="59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6"/>
                    </a:solidFill>
                    <a:latin typeface="Cambria" pitchFamily="18" charset="0"/>
                  </a:rPr>
                  <a:t>P(H|X)</a:t>
                </a:r>
                <a:r>
                  <a:rPr lang="en-US" sz="1800" dirty="0">
                    <a:latin typeface="Cambria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24BE9D-92AD-683A-004B-35CF715F5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435" y="1875099"/>
                <a:ext cx="2297424" cy="592663"/>
              </a:xfrm>
              <a:prstGeom prst="rect">
                <a:avLst/>
              </a:prstGeom>
              <a:blipFill>
                <a:blip r:embed="rId2"/>
                <a:stretch>
                  <a:fillRect l="-2198" t="-6250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ED5B5EF-348D-089B-279D-8DEC24755DE2}"/>
              </a:ext>
            </a:extLst>
          </p:cNvPr>
          <p:cNvSpPr txBox="1"/>
          <p:nvPr/>
        </p:nvSpPr>
        <p:spPr>
          <a:xfrm>
            <a:off x="9676435" y="1226916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The Bayes Theorem</a:t>
            </a:r>
            <a:r>
              <a:rPr lang="en-US" sz="18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8E8F0-307F-D392-8712-60495276EC92}"/>
              </a:ext>
            </a:extLst>
          </p:cNvPr>
          <p:cNvSpPr txBox="1"/>
          <p:nvPr/>
        </p:nvSpPr>
        <p:spPr>
          <a:xfrm>
            <a:off x="418934" y="2467762"/>
            <a:ext cx="8830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Let H be some hypothesis such as that the data tuple X belongs to a specified class 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34D31-2DDD-B02D-B7FE-1D4BB94BE59C}"/>
              </a:ext>
            </a:extLst>
          </p:cNvPr>
          <p:cNvSpPr txBox="1"/>
          <p:nvPr/>
        </p:nvSpPr>
        <p:spPr>
          <a:xfrm>
            <a:off x="418934" y="3421861"/>
            <a:ext cx="8830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C00000"/>
                </a:solidFill>
                <a:effectLst/>
              </a:rPr>
              <a:t>X is a customer with age 35 and income 40,000 Rs.</a:t>
            </a:r>
          </a:p>
        </p:txBody>
      </p:sp>
    </p:spTree>
    <p:extLst>
      <p:ext uri="{BB962C8B-B14F-4D97-AF65-F5344CB8AC3E}">
        <p14:creationId xmlns:p14="http://schemas.microsoft.com/office/powerpoint/2010/main" val="19269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8FAE-8B09-164D-4CE6-0E1AEB8A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38E9-6934-C14C-03D4-A12672D6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9406359" cy="557850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P(X|H)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/>
              <a:t>: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probability that customer X is 35 years old and earns 40,000 Rs</a:t>
            </a:r>
            <a:r>
              <a:rPr lang="en-US" dirty="0"/>
              <a:t>., given that we are aware that he/she </a:t>
            </a:r>
            <a:r>
              <a:rPr lang="en-US" dirty="0">
                <a:solidFill>
                  <a:srgbClr val="C00000"/>
                </a:solidFill>
              </a:rPr>
              <a:t>intends to purchase the computer</a:t>
            </a:r>
            <a:r>
              <a:rPr lang="en-US" dirty="0"/>
              <a:t>.</a:t>
            </a:r>
          </a:p>
          <a:p>
            <a:r>
              <a:rPr lang="en-US" dirty="0"/>
              <a:t>Here </a:t>
            </a:r>
            <a:r>
              <a:rPr lang="en-US" sz="2400" dirty="0"/>
              <a:t>X conditioned on H.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P(H)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dirty="0"/>
              <a:t>: </a:t>
            </a:r>
          </a:p>
          <a:p>
            <a:r>
              <a:rPr lang="en-US" dirty="0"/>
              <a:t>The probability that the customer </a:t>
            </a:r>
            <a:r>
              <a:rPr lang="en-US" dirty="0">
                <a:solidFill>
                  <a:srgbClr val="C00000"/>
                </a:solidFill>
              </a:rPr>
              <a:t>will buy the computer</a:t>
            </a:r>
            <a:r>
              <a:rPr lang="en-US" dirty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P(X)</a:t>
            </a:r>
            <a:r>
              <a:rPr lang="en-US" sz="2400" dirty="0"/>
              <a:t> : </a:t>
            </a:r>
          </a:p>
          <a:p>
            <a:r>
              <a:rPr lang="en-US" dirty="0"/>
              <a:t>The probability the customer X from a set of </a:t>
            </a:r>
            <a:r>
              <a:rPr lang="en-US" dirty="0">
                <a:solidFill>
                  <a:srgbClr val="C00000"/>
                </a:solidFill>
              </a:rPr>
              <a:t>customers is 35 years old and earns 40,000 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24BE9D-92AD-683A-004B-35CF715F592E}"/>
                  </a:ext>
                </a:extLst>
              </p:cNvPr>
              <p:cNvSpPr txBox="1"/>
              <p:nvPr/>
            </p:nvSpPr>
            <p:spPr>
              <a:xfrm>
                <a:off x="9676435" y="1875099"/>
                <a:ext cx="2297424" cy="59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6"/>
                    </a:solidFill>
                    <a:latin typeface="Cambria" pitchFamily="18" charset="0"/>
                  </a:rPr>
                  <a:t>P(H|X)</a:t>
                </a:r>
                <a:r>
                  <a:rPr lang="en-US" sz="1800" dirty="0">
                    <a:latin typeface="Cambria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24BE9D-92AD-683A-004B-35CF715F5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435" y="1875099"/>
                <a:ext cx="2297424" cy="592663"/>
              </a:xfrm>
              <a:prstGeom prst="rect">
                <a:avLst/>
              </a:prstGeom>
              <a:blipFill>
                <a:blip r:embed="rId2"/>
                <a:stretch>
                  <a:fillRect l="-2198" t="-6250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ED5B5EF-348D-089B-279D-8DEC24755DE2}"/>
              </a:ext>
            </a:extLst>
          </p:cNvPr>
          <p:cNvSpPr txBox="1"/>
          <p:nvPr/>
        </p:nvSpPr>
        <p:spPr>
          <a:xfrm>
            <a:off x="9676435" y="1226916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The Bayes Theorem</a:t>
            </a:r>
            <a:r>
              <a:rPr lang="en-US" sz="1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4033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8B3B-D55A-2CF7-9205-42EAD8FD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B798BB93-9968-517B-ADB7-B66B440377BC}"/>
              </a:ext>
            </a:extLst>
          </p:cNvPr>
          <p:cNvGraphicFramePr>
            <a:graphicFrameLocks/>
          </p:cNvGraphicFramePr>
          <p:nvPr/>
        </p:nvGraphicFramePr>
        <p:xfrm>
          <a:off x="162044" y="830028"/>
          <a:ext cx="3076984" cy="29260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286">
                  <a:extLst>
                    <a:ext uri="{9D8B030D-6E8A-4147-A177-3AD203B41FA5}">
                      <a16:colId xmlns:a16="http://schemas.microsoft.com/office/drawing/2014/main" val="1208744263"/>
                    </a:ext>
                  </a:extLst>
                </a:gridCol>
                <a:gridCol w="1034447">
                  <a:extLst>
                    <a:ext uri="{9D8B030D-6E8A-4147-A177-3AD203B41FA5}">
                      <a16:colId xmlns:a16="http://schemas.microsoft.com/office/drawing/2014/main" val="3197399064"/>
                    </a:ext>
                  </a:extLst>
                </a:gridCol>
              </a:tblGrid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Weather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Sunny</a:t>
                      </a:r>
                      <a:endParaRPr lang="en-US" sz="18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Rainy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Cloudy</a:t>
                      </a:r>
                      <a:endParaRPr lang="en-US" sz="1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Sunny</a:t>
                      </a:r>
                      <a:endParaRPr lang="en-US" sz="18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sz="18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Rainy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Sunny</a:t>
                      </a:r>
                      <a:endParaRPr lang="en-US" sz="18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5797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Cloudy</a:t>
                      </a:r>
                      <a:endParaRPr lang="en-US" sz="1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747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6DDE7-D00E-46DD-F85C-CE43DC408E16}"/>
                  </a:ext>
                </a:extLst>
              </p:cNvPr>
              <p:cNvSpPr txBox="1"/>
              <p:nvPr/>
            </p:nvSpPr>
            <p:spPr>
              <a:xfrm>
                <a:off x="9894576" y="1478211"/>
                <a:ext cx="2297424" cy="59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6"/>
                    </a:solidFill>
                    <a:latin typeface="Cambria" pitchFamily="18" charset="0"/>
                  </a:rPr>
                  <a:t>P(H|X)</a:t>
                </a:r>
                <a:r>
                  <a:rPr lang="en-US" sz="1800" dirty="0">
                    <a:latin typeface="Cambria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6DDE7-D00E-46DD-F85C-CE43DC408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576" y="1478211"/>
                <a:ext cx="2297424" cy="592663"/>
              </a:xfrm>
              <a:prstGeom prst="rect">
                <a:avLst/>
              </a:prstGeom>
              <a:blipFill>
                <a:blip r:embed="rId2"/>
                <a:stretch>
                  <a:fillRect l="-2198" t="-625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0DF9FA8-C835-81F5-CCA6-0A6D47099EB2}"/>
              </a:ext>
            </a:extLst>
          </p:cNvPr>
          <p:cNvSpPr txBox="1"/>
          <p:nvPr/>
        </p:nvSpPr>
        <p:spPr>
          <a:xfrm>
            <a:off x="9894576" y="830028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The Bayes Theorem</a:t>
            </a:r>
            <a:r>
              <a:rPr lang="en-US" sz="1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2B7AC-A7B2-8BC3-798D-F1937DDA8561}"/>
                  </a:ext>
                </a:extLst>
              </p:cNvPr>
              <p:cNvSpPr txBox="1"/>
              <p:nvPr/>
            </p:nvSpPr>
            <p:spPr>
              <a:xfrm>
                <a:off x="3959327" y="1700405"/>
                <a:ext cx="4552849" cy="5928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  <a:latin typeface="Cambria" pitchFamily="18" charset="0"/>
                  </a:rPr>
                  <a:t>P(</a:t>
                </a:r>
                <a:r>
                  <a:rPr lang="en-US" dirty="0" err="1">
                    <a:solidFill>
                      <a:schemeClr val="accent6"/>
                    </a:solidFill>
                    <a:latin typeface="Cambria" pitchFamily="18" charset="0"/>
                  </a:rPr>
                  <a:t>Rain|Cloudy</a:t>
                </a:r>
                <a:r>
                  <a:rPr lang="en-US" dirty="0">
                    <a:solidFill>
                      <a:schemeClr val="accent6"/>
                    </a:solidFill>
                    <a:latin typeface="Cambria" pitchFamily="18" charset="0"/>
                  </a:rPr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Cloudy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Rain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Rain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)</m:t>
                        </m:r>
                        <m:r>
                          <a:rPr lang="en-US" b="1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i="1" dirty="0"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i="1" dirty="0"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i="1" dirty="0">
                            <a:latin typeface="Cambria" pitchFamily="18" charset="0"/>
                          </a:rPr>
                          <m:t>Cloudy</m:t>
                        </m:r>
                        <m:r>
                          <m:rPr>
                            <m:nor/>
                          </m:rPr>
                          <a:rPr lang="en-US" b="1" i="1" dirty="0">
                            <a:latin typeface="Cambria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2B7AC-A7B2-8BC3-798D-F1937DDA8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27" y="1700405"/>
                <a:ext cx="4552849" cy="592855"/>
              </a:xfrm>
              <a:prstGeom prst="rect">
                <a:avLst/>
              </a:prstGeom>
              <a:blipFill>
                <a:blip r:embed="rId3"/>
                <a:stretch>
                  <a:fillRect l="-1111" t="-4167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9D30756-3E0C-2D7A-95AE-69FDEB027793}"/>
              </a:ext>
            </a:extLst>
          </p:cNvPr>
          <p:cNvSpPr txBox="1"/>
          <p:nvPr/>
        </p:nvSpPr>
        <p:spPr>
          <a:xfrm>
            <a:off x="3379331" y="990548"/>
            <a:ext cx="6515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0" i="0" u="none" strike="noStrike" dirty="0">
                <a:solidFill>
                  <a:srgbClr val="374151"/>
                </a:solidFill>
                <a:effectLst/>
              </a:rPr>
              <a:t>To find the probability of rain given that it's cloudy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(P(</a:t>
            </a:r>
            <a:r>
              <a:rPr lang="en-IN" b="0" i="0" u="none" strike="noStrike" dirty="0" err="1">
                <a:solidFill>
                  <a:srgbClr val="C00000"/>
                </a:solidFill>
                <a:effectLst/>
              </a:rPr>
              <a:t>Rain|Cloudy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))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C8BA0-103F-51F0-C762-58F285984F2A}"/>
                  </a:ext>
                </a:extLst>
              </p:cNvPr>
              <p:cNvSpPr txBox="1"/>
              <p:nvPr/>
            </p:nvSpPr>
            <p:spPr>
              <a:xfrm>
                <a:off x="4061623" y="2633785"/>
                <a:ext cx="4552848" cy="600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  <a:latin typeface="Cambria" pitchFamily="18" charset="0"/>
                  </a:rPr>
                  <a:t>P(</a:t>
                </a:r>
                <a:r>
                  <a:rPr lang="en-US" dirty="0" err="1">
                    <a:solidFill>
                      <a:schemeClr val="accent6"/>
                    </a:solidFill>
                    <a:latin typeface="Cambria" pitchFamily="18" charset="0"/>
                  </a:rPr>
                  <a:t>Rain|Cloudy</a:t>
                </a:r>
                <a:r>
                  <a:rPr lang="en-US" dirty="0">
                    <a:solidFill>
                      <a:schemeClr val="accent6"/>
                    </a:solidFill>
                    <a:latin typeface="Cambria" pitchFamily="18" charset="0"/>
                  </a:rPr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(2/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(4/7)</m:t>
                        </m:r>
                        <m:r>
                          <a:rPr lang="en-US" b="1" i="0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(2/7)</m:t>
                        </m:r>
                      </m:den>
                    </m:f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C8BA0-103F-51F0-C762-58F285984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623" y="2633785"/>
                <a:ext cx="4552848" cy="600357"/>
              </a:xfrm>
              <a:prstGeom prst="rect">
                <a:avLst/>
              </a:prstGeom>
              <a:blipFill>
                <a:blip r:embed="rId4"/>
                <a:stretch>
                  <a:fillRect l="-1111" t="-6250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4FFBD9B-8CB3-F0AE-B371-E2EB19167B82}"/>
              </a:ext>
            </a:extLst>
          </p:cNvPr>
          <p:cNvSpPr txBox="1"/>
          <p:nvPr/>
        </p:nvSpPr>
        <p:spPr>
          <a:xfrm>
            <a:off x="1475067" y="3722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55980-2BD8-B3DC-219E-57A6762DC68C}"/>
              </a:ext>
            </a:extLst>
          </p:cNvPr>
          <p:cNvSpPr txBox="1"/>
          <p:nvPr/>
        </p:nvSpPr>
        <p:spPr>
          <a:xfrm>
            <a:off x="2542784" y="3722605"/>
            <a:ext cx="41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0F531-855B-2A85-E189-E4F566AF8B8E}"/>
              </a:ext>
            </a:extLst>
          </p:cNvPr>
          <p:cNvSpPr txBox="1"/>
          <p:nvPr/>
        </p:nvSpPr>
        <p:spPr>
          <a:xfrm>
            <a:off x="4078948" y="3567165"/>
            <a:ext cx="455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ambria" pitchFamily="18" charset="0"/>
              </a:rPr>
              <a:t>P(</a:t>
            </a:r>
            <a:r>
              <a:rPr lang="en-US" dirty="0" err="1">
                <a:solidFill>
                  <a:schemeClr val="accent6"/>
                </a:solidFill>
                <a:latin typeface="Cambria" pitchFamily="18" charset="0"/>
              </a:rPr>
              <a:t>Rain|Cloudy</a:t>
            </a:r>
            <a:r>
              <a:rPr lang="en-US" dirty="0">
                <a:solidFill>
                  <a:schemeClr val="accent6"/>
                </a:solidFill>
                <a:latin typeface="Cambria" pitchFamily="18" charset="0"/>
              </a:rPr>
              <a:t>)=1 </a:t>
            </a:r>
          </a:p>
          <a:p>
            <a:endParaRPr lang="en-US" dirty="0">
              <a:solidFill>
                <a:schemeClr val="accent6"/>
              </a:solidFill>
              <a:latin typeface="Cambria" pitchFamily="18" charset="0"/>
            </a:endParaRPr>
          </a:p>
          <a:p>
            <a:r>
              <a:rPr lang="en-IN" b="1" dirty="0"/>
              <a:t>the probability of rain given that it's cloudy is approximately 100%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2349C-7BF0-199F-E471-53407ED5768C}"/>
              </a:ext>
            </a:extLst>
          </p:cNvPr>
          <p:cNvSpPr txBox="1"/>
          <p:nvPr/>
        </p:nvSpPr>
        <p:spPr>
          <a:xfrm>
            <a:off x="3125165" y="4780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5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6ECA-5995-9057-1605-32AA0A86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Naive Bayesian Classification :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BEB5-79DB-D1AA-1DEC-2A6F7C3F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naive Bayesian classifier, or simple Bayesian classifier, works as follows: </a:t>
            </a:r>
          </a:p>
          <a:p>
            <a:r>
              <a:rPr lang="en-US" b="1" dirty="0"/>
              <a:t>Step:1</a:t>
            </a:r>
          </a:p>
          <a:p>
            <a:pPr lvl="1"/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 be a training set of tuples and their associated class labels, and each tuple is represented by an n-D attribute vector X = </a:t>
            </a:r>
            <a:r>
              <a:rPr lang="en-US" dirty="0">
                <a:solidFill>
                  <a:srgbClr val="C00000"/>
                </a:solidFill>
              </a:rPr>
              <a:t>(x1, x2, …, </a:t>
            </a:r>
            <a:r>
              <a:rPr lang="en-US" dirty="0" err="1">
                <a:solidFill>
                  <a:srgbClr val="C00000"/>
                </a:solidFill>
              </a:rPr>
              <a:t>xn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r>
              <a:rPr lang="en-US" b="1" dirty="0"/>
              <a:t>Step:2</a:t>
            </a:r>
          </a:p>
          <a:p>
            <a:pPr lvl="1"/>
            <a:r>
              <a:rPr lang="en-US" dirty="0"/>
              <a:t>Suppose there are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/>
              <a:t> classes </a:t>
            </a:r>
            <a:r>
              <a:rPr lang="en-US" dirty="0">
                <a:solidFill>
                  <a:srgbClr val="C00000"/>
                </a:solidFill>
              </a:rPr>
              <a:t>C1, C2, …, Cm.</a:t>
            </a:r>
          </a:p>
          <a:p>
            <a:pPr lvl="1"/>
            <a:r>
              <a:rPr lang="en-US" dirty="0"/>
              <a:t>Given a tuple</a:t>
            </a:r>
            <a:r>
              <a:rPr lang="en-US" dirty="0">
                <a:solidFill>
                  <a:srgbClr val="C00000"/>
                </a:solidFill>
              </a:rPr>
              <a:t>, X</a:t>
            </a:r>
            <a:r>
              <a:rPr lang="en-US" dirty="0"/>
              <a:t>, the classifier will predict that </a:t>
            </a:r>
            <a:r>
              <a:rPr lang="en-US" dirty="0">
                <a:solidFill>
                  <a:srgbClr val="C00000"/>
                </a:solidFill>
              </a:rPr>
              <a:t>X belongs to the class having the highest posterior probability</a:t>
            </a:r>
            <a:r>
              <a:rPr lang="en-US" dirty="0"/>
              <a:t>, conditioned on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We find maximum P(</a:t>
            </a:r>
            <a:r>
              <a:rPr lang="en-US" dirty="0" err="1"/>
              <a:t>C</a:t>
            </a:r>
            <a:r>
              <a:rPr lang="en-US" baseline="-25000" dirty="0" err="1"/>
              <a:t>i</a:t>
            </a:r>
            <a:r>
              <a:rPr lang="en-US" dirty="0" err="1"/>
              <a:t>|X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This can be derived from Bayes’ theorem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FBCA6-25F9-006B-D32E-B580E0877E49}"/>
                  </a:ext>
                </a:extLst>
              </p:cNvPr>
              <p:cNvSpPr txBox="1"/>
              <p:nvPr/>
            </p:nvSpPr>
            <p:spPr>
              <a:xfrm>
                <a:off x="4525701" y="4687747"/>
                <a:ext cx="2348720" cy="59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6"/>
                    </a:solidFill>
                    <a:latin typeface="Cambria" pitchFamily="18" charset="0"/>
                  </a:rPr>
                  <a:t>P(</a:t>
                </a:r>
                <a:r>
                  <a:rPr lang="en-US" sz="1800" dirty="0" err="1">
                    <a:solidFill>
                      <a:schemeClr val="accent6"/>
                    </a:solidFill>
                    <a:latin typeface="Cambria" pitchFamily="18" charset="0"/>
                  </a:rPr>
                  <a:t>C</a:t>
                </a:r>
                <a:r>
                  <a:rPr lang="en-US" sz="1800" baseline="-25000" dirty="0" err="1">
                    <a:solidFill>
                      <a:schemeClr val="accent6"/>
                    </a:solidFill>
                    <a:latin typeface="Cambria" pitchFamily="18" charset="0"/>
                  </a:rPr>
                  <a:t>i</a:t>
                </a:r>
                <a:r>
                  <a:rPr lang="en-US" sz="1800" dirty="0" err="1">
                    <a:solidFill>
                      <a:schemeClr val="accent6"/>
                    </a:solidFill>
                    <a:latin typeface="Cambria" pitchFamily="18" charset="0"/>
                  </a:rPr>
                  <a:t>|X</a:t>
                </a:r>
                <a:r>
                  <a:rPr lang="en-US" sz="1800" dirty="0">
                    <a:solidFill>
                      <a:schemeClr val="accent6"/>
                    </a:solidFill>
                    <a:latin typeface="Cambria" pitchFamily="18" charset="0"/>
                  </a:rPr>
                  <a:t>)</a:t>
                </a:r>
                <a:r>
                  <a:rPr lang="en-US" sz="1800" dirty="0">
                    <a:latin typeface="Cambria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tx2"/>
                            </a:solidFill>
                            <a:latin typeface="Cambria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latin typeface="Cambria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FBCA6-25F9-006B-D32E-B580E087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701" y="4687747"/>
                <a:ext cx="2348720" cy="592663"/>
              </a:xfrm>
              <a:prstGeom prst="rect">
                <a:avLst/>
              </a:prstGeom>
              <a:blipFill>
                <a:blip r:embed="rId2"/>
                <a:stretch>
                  <a:fillRect l="-2151" t="-6383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8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DC79-A104-8DD6-DBE6-A359FC7D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Bayesian Classification :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6F5BE-AA36-CD4A-F386-E300CE070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Step:3</a:t>
                </a:r>
              </a:p>
              <a:p>
                <a:pPr lvl="1"/>
                <a:r>
                  <a:rPr lang="en-US" dirty="0"/>
                  <a:t>Since </a:t>
                </a:r>
                <a:r>
                  <a:rPr lang="en-US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P(X)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is constant for all classes, only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1" i="1" baseline="-25000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1" i="1" baseline="-2500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)</m:t>
                    </m:r>
                  </m:oMath>
                </a14:m>
                <a:r>
                  <a:rPr lang="en-US" dirty="0"/>
                  <a:t> needs to </a:t>
                </a:r>
                <a:r>
                  <a:rPr lang="en-US" dirty="0">
                    <a:solidFill>
                      <a:srgbClr val="C00000"/>
                    </a:solidFill>
                  </a:rPr>
                  <a:t>be maximized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Step:4</a:t>
                </a:r>
              </a:p>
              <a:p>
                <a:pPr lvl="1"/>
                <a:r>
                  <a:rPr lang="en-US" dirty="0"/>
                  <a:t>A simplified assumption: attributes are conditionally independent (i.e., no dependence relation between attributes):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1" i="1" baseline="-25000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b="1" i="0" baseline="-25000" dirty="0" smtClean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)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b="1" i="0" baseline="-25000" dirty="0" smtClean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)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b="1" i="0" baseline="-25000" dirty="0" smtClean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… ×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xn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b="1" i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1" i="1" baseline="-25000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  <a:latin typeface="Cambria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b="1" dirty="0"/>
                  <a:t>Step:5</a:t>
                </a:r>
              </a:p>
              <a:p>
                <a:pPr lvl="1"/>
                <a:r>
                  <a:rPr lang="en-US" dirty="0"/>
                  <a:t>To predict the class label of X,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1" i="1" baseline="-25000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tx2"/>
                        </a:solidFill>
                        <a:latin typeface="Cambria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1" i="1" baseline="-2500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" pitchFamily="18" charset="0"/>
                      </a:rPr>
                      <m:t>)</m:t>
                    </m:r>
                  </m:oMath>
                </a14:m>
                <a:r>
                  <a:rPr lang="en-US" dirty="0"/>
                  <a:t> is evaluated for each class C</a:t>
                </a:r>
                <a:r>
                  <a:rPr lang="en-US" baseline="-25000" dirty="0"/>
                  <a:t>i</a:t>
                </a:r>
                <a:r>
                  <a:rPr lang="en-US" dirty="0"/>
                  <a:t>. The classifier predicts that the class label of tuple X is the class Ci if and only if it is maximum.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6F5BE-AA36-CD4A-F386-E300CE070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2" t="-1818" r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5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72B3-0944-04DB-D59A-92A4EA2C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Bayesian : Example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307C5BC-38EA-BB8B-6CDA-609DDD720EB4}"/>
              </a:ext>
            </a:extLst>
          </p:cNvPr>
          <p:cNvGraphicFramePr>
            <a:graphicFrameLocks/>
          </p:cNvGraphicFramePr>
          <p:nvPr/>
        </p:nvGraphicFramePr>
        <p:xfrm>
          <a:off x="162044" y="830028"/>
          <a:ext cx="6724890" cy="5486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96">
                  <a:extLst>
                    <a:ext uri="{9D8B030D-6E8A-4147-A177-3AD203B41FA5}">
                      <a16:colId xmlns:a16="http://schemas.microsoft.com/office/drawing/2014/main" val="3537391049"/>
                    </a:ext>
                  </a:extLst>
                </a:gridCol>
                <a:gridCol w="1249663">
                  <a:extLst>
                    <a:ext uri="{9D8B030D-6E8A-4147-A177-3AD203B41FA5}">
                      <a16:colId xmlns:a16="http://schemas.microsoft.com/office/drawing/2014/main" val="4151119185"/>
                    </a:ext>
                  </a:extLst>
                </a:gridCol>
                <a:gridCol w="807599">
                  <a:extLst>
                    <a:ext uri="{9D8B030D-6E8A-4147-A177-3AD203B41FA5}">
                      <a16:colId xmlns:a16="http://schemas.microsoft.com/office/drawing/2014/main" val="1208744263"/>
                    </a:ext>
                  </a:extLst>
                </a:gridCol>
                <a:gridCol w="1378134">
                  <a:extLst>
                    <a:ext uri="{9D8B030D-6E8A-4147-A177-3AD203B41FA5}">
                      <a16:colId xmlns:a16="http://schemas.microsoft.com/office/drawing/2014/main" val="3197399064"/>
                    </a:ext>
                  </a:extLst>
                </a:gridCol>
              </a:tblGrid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Outlook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Temperature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Humidity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Wind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PlayTennis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Sunny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Hot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Sunny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Hot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Overcast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Hot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Cool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Cool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5797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Overcast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Cool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74730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Sunny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5084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Sunny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Cool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76895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22140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Sunny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79354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Overcast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789758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Overcast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Hot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Normal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Weak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5041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Rain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Mild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Strong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809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AB7618-337F-87CC-B5F1-D7676310ED95}"/>
              </a:ext>
            </a:extLst>
          </p:cNvPr>
          <p:cNvSpPr txBox="1"/>
          <p:nvPr/>
        </p:nvSpPr>
        <p:spPr>
          <a:xfrm>
            <a:off x="7028602" y="830028"/>
            <a:ext cx="5001354" cy="95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Given a new instance, </a:t>
            </a:r>
            <a:endParaRPr lang="en-US" altLang="en-US" sz="20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 dirty="0"/>
              <a:t>x</a:t>
            </a:r>
            <a:r>
              <a:rPr lang="en-US" altLang="en-US" sz="1800" dirty="0"/>
              <a:t>’=(Outlook=</a:t>
            </a:r>
            <a:r>
              <a:rPr lang="en-US" altLang="en-US" sz="1800" i="1" dirty="0">
                <a:solidFill>
                  <a:srgbClr val="C00000"/>
                </a:solidFill>
              </a:rPr>
              <a:t>Sunny</a:t>
            </a:r>
            <a:r>
              <a:rPr lang="en-US" altLang="en-US" sz="1800" i="1" dirty="0"/>
              <a:t>, </a:t>
            </a:r>
            <a:r>
              <a:rPr lang="en-US" altLang="en-US" sz="1800" dirty="0"/>
              <a:t>Temperature=</a:t>
            </a:r>
            <a:r>
              <a:rPr lang="en-US" altLang="en-US" sz="1800" i="1" dirty="0">
                <a:solidFill>
                  <a:srgbClr val="C00000"/>
                </a:solidFill>
              </a:rPr>
              <a:t>Cool</a:t>
            </a:r>
            <a:r>
              <a:rPr lang="en-US" altLang="en-US" sz="1800" i="1" dirty="0"/>
              <a:t>, </a:t>
            </a:r>
            <a:r>
              <a:rPr lang="en-US" altLang="en-US" sz="1800" dirty="0"/>
              <a:t>Humidity</a:t>
            </a:r>
            <a:r>
              <a:rPr lang="en-US" altLang="en-US" sz="1800" i="1" dirty="0"/>
              <a:t>=</a:t>
            </a:r>
            <a:r>
              <a:rPr lang="en-US" altLang="en-US" sz="1800" i="1" dirty="0">
                <a:solidFill>
                  <a:srgbClr val="C00000"/>
                </a:solidFill>
              </a:rPr>
              <a:t>High</a:t>
            </a:r>
            <a:r>
              <a:rPr lang="en-US" altLang="en-US" sz="1800" i="1" dirty="0"/>
              <a:t>, </a:t>
            </a:r>
            <a:r>
              <a:rPr lang="en-US" altLang="en-US" sz="1800" dirty="0"/>
              <a:t>Wind=</a:t>
            </a:r>
            <a:r>
              <a:rPr lang="en-US" altLang="en-US" sz="1800" i="1" dirty="0">
                <a:solidFill>
                  <a:srgbClr val="C00000"/>
                </a:solidFill>
              </a:rPr>
              <a:t>Strong</a:t>
            </a:r>
            <a:r>
              <a:rPr lang="en-US" altLang="en-US" sz="1800" dirty="0"/>
              <a:t>)</a:t>
            </a:r>
          </a:p>
        </p:txBody>
      </p:sp>
      <p:sp>
        <p:nvSpPr>
          <p:cNvPr id="8" name="Text Box 119">
            <a:extLst>
              <a:ext uri="{FF2B5EF4-FFF2-40B4-BE49-F238E27FC236}">
                <a16:creationId xmlns:a16="http://schemas.microsoft.com/office/drawing/2014/main" id="{94B0F429-37C6-0657-0EBF-402D77F8E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151" y="2219861"/>
            <a:ext cx="2486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2400" i="1" dirty="0">
                <a:latin typeface="+mn-lt"/>
              </a:rPr>
              <a:t>P</a:t>
            </a:r>
            <a:r>
              <a:rPr lang="en-GB" altLang="en-US" sz="2400" dirty="0">
                <a:latin typeface="+mn-lt"/>
              </a:rPr>
              <a:t>(Play</a:t>
            </a:r>
            <a:r>
              <a:rPr lang="en-GB" altLang="en-US" sz="2400" i="1" dirty="0">
                <a:latin typeface="+mn-lt"/>
              </a:rPr>
              <a:t>=Yes) = </a:t>
            </a:r>
            <a:r>
              <a:rPr lang="en-GB" altLang="en-US" sz="2400" dirty="0">
                <a:latin typeface="+mn-lt"/>
              </a:rPr>
              <a:t>9/14</a:t>
            </a:r>
          </a:p>
        </p:txBody>
      </p:sp>
      <p:sp>
        <p:nvSpPr>
          <p:cNvPr id="9" name="Text Box 120">
            <a:extLst>
              <a:ext uri="{FF2B5EF4-FFF2-40B4-BE49-F238E27FC236}">
                <a16:creationId xmlns:a16="http://schemas.microsoft.com/office/drawing/2014/main" id="{6CB8CCD2-0DF8-741D-9678-A4AD06123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151" y="2681526"/>
            <a:ext cx="2387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2400" i="1" dirty="0">
                <a:latin typeface="+mn-lt"/>
              </a:rPr>
              <a:t>P</a:t>
            </a:r>
            <a:r>
              <a:rPr lang="en-GB" altLang="en-US" sz="2400" dirty="0">
                <a:latin typeface="+mn-lt"/>
              </a:rPr>
              <a:t>(Play</a:t>
            </a:r>
            <a:r>
              <a:rPr lang="en-GB" altLang="en-US" sz="2400" i="1" dirty="0">
                <a:latin typeface="+mn-lt"/>
              </a:rPr>
              <a:t>=No) = </a:t>
            </a:r>
            <a:r>
              <a:rPr lang="en-GB" altLang="en-US" sz="2400" dirty="0">
                <a:latin typeface="+mn-lt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324433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33A8-A648-EC32-0660-666FF8E6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Bayesian : Example</a:t>
            </a:r>
          </a:p>
        </p:txBody>
      </p:sp>
      <p:graphicFrame>
        <p:nvGraphicFramePr>
          <p:cNvPr id="4" name="Group 128">
            <a:extLst>
              <a:ext uri="{FF2B5EF4-FFF2-40B4-BE49-F238E27FC236}">
                <a16:creationId xmlns:a16="http://schemas.microsoft.com/office/drawing/2014/main" id="{AB011053-7FF6-882F-BF84-4EF9CD65C9DD}"/>
              </a:ext>
            </a:extLst>
          </p:cNvPr>
          <p:cNvGraphicFramePr>
            <a:graphicFrameLocks noGrp="1"/>
          </p:cNvGraphicFramePr>
          <p:nvPr/>
        </p:nvGraphicFramePr>
        <p:xfrm>
          <a:off x="240048" y="813064"/>
          <a:ext cx="2525511" cy="15106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31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Outlook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Sunny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73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Overcast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Rain</a:t>
                      </a:r>
                      <a:endParaRPr kumimoji="0" lang="en-GB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74">
            <a:extLst>
              <a:ext uri="{FF2B5EF4-FFF2-40B4-BE49-F238E27FC236}">
                <a16:creationId xmlns:a16="http://schemas.microsoft.com/office/drawing/2014/main" id="{178887C7-0FD9-B4C7-5820-D74AC0F55993}"/>
              </a:ext>
            </a:extLst>
          </p:cNvPr>
          <p:cNvGraphicFramePr>
            <a:graphicFrameLocks noGrp="1"/>
          </p:cNvGraphicFramePr>
          <p:nvPr/>
        </p:nvGraphicFramePr>
        <p:xfrm>
          <a:off x="3143875" y="833585"/>
          <a:ext cx="2669325" cy="15106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78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6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Temp.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Hot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6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Mild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2/5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6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Cool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T="45736" marB="45736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Group 132">
            <a:extLst>
              <a:ext uri="{FF2B5EF4-FFF2-40B4-BE49-F238E27FC236}">
                <a16:creationId xmlns:a16="http://schemas.microsoft.com/office/drawing/2014/main" id="{6E6CA65F-70A3-AD9F-FC20-1EE395683B54}"/>
              </a:ext>
            </a:extLst>
          </p:cNvPr>
          <p:cNvGraphicFramePr>
            <a:graphicFrameLocks noGrp="1"/>
          </p:cNvGraphicFramePr>
          <p:nvPr/>
        </p:nvGraphicFramePr>
        <p:xfrm>
          <a:off x="6065411" y="831890"/>
          <a:ext cx="281815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7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93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8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Normal</a:t>
                      </a:r>
                      <a:endParaRPr kumimoji="0" lang="en-GB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roup 137">
            <a:extLst>
              <a:ext uri="{FF2B5EF4-FFF2-40B4-BE49-F238E27FC236}">
                <a16:creationId xmlns:a16="http://schemas.microsoft.com/office/drawing/2014/main" id="{0129B553-DDAC-59FD-7946-C39EEFF3EF5A}"/>
              </a:ext>
            </a:extLst>
          </p:cNvPr>
          <p:cNvGraphicFramePr>
            <a:graphicFrameLocks noGrp="1"/>
          </p:cNvGraphicFramePr>
          <p:nvPr/>
        </p:nvGraphicFramePr>
        <p:xfrm>
          <a:off x="9261877" y="813064"/>
          <a:ext cx="2669325" cy="11161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2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586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Wind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GB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34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  <a:endParaRPr kumimoji="0" lang="en-GB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34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Weak</a:t>
                      </a:r>
                      <a:endParaRPr kumimoji="0" lang="en-GB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6/9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2/5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97AFF16-EF27-E612-913B-038D280E1B5A}"/>
              </a:ext>
            </a:extLst>
          </p:cNvPr>
          <p:cNvSpPr txBox="1"/>
          <p:nvPr/>
        </p:nvSpPr>
        <p:spPr>
          <a:xfrm>
            <a:off x="-275467" y="2417555"/>
            <a:ext cx="963840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x</a:t>
            </a:r>
            <a:r>
              <a:rPr lang="en-US" altLang="en-US" sz="2400" dirty="0"/>
              <a:t>’=(Outlook=</a:t>
            </a:r>
            <a:r>
              <a:rPr lang="en-US" altLang="en-US" sz="2400" i="1" dirty="0">
                <a:solidFill>
                  <a:srgbClr val="C00000"/>
                </a:solidFill>
              </a:rPr>
              <a:t>Sunny</a:t>
            </a:r>
            <a:r>
              <a:rPr lang="en-US" altLang="en-US" sz="2400" i="1" dirty="0"/>
              <a:t>, </a:t>
            </a:r>
            <a:r>
              <a:rPr lang="en-US" altLang="en-US" sz="2400" dirty="0"/>
              <a:t>Temperature=</a:t>
            </a:r>
            <a:r>
              <a:rPr lang="en-US" altLang="en-US" sz="2400" i="1" dirty="0">
                <a:solidFill>
                  <a:srgbClr val="C00000"/>
                </a:solidFill>
              </a:rPr>
              <a:t>Cool</a:t>
            </a:r>
            <a:r>
              <a:rPr lang="en-US" altLang="en-US" sz="2400" i="1" dirty="0"/>
              <a:t>, </a:t>
            </a:r>
            <a:r>
              <a:rPr lang="en-US" altLang="en-US" sz="2400" dirty="0"/>
              <a:t>Humidity</a:t>
            </a:r>
            <a:r>
              <a:rPr lang="en-US" altLang="en-US" sz="2400" i="1" dirty="0"/>
              <a:t>=</a:t>
            </a:r>
            <a:r>
              <a:rPr lang="en-US" altLang="en-US" sz="2400" i="1" dirty="0">
                <a:solidFill>
                  <a:srgbClr val="C00000"/>
                </a:solidFill>
              </a:rPr>
              <a:t>High</a:t>
            </a:r>
            <a:r>
              <a:rPr lang="en-US" altLang="en-US" sz="2400" i="1" dirty="0"/>
              <a:t>, </a:t>
            </a:r>
            <a:r>
              <a:rPr lang="en-US" altLang="en-US" sz="2400" dirty="0"/>
              <a:t>Wind=</a:t>
            </a:r>
            <a:r>
              <a:rPr lang="en-US" altLang="en-US" sz="2400" i="1" dirty="0">
                <a:solidFill>
                  <a:srgbClr val="C00000"/>
                </a:solidFill>
              </a:rPr>
              <a:t>Strong</a:t>
            </a:r>
            <a:r>
              <a:rPr lang="en-US" altLang="en-US" sz="2400" dirty="0"/>
              <a:t>) =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5C4A8-0413-F8AD-EF6C-3CE8B6A6D787}"/>
                  </a:ext>
                </a:extLst>
              </p:cNvPr>
              <p:cNvSpPr txBox="1"/>
              <p:nvPr/>
            </p:nvSpPr>
            <p:spPr>
              <a:xfrm>
                <a:off x="2177985" y="2956152"/>
                <a:ext cx="7774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6"/>
                    </a:solidFill>
                    <a:latin typeface="Cambria" pitchFamily="18" charset="0"/>
                  </a:rPr>
                  <a:t>P(</a:t>
                </a:r>
                <a:r>
                  <a:rPr lang="en-US" sz="1600" b="1" dirty="0" err="1">
                    <a:solidFill>
                      <a:schemeClr val="accent6"/>
                    </a:solidFill>
                    <a:latin typeface="Cambria" pitchFamily="18" charset="0"/>
                  </a:rPr>
                  <a:t>C</a:t>
                </a:r>
                <a:r>
                  <a:rPr lang="en-US" sz="1600" b="1" baseline="-25000" dirty="0" err="1">
                    <a:solidFill>
                      <a:schemeClr val="accent6"/>
                    </a:solidFill>
                    <a:latin typeface="Cambria" pitchFamily="18" charset="0"/>
                  </a:rPr>
                  <a:t>i</a:t>
                </a:r>
                <a:r>
                  <a:rPr lang="en-US" sz="1600" b="1" dirty="0" err="1">
                    <a:solidFill>
                      <a:schemeClr val="accent6"/>
                    </a:solidFill>
                    <a:latin typeface="Cambria" pitchFamily="18" charset="0"/>
                  </a:rPr>
                  <a:t>|X</a:t>
                </a:r>
                <a:r>
                  <a:rPr lang="en-US" sz="1600" b="1" dirty="0">
                    <a:solidFill>
                      <a:schemeClr val="accent6"/>
                    </a:solidFill>
                    <a:latin typeface="Cambria" pitchFamily="18" charset="0"/>
                  </a:rPr>
                  <a:t>)</a:t>
                </a:r>
                <a:r>
                  <a:rPr lang="en-US" sz="1600" b="1" dirty="0">
                    <a:latin typeface="Cambria" pitchFamily="18" charset="0"/>
                  </a:rPr>
                  <a:t> =</a:t>
                </a:r>
                <a:r>
                  <a:rPr lang="en-US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400" b="1" baseline="-25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400" b="1" baseline="-25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… ×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xn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2400" b="1" i="0" baseline="-25000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5C4A8-0413-F8AD-EF6C-3CE8B6A6D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85" y="2956152"/>
                <a:ext cx="7774852" cy="461665"/>
              </a:xfrm>
              <a:prstGeom prst="rect">
                <a:avLst/>
              </a:prstGeom>
              <a:blipFill>
                <a:blip r:embed="rId2"/>
                <a:stretch>
                  <a:fillRect l="-489" t="-526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48D6200-65C9-DEDB-1B15-BBD55FBC4FD0}"/>
              </a:ext>
            </a:extLst>
          </p:cNvPr>
          <p:cNvSpPr txBox="1"/>
          <p:nvPr/>
        </p:nvSpPr>
        <p:spPr>
          <a:xfrm>
            <a:off x="240048" y="3563442"/>
            <a:ext cx="1076673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400" dirty="0">
                <a:solidFill>
                  <a:srgbClr val="C00000"/>
                </a:solidFill>
              </a:rPr>
              <a:t>P(</a:t>
            </a:r>
            <a:r>
              <a:rPr lang="en-GB" altLang="en-US" sz="2400" i="1" dirty="0" err="1">
                <a:solidFill>
                  <a:srgbClr val="C00000"/>
                </a:solidFill>
              </a:rPr>
              <a:t>Yes</a:t>
            </a:r>
            <a:r>
              <a:rPr lang="en-GB" altLang="en-US" sz="2400" dirty="0" err="1">
                <a:solidFill>
                  <a:srgbClr val="C00000"/>
                </a:solidFill>
              </a:rPr>
              <a:t>|</a:t>
            </a:r>
            <a:r>
              <a:rPr lang="en-GB" altLang="en-US" sz="2800" b="1" dirty="0" err="1">
                <a:solidFill>
                  <a:srgbClr val="C00000"/>
                </a:solidFill>
              </a:rPr>
              <a:t>x</a:t>
            </a:r>
            <a:r>
              <a:rPr lang="en-GB" altLang="en-US" sz="2400" dirty="0">
                <a:solidFill>
                  <a:srgbClr val="C00000"/>
                </a:solidFill>
              </a:rPr>
              <a:t>’) </a:t>
            </a:r>
            <a:r>
              <a:rPr lang="en-GB" altLang="en-US" sz="2400" dirty="0"/>
              <a:t>=  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[P(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Sunny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|Y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es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 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Cool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Yes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 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High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|Y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es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Strong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Yes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)] </a:t>
            </a:r>
            <a:r>
              <a:rPr lang="en-GB" altLang="en-US" sz="2400" dirty="0"/>
              <a:t>* </a:t>
            </a:r>
            <a:r>
              <a:rPr lang="en-GB" altLang="en-US" sz="2400" dirty="0">
                <a:solidFill>
                  <a:schemeClr val="accent3">
                    <a:lumMod val="50000"/>
                  </a:schemeClr>
                </a:solidFill>
              </a:rPr>
              <a:t>P(Play=</a:t>
            </a:r>
            <a:r>
              <a:rPr lang="en-GB" altLang="en-US" sz="2400" i="1" dirty="0">
                <a:solidFill>
                  <a:schemeClr val="accent3">
                    <a:lumMod val="50000"/>
                  </a:schemeClr>
                </a:solidFill>
              </a:rPr>
              <a:t>Yes</a:t>
            </a:r>
            <a:r>
              <a:rPr lang="en-GB" altLang="en-US" sz="240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r>
              <a:rPr lang="en-GB" altLang="en-US" sz="2400" dirty="0"/>
              <a:t>	    = [2/9 * 3/9 * 3/9 * 3/9 ] * 9/14</a:t>
            </a:r>
            <a:r>
              <a:rPr lang="en-US" altLang="en-US" sz="2400" dirty="0"/>
              <a:t> = 0.0053</a:t>
            </a:r>
            <a:endParaRPr lang="en-GB" alt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DF0D2-14DE-C28D-B6D5-584986BF9CE1}"/>
              </a:ext>
            </a:extLst>
          </p:cNvPr>
          <p:cNvSpPr txBox="1"/>
          <p:nvPr/>
        </p:nvSpPr>
        <p:spPr>
          <a:xfrm>
            <a:off x="240047" y="4455994"/>
            <a:ext cx="1076673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400" dirty="0">
                <a:solidFill>
                  <a:srgbClr val="C00000"/>
                </a:solidFill>
              </a:rPr>
              <a:t>P(</a:t>
            </a:r>
            <a:r>
              <a:rPr lang="en-GB" altLang="en-US" sz="2400" i="1" dirty="0" err="1">
                <a:solidFill>
                  <a:srgbClr val="C00000"/>
                </a:solidFill>
              </a:rPr>
              <a:t>No</a:t>
            </a:r>
            <a:r>
              <a:rPr lang="en-GB" altLang="en-US" sz="2400" dirty="0" err="1">
                <a:solidFill>
                  <a:srgbClr val="C00000"/>
                </a:solidFill>
              </a:rPr>
              <a:t>|</a:t>
            </a:r>
            <a:r>
              <a:rPr lang="en-GB" altLang="en-US" sz="2800" b="1" dirty="0" err="1">
                <a:solidFill>
                  <a:srgbClr val="C00000"/>
                </a:solidFill>
              </a:rPr>
              <a:t>x</a:t>
            </a:r>
            <a:r>
              <a:rPr lang="en-GB" altLang="en-US" sz="2400" dirty="0">
                <a:solidFill>
                  <a:srgbClr val="C00000"/>
                </a:solidFill>
              </a:rPr>
              <a:t>’) </a:t>
            </a:r>
            <a:r>
              <a:rPr lang="en-GB" altLang="en-US" sz="2400" dirty="0"/>
              <a:t>=  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[P(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Sunny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|No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 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Cool|No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 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High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|No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 * P(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Strong</a:t>
            </a:r>
            <a:r>
              <a:rPr lang="en-GB" altLang="en-US" sz="2400" dirty="0" err="1">
                <a:solidFill>
                  <a:schemeClr val="tx2">
                    <a:lumMod val="75000"/>
                  </a:schemeClr>
                </a:solidFill>
              </a:rPr>
              <a:t>|</a:t>
            </a:r>
            <a:r>
              <a:rPr lang="en-GB" altLang="en-US" sz="2400" i="1" dirty="0" err="1">
                <a:solidFill>
                  <a:schemeClr val="tx2">
                    <a:lumMod val="75000"/>
                  </a:schemeClr>
                </a:solidFill>
              </a:rPr>
              <a:t>No</a:t>
            </a:r>
            <a:r>
              <a:rPr lang="en-GB" altLang="en-US" sz="2400" dirty="0">
                <a:solidFill>
                  <a:schemeClr val="tx2">
                    <a:lumMod val="75000"/>
                  </a:schemeClr>
                </a:solidFill>
              </a:rPr>
              <a:t>)] </a:t>
            </a:r>
            <a:r>
              <a:rPr lang="en-GB" altLang="en-US" sz="2400" dirty="0"/>
              <a:t>* </a:t>
            </a:r>
            <a:r>
              <a:rPr lang="en-GB" altLang="en-US" sz="2400" dirty="0">
                <a:solidFill>
                  <a:schemeClr val="accent3">
                    <a:lumMod val="50000"/>
                  </a:schemeClr>
                </a:solidFill>
              </a:rPr>
              <a:t>P(Play=</a:t>
            </a:r>
            <a:r>
              <a:rPr lang="en-GB" altLang="en-US" sz="2400" i="1" dirty="0">
                <a:solidFill>
                  <a:schemeClr val="accent3">
                    <a:lumMod val="50000"/>
                  </a:schemeClr>
                </a:solidFill>
              </a:rPr>
              <a:t>No</a:t>
            </a:r>
            <a:r>
              <a:rPr lang="en-GB" altLang="en-US" sz="240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r>
              <a:rPr lang="en-GB" altLang="en-US" sz="2400" dirty="0"/>
              <a:t>	    = [3/5 * 1/5 * 4/5 * 3/5 ] * 5/14</a:t>
            </a:r>
            <a:r>
              <a:rPr lang="en-US" altLang="en-US" sz="2400" dirty="0"/>
              <a:t> = 0.0206</a:t>
            </a:r>
            <a:endParaRPr lang="en-GB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DA933-04ED-50C4-200C-5C7604B09D33}"/>
              </a:ext>
            </a:extLst>
          </p:cNvPr>
          <p:cNvSpPr txBox="1"/>
          <p:nvPr/>
        </p:nvSpPr>
        <p:spPr>
          <a:xfrm>
            <a:off x="2360054" y="5516141"/>
            <a:ext cx="6239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2800" b="1" dirty="0"/>
              <a:t>we label </a:t>
            </a:r>
            <a:r>
              <a:rPr lang="en-GB" altLang="en-US" sz="3200" b="1" dirty="0"/>
              <a:t>x</a:t>
            </a:r>
            <a:r>
              <a:rPr lang="en-GB" altLang="en-US" sz="2800" b="1" dirty="0"/>
              <a:t>’ to be “</a:t>
            </a:r>
            <a:r>
              <a:rPr lang="en-GB" altLang="en-US" sz="2800" b="1" i="1" dirty="0"/>
              <a:t>No</a:t>
            </a:r>
            <a:r>
              <a:rPr lang="en-GB" altLang="en-US" sz="2800" b="1" dirty="0"/>
              <a:t>”. </a:t>
            </a:r>
            <a:endParaRPr lang="en-US" sz="28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C9177A-6967-9177-5C8B-0240034BD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216" y="4902270"/>
            <a:ext cx="415023" cy="394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AE23C8-FDA3-664B-0DB5-A0D1E5A3E2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042" y="4031229"/>
            <a:ext cx="341123" cy="34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0F74-079B-1209-E232-0C45C082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DE33B-3578-E536-1745-A0DEB22BAC75}"/>
              </a:ext>
            </a:extLst>
          </p:cNvPr>
          <p:cNvSpPr/>
          <p:nvPr/>
        </p:nvSpPr>
        <p:spPr>
          <a:xfrm>
            <a:off x="715063" y="1122101"/>
            <a:ext cx="7062981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naive_bayes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GaussianNB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iris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iris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.target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GaussianNB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probabilities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predict_proba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lvl="1"/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"Test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Sample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]])[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Probabilities: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probabilities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B5686-49DE-87F0-5615-6C3DB53A0950}"/>
              </a:ext>
            </a:extLst>
          </p:cNvPr>
          <p:cNvSpPr/>
          <p:nvPr/>
        </p:nvSpPr>
        <p:spPr>
          <a:xfrm>
            <a:off x="215071" y="1122101"/>
            <a:ext cx="499993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2402099-241C-CA16-1ED1-1CEE1722F68B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NB.py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139A1-A1C5-6637-0B14-831F8ABD91ED}"/>
              </a:ext>
            </a:extLst>
          </p:cNvPr>
          <p:cNvSpPr/>
          <p:nvPr/>
        </p:nvSpPr>
        <p:spPr>
          <a:xfrm>
            <a:off x="8018547" y="1286693"/>
            <a:ext cx="4173453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Sample 1: [6.1 2.8 4.7 1.2] Predicted Class: 1 Class Probabilities: [5.97327448e-90 9.95635767e-01 4.36423302e-03]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Sample 5: [6.8 2.8 4.8 1.4] Predicted Class: 1 Class Probabilities: [1.13877801e-105 8.70022596e-001 1.29977404e-001]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E4395C0-AB35-7B01-05C0-14B2D2677957}"/>
              </a:ext>
            </a:extLst>
          </p:cNvPr>
          <p:cNvSpPr/>
          <p:nvPr/>
        </p:nvSpPr>
        <p:spPr>
          <a:xfrm>
            <a:off x="8018547" y="957509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44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944E-5839-C202-1E17-84E34670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Evaluation and Selection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9E3-8928-0D84-BF67-9544B9B4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095098"/>
          </a:xfrm>
        </p:spPr>
        <p:txBody>
          <a:bodyPr/>
          <a:lstStyle/>
          <a:p>
            <a:r>
              <a:rPr lang="en-US" dirty="0"/>
              <a:t>Now that you may have </a:t>
            </a:r>
            <a:r>
              <a:rPr lang="en-US" dirty="0">
                <a:solidFill>
                  <a:srgbClr val="C00000"/>
                </a:solidFill>
              </a:rPr>
              <a:t>built a classification model</a:t>
            </a:r>
            <a:r>
              <a:rPr lang="en-US" dirty="0"/>
              <a:t>, there may be </a:t>
            </a:r>
            <a:r>
              <a:rPr lang="en-US" dirty="0">
                <a:solidFill>
                  <a:srgbClr val="C00000"/>
                </a:solidFill>
              </a:rPr>
              <a:t>many questions going through your mind.</a:t>
            </a:r>
            <a:r>
              <a:rPr lang="en-US" dirty="0"/>
              <a:t> </a:t>
            </a:r>
          </a:p>
          <a:p>
            <a:r>
              <a:rPr lang="en-US" dirty="0"/>
              <a:t>For example, </a:t>
            </a:r>
            <a:r>
              <a:rPr lang="en-US" dirty="0">
                <a:solidFill>
                  <a:srgbClr val="C00000"/>
                </a:solidFill>
              </a:rPr>
              <a:t>suppose you used data from previous sales to build a classifier to predict customer purchasing behavior</a:t>
            </a:r>
            <a:r>
              <a:rPr lang="en-US" dirty="0"/>
              <a:t>. </a:t>
            </a:r>
          </a:p>
          <a:p>
            <a:r>
              <a:rPr lang="en-US" dirty="0"/>
              <a:t>You would like an </a:t>
            </a:r>
            <a:r>
              <a:rPr lang="en-US" dirty="0">
                <a:solidFill>
                  <a:srgbClr val="C00000"/>
                </a:solidFill>
              </a:rPr>
              <a:t>estimate of how accurately </a:t>
            </a:r>
            <a:r>
              <a:rPr lang="en-US" dirty="0"/>
              <a:t>the classifier can predict the </a:t>
            </a:r>
            <a:r>
              <a:rPr lang="en-US" dirty="0">
                <a:solidFill>
                  <a:srgbClr val="C00000"/>
                </a:solidFill>
              </a:rPr>
              <a:t>purchasing behavior of future customers, </a:t>
            </a:r>
            <a:r>
              <a:rPr lang="en-US" dirty="0"/>
              <a:t>that is, future customer data on which the </a:t>
            </a:r>
            <a:r>
              <a:rPr lang="en-US" dirty="0">
                <a:solidFill>
                  <a:srgbClr val="C00000"/>
                </a:solidFill>
              </a:rPr>
              <a:t>classifier has not been trained</a:t>
            </a:r>
            <a:r>
              <a:rPr lang="en-US" dirty="0"/>
              <a:t>. </a:t>
            </a:r>
          </a:p>
          <a:p>
            <a:r>
              <a:rPr lang="en-US" dirty="0"/>
              <a:t>You may even have </a:t>
            </a:r>
            <a:r>
              <a:rPr lang="en-US" dirty="0">
                <a:solidFill>
                  <a:srgbClr val="C00000"/>
                </a:solidFill>
              </a:rPr>
              <a:t>tried different methods to build more than one classifier </a:t>
            </a:r>
            <a:r>
              <a:rPr lang="en-US" dirty="0"/>
              <a:t>and now wish to compare </a:t>
            </a:r>
            <a:r>
              <a:rPr lang="en-US" dirty="0">
                <a:solidFill>
                  <a:srgbClr val="C00000"/>
                </a:solidFill>
              </a:rPr>
              <a:t>their accuracy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09B27C-3068-7E44-9CD5-E3DEF1B44997}"/>
              </a:ext>
            </a:extLst>
          </p:cNvPr>
          <p:cNvGrpSpPr>
            <a:grpSpLocks/>
          </p:cNvGrpSpPr>
          <p:nvPr/>
        </p:nvGrpSpPr>
        <p:grpSpPr bwMode="auto">
          <a:xfrm>
            <a:off x="567159" y="4514127"/>
            <a:ext cx="1427728" cy="1295233"/>
            <a:chOff x="1283" y="1118"/>
            <a:chExt cx="1070" cy="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5AA21A-DEF0-4077-6A03-98E9195A477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345B6E-1C91-C8D5-92AB-5BAADD68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88"/>
              <a:ext cx="934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Data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07A1655-3DDA-BF63-5E8F-863590C45F89}"/>
              </a:ext>
            </a:extLst>
          </p:cNvPr>
          <p:cNvGrpSpPr>
            <a:grpSpLocks/>
          </p:cNvGrpSpPr>
          <p:nvPr/>
        </p:nvGrpSpPr>
        <p:grpSpPr bwMode="auto">
          <a:xfrm>
            <a:off x="3365093" y="4045352"/>
            <a:ext cx="1134319" cy="937548"/>
            <a:chOff x="1283" y="1118"/>
            <a:chExt cx="1070" cy="9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507C62-52E1-4C45-1C66-DDBD2BC733F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4D4AE5-4913-1767-9BB8-8647202E2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12"/>
              <a:ext cx="934" cy="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dirty="0">
                  <a:latin typeface="+mn-lt"/>
                </a:rPr>
                <a:t>Training</a:t>
              </a:r>
            </a:p>
            <a:p>
              <a:pPr algn="ctr"/>
              <a:r>
                <a:rPr lang="en-US" altLang="en-US" sz="1800" dirty="0">
                  <a:latin typeface="+mn-lt"/>
                </a:rPr>
                <a:t>Set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98A9C6-03A9-C0CC-5A1F-2ECDFFBEC0B5}"/>
              </a:ext>
            </a:extLst>
          </p:cNvPr>
          <p:cNvGrpSpPr>
            <a:grpSpLocks/>
          </p:cNvGrpSpPr>
          <p:nvPr/>
        </p:nvGrpSpPr>
        <p:grpSpPr bwMode="auto">
          <a:xfrm>
            <a:off x="3365093" y="5525780"/>
            <a:ext cx="1134319" cy="937548"/>
            <a:chOff x="1283" y="1118"/>
            <a:chExt cx="1070" cy="94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3067A2-931A-4A4D-1173-5780E284288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E78061-6D01-8D65-7B9D-BA40C1C4A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1"/>
              <a:ext cx="934" cy="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dirty="0">
                  <a:latin typeface="+mn-lt"/>
                </a:rPr>
                <a:t>Test</a:t>
              </a:r>
            </a:p>
            <a:p>
              <a:pPr algn="ctr"/>
              <a:r>
                <a:rPr lang="en-US" altLang="en-US" sz="1800" dirty="0">
                  <a:latin typeface="+mn-lt"/>
                </a:rPr>
                <a:t>Set</a:t>
              </a:r>
            </a:p>
          </p:txBody>
        </p:sp>
      </p:grpSp>
      <p:sp>
        <p:nvSpPr>
          <p:cNvPr id="16" name="Rectangle 9">
            <a:extLst>
              <a:ext uri="{FF2B5EF4-FFF2-40B4-BE49-F238E27FC236}">
                <a16:creationId xmlns:a16="http://schemas.microsoft.com/office/drawing/2014/main" id="{050DF1E4-C9B6-59C6-04A4-BC1F0EEB1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776" y="4098307"/>
            <a:ext cx="1017907" cy="831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Derive </a:t>
            </a:r>
          </a:p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model 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D1EEE77-9D74-5E3C-44BE-8BD7D428A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960" y="4043113"/>
            <a:ext cx="1351331" cy="8316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Estimate </a:t>
            </a:r>
          </a:p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accuracy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439E15-564A-FB21-187F-A4F0D961C558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1994887" y="4514126"/>
            <a:ext cx="1370206" cy="647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6231EF-52F8-0B13-8A8B-F511DE68F05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1994887" y="5161744"/>
            <a:ext cx="1370206" cy="832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CAA209-77A1-CD8C-8B28-7592AE1147B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99412" y="4514126"/>
            <a:ext cx="14713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EB8717-5296-7BE5-D1F0-8B26692B5D50}"/>
              </a:ext>
            </a:extLst>
          </p:cNvPr>
          <p:cNvCxnSpPr>
            <a:cxnSpLocks/>
          </p:cNvCxnSpPr>
          <p:nvPr/>
        </p:nvCxnSpPr>
        <p:spPr>
          <a:xfrm>
            <a:off x="6998968" y="4503420"/>
            <a:ext cx="1455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CEDE8238-5CE4-84B0-268A-A19C132976C1}"/>
              </a:ext>
            </a:extLst>
          </p:cNvPr>
          <p:cNvCxnSpPr>
            <a:stCxn id="11" idx="3"/>
            <a:endCxn id="17" idx="2"/>
          </p:cNvCxnSpPr>
          <p:nvPr/>
        </p:nvCxnSpPr>
        <p:spPr>
          <a:xfrm flipV="1">
            <a:off x="4499412" y="4874752"/>
            <a:ext cx="4631214" cy="11198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3873-DC61-6AEE-AC4D-483922FC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for Performance Evaluation: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D9751-3392-AEA2-DF1A-CE1B3EA2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2750031"/>
            <a:ext cx="11929641" cy="2518128"/>
          </a:xfrm>
        </p:spPr>
        <p:txBody>
          <a:bodyPr/>
          <a:lstStyle/>
          <a:p>
            <a:r>
              <a:rPr lang="en-US" b="1" dirty="0"/>
              <a:t>True Positive</a:t>
            </a:r>
            <a:r>
              <a:rPr lang="en-US" dirty="0"/>
              <a:t>: These refer to the </a:t>
            </a:r>
            <a:r>
              <a:rPr lang="en-US" dirty="0">
                <a:solidFill>
                  <a:srgbClr val="C00000"/>
                </a:solidFill>
              </a:rPr>
              <a:t>positive tuples </a:t>
            </a:r>
            <a:r>
              <a:rPr lang="en-US" dirty="0"/>
              <a:t>that were </a:t>
            </a:r>
            <a:r>
              <a:rPr lang="en-US" dirty="0">
                <a:solidFill>
                  <a:srgbClr val="C00000"/>
                </a:solidFill>
              </a:rPr>
              <a:t>correctly labeled </a:t>
            </a:r>
            <a:r>
              <a:rPr lang="en-US" dirty="0"/>
              <a:t>by the classifier. </a:t>
            </a:r>
          </a:p>
          <a:p>
            <a:r>
              <a:rPr lang="en-US" b="1" dirty="0"/>
              <a:t>True negatives</a:t>
            </a:r>
            <a:r>
              <a:rPr lang="en-US" dirty="0"/>
              <a:t>: These are the </a:t>
            </a:r>
            <a:r>
              <a:rPr lang="en-US" dirty="0">
                <a:solidFill>
                  <a:srgbClr val="C00000"/>
                </a:solidFill>
              </a:rPr>
              <a:t>negative tuples </a:t>
            </a:r>
            <a:r>
              <a:rPr lang="en-US" dirty="0"/>
              <a:t>that were </a:t>
            </a:r>
            <a:r>
              <a:rPr lang="en-US" dirty="0">
                <a:solidFill>
                  <a:srgbClr val="C00000"/>
                </a:solidFill>
              </a:rPr>
              <a:t>correctly labeled </a:t>
            </a:r>
            <a:r>
              <a:rPr lang="en-US" dirty="0"/>
              <a:t>by the classifier. </a:t>
            </a:r>
          </a:p>
          <a:p>
            <a:r>
              <a:rPr lang="en-US" b="1" dirty="0"/>
              <a:t>False positives</a:t>
            </a:r>
            <a:r>
              <a:rPr lang="en-US" dirty="0"/>
              <a:t>: These are the </a:t>
            </a:r>
            <a:r>
              <a:rPr lang="en-US" dirty="0">
                <a:solidFill>
                  <a:srgbClr val="C00000"/>
                </a:solidFill>
              </a:rPr>
              <a:t>negative tuples </a:t>
            </a:r>
            <a:r>
              <a:rPr lang="en-US" dirty="0"/>
              <a:t>that were </a:t>
            </a:r>
            <a:r>
              <a:rPr lang="en-US" dirty="0">
                <a:solidFill>
                  <a:srgbClr val="C00000"/>
                </a:solidFill>
              </a:rPr>
              <a:t>incorrectly labeled </a:t>
            </a:r>
            <a:r>
              <a:rPr lang="en-US" dirty="0"/>
              <a:t>as </a:t>
            </a:r>
            <a:r>
              <a:rPr lang="en-US" dirty="0">
                <a:solidFill>
                  <a:srgbClr val="C00000"/>
                </a:solidFill>
              </a:rPr>
              <a:t>positive.</a:t>
            </a:r>
            <a:r>
              <a:rPr lang="en-US" dirty="0"/>
              <a:t> </a:t>
            </a:r>
          </a:p>
          <a:p>
            <a:r>
              <a:rPr lang="en-US" b="1" dirty="0"/>
              <a:t>False negatives</a:t>
            </a:r>
            <a:r>
              <a:rPr lang="en-US" dirty="0"/>
              <a:t>: These are the </a:t>
            </a:r>
            <a:r>
              <a:rPr lang="en-US" dirty="0">
                <a:solidFill>
                  <a:srgbClr val="C00000"/>
                </a:solidFill>
              </a:rPr>
              <a:t>positive tuples </a:t>
            </a:r>
            <a:r>
              <a:rPr lang="en-US" dirty="0"/>
              <a:t>that were </a:t>
            </a:r>
            <a:r>
              <a:rPr lang="en-US" dirty="0">
                <a:solidFill>
                  <a:srgbClr val="C00000"/>
                </a:solidFill>
              </a:rPr>
              <a:t>mislabeled as negative.</a:t>
            </a:r>
            <a:r>
              <a:rPr lang="en-US" dirty="0"/>
              <a:t>  </a:t>
            </a: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2EA7CEFD-6E36-AAEA-C09E-3CBCA09E05F6}"/>
              </a:ext>
            </a:extLst>
          </p:cNvPr>
          <p:cNvGraphicFramePr>
            <a:graphicFrameLocks noGrp="1"/>
          </p:cNvGraphicFramePr>
          <p:nvPr/>
        </p:nvGraphicFramePr>
        <p:xfrm>
          <a:off x="427299" y="881803"/>
          <a:ext cx="4040529" cy="157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6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1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1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27">
            <a:extLst>
              <a:ext uri="{FF2B5EF4-FFF2-40B4-BE49-F238E27FC236}">
                <a16:creationId xmlns:a16="http://schemas.microsoft.com/office/drawing/2014/main" id="{89EBEFC2-BE1B-0C25-1214-AA3EDAB9E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073" y="849982"/>
            <a:ext cx="2453268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TP :True Positive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FN :False Negative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FP : False Positive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TN : True Negative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5F75B-B6F4-8C53-D504-079EEA539A76}"/>
              </a:ext>
            </a:extLst>
          </p:cNvPr>
          <p:cNvSpPr/>
          <p:nvPr/>
        </p:nvSpPr>
        <p:spPr>
          <a:xfrm>
            <a:off x="805375" y="4998670"/>
            <a:ext cx="6238893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"Confusion Matrix:\n"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cm)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D1270-B5A1-F1DC-76E2-961DE6BECD8E}"/>
              </a:ext>
            </a:extLst>
          </p:cNvPr>
          <p:cNvSpPr/>
          <p:nvPr/>
        </p:nvSpPr>
        <p:spPr>
          <a:xfrm>
            <a:off x="305383" y="4998670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4FC21FD-6FE8-2D5D-1E25-801FEC8FBCBD}"/>
              </a:ext>
            </a:extLst>
          </p:cNvPr>
          <p:cNvSpPr/>
          <p:nvPr/>
        </p:nvSpPr>
        <p:spPr>
          <a:xfrm>
            <a:off x="305383" y="4669486"/>
            <a:ext cx="19862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cs typeface="Consolas" panose="020B0609020204030204" pitchFamily="49" charset="0"/>
              </a:rPr>
              <a:t>confusion_matrix.py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92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 animBg="1"/>
      <p:bldP spid="7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3B6B-7A83-F14C-CF5A-8B1DAEEB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for Performance Evaluation: Confusion Matrix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37EE7DD7-D096-340C-8393-5FA77D2B2ABA}"/>
              </a:ext>
            </a:extLst>
          </p:cNvPr>
          <p:cNvGraphicFramePr>
            <a:graphicFrameLocks/>
          </p:cNvGraphicFramePr>
          <p:nvPr/>
        </p:nvGraphicFramePr>
        <p:xfrm>
          <a:off x="752353" y="876327"/>
          <a:ext cx="3912245" cy="550205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9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125">
                  <a:extLst>
                    <a:ext uri="{9D8B030D-6E8A-4147-A177-3AD203B41FA5}">
                      <a16:colId xmlns:a16="http://schemas.microsoft.com/office/drawing/2014/main" val="3537391049"/>
                    </a:ext>
                  </a:extLst>
                </a:gridCol>
                <a:gridCol w="1041722">
                  <a:extLst>
                    <a:ext uri="{9D8B030D-6E8A-4147-A177-3AD203B41FA5}">
                      <a16:colId xmlns:a16="http://schemas.microsoft.com/office/drawing/2014/main" val="3197399064"/>
                    </a:ext>
                  </a:extLst>
                </a:gridCol>
              </a:tblGrid>
              <a:tr h="3549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Patient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BP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BMI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Diabetes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25.5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130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30.1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110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22.8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140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28.7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125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24.0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118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26.3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57976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135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31.2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74730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128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27.5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5084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130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23.8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76895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122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29.6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22140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115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24.9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79354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142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32.0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789758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127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26.7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50413"/>
                  </a:ext>
                </a:extLst>
              </a:tr>
              <a:tr h="3549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138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30.5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809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7DC741-4797-DC27-AEEC-E03316B1EBCF}"/>
              </a:ext>
            </a:extLst>
          </p:cNvPr>
          <p:cNvSpPr/>
          <p:nvPr/>
        </p:nvSpPr>
        <p:spPr>
          <a:xfrm>
            <a:off x="474561" y="1226916"/>
            <a:ext cx="4190037" cy="25580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04D45-5AD3-488C-DA68-7473B3A548D4}"/>
              </a:ext>
            </a:extLst>
          </p:cNvPr>
          <p:cNvSpPr/>
          <p:nvPr/>
        </p:nvSpPr>
        <p:spPr>
          <a:xfrm>
            <a:off x="474561" y="3784922"/>
            <a:ext cx="3117725" cy="2558006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  <a:prstDash val="dash"/>
              </a:ln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EA5546B1-3A51-0024-0B77-D406FCF02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372" y="1772015"/>
            <a:ext cx="178250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 err="1">
                <a:solidFill>
                  <a:schemeClr val="tx2"/>
                </a:solidFill>
              </a:rPr>
              <a:t>Traning</a:t>
            </a:r>
            <a:r>
              <a:rPr lang="en-US" altLang="en-US" b="1" dirty="0">
                <a:solidFill>
                  <a:schemeClr val="tx2"/>
                </a:solidFill>
              </a:rPr>
              <a:t> Data Set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1FC17B65-8798-23EA-24DD-D60C1E2FC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78" y="3909763"/>
            <a:ext cx="250787" cy="230832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Testing</a:t>
            </a:r>
          </a:p>
          <a:p>
            <a:pPr algn="ctr"/>
            <a:endParaRPr lang="en-US" altLang="en-US" b="1" dirty="0">
              <a:solidFill>
                <a:schemeClr val="tx2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B837B9CA-0151-0916-629F-F1B65017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050" y="2176369"/>
            <a:ext cx="1009892" cy="831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Model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F8305E-56D4-0E25-01A8-12563B83DC3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664598" y="2453812"/>
            <a:ext cx="1234452" cy="1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31">
            <a:extLst>
              <a:ext uri="{FF2B5EF4-FFF2-40B4-BE49-F238E27FC236}">
                <a16:creationId xmlns:a16="http://schemas.microsoft.com/office/drawing/2014/main" id="{46CA72B6-A1BD-DFBF-C381-433C5DCB8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236" y="3172653"/>
            <a:ext cx="1562582" cy="64633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tx2"/>
                </a:solidFill>
              </a:rPr>
              <a:t>Predicated by</a:t>
            </a:r>
          </a:p>
          <a:p>
            <a:r>
              <a:rPr lang="en-US" altLang="en-US" b="1" dirty="0">
                <a:solidFill>
                  <a:schemeClr val="tx2"/>
                </a:solidFill>
              </a:rPr>
              <a:t>Model</a:t>
            </a: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7B8455AE-FE41-C343-27BF-4F3A693D3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379896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Yes</a:t>
            </a:r>
          </a:p>
        </p:txBody>
      </p:sp>
      <p:sp>
        <p:nvSpPr>
          <p:cNvPr id="17" name="Text Box 31">
            <a:extLst>
              <a:ext uri="{FF2B5EF4-FFF2-40B4-BE49-F238E27FC236}">
                <a16:creationId xmlns:a16="http://schemas.microsoft.com/office/drawing/2014/main" id="{BF01FCAC-B75F-7BA7-299C-FB413B2F2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4165815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Yes</a:t>
            </a:r>
          </a:p>
        </p:txBody>
      </p:sp>
      <p:sp>
        <p:nvSpPr>
          <p:cNvPr id="18" name="Text Box 31">
            <a:extLst>
              <a:ext uri="{FF2B5EF4-FFF2-40B4-BE49-F238E27FC236}">
                <a16:creationId xmlns:a16="http://schemas.microsoft.com/office/drawing/2014/main" id="{D50D87CF-ECC7-B05C-F3F4-41FC74729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4532667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Yes</a:t>
            </a:r>
          </a:p>
        </p:txBody>
      </p:sp>
      <p:sp>
        <p:nvSpPr>
          <p:cNvPr id="19" name="Text Box 31">
            <a:extLst>
              <a:ext uri="{FF2B5EF4-FFF2-40B4-BE49-F238E27FC236}">
                <a16:creationId xmlns:a16="http://schemas.microsoft.com/office/drawing/2014/main" id="{C1BD19D5-B5AF-830F-7347-21FC20E3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3534" y="4902409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</a:t>
            </a:r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914575A1-4578-15C3-5EE1-6726286F5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5283206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</a:t>
            </a:r>
          </a:p>
        </p:txBody>
      </p:sp>
      <p:sp>
        <p:nvSpPr>
          <p:cNvPr id="22" name="Text Box 31">
            <a:extLst>
              <a:ext uri="{FF2B5EF4-FFF2-40B4-BE49-F238E27FC236}">
                <a16:creationId xmlns:a16="http://schemas.microsoft.com/office/drawing/2014/main" id="{F8652D55-00E0-0635-1EB7-001354F39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563611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</a:t>
            </a:r>
          </a:p>
        </p:txBody>
      </p:sp>
      <p:sp>
        <p:nvSpPr>
          <p:cNvPr id="23" name="Text Box 31">
            <a:extLst>
              <a:ext uri="{FF2B5EF4-FFF2-40B4-BE49-F238E27FC236}">
                <a16:creationId xmlns:a16="http://schemas.microsoft.com/office/drawing/2014/main" id="{1CE01BDA-0D50-CBAC-54C8-17C29C55B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747" y="6013605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</a:t>
            </a:r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FB57B591-D6C0-A015-6425-6795A0D3B4AD}"/>
              </a:ext>
            </a:extLst>
          </p:cNvPr>
          <p:cNvGraphicFramePr>
            <a:graphicFrameLocks noGrp="1"/>
          </p:cNvGraphicFramePr>
          <p:nvPr/>
        </p:nvGraphicFramePr>
        <p:xfrm>
          <a:off x="7256363" y="963854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Group 4">
            <a:extLst>
              <a:ext uri="{FF2B5EF4-FFF2-40B4-BE49-F238E27FC236}">
                <a16:creationId xmlns:a16="http://schemas.microsoft.com/office/drawing/2014/main" id="{3C98C64D-D3F4-D92D-29E0-9E630EED4E6D}"/>
              </a:ext>
            </a:extLst>
          </p:cNvPr>
          <p:cNvGraphicFramePr>
            <a:graphicFrameLocks noGrp="1"/>
          </p:cNvGraphicFramePr>
          <p:nvPr/>
        </p:nvGraphicFramePr>
        <p:xfrm>
          <a:off x="7256363" y="3324291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45833F-B553-8B03-AE10-9939E51DF857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505527" y="3034276"/>
            <a:ext cx="829354" cy="1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E896FC-BFBA-5C9F-1305-6E854501A287}"/>
              </a:ext>
            </a:extLst>
          </p:cNvPr>
          <p:cNvCxnSpPr>
            <a:cxnSpLocks/>
          </p:cNvCxnSpPr>
          <p:nvPr/>
        </p:nvCxnSpPr>
        <p:spPr>
          <a:xfrm flipV="1">
            <a:off x="3705052" y="2767657"/>
            <a:ext cx="2193998" cy="1014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58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3B99-5C7C-F123-F4E0-462D1274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Accuracy(Recognition rate)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0FD87-C8E0-EA1B-35BF-06BF2359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7112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accuracy of a classifier </a:t>
            </a:r>
            <a:r>
              <a:rPr lang="en-US" dirty="0"/>
              <a:t>on a given </a:t>
            </a:r>
            <a:r>
              <a:rPr lang="en-US" dirty="0">
                <a:solidFill>
                  <a:srgbClr val="C00000"/>
                </a:solidFill>
              </a:rPr>
              <a:t>test set is the percentage of test set tuples </a:t>
            </a:r>
            <a:r>
              <a:rPr lang="en-US" dirty="0"/>
              <a:t>that are </a:t>
            </a:r>
            <a:r>
              <a:rPr lang="en-US" dirty="0">
                <a:solidFill>
                  <a:srgbClr val="C00000"/>
                </a:solidFill>
              </a:rPr>
              <a:t>correctly classified by the classifier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DF115C62-FA5E-D4CC-1B6B-88ABD6F37A1C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1726889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9B1F1910-CF3D-E73A-0F0B-50A7FAAA30EE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4087326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31">
            <a:extLst>
              <a:ext uri="{FF2B5EF4-FFF2-40B4-BE49-F238E27FC236}">
                <a16:creationId xmlns:a16="http://schemas.microsoft.com/office/drawing/2014/main" id="{7B56AAFC-FA6C-FEE4-D03F-EFCC9BDE1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266777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53C331FA-E5AB-19A6-B697-AA0DBC90E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3244334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6746CD18-DBFB-4679-5E45-6D7E5B4D4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193654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E0AAFA-395B-FE1C-832D-543824F29375}"/>
                  </a:ext>
                </a:extLst>
              </p:cNvPr>
              <p:cNvSpPr txBox="1"/>
              <p:nvPr/>
            </p:nvSpPr>
            <p:spPr>
              <a:xfrm>
                <a:off x="7303625" y="1879123"/>
                <a:ext cx="3321934" cy="660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E0AAFA-395B-FE1C-832D-543824F29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1879123"/>
                <a:ext cx="3321934" cy="660374"/>
              </a:xfrm>
              <a:prstGeom prst="rect">
                <a:avLst/>
              </a:prstGeom>
              <a:blipFill>
                <a:blip r:embed="rId2"/>
                <a:stretch>
                  <a:fillRect l="-305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1">
            <a:extLst>
              <a:ext uri="{FF2B5EF4-FFF2-40B4-BE49-F238E27FC236}">
                <a16:creationId xmlns:a16="http://schemas.microsoft.com/office/drawing/2014/main" id="{2554D40A-8955-670D-DFD7-CA7AB80DC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04866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6EA0E499-AE6F-DAB6-475C-431F3FD54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62522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4955F067-0905-9EC8-9F76-F1BF9A617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431743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8386E-9DE2-91EC-918B-FF543870C908}"/>
                  </a:ext>
                </a:extLst>
              </p:cNvPr>
              <p:cNvSpPr txBox="1"/>
              <p:nvPr/>
            </p:nvSpPr>
            <p:spPr>
              <a:xfrm>
                <a:off x="7303625" y="2609373"/>
                <a:ext cx="3321934" cy="660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600" dirty="0"/>
                  <a:t>  = </a:t>
                </a:r>
                <a:r>
                  <a:rPr lang="en-US" sz="2400" dirty="0"/>
                  <a:t>0.57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8386E-9DE2-91EC-918B-FF543870C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2609373"/>
                <a:ext cx="3321934" cy="660374"/>
              </a:xfrm>
              <a:prstGeom prst="rect">
                <a:avLst/>
              </a:prstGeom>
              <a:blipFill>
                <a:blip r:embed="rId3"/>
                <a:stretch>
                  <a:fillRect l="-3053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39FA950-5337-9727-A1DF-F3DC2B5385B8}"/>
              </a:ext>
            </a:extLst>
          </p:cNvPr>
          <p:cNvSpPr/>
          <p:nvPr/>
        </p:nvSpPr>
        <p:spPr>
          <a:xfrm>
            <a:off x="6475250" y="3668807"/>
            <a:ext cx="558557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42365A-93DE-9250-FAB5-9B004F624883}"/>
              </a:ext>
            </a:extLst>
          </p:cNvPr>
          <p:cNvSpPr/>
          <p:nvPr/>
        </p:nvSpPr>
        <p:spPr>
          <a:xfrm>
            <a:off x="5975258" y="366880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9382F891-9779-6D0C-4C21-603DAA958DC2}"/>
              </a:ext>
            </a:extLst>
          </p:cNvPr>
          <p:cNvSpPr/>
          <p:nvPr/>
        </p:nvSpPr>
        <p:spPr>
          <a:xfrm>
            <a:off x="5975258" y="3339623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Accuracy</a:t>
            </a:r>
            <a:r>
              <a:rPr lang="en-US" sz="1600" dirty="0" err="1">
                <a:solidFill>
                  <a:schemeClr val="bg1"/>
                </a:solidFill>
                <a:cs typeface="Consolas" panose="020B0609020204030204" pitchFamily="49" charset="0"/>
              </a:rPr>
              <a:t>.py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65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/>
      <p:bldP spid="12" grpId="0" animBg="1"/>
      <p:bldP spid="13" grpId="0" animBg="1"/>
      <p:bldP spid="14" grpId="0" animBg="1"/>
      <p:bldP spid="8" grpId="0"/>
      <p:bldP spid="10" grpId="0" uiExpand="1" build="p" animBg="1"/>
      <p:bldP spid="15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F580-6888-C093-D834-3B8EFA27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rate (Misclassification rate)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EAC-2687-B579-03A9-77EFDDE6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808450"/>
          </a:xfrm>
        </p:spPr>
        <p:txBody>
          <a:bodyPr/>
          <a:lstStyle/>
          <a:p>
            <a:r>
              <a:rPr lang="en-US" dirty="0"/>
              <a:t>Error rate or </a:t>
            </a:r>
            <a:r>
              <a:rPr lang="en-US" dirty="0">
                <a:solidFill>
                  <a:srgbClr val="C00000"/>
                </a:solidFill>
              </a:rPr>
              <a:t>misclassification rate of a classifier M</a:t>
            </a:r>
            <a:r>
              <a:rPr lang="en-US" dirty="0"/>
              <a:t>, is simply </a:t>
            </a:r>
            <a:r>
              <a:rPr lang="en-US" dirty="0">
                <a:solidFill>
                  <a:srgbClr val="C00000"/>
                </a:solidFill>
              </a:rPr>
              <a:t>1−accuracy(M)</a:t>
            </a:r>
            <a:r>
              <a:rPr lang="en-US" dirty="0"/>
              <a:t>, where accuracy(M) is the </a:t>
            </a:r>
            <a:r>
              <a:rPr lang="en-US" dirty="0">
                <a:solidFill>
                  <a:srgbClr val="C00000"/>
                </a:solidFill>
              </a:rPr>
              <a:t>accuracy of M</a:t>
            </a:r>
            <a:r>
              <a:rPr lang="en-US" dirty="0"/>
              <a:t>. This also can be computed as </a:t>
            </a:r>
          </a:p>
          <a:p>
            <a:endParaRPr lang="en-US" dirty="0"/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E292C669-2CFF-E616-8EC4-D03D6458E7C4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1726889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36823EDF-3199-BD50-9FAD-DEEDA75A6920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4087326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31">
            <a:extLst>
              <a:ext uri="{FF2B5EF4-FFF2-40B4-BE49-F238E27FC236}">
                <a16:creationId xmlns:a16="http://schemas.microsoft.com/office/drawing/2014/main" id="{6F0077ED-C53B-7100-D646-40EBA8DD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266777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BF75D09A-2D8F-719D-67DF-0A35F9CD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3244334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D89747A3-B8D3-59B7-6E66-7B2F7508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193654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/>
              <p:nvPr/>
            </p:nvSpPr>
            <p:spPr>
              <a:xfrm>
                <a:off x="7303625" y="1879123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Error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1879123"/>
                <a:ext cx="3321934" cy="616707"/>
              </a:xfrm>
              <a:prstGeom prst="rect">
                <a:avLst/>
              </a:prstGeom>
              <a:blipFill>
                <a:blip r:embed="rId2"/>
                <a:stretch>
                  <a:fillRect l="-305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1">
            <a:extLst>
              <a:ext uri="{FF2B5EF4-FFF2-40B4-BE49-F238E27FC236}">
                <a16:creationId xmlns:a16="http://schemas.microsoft.com/office/drawing/2014/main" id="{9709B6B7-AA90-F323-3337-016F4605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04866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DE24777E-2E65-181F-D256-CCC9B0E8B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62522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D24BA6FE-2559-591E-383B-2DF59CC45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431743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CD64DF-1CD8-D96E-5C41-954DEC1FBC43}"/>
                  </a:ext>
                </a:extLst>
              </p:cNvPr>
              <p:cNvSpPr txBox="1"/>
              <p:nvPr/>
            </p:nvSpPr>
            <p:spPr>
              <a:xfrm>
                <a:off x="7349924" y="4686764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Error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2+1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=0.42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CD64DF-1CD8-D96E-5C41-954DEC1FB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924" y="4686764"/>
                <a:ext cx="3321934" cy="616707"/>
              </a:xfrm>
              <a:prstGeom prst="rect">
                <a:avLst/>
              </a:prstGeom>
              <a:blipFill>
                <a:blip r:embed="rId3"/>
                <a:stretch>
                  <a:fillRect l="-2662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80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5A32-6557-3AB0-614A-3E80426C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imbalance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755AE-5C55-8818-9ED3-4BEB23D86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990926"/>
          </a:xfrm>
        </p:spPr>
        <p:txBody>
          <a:bodyPr/>
          <a:lstStyle/>
          <a:p>
            <a:r>
              <a:rPr lang="en-US" dirty="0"/>
              <a:t>where the main class of </a:t>
            </a:r>
            <a:r>
              <a:rPr lang="en-US" dirty="0">
                <a:solidFill>
                  <a:srgbClr val="C00000"/>
                </a:solidFill>
              </a:rPr>
              <a:t>interest is rare</a:t>
            </a:r>
            <a:r>
              <a:rPr lang="en-US" dirty="0"/>
              <a:t>. </a:t>
            </a:r>
          </a:p>
          <a:p>
            <a:r>
              <a:rPr lang="en-US" dirty="0"/>
              <a:t>In medical data, there may be a rare class, </a:t>
            </a:r>
            <a:r>
              <a:rPr lang="en-US" dirty="0">
                <a:solidFill>
                  <a:srgbClr val="C00000"/>
                </a:solidFill>
              </a:rPr>
              <a:t>such as “cancer.” </a:t>
            </a:r>
          </a:p>
          <a:p>
            <a:r>
              <a:rPr lang="en-US" dirty="0"/>
              <a:t>Suppose that you have trained a classifier to classify </a:t>
            </a:r>
            <a:r>
              <a:rPr lang="en-US" dirty="0">
                <a:solidFill>
                  <a:srgbClr val="C00000"/>
                </a:solidFill>
              </a:rPr>
              <a:t>medical data tuples</a:t>
            </a:r>
            <a:r>
              <a:rPr lang="en-US" dirty="0"/>
              <a:t>, where the class label attribute </a:t>
            </a:r>
            <a:r>
              <a:rPr lang="en-US" dirty="0">
                <a:solidFill>
                  <a:srgbClr val="C00000"/>
                </a:solidFill>
              </a:rPr>
              <a:t>is “cancer</a:t>
            </a:r>
            <a:r>
              <a:rPr lang="en-US" dirty="0"/>
              <a:t>” and the possible class values </a:t>
            </a:r>
            <a:r>
              <a:rPr lang="en-US" dirty="0">
                <a:solidFill>
                  <a:srgbClr val="C00000"/>
                </a:solidFill>
              </a:rPr>
              <a:t>are “yes” and “no.” </a:t>
            </a:r>
          </a:p>
          <a:p>
            <a:r>
              <a:rPr lang="en-US" dirty="0"/>
              <a:t>An accuracy rate of, say, </a:t>
            </a:r>
            <a:r>
              <a:rPr lang="en-US" dirty="0">
                <a:solidFill>
                  <a:srgbClr val="C00000"/>
                </a:solidFill>
              </a:rPr>
              <a:t>97% may make the classifier seem quite accurate</a:t>
            </a:r>
            <a:r>
              <a:rPr lang="en-US" dirty="0"/>
              <a:t>, but what if only, say, </a:t>
            </a:r>
            <a:r>
              <a:rPr lang="en-US" dirty="0">
                <a:solidFill>
                  <a:srgbClr val="C00000"/>
                </a:solidFill>
              </a:rPr>
              <a:t>3% of the training tuples are actually cancer</a:t>
            </a:r>
            <a:r>
              <a:rPr lang="en-US" dirty="0"/>
              <a:t>? Clearly, an accuracy rate of 97% may not be </a:t>
            </a:r>
            <a:r>
              <a:rPr lang="en-US" dirty="0">
                <a:solidFill>
                  <a:srgbClr val="C00000"/>
                </a:solidFill>
              </a:rPr>
              <a:t>acceptable</a:t>
            </a:r>
            <a:r>
              <a:rPr lang="en-US" dirty="0"/>
              <a:t>.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7814F8-11CD-15CF-4E49-AD5DA6167FF4}"/>
                  </a:ext>
                </a:extLst>
              </p:cNvPr>
              <p:cNvSpPr txBox="1"/>
              <p:nvPr/>
            </p:nvSpPr>
            <p:spPr>
              <a:xfrm>
                <a:off x="1080304" y="3698261"/>
                <a:ext cx="9545256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Sensitivity</a:t>
                </a:r>
                <a:r>
                  <a:rPr lang="en-US" sz="2400" dirty="0"/>
                  <a:t> (the proportion of positive tuples that are correctly identified)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7814F8-11CD-15CF-4E49-AD5DA616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04" y="3698261"/>
                <a:ext cx="9545256" cy="616707"/>
              </a:xfrm>
              <a:prstGeom prst="rect">
                <a:avLst/>
              </a:prstGeom>
              <a:blipFill>
                <a:blip r:embed="rId2"/>
                <a:stretch>
                  <a:fillRect l="-930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B5E651-F397-6FCA-E864-953DB6525916}"/>
                  </a:ext>
                </a:extLst>
              </p:cNvPr>
              <p:cNvSpPr txBox="1"/>
              <p:nvPr/>
            </p:nvSpPr>
            <p:spPr>
              <a:xfrm>
                <a:off x="1080303" y="4314968"/>
                <a:ext cx="9938795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specificity</a:t>
                </a:r>
                <a:r>
                  <a:rPr lang="en-US" sz="2400" dirty="0"/>
                  <a:t> (the proportion of negative tuples that are correctly identified 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B5E651-F397-6FCA-E864-953DB6525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03" y="4314968"/>
                <a:ext cx="9938795" cy="614848"/>
              </a:xfrm>
              <a:prstGeom prst="rect">
                <a:avLst/>
              </a:prstGeom>
              <a:blipFill>
                <a:blip r:embed="rId3"/>
                <a:stretch>
                  <a:fillRect l="-89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5A433F-2D38-D436-C4BB-E1C6B700781D}"/>
                  </a:ext>
                </a:extLst>
              </p:cNvPr>
              <p:cNvSpPr txBox="1"/>
              <p:nvPr/>
            </p:nvSpPr>
            <p:spPr>
              <a:xfrm>
                <a:off x="3090028" y="5210799"/>
                <a:ext cx="6886936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Accuracy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Sensitivity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400" dirty="0"/>
                  <a:t> +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specificity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5A433F-2D38-D436-C4BB-E1C6B7007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028" y="5210799"/>
                <a:ext cx="6886936" cy="616707"/>
              </a:xfrm>
              <a:prstGeom prst="rect">
                <a:avLst/>
              </a:prstGeom>
              <a:blipFill>
                <a:blip r:embed="rId4"/>
                <a:stretch>
                  <a:fillRect l="-1473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09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F580-6888-C093-D834-3B8EFA27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EAC-2687-B579-03A9-77EFDDE6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12808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xactness</a:t>
            </a:r>
            <a:r>
              <a:rPr lang="en-US" altLang="en-US" sz="2400" dirty="0">
                <a:ea typeface="ＭＳ Ｐゴシック" panose="020B0600070205080204" pitchFamily="34" charset="-128"/>
              </a:rPr>
              <a:t> – what % of tuples that the classifier labeled as 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positive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are actually positive</a:t>
            </a:r>
            <a:r>
              <a:rPr lang="en-US" altLang="en-US" sz="2400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en-IN" dirty="0"/>
              <a:t>It calculates the ratio of </a:t>
            </a:r>
            <a:r>
              <a:rPr lang="en-IN" dirty="0">
                <a:solidFill>
                  <a:srgbClr val="C00000"/>
                </a:solidFill>
              </a:rPr>
              <a:t>correctly predicted positive </a:t>
            </a:r>
            <a:r>
              <a:rPr lang="en-IN" dirty="0"/>
              <a:t>instances to the </a:t>
            </a:r>
            <a:r>
              <a:rPr lang="en-IN" dirty="0">
                <a:solidFill>
                  <a:srgbClr val="C00000"/>
                </a:solidFill>
              </a:rPr>
              <a:t>total number of instances predicted as positive.</a:t>
            </a:r>
            <a:endParaRPr lang="en-US" altLang="en-US" sz="24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E292C669-2CFF-E616-8EC4-D03D6458E7C4}"/>
              </a:ext>
            </a:extLst>
          </p:cNvPr>
          <p:cNvGraphicFramePr>
            <a:graphicFrameLocks noGrp="1"/>
          </p:cNvGraphicFramePr>
          <p:nvPr/>
        </p:nvGraphicFramePr>
        <p:xfrm>
          <a:off x="485173" y="2108853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36823EDF-3199-BD50-9FAD-DEEDA75A6920}"/>
              </a:ext>
            </a:extLst>
          </p:cNvPr>
          <p:cNvGraphicFramePr>
            <a:graphicFrameLocks noGrp="1"/>
          </p:cNvGraphicFramePr>
          <p:nvPr/>
        </p:nvGraphicFramePr>
        <p:xfrm>
          <a:off x="485173" y="4469290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31">
            <a:extLst>
              <a:ext uri="{FF2B5EF4-FFF2-40B4-BE49-F238E27FC236}">
                <a16:creationId xmlns:a16="http://schemas.microsoft.com/office/drawing/2014/main" id="{6F0077ED-C53B-7100-D646-40EBA8DD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159" y="3049737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BF75D09A-2D8F-719D-67DF-0A35F9CD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159" y="3626298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D89747A3-B8D3-59B7-6E66-7B2F7508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945" y="2318507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/>
              <p:nvPr/>
            </p:nvSpPr>
            <p:spPr>
              <a:xfrm>
                <a:off x="7303625" y="2914505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2914505"/>
                <a:ext cx="3321934" cy="616707"/>
              </a:xfrm>
              <a:prstGeom prst="rect">
                <a:avLst/>
              </a:prstGeom>
              <a:blipFill>
                <a:blip r:embed="rId2"/>
                <a:stretch>
                  <a:fillRect l="-3053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1">
            <a:extLst>
              <a:ext uri="{FF2B5EF4-FFF2-40B4-BE49-F238E27FC236}">
                <a16:creationId xmlns:a16="http://schemas.microsoft.com/office/drawing/2014/main" id="{9709B6B7-AA90-F323-3337-016F4605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159" y="5430626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DE24777E-2E65-181F-D256-CCC9B0E8B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159" y="6007187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D24BA6FE-2559-591E-383B-2DF59CC45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945" y="4699396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765FA8-4259-651A-D824-F2EEF36B3BF6}"/>
                  </a:ext>
                </a:extLst>
              </p:cNvPr>
              <p:cNvSpPr txBox="1"/>
              <p:nvPr/>
            </p:nvSpPr>
            <p:spPr>
              <a:xfrm>
                <a:off x="7303625" y="4686764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2+1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=0.66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765FA8-4259-651A-D824-F2EEF36B3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4686764"/>
                <a:ext cx="3321934" cy="616707"/>
              </a:xfrm>
              <a:prstGeom prst="rect">
                <a:avLst/>
              </a:prstGeom>
              <a:blipFill>
                <a:blip r:embed="rId3"/>
                <a:stretch>
                  <a:fillRect l="-3053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85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F580-6888-C093-D834-3B8EFA27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ea typeface="ＭＳ Ｐゴシック" panose="020B0600070205080204" pitchFamily="34" charset="-128"/>
              </a:rPr>
              <a:t>Recall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EAC-2687-B579-03A9-77EFDDE6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8634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ompleteness</a:t>
            </a:r>
            <a:r>
              <a:rPr lang="en-US" altLang="en-US" sz="2400" dirty="0">
                <a:ea typeface="ＭＳ Ｐゴシック" panose="020B0600070205080204" pitchFamily="34" charset="-128"/>
              </a:rPr>
              <a:t> – what % of positive tuples did the 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classifier label as positive</a:t>
            </a:r>
            <a:r>
              <a:rPr lang="en-US" altLang="en-US" sz="2400" dirty="0">
                <a:ea typeface="ＭＳ Ｐゴシック" panose="020B0600070205080204" pitchFamily="34" charset="-128"/>
              </a:rPr>
              <a:t>?</a:t>
            </a:r>
          </a:p>
          <a:p>
            <a:r>
              <a:rPr lang="en-US" dirty="0"/>
              <a:t>It calculates the ratio </a:t>
            </a:r>
            <a:r>
              <a:rPr lang="en-US" dirty="0">
                <a:solidFill>
                  <a:srgbClr val="C00000"/>
                </a:solidFill>
              </a:rPr>
              <a:t>of true positives </a:t>
            </a:r>
            <a:r>
              <a:rPr lang="en-US" dirty="0"/>
              <a:t>to the total number of </a:t>
            </a:r>
            <a:r>
              <a:rPr lang="en-US" dirty="0">
                <a:solidFill>
                  <a:srgbClr val="C00000"/>
                </a:solidFill>
              </a:rPr>
              <a:t>actual positive instances</a:t>
            </a:r>
            <a:r>
              <a:rPr lang="en-US" dirty="0"/>
              <a:t>.</a:t>
            </a: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E292C669-2CFF-E616-8EC4-D03D6458E7C4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1726889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TN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36823EDF-3199-BD50-9FAD-DEEDA75A6920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4087326"/>
          <a:ext cx="4572000" cy="2052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Actual\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predicted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4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31">
            <a:extLst>
              <a:ext uri="{FF2B5EF4-FFF2-40B4-BE49-F238E27FC236}">
                <a16:creationId xmlns:a16="http://schemas.microsoft.com/office/drawing/2014/main" id="{6F0077ED-C53B-7100-D646-40EBA8DD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266777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BF75D09A-2D8F-719D-67DF-0A35F9CD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3244334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D89747A3-B8D3-59B7-6E66-7B2F7508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193654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/>
              <p:nvPr/>
            </p:nvSpPr>
            <p:spPr>
              <a:xfrm>
                <a:off x="7303625" y="1879123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6D9969-EAE9-FB37-033C-53BC595C1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625" y="1879123"/>
                <a:ext cx="3321934" cy="616707"/>
              </a:xfrm>
              <a:prstGeom prst="rect">
                <a:avLst/>
              </a:prstGeom>
              <a:blipFill>
                <a:blip r:embed="rId2"/>
                <a:stretch>
                  <a:fillRect l="-305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1">
            <a:extLst>
              <a:ext uri="{FF2B5EF4-FFF2-40B4-BE49-F238E27FC236}">
                <a16:creationId xmlns:a16="http://schemas.microsoft.com/office/drawing/2014/main" id="{9709B6B7-AA90-F323-3337-016F4605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04866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DE24777E-2E65-181F-D256-CCC9B0E8B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010" y="5625223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D24BA6FE-2559-591E-383B-2DF59CC45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96" y="4317432"/>
            <a:ext cx="844951" cy="36933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425D0-29B7-AB5A-E386-223176C1B5D9}"/>
                  </a:ext>
                </a:extLst>
              </p:cNvPr>
              <p:cNvSpPr txBox="1"/>
              <p:nvPr/>
            </p:nvSpPr>
            <p:spPr>
              <a:xfrm>
                <a:off x="7287296" y="4745744"/>
                <a:ext cx="3321934" cy="616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2+2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425D0-29B7-AB5A-E386-223176C1B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296" y="4745744"/>
                <a:ext cx="3321934" cy="616707"/>
              </a:xfrm>
              <a:prstGeom prst="rect">
                <a:avLst/>
              </a:prstGeom>
              <a:blipFill>
                <a:blip r:embed="rId3"/>
                <a:stretch>
                  <a:fillRect l="-2662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75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01BDC3-3C0B-EE03-4368-3C11DBACE9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</a:t>
                </a:r>
                <a:r>
                  <a:rPr lang="en-US" baseline="-25000" dirty="0"/>
                  <a:t>1</a:t>
                </a:r>
                <a:r>
                  <a:rPr lang="en-US" dirty="0"/>
                  <a:t> and F</a:t>
                </a:r>
                <a14:m>
                  <m:oMath xmlns:m="http://schemas.openxmlformats.org/officeDocument/2006/math">
                    <m:r>
                      <a:rPr lang="en-US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Measure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01BDC3-3C0B-EE03-4368-3C11DBACE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16" t="-8772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499F-C40A-451B-EF87-6F50BCD37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725610" cy="404422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 measure also known as the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 score or F-score.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it is harmonic </a:t>
            </a:r>
            <a:r>
              <a:rPr lang="en-US" dirty="0">
                <a:solidFill>
                  <a:srgbClr val="C00000"/>
                </a:solidFill>
              </a:rPr>
              <a:t>mean of precision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and </a:t>
            </a:r>
            <a:r>
              <a:rPr lang="en-US" dirty="0">
                <a:solidFill>
                  <a:srgbClr val="C00000"/>
                </a:solidFill>
              </a:rPr>
              <a:t>recall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It provides a balanced </a:t>
            </a:r>
            <a:r>
              <a:rPr lang="en-US" dirty="0">
                <a:solidFill>
                  <a:srgbClr val="C00000"/>
                </a:solidFill>
              </a:rPr>
              <a:t>assessment of a model's performance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by taking </a:t>
            </a:r>
            <a:r>
              <a:rPr lang="en-US" dirty="0">
                <a:solidFill>
                  <a:srgbClr val="C00000"/>
                </a:solidFill>
              </a:rPr>
              <a:t>both false positives and false negatives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into account.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The F1-score ranges between </a:t>
            </a:r>
            <a:r>
              <a:rPr lang="en-US" dirty="0">
                <a:solidFill>
                  <a:srgbClr val="C00000"/>
                </a:solidFill>
              </a:rPr>
              <a:t>0 (worst)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and </a:t>
            </a:r>
            <a:r>
              <a:rPr lang="en-US" dirty="0">
                <a:solidFill>
                  <a:srgbClr val="C00000"/>
                </a:solidFill>
              </a:rPr>
              <a:t>1 (best).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2BC512-A915-6BBF-8420-45B9CECC9198}"/>
              </a:ext>
            </a:extLst>
          </p:cNvPr>
          <p:cNvSpPr txBox="1">
            <a:spLocks/>
          </p:cNvSpPr>
          <p:nvPr/>
        </p:nvSpPr>
        <p:spPr>
          <a:xfrm>
            <a:off x="6095999" y="863445"/>
            <a:ext cx="5964819" cy="3361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effectLst/>
              </a:rPr>
              <a:t>The </a:t>
            </a:r>
            <a:r>
              <a:rPr lang="en-IN" i="1" dirty="0">
                <a:effectLst/>
              </a:rPr>
              <a:t>F</a:t>
            </a:r>
            <a:r>
              <a:rPr lang="el-GR" baseline="-25000" dirty="0">
                <a:effectLst/>
              </a:rPr>
              <a:t>β</a:t>
            </a:r>
            <a:r>
              <a:rPr lang="el-GR" dirty="0">
                <a:effectLst/>
              </a:rPr>
              <a:t> </a:t>
            </a:r>
            <a:r>
              <a:rPr lang="en-IN" dirty="0">
                <a:effectLst/>
              </a:rPr>
              <a:t>measure is a </a:t>
            </a:r>
            <a:r>
              <a:rPr lang="en-IN" dirty="0">
                <a:solidFill>
                  <a:srgbClr val="C00000"/>
                </a:solidFill>
                <a:effectLst/>
              </a:rPr>
              <a:t>weighted measure of precision and recall</a:t>
            </a:r>
            <a:r>
              <a:rPr lang="en-IN" dirty="0">
                <a:effectLst/>
              </a:rPr>
              <a:t>. </a:t>
            </a:r>
          </a:p>
          <a:p>
            <a:r>
              <a:rPr lang="en-IN" dirty="0"/>
              <a:t>where </a:t>
            </a:r>
            <a:r>
              <a:rPr lang="el-GR" dirty="0"/>
              <a:t>β </a:t>
            </a:r>
            <a:r>
              <a:rPr lang="en-IN" dirty="0"/>
              <a:t>is a non-negative real number.</a:t>
            </a:r>
          </a:p>
          <a:p>
            <a:r>
              <a:rPr lang="en-IN" dirty="0"/>
              <a:t>It allow you to control the </a:t>
            </a:r>
            <a:r>
              <a:rPr lang="en-IN" dirty="0">
                <a:solidFill>
                  <a:srgbClr val="C00000"/>
                </a:solidFill>
              </a:rPr>
              <a:t>emphasis on precision or recall</a:t>
            </a:r>
            <a:r>
              <a:rPr lang="en-IN" dirty="0"/>
              <a:t> using the </a:t>
            </a:r>
            <a:r>
              <a:rPr lang="en-IN" dirty="0">
                <a:solidFill>
                  <a:srgbClr val="C00000"/>
                </a:solidFill>
              </a:rPr>
              <a:t>parameter </a:t>
            </a:r>
            <a:r>
              <a:rPr lang="el-GR" dirty="0">
                <a:solidFill>
                  <a:srgbClr val="C00000"/>
                </a:solidFill>
              </a:rPr>
              <a:t>β</a:t>
            </a:r>
            <a:r>
              <a:rPr lang="el-GR" dirty="0"/>
              <a:t>. </a:t>
            </a:r>
            <a:r>
              <a:rPr lang="en-IN" dirty="0">
                <a:solidFill>
                  <a:srgbClr val="C00000"/>
                </a:solidFill>
              </a:rPr>
              <a:t>When </a:t>
            </a:r>
            <a:r>
              <a:rPr lang="el-GR" dirty="0">
                <a:solidFill>
                  <a:srgbClr val="C00000"/>
                </a:solidFill>
              </a:rPr>
              <a:t>β &gt; 1</a:t>
            </a:r>
            <a:r>
              <a:rPr lang="el-GR" dirty="0"/>
              <a:t>, </a:t>
            </a:r>
            <a:r>
              <a:rPr lang="en-IN" dirty="0"/>
              <a:t>it emphasizes </a:t>
            </a:r>
            <a:r>
              <a:rPr lang="en-IN" dirty="0">
                <a:solidFill>
                  <a:srgbClr val="C00000"/>
                </a:solidFill>
              </a:rPr>
              <a:t>recall</a:t>
            </a:r>
            <a:r>
              <a:rPr lang="en-IN" dirty="0"/>
              <a:t> more than </a:t>
            </a:r>
            <a:r>
              <a:rPr lang="en-IN" dirty="0">
                <a:solidFill>
                  <a:srgbClr val="C00000"/>
                </a:solidFill>
              </a:rPr>
              <a:t>precision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when 0 &lt; </a:t>
            </a:r>
            <a:r>
              <a:rPr lang="el-GR" dirty="0">
                <a:solidFill>
                  <a:srgbClr val="C00000"/>
                </a:solidFill>
              </a:rPr>
              <a:t>β &lt; 1</a:t>
            </a:r>
            <a:r>
              <a:rPr lang="el-GR" dirty="0"/>
              <a:t>, </a:t>
            </a:r>
            <a:r>
              <a:rPr lang="en-IN" dirty="0"/>
              <a:t>it emphasizes </a:t>
            </a:r>
            <a:r>
              <a:rPr lang="en-IN" dirty="0">
                <a:solidFill>
                  <a:srgbClr val="C00000"/>
                </a:solidFill>
              </a:rPr>
              <a:t>precision</a:t>
            </a:r>
            <a:r>
              <a:rPr lang="en-IN" dirty="0"/>
              <a:t> more than </a:t>
            </a:r>
            <a:r>
              <a:rPr lang="en-IN" dirty="0">
                <a:solidFill>
                  <a:srgbClr val="C00000"/>
                </a:solidFill>
              </a:rPr>
              <a:t>recall</a:t>
            </a:r>
            <a:r>
              <a:rPr lang="en-IN" dirty="0"/>
              <a:t>. </a:t>
            </a:r>
          </a:p>
          <a:p>
            <a:endParaRPr lang="en-IN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0A31EA-70EA-90F7-D3D3-85CADB877BA0}"/>
                  </a:ext>
                </a:extLst>
              </p:cNvPr>
              <p:cNvSpPr txBox="1"/>
              <p:nvPr/>
            </p:nvSpPr>
            <p:spPr>
              <a:xfrm>
                <a:off x="486136" y="5134520"/>
                <a:ext cx="4363656" cy="862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F</a:t>
                </a:r>
                <a:r>
                  <a:rPr lang="en-US" sz="3200" baseline="-25000" dirty="0"/>
                  <a:t>1</a:t>
                </a:r>
                <a:r>
                  <a:rPr lang="en-US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 ∗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0A31EA-70EA-90F7-D3D3-85CADB877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6" y="5134520"/>
                <a:ext cx="4363656" cy="862929"/>
              </a:xfrm>
              <a:prstGeom prst="rect">
                <a:avLst/>
              </a:prstGeom>
              <a:blipFill>
                <a:blip r:embed="rId3"/>
                <a:stretch>
                  <a:fillRect l="-3478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62278-D059-F565-5FEE-58A95FA8230F}"/>
                  </a:ext>
                </a:extLst>
              </p:cNvPr>
              <p:cNvSpPr txBox="1"/>
              <p:nvPr/>
            </p:nvSpPr>
            <p:spPr>
              <a:xfrm>
                <a:off x="6566707" y="4907665"/>
                <a:ext cx="5139157" cy="875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F</a:t>
                </a:r>
                <a14:m>
                  <m:oMath xmlns:m="http://schemas.openxmlformats.org/officeDocument/2006/math">
                    <m:r>
                      <a:rPr lang="en-US" sz="32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3200" b="0" i="1" baseline="30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 ∗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3200" i="1" baseline="30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baseline="30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62278-D059-F565-5FEE-58A95FA82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07" y="4907665"/>
                <a:ext cx="5139157" cy="875945"/>
              </a:xfrm>
              <a:prstGeom prst="rect">
                <a:avLst/>
              </a:prstGeom>
              <a:blipFill>
                <a:blip r:embed="rId4"/>
                <a:stretch>
                  <a:fillRect l="-2956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20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9144-7C27-0709-EB2E-7C0A8C31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46687B-C08F-E51D-87CF-BA94458679C6}"/>
              </a:ext>
            </a:extLst>
          </p:cNvPr>
          <p:cNvSpPr/>
          <p:nvPr/>
        </p:nvSpPr>
        <p:spPr>
          <a:xfrm>
            <a:off x="830806" y="1354585"/>
            <a:ext cx="803097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classification_report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classification_report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4B1F7-0C08-7A25-1132-E5F1C4A16BD1}"/>
              </a:ext>
            </a:extLst>
          </p:cNvPr>
          <p:cNvSpPr/>
          <p:nvPr/>
        </p:nvSpPr>
        <p:spPr>
          <a:xfrm>
            <a:off x="330814" y="1354585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DBD61EC-A37A-A639-C445-E6A1E9B2D455}"/>
              </a:ext>
            </a:extLst>
          </p:cNvPr>
          <p:cNvSpPr/>
          <p:nvPr/>
        </p:nvSpPr>
        <p:spPr>
          <a:xfrm>
            <a:off x="330814" y="1025401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Accuracy</a:t>
            </a:r>
            <a:r>
              <a:rPr lang="en-US" sz="1600" dirty="0" err="1">
                <a:solidFill>
                  <a:schemeClr val="bg1"/>
                </a:solidFill>
                <a:cs typeface="Consolas" panose="020B0609020204030204" pitchFamily="49" charset="0"/>
              </a:rPr>
              <a:t>.py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B7C54B-F80B-BE56-FD6C-1BF67F391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28" y="2477624"/>
            <a:ext cx="7772400" cy="19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0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A175-0038-29AC-189A-8DED7B61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Evaluating Classifier Accuracy: Holdout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7081-C1EE-29E8-AFCF-74A2F03EE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97944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Holdout method:</a:t>
            </a:r>
          </a:p>
          <a:p>
            <a:r>
              <a:rPr lang="en-US" dirty="0"/>
              <a:t>Given data is </a:t>
            </a:r>
            <a:r>
              <a:rPr lang="en-US" dirty="0">
                <a:solidFill>
                  <a:srgbClr val="C00000"/>
                </a:solidFill>
              </a:rPr>
              <a:t>randomly partitioned into two independent sets</a:t>
            </a:r>
          </a:p>
          <a:p>
            <a:r>
              <a:rPr lang="en-US" dirty="0"/>
              <a:t>Training set (e.g., 2/3) </a:t>
            </a:r>
            <a:r>
              <a:rPr lang="en-US" dirty="0">
                <a:solidFill>
                  <a:srgbClr val="C00000"/>
                </a:solidFill>
              </a:rPr>
              <a:t>for model construction</a:t>
            </a:r>
          </a:p>
          <a:p>
            <a:r>
              <a:rPr lang="en-US" dirty="0"/>
              <a:t>Test set (e.g., 1/3) </a:t>
            </a:r>
            <a:r>
              <a:rPr lang="en-US" dirty="0">
                <a:solidFill>
                  <a:srgbClr val="C00000"/>
                </a:solidFill>
              </a:rPr>
              <a:t>for accuracy estimation</a:t>
            </a:r>
          </a:p>
          <a:p>
            <a:r>
              <a:rPr lang="en-US" b="1" dirty="0"/>
              <a:t>Random sampling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 variation of holdout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Repeat holdout k times, accuracy = avg. of the accuracies obtained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4DB480-DFFC-78CA-7ECD-F9E26F84317A}"/>
              </a:ext>
            </a:extLst>
          </p:cNvPr>
          <p:cNvGrpSpPr>
            <a:grpSpLocks/>
          </p:cNvGrpSpPr>
          <p:nvPr/>
        </p:nvGrpSpPr>
        <p:grpSpPr bwMode="auto">
          <a:xfrm>
            <a:off x="844952" y="4492744"/>
            <a:ext cx="1427728" cy="1295233"/>
            <a:chOff x="1283" y="1118"/>
            <a:chExt cx="1070" cy="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C701793-EEAD-C0F9-B5B8-70363ED1CAA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35D033-9B96-AA69-1404-7FA6C61BF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88"/>
              <a:ext cx="934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Data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246EEF6-97A4-7273-4115-D4A777C93083}"/>
              </a:ext>
            </a:extLst>
          </p:cNvPr>
          <p:cNvGrpSpPr>
            <a:grpSpLocks/>
          </p:cNvGrpSpPr>
          <p:nvPr/>
        </p:nvGrpSpPr>
        <p:grpSpPr bwMode="auto">
          <a:xfrm>
            <a:off x="3642886" y="4023969"/>
            <a:ext cx="1134319" cy="937548"/>
            <a:chOff x="1283" y="1118"/>
            <a:chExt cx="1070" cy="9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7DCE8E-ACE7-5FCA-67A1-D1B3A2AC92C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68E96-5AD9-0872-0872-C215DCC5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12"/>
              <a:ext cx="934" cy="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dirty="0">
                  <a:latin typeface="+mn-lt"/>
                </a:rPr>
                <a:t>Training</a:t>
              </a:r>
            </a:p>
            <a:p>
              <a:pPr algn="ctr"/>
              <a:r>
                <a:rPr lang="en-US" altLang="en-US" sz="1800" dirty="0">
                  <a:latin typeface="+mn-lt"/>
                </a:rPr>
                <a:t>Set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8B37D5-75F0-6492-9B8B-29BDD6C95A20}"/>
              </a:ext>
            </a:extLst>
          </p:cNvPr>
          <p:cNvGrpSpPr>
            <a:grpSpLocks/>
          </p:cNvGrpSpPr>
          <p:nvPr/>
        </p:nvGrpSpPr>
        <p:grpSpPr bwMode="auto">
          <a:xfrm>
            <a:off x="3642886" y="5504397"/>
            <a:ext cx="1134319" cy="937548"/>
            <a:chOff x="1283" y="1118"/>
            <a:chExt cx="1070" cy="94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CF2511D-A081-1129-46F1-C829FEE7349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29370B-8E14-8B52-2375-64EDEBF5D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1"/>
              <a:ext cx="934" cy="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dirty="0">
                  <a:latin typeface="+mn-lt"/>
                </a:rPr>
                <a:t>Test</a:t>
              </a:r>
            </a:p>
            <a:p>
              <a:pPr algn="ctr"/>
              <a:r>
                <a:rPr lang="en-US" altLang="en-US" sz="1800" dirty="0">
                  <a:latin typeface="+mn-lt"/>
                </a:rPr>
                <a:t>Set</a:t>
              </a:r>
            </a:p>
          </p:txBody>
        </p:sp>
      </p:grpSp>
      <p:sp>
        <p:nvSpPr>
          <p:cNvPr id="13" name="Rectangle 9">
            <a:extLst>
              <a:ext uri="{FF2B5EF4-FFF2-40B4-BE49-F238E27FC236}">
                <a16:creationId xmlns:a16="http://schemas.microsoft.com/office/drawing/2014/main" id="{3E6A8784-C6ED-4D6A-EC67-C5830E105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569" y="4076924"/>
            <a:ext cx="1017907" cy="831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Derive </a:t>
            </a:r>
          </a:p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model 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3D9BD1E2-6082-7812-A42E-400D74EAD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2753" y="4021730"/>
            <a:ext cx="1351331" cy="8316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Estimate </a:t>
            </a:r>
          </a:p>
          <a:p>
            <a:pPr algn="ctr"/>
            <a:r>
              <a:rPr lang="en-US" altLang="en-US" dirty="0">
                <a:solidFill>
                  <a:schemeClr val="bg2"/>
                </a:solidFill>
                <a:latin typeface="+mn-lt"/>
              </a:rPr>
              <a:t>accuracy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CCBAD1-AE33-05C4-8CFB-6288D5C105DE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2272680" y="4492743"/>
            <a:ext cx="1370206" cy="647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357562-D5EC-88C9-CB9C-FF01E71211E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272680" y="5140361"/>
            <a:ext cx="1370206" cy="832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15C615-0549-6F59-16B1-85602C305B6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777205" y="4492743"/>
            <a:ext cx="14713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BD388A-0DCC-49E5-B0E1-8DA72DB3C994}"/>
              </a:ext>
            </a:extLst>
          </p:cNvPr>
          <p:cNvCxnSpPr>
            <a:cxnSpLocks/>
          </p:cNvCxnSpPr>
          <p:nvPr/>
        </p:nvCxnSpPr>
        <p:spPr>
          <a:xfrm>
            <a:off x="7276761" y="4482037"/>
            <a:ext cx="1455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1987E7C-D4FC-90AE-225A-11479FC3E7FC}"/>
              </a:ext>
            </a:extLst>
          </p:cNvPr>
          <p:cNvCxnSpPr>
            <a:stCxn id="11" idx="3"/>
            <a:endCxn id="14" idx="2"/>
          </p:cNvCxnSpPr>
          <p:nvPr/>
        </p:nvCxnSpPr>
        <p:spPr>
          <a:xfrm flipV="1">
            <a:off x="4777205" y="4853369"/>
            <a:ext cx="4631214" cy="11198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3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1C55-A7FA-706E-2015-0F1008F3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Evaluating Classifier Accuracy: Cross-Validation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767D-FF79-003C-5571-9403E3309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Cross-validation:</a:t>
            </a:r>
          </a:p>
          <a:p>
            <a:r>
              <a:rPr lang="en-US" dirty="0"/>
              <a:t>Also know as </a:t>
            </a:r>
            <a:r>
              <a:rPr lang="en-US" dirty="0">
                <a:solidFill>
                  <a:srgbClr val="C00000"/>
                </a:solidFill>
              </a:rPr>
              <a:t>k fold</a:t>
            </a:r>
            <a:r>
              <a:rPr lang="en-US" dirty="0"/>
              <a:t>, where </a:t>
            </a:r>
            <a:r>
              <a:rPr lang="en-US" dirty="0">
                <a:solidFill>
                  <a:srgbClr val="C00000"/>
                </a:solidFill>
              </a:rPr>
              <a:t>k is 10 recommend</a:t>
            </a:r>
            <a:r>
              <a:rPr lang="en-US" dirty="0"/>
              <a:t>.</a:t>
            </a:r>
          </a:p>
          <a:p>
            <a:r>
              <a:rPr lang="en-US" dirty="0"/>
              <a:t>Randomly partition the data </a:t>
            </a:r>
            <a:r>
              <a:rPr lang="en-US" dirty="0">
                <a:solidFill>
                  <a:srgbClr val="C00000"/>
                </a:solidFill>
              </a:rPr>
              <a:t>into k mutually exclusive subsets</a:t>
            </a:r>
            <a:r>
              <a:rPr lang="en-US" dirty="0"/>
              <a:t>, each approximately </a:t>
            </a:r>
            <a:r>
              <a:rPr lang="en-US" dirty="0">
                <a:solidFill>
                  <a:srgbClr val="C00000"/>
                </a:solidFill>
              </a:rPr>
              <a:t>equal size</a:t>
            </a:r>
          </a:p>
          <a:p>
            <a:r>
              <a:rPr lang="en-US" dirty="0">
                <a:solidFill>
                  <a:srgbClr val="C00000"/>
                </a:solidFill>
              </a:rPr>
              <a:t>Training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testing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performed k times</a:t>
            </a:r>
            <a:r>
              <a:rPr lang="en-US" dirty="0"/>
              <a:t>. </a:t>
            </a:r>
          </a:p>
          <a:p>
            <a:r>
              <a:rPr lang="en-US" dirty="0"/>
              <a:t>At </a:t>
            </a:r>
            <a:r>
              <a:rPr lang="en-US" dirty="0" err="1">
                <a:solidFill>
                  <a:srgbClr val="C00000"/>
                </a:solidFill>
              </a:rPr>
              <a:t>i-th</a:t>
            </a:r>
            <a:r>
              <a:rPr lang="en-US" dirty="0">
                <a:solidFill>
                  <a:srgbClr val="C00000"/>
                </a:solidFill>
              </a:rPr>
              <a:t> iteration</a:t>
            </a:r>
            <a:r>
              <a:rPr lang="en-US" dirty="0"/>
              <a:t>, use </a:t>
            </a:r>
            <a:r>
              <a:rPr lang="en-US" dirty="0">
                <a:solidFill>
                  <a:srgbClr val="C00000"/>
                </a:solidFill>
              </a:rPr>
              <a:t>Di as test set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others as training set</a:t>
            </a:r>
          </a:p>
          <a:p>
            <a:r>
              <a:rPr lang="en-US" dirty="0"/>
              <a:t>That is, in the </a:t>
            </a:r>
            <a:r>
              <a:rPr lang="en-US" dirty="0">
                <a:solidFill>
                  <a:srgbClr val="C00000"/>
                </a:solidFill>
              </a:rPr>
              <a:t>first iteration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subsets D2,..., Dk </a:t>
            </a:r>
            <a:r>
              <a:rPr lang="en-US" dirty="0"/>
              <a:t>collectively serve as the </a:t>
            </a:r>
            <a:r>
              <a:rPr lang="en-US" dirty="0">
                <a:solidFill>
                  <a:srgbClr val="C00000"/>
                </a:solidFill>
              </a:rPr>
              <a:t>training</a:t>
            </a:r>
            <a:r>
              <a:rPr lang="en-US" dirty="0"/>
              <a:t> set to obtain a </a:t>
            </a:r>
            <a:r>
              <a:rPr lang="en-US" dirty="0">
                <a:solidFill>
                  <a:srgbClr val="C00000"/>
                </a:solidFill>
              </a:rPr>
              <a:t>first model</a:t>
            </a:r>
            <a:r>
              <a:rPr lang="en-US" dirty="0"/>
              <a:t>, which is </a:t>
            </a:r>
            <a:r>
              <a:rPr lang="en-US" dirty="0">
                <a:solidFill>
                  <a:srgbClr val="C00000"/>
                </a:solidFill>
              </a:rPr>
              <a:t>tested on D1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196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ED28-75A1-619E-FFF0-8D4DB3E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Classifier Accuracy: Cross-Validation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E0892-D3AE-3E03-55B7-AC08D489940A}"/>
              </a:ext>
            </a:extLst>
          </p:cNvPr>
          <p:cNvSpPr/>
          <p:nvPr/>
        </p:nvSpPr>
        <p:spPr>
          <a:xfrm>
            <a:off x="1270660" y="1163783"/>
            <a:ext cx="1025435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2CD01-C46E-A043-5F8C-347719932952}"/>
              </a:ext>
            </a:extLst>
          </p:cNvPr>
          <p:cNvSpPr txBox="1"/>
          <p:nvPr/>
        </p:nvSpPr>
        <p:spPr>
          <a:xfrm>
            <a:off x="357933" y="794451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1DDA2-2878-208A-FEFA-83E75EC00C62}"/>
              </a:ext>
            </a:extLst>
          </p:cNvPr>
          <p:cNvSpPr txBox="1"/>
          <p:nvPr/>
        </p:nvSpPr>
        <p:spPr>
          <a:xfrm>
            <a:off x="382297" y="1764085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 =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92561-955D-484B-D245-52D220E52C76}"/>
              </a:ext>
            </a:extLst>
          </p:cNvPr>
          <p:cNvSpPr/>
          <p:nvPr/>
        </p:nvSpPr>
        <p:spPr>
          <a:xfrm>
            <a:off x="1270660" y="2306207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E1F18-8FBF-67D2-7FB5-08D4FC4A70C1}"/>
              </a:ext>
            </a:extLst>
          </p:cNvPr>
          <p:cNvSpPr/>
          <p:nvPr/>
        </p:nvSpPr>
        <p:spPr>
          <a:xfrm>
            <a:off x="2313710" y="2306207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B66A0-3909-F252-D385-334DFF8B0E10}"/>
              </a:ext>
            </a:extLst>
          </p:cNvPr>
          <p:cNvSpPr/>
          <p:nvPr/>
        </p:nvSpPr>
        <p:spPr>
          <a:xfrm>
            <a:off x="3356760" y="2306207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23D171-DCAC-639A-7D7B-24CB76E4F777}"/>
              </a:ext>
            </a:extLst>
          </p:cNvPr>
          <p:cNvSpPr/>
          <p:nvPr/>
        </p:nvSpPr>
        <p:spPr>
          <a:xfrm>
            <a:off x="4399810" y="2306207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EAE51F-229C-776A-1538-5D0E27730732}"/>
              </a:ext>
            </a:extLst>
          </p:cNvPr>
          <p:cNvSpPr/>
          <p:nvPr/>
        </p:nvSpPr>
        <p:spPr>
          <a:xfrm>
            <a:off x="5442860" y="2306207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5E6769-990C-E396-D33E-6ED715697BB5}"/>
              </a:ext>
            </a:extLst>
          </p:cNvPr>
          <p:cNvSpPr/>
          <p:nvPr/>
        </p:nvSpPr>
        <p:spPr>
          <a:xfrm>
            <a:off x="6485910" y="2302664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E39D9F-DADD-B1AB-C742-9AF8F2E5FF3D}"/>
              </a:ext>
            </a:extLst>
          </p:cNvPr>
          <p:cNvSpPr/>
          <p:nvPr/>
        </p:nvSpPr>
        <p:spPr>
          <a:xfrm>
            <a:off x="7528960" y="2302664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1BBE3-07CD-1B63-A149-13E85384A097}"/>
              </a:ext>
            </a:extLst>
          </p:cNvPr>
          <p:cNvSpPr/>
          <p:nvPr/>
        </p:nvSpPr>
        <p:spPr>
          <a:xfrm>
            <a:off x="8572010" y="2302664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2018B8-F7FF-F473-0EB7-6EF58F9DA841}"/>
              </a:ext>
            </a:extLst>
          </p:cNvPr>
          <p:cNvSpPr/>
          <p:nvPr/>
        </p:nvSpPr>
        <p:spPr>
          <a:xfrm>
            <a:off x="9615060" y="2302664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F4FF99-03D7-5DDE-6C3C-2025F9BD6F53}"/>
              </a:ext>
            </a:extLst>
          </p:cNvPr>
          <p:cNvSpPr/>
          <p:nvPr/>
        </p:nvSpPr>
        <p:spPr>
          <a:xfrm>
            <a:off x="10658110" y="2302664"/>
            <a:ext cx="866900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AF57F4-CB28-1456-E6C9-CF2C539A33CC}"/>
              </a:ext>
            </a:extLst>
          </p:cNvPr>
          <p:cNvSpPr txBox="1"/>
          <p:nvPr/>
        </p:nvSpPr>
        <p:spPr>
          <a:xfrm>
            <a:off x="283393" y="3059668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Iteration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3C35F7-68DC-D245-8077-9589FB2B55C5}"/>
              </a:ext>
            </a:extLst>
          </p:cNvPr>
          <p:cNvSpPr/>
          <p:nvPr/>
        </p:nvSpPr>
        <p:spPr>
          <a:xfrm>
            <a:off x="1270660" y="3498526"/>
            <a:ext cx="866900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566AA9-DBA1-8323-3E43-C95E9A42D57D}"/>
              </a:ext>
            </a:extLst>
          </p:cNvPr>
          <p:cNvSpPr/>
          <p:nvPr/>
        </p:nvSpPr>
        <p:spPr>
          <a:xfrm>
            <a:off x="2313710" y="349852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038A8E-CD69-1ADC-A9C4-09A2B9F5470D}"/>
              </a:ext>
            </a:extLst>
          </p:cNvPr>
          <p:cNvSpPr/>
          <p:nvPr/>
        </p:nvSpPr>
        <p:spPr>
          <a:xfrm>
            <a:off x="3356760" y="349852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538582-ED4E-758F-323B-11CB766979E8}"/>
              </a:ext>
            </a:extLst>
          </p:cNvPr>
          <p:cNvSpPr/>
          <p:nvPr/>
        </p:nvSpPr>
        <p:spPr>
          <a:xfrm>
            <a:off x="4399810" y="349852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2BFD07-5C0B-96C8-CD47-3A4D08BF1F53}"/>
              </a:ext>
            </a:extLst>
          </p:cNvPr>
          <p:cNvSpPr/>
          <p:nvPr/>
        </p:nvSpPr>
        <p:spPr>
          <a:xfrm>
            <a:off x="5442860" y="349852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D404EF-4CA2-62D8-3B57-C5833E933712}"/>
              </a:ext>
            </a:extLst>
          </p:cNvPr>
          <p:cNvSpPr/>
          <p:nvPr/>
        </p:nvSpPr>
        <p:spPr>
          <a:xfrm>
            <a:off x="6485910" y="3494983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2C438C-F809-1A08-3000-7844D60692D8}"/>
              </a:ext>
            </a:extLst>
          </p:cNvPr>
          <p:cNvSpPr/>
          <p:nvPr/>
        </p:nvSpPr>
        <p:spPr>
          <a:xfrm>
            <a:off x="7528960" y="3494983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28C9B9-C86E-BB97-7A87-F0B667A4762E}"/>
              </a:ext>
            </a:extLst>
          </p:cNvPr>
          <p:cNvSpPr/>
          <p:nvPr/>
        </p:nvSpPr>
        <p:spPr>
          <a:xfrm>
            <a:off x="8572010" y="3494983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4582D3-CB38-0C20-745E-05D9E0A6521D}"/>
              </a:ext>
            </a:extLst>
          </p:cNvPr>
          <p:cNvSpPr/>
          <p:nvPr/>
        </p:nvSpPr>
        <p:spPr>
          <a:xfrm>
            <a:off x="9615060" y="3494983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48A3C6-B0C0-9244-37A9-4F2B6914DB04}"/>
              </a:ext>
            </a:extLst>
          </p:cNvPr>
          <p:cNvSpPr/>
          <p:nvPr/>
        </p:nvSpPr>
        <p:spPr>
          <a:xfrm>
            <a:off x="10658110" y="3494983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1B7FF3-32DF-11EF-495F-FCF0D9217EFF}"/>
              </a:ext>
            </a:extLst>
          </p:cNvPr>
          <p:cNvSpPr txBox="1"/>
          <p:nvPr/>
        </p:nvSpPr>
        <p:spPr>
          <a:xfrm>
            <a:off x="511820" y="354128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9D816DC-826C-4B6F-8434-B302F4B106CF}"/>
              </a:ext>
            </a:extLst>
          </p:cNvPr>
          <p:cNvSpPr/>
          <p:nvPr/>
        </p:nvSpPr>
        <p:spPr>
          <a:xfrm>
            <a:off x="1270660" y="4287185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9A7F6E-6C42-D33F-E630-7B13CD1209E1}"/>
              </a:ext>
            </a:extLst>
          </p:cNvPr>
          <p:cNvSpPr/>
          <p:nvPr/>
        </p:nvSpPr>
        <p:spPr>
          <a:xfrm>
            <a:off x="2313710" y="4287185"/>
            <a:ext cx="866900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Test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FA545C-28E3-3667-CC64-F1F32FEF890E}"/>
              </a:ext>
            </a:extLst>
          </p:cNvPr>
          <p:cNvSpPr/>
          <p:nvPr/>
        </p:nvSpPr>
        <p:spPr>
          <a:xfrm>
            <a:off x="3356760" y="4287185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E976FB-F42C-FADB-EB5B-2CB1F0970B9D}"/>
              </a:ext>
            </a:extLst>
          </p:cNvPr>
          <p:cNvSpPr/>
          <p:nvPr/>
        </p:nvSpPr>
        <p:spPr>
          <a:xfrm>
            <a:off x="4399810" y="4287185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02A0CC-95C4-8B18-9F98-36425245863A}"/>
              </a:ext>
            </a:extLst>
          </p:cNvPr>
          <p:cNvSpPr/>
          <p:nvPr/>
        </p:nvSpPr>
        <p:spPr>
          <a:xfrm>
            <a:off x="5442860" y="4287185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15445E-28F3-E767-BE82-E4CA8C39AD8B}"/>
              </a:ext>
            </a:extLst>
          </p:cNvPr>
          <p:cNvSpPr/>
          <p:nvPr/>
        </p:nvSpPr>
        <p:spPr>
          <a:xfrm>
            <a:off x="6485910" y="4283642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E68594-F4D9-EAB2-CAFE-FC122096AA64}"/>
              </a:ext>
            </a:extLst>
          </p:cNvPr>
          <p:cNvSpPr/>
          <p:nvPr/>
        </p:nvSpPr>
        <p:spPr>
          <a:xfrm>
            <a:off x="7528960" y="4283642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3B7A11-1E07-6403-F8DD-1F929E676AA3}"/>
              </a:ext>
            </a:extLst>
          </p:cNvPr>
          <p:cNvSpPr/>
          <p:nvPr/>
        </p:nvSpPr>
        <p:spPr>
          <a:xfrm>
            <a:off x="8572010" y="4283642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28E56F-89AF-C643-A682-AAC2CF17CFB5}"/>
              </a:ext>
            </a:extLst>
          </p:cNvPr>
          <p:cNvSpPr/>
          <p:nvPr/>
        </p:nvSpPr>
        <p:spPr>
          <a:xfrm>
            <a:off x="9615060" y="4283642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94CF24-5323-54C8-2BDB-BD694DF8ACA3}"/>
              </a:ext>
            </a:extLst>
          </p:cNvPr>
          <p:cNvSpPr/>
          <p:nvPr/>
        </p:nvSpPr>
        <p:spPr>
          <a:xfrm>
            <a:off x="10658110" y="4283642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A45312-A283-74AE-2F1E-51A1B79C97BD}"/>
              </a:ext>
            </a:extLst>
          </p:cNvPr>
          <p:cNvSpPr txBox="1"/>
          <p:nvPr/>
        </p:nvSpPr>
        <p:spPr>
          <a:xfrm>
            <a:off x="511820" y="432994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B7F49F-C7C1-4CC9-7CF8-7C384D383FF4}"/>
              </a:ext>
            </a:extLst>
          </p:cNvPr>
          <p:cNvSpPr/>
          <p:nvPr/>
        </p:nvSpPr>
        <p:spPr>
          <a:xfrm>
            <a:off x="1281795" y="5362239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D90DEE-EC25-350A-52F3-7E31CBDFDABD}"/>
              </a:ext>
            </a:extLst>
          </p:cNvPr>
          <p:cNvSpPr/>
          <p:nvPr/>
        </p:nvSpPr>
        <p:spPr>
          <a:xfrm>
            <a:off x="2324845" y="5362239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1F794B-E5B0-CE56-05C8-A774630D55C4}"/>
              </a:ext>
            </a:extLst>
          </p:cNvPr>
          <p:cNvSpPr/>
          <p:nvPr/>
        </p:nvSpPr>
        <p:spPr>
          <a:xfrm>
            <a:off x="3367895" y="5362239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468DC3-BFFE-2F81-7386-00C205B504C9}"/>
              </a:ext>
            </a:extLst>
          </p:cNvPr>
          <p:cNvSpPr/>
          <p:nvPr/>
        </p:nvSpPr>
        <p:spPr>
          <a:xfrm>
            <a:off x="4410945" y="5362239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2DE0CB-5BBA-D7B5-3028-2F30EEE099A7}"/>
              </a:ext>
            </a:extLst>
          </p:cNvPr>
          <p:cNvSpPr/>
          <p:nvPr/>
        </p:nvSpPr>
        <p:spPr>
          <a:xfrm>
            <a:off x="5453995" y="5362239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88459CB-DD7D-EA1C-A916-E1F449D321F8}"/>
              </a:ext>
            </a:extLst>
          </p:cNvPr>
          <p:cNvSpPr/>
          <p:nvPr/>
        </p:nvSpPr>
        <p:spPr>
          <a:xfrm>
            <a:off x="6497045" y="535869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7B5FC01-D9A8-833C-AE20-505274DAA564}"/>
              </a:ext>
            </a:extLst>
          </p:cNvPr>
          <p:cNvSpPr/>
          <p:nvPr/>
        </p:nvSpPr>
        <p:spPr>
          <a:xfrm>
            <a:off x="7540095" y="535869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4E3732-7654-BB0E-70CA-51C373C6E1AA}"/>
              </a:ext>
            </a:extLst>
          </p:cNvPr>
          <p:cNvSpPr/>
          <p:nvPr/>
        </p:nvSpPr>
        <p:spPr>
          <a:xfrm>
            <a:off x="8583145" y="535869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C76C29-577E-96CC-2BC5-E28AA2696538}"/>
              </a:ext>
            </a:extLst>
          </p:cNvPr>
          <p:cNvSpPr/>
          <p:nvPr/>
        </p:nvSpPr>
        <p:spPr>
          <a:xfrm>
            <a:off x="9626195" y="5358696"/>
            <a:ext cx="866900" cy="4156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372709-23E5-3EC2-F29E-087D204CBDFA}"/>
              </a:ext>
            </a:extLst>
          </p:cNvPr>
          <p:cNvSpPr/>
          <p:nvPr/>
        </p:nvSpPr>
        <p:spPr>
          <a:xfrm>
            <a:off x="10669245" y="5358696"/>
            <a:ext cx="866900" cy="4156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Test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B10D5E-141A-F4C2-44BE-A610F070E678}"/>
              </a:ext>
            </a:extLst>
          </p:cNvPr>
          <p:cNvSpPr txBox="1"/>
          <p:nvPr/>
        </p:nvSpPr>
        <p:spPr>
          <a:xfrm>
            <a:off x="475454" y="54050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34D2AF-C839-071A-A6E0-6017E75E1273}"/>
              </a:ext>
            </a:extLst>
          </p:cNvPr>
          <p:cNvSpPr txBox="1"/>
          <p:nvPr/>
        </p:nvSpPr>
        <p:spPr>
          <a:xfrm>
            <a:off x="6040298" y="4847864"/>
            <a:ext cx="354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…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7C24E9-9584-9002-3FCB-30FEBC878125}"/>
              </a:ext>
            </a:extLst>
          </p:cNvPr>
          <p:cNvSpPr txBox="1"/>
          <p:nvPr/>
        </p:nvSpPr>
        <p:spPr>
          <a:xfrm>
            <a:off x="1234294" y="3059668"/>
            <a:ext cx="3998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Training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testing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performed k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3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5" grpId="0"/>
      <p:bldP spid="6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FB1B-CD0B-F2CA-0B5B-F8BF4C1C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Classifier Accuracy: Cross-Validation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4B0BB-6234-E7E6-CFE2-9E110916BE2D}"/>
              </a:ext>
            </a:extLst>
          </p:cNvPr>
          <p:cNvSpPr/>
          <p:nvPr/>
        </p:nvSpPr>
        <p:spPr>
          <a:xfrm>
            <a:off x="715063" y="1122101"/>
            <a:ext cx="7062981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KFold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sklearn.datasets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sklearn.tree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DecisionTreeClassifier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 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data.data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data.target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KFold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n_splits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shuffle=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DecisionTreeClassifier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kf.split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"Fold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{fold}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X[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X[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y[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y[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test_index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"Accuracy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{accuracy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:.2f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}\n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 +=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DEA6C-A9F4-3E1E-6DED-E20603BBB521}"/>
              </a:ext>
            </a:extLst>
          </p:cNvPr>
          <p:cNvSpPr/>
          <p:nvPr/>
        </p:nvSpPr>
        <p:spPr>
          <a:xfrm>
            <a:off x="215071" y="1122101"/>
            <a:ext cx="499993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6A071BED-4877-29A8-225B-7777E4D2A6E3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Kfold.py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7A211C-D1F8-3D2F-EAE5-4D96D8E27CF0}"/>
              </a:ext>
            </a:extLst>
          </p:cNvPr>
          <p:cNvSpPr/>
          <p:nvPr/>
        </p:nvSpPr>
        <p:spPr>
          <a:xfrm>
            <a:off x="8018547" y="1286693"/>
            <a:ext cx="313487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 1: Accuracy: 0.96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 2: Accuracy: 0.92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 3: Accuracy: 0.92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CC49FF0-6A4D-F132-4212-B3B85D9275F4}"/>
              </a:ext>
            </a:extLst>
          </p:cNvPr>
          <p:cNvSpPr/>
          <p:nvPr/>
        </p:nvSpPr>
        <p:spPr>
          <a:xfrm>
            <a:off x="8018547" y="957509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63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2C51-5CE7-9DF3-8BF7-41859552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Evaluating Classifier Accuracy: </a:t>
            </a:r>
            <a:r>
              <a:rPr lang="en-US" altLang="en-US" dirty="0">
                <a:latin typeface="+mn-lt"/>
                <a:ea typeface="ＭＳ Ｐゴシック" panose="020B0600070205080204" pitchFamily="34" charset="-128"/>
              </a:rPr>
              <a:t>Bootstrap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6073A-7431-3DED-D0D7-16A8A6F1A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Bootstrap:</a:t>
            </a:r>
          </a:p>
          <a:p>
            <a:r>
              <a:rPr lang="en-US" dirty="0"/>
              <a:t>The bootstrap method </a:t>
            </a:r>
            <a:r>
              <a:rPr lang="en-US" dirty="0">
                <a:solidFill>
                  <a:srgbClr val="C00000"/>
                </a:solidFill>
              </a:rPr>
              <a:t>samples the given training tuples </a:t>
            </a:r>
            <a:r>
              <a:rPr lang="en-US" dirty="0"/>
              <a:t>uniformly </a:t>
            </a:r>
            <a:r>
              <a:rPr lang="en-US" dirty="0">
                <a:solidFill>
                  <a:srgbClr val="C00000"/>
                </a:solidFill>
              </a:rPr>
              <a:t>with replacement</a:t>
            </a:r>
            <a:r>
              <a:rPr lang="en-US" dirty="0"/>
              <a:t>.</a:t>
            </a:r>
          </a:p>
          <a:p>
            <a:r>
              <a:rPr lang="en-US" dirty="0"/>
              <a:t>That is, each time a </a:t>
            </a:r>
            <a:r>
              <a:rPr lang="en-US" dirty="0">
                <a:solidFill>
                  <a:srgbClr val="C00000"/>
                </a:solidFill>
              </a:rPr>
              <a:t>tuple is selected</a:t>
            </a:r>
            <a:r>
              <a:rPr lang="en-US" dirty="0"/>
              <a:t>, it is equally likely to be </a:t>
            </a:r>
            <a:r>
              <a:rPr lang="en-US" dirty="0">
                <a:solidFill>
                  <a:srgbClr val="C00000"/>
                </a:solidFill>
              </a:rPr>
              <a:t>selected again and re-added to the training set. </a:t>
            </a:r>
          </a:p>
          <a:p>
            <a:r>
              <a:rPr lang="en-US" dirty="0"/>
              <a:t>There are several bootstrap methods. A commonly used one is the .632 bootstrap, which works as follows </a:t>
            </a:r>
          </a:p>
          <a:p>
            <a:pPr lvl="1"/>
            <a:r>
              <a:rPr lang="en-US" dirty="0"/>
              <a:t>A data set with d tuples is sampled d times, with replacement, resulting in a training set of d samples.</a:t>
            </a:r>
          </a:p>
          <a:p>
            <a:pPr lvl="1"/>
            <a:r>
              <a:rPr lang="en-US" dirty="0"/>
              <a:t>The data tuples that did not make it into the training set end up forming the test set.</a:t>
            </a:r>
          </a:p>
          <a:p>
            <a:pPr lvl="1"/>
            <a:r>
              <a:rPr lang="en-US" dirty="0"/>
              <a:t>About 63.2% of the original data end up in the bootstrap, and the remaining 36.8% form the test set (since (1 – 1/d)d ≈ e-1 = 0.368)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87CC-0A33-BAEB-DBED-C2146D13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Classifiers Based on ROC Curves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6AFF-DD97-9A5A-AB26-4786CD93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340421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Receiver operating characteristic </a:t>
            </a:r>
            <a:r>
              <a:rPr lang="en-US" dirty="0"/>
              <a:t>curves are a useful visual tool for </a:t>
            </a:r>
            <a:r>
              <a:rPr lang="en-US" dirty="0">
                <a:solidFill>
                  <a:srgbClr val="C00000"/>
                </a:solidFill>
              </a:rPr>
              <a:t>comparing two classification models.</a:t>
            </a:r>
          </a:p>
          <a:p>
            <a:r>
              <a:rPr lang="en-US" dirty="0">
                <a:solidFill>
                  <a:srgbClr val="C00000"/>
                </a:solidFill>
              </a:rPr>
              <a:t>ROC</a:t>
            </a:r>
            <a:r>
              <a:rPr lang="en-US" dirty="0"/>
              <a:t> curves come from </a:t>
            </a:r>
            <a:r>
              <a:rPr lang="en-US" dirty="0">
                <a:solidFill>
                  <a:srgbClr val="C00000"/>
                </a:solidFill>
              </a:rPr>
              <a:t>signal detection theory </a:t>
            </a:r>
            <a:r>
              <a:rPr lang="en-US" dirty="0"/>
              <a:t>that was developed during </a:t>
            </a:r>
            <a:r>
              <a:rPr lang="en-US" dirty="0">
                <a:solidFill>
                  <a:srgbClr val="C00000"/>
                </a:solidFill>
              </a:rPr>
              <a:t>World War II </a:t>
            </a:r>
            <a:r>
              <a:rPr lang="en-US" dirty="0"/>
              <a:t>for the analysis of </a:t>
            </a:r>
            <a:r>
              <a:rPr lang="en-US" dirty="0">
                <a:solidFill>
                  <a:srgbClr val="C00000"/>
                </a:solidFill>
              </a:rPr>
              <a:t>radar images</a:t>
            </a:r>
            <a:r>
              <a:rPr lang="en-US" dirty="0"/>
              <a:t>.</a:t>
            </a:r>
          </a:p>
          <a:p>
            <a:r>
              <a:rPr lang="en-US" dirty="0"/>
              <a:t>An ROC curve for a given model shows the </a:t>
            </a:r>
            <a:r>
              <a:rPr lang="en-US" dirty="0">
                <a:solidFill>
                  <a:srgbClr val="C00000"/>
                </a:solidFill>
              </a:rPr>
              <a:t>trade-off between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true positive rate (TPR)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false positive rate (FPR).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area under the ROC </a:t>
            </a:r>
            <a:r>
              <a:rPr lang="en-US" dirty="0"/>
              <a:t>curve </a:t>
            </a:r>
            <a:r>
              <a:rPr lang="en-US" dirty="0">
                <a:solidFill>
                  <a:srgbClr val="C00000"/>
                </a:solidFill>
              </a:rPr>
              <a:t>is a measure of the accuracy </a:t>
            </a:r>
            <a:r>
              <a:rPr lang="en-US" dirty="0"/>
              <a:t>of the model.</a:t>
            </a:r>
          </a:p>
          <a:p>
            <a:r>
              <a:rPr lang="en-US" dirty="0"/>
              <a:t>Any increase in </a:t>
            </a:r>
            <a:r>
              <a:rPr lang="en-US" dirty="0">
                <a:solidFill>
                  <a:srgbClr val="C00000"/>
                </a:solidFill>
              </a:rPr>
              <a:t>TPR occurs at the cost of an increase in FPR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3479BD-6318-8DD5-E8F3-7F4B1E8638E3}"/>
                  </a:ext>
                </a:extLst>
              </p:cNvPr>
              <p:cNvSpPr txBox="1"/>
              <p:nvPr/>
            </p:nvSpPr>
            <p:spPr>
              <a:xfrm>
                <a:off x="617517" y="4588910"/>
                <a:ext cx="10555960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Sensitivity</a:t>
                </a:r>
                <a:r>
                  <a:rPr lang="en-US" sz="2400" dirty="0"/>
                  <a:t> (the proportion of positive tuples that are correctly identified)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(TPR)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3479BD-6318-8DD5-E8F3-7F4B1E863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7" y="4588910"/>
                <a:ext cx="10555960" cy="614848"/>
              </a:xfrm>
              <a:prstGeom prst="rect">
                <a:avLst/>
              </a:prstGeom>
              <a:blipFill>
                <a:blip r:embed="rId2"/>
                <a:stretch>
                  <a:fillRect l="-8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8F63BD-CBD6-0B33-79FC-29FDDEE158F1}"/>
                  </a:ext>
                </a:extLst>
              </p:cNvPr>
              <p:cNvSpPr txBox="1"/>
              <p:nvPr/>
            </p:nvSpPr>
            <p:spPr>
              <a:xfrm>
                <a:off x="617518" y="5205617"/>
                <a:ext cx="10555960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specificity</a:t>
                </a:r>
                <a:r>
                  <a:rPr lang="en-US" sz="2400" dirty="0"/>
                  <a:t> (the proportion of negative tuples that are correctly identified )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(FPR)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8F63BD-CBD6-0B33-79FC-29FDDEE15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8" y="5205617"/>
                <a:ext cx="10555960" cy="614848"/>
              </a:xfrm>
              <a:prstGeom prst="rect">
                <a:avLst/>
              </a:prstGeom>
              <a:blipFill>
                <a:blip r:embed="rId3"/>
                <a:stretch>
                  <a:fillRect l="-84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76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A366-78CC-4BC2-4AF6-55FFE0A6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Classifiers Based on ROC Curves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C61370-D477-FD8C-53A3-A35D62E8DCB2}"/>
              </a:ext>
            </a:extLst>
          </p:cNvPr>
          <p:cNvGraphicFramePr>
            <a:graphicFrameLocks/>
          </p:cNvGraphicFramePr>
          <p:nvPr/>
        </p:nvGraphicFramePr>
        <p:xfrm>
          <a:off x="0" y="711201"/>
          <a:ext cx="4572000" cy="4177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A005C32-35B5-D95B-8DB7-3926081E802B}"/>
              </a:ext>
            </a:extLst>
          </p:cNvPr>
          <p:cNvGraphicFramePr>
            <a:graphicFrameLocks noGrp="1"/>
          </p:cNvGraphicFramePr>
          <p:nvPr/>
        </p:nvGraphicFramePr>
        <p:xfrm>
          <a:off x="5189928" y="1005113"/>
          <a:ext cx="6804147" cy="36143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72021">
                  <a:extLst>
                    <a:ext uri="{9D8B030D-6E8A-4147-A177-3AD203B41FA5}">
                      <a16:colId xmlns:a16="http://schemas.microsoft.com/office/drawing/2014/main" val="770555108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3663046443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672416850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3029010280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3277148220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622973335"/>
                    </a:ext>
                  </a:extLst>
                </a:gridCol>
                <a:gridCol w="972021">
                  <a:extLst>
                    <a:ext uri="{9D8B030D-6E8A-4147-A177-3AD203B41FA5}">
                      <a16:colId xmlns:a16="http://schemas.microsoft.com/office/drawing/2014/main" val="408907326"/>
                    </a:ext>
                  </a:extLst>
                </a:gridCol>
              </a:tblGrid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Tuple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Class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Prob.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TP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FP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TPR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 dirty="0">
                          <a:effectLst/>
                        </a:rPr>
                        <a:t>FPR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912159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596537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0.80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143787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0.70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14323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0.60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440246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0.55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033514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0.54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4729369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597403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527224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0.50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1.0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0.8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997511"/>
                  </a:ext>
                </a:extLst>
              </a:tr>
              <a:tr h="32858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0.40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1.0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1.0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2455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D9221DE-7994-3208-23F4-B4ABEC0D0FE6}"/>
              </a:ext>
            </a:extLst>
          </p:cNvPr>
          <p:cNvSpPr txBox="1"/>
          <p:nvPr/>
        </p:nvSpPr>
        <p:spPr>
          <a:xfrm>
            <a:off x="285009" y="5109028"/>
            <a:ext cx="4572000" cy="1202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00000"/>
                </a:solidFill>
              </a:rPr>
              <a:t>Vertical axis </a:t>
            </a:r>
            <a:r>
              <a:rPr lang="en-US" altLang="en-US" dirty="0"/>
              <a:t>represents the </a:t>
            </a:r>
            <a:r>
              <a:rPr lang="en-US" altLang="en-US" dirty="0">
                <a:solidFill>
                  <a:srgbClr val="C00000"/>
                </a:solidFill>
              </a:rPr>
              <a:t>true positive rate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00000"/>
                </a:solidFill>
              </a:rPr>
              <a:t>Horizontal axis </a:t>
            </a:r>
            <a:r>
              <a:rPr lang="en-US" altLang="en-US" dirty="0"/>
              <a:t>represents the </a:t>
            </a:r>
            <a:r>
              <a:rPr lang="en-US" altLang="en-US" dirty="0">
                <a:solidFill>
                  <a:srgbClr val="C00000"/>
                </a:solidFill>
              </a:rPr>
              <a:t>false positive rate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 model with perfect </a:t>
            </a:r>
            <a:r>
              <a:rPr lang="en-US" altLang="en-US" dirty="0">
                <a:solidFill>
                  <a:srgbClr val="C00000"/>
                </a:solidFill>
              </a:rPr>
              <a:t>accuracy will have an area of 1.0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6567F-645C-DBE1-80FF-39DE9BA05FC6}"/>
                  </a:ext>
                </a:extLst>
              </p:cNvPr>
              <p:cNvSpPr txBox="1"/>
              <p:nvPr/>
            </p:nvSpPr>
            <p:spPr>
              <a:xfrm>
                <a:off x="8467107" y="4801604"/>
                <a:ext cx="2291937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(TPR)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6567F-645C-DBE1-80FF-39DE9BA05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107" y="4801604"/>
                <a:ext cx="2291937" cy="616194"/>
              </a:xfrm>
              <a:prstGeom prst="rect">
                <a:avLst/>
              </a:prstGeom>
              <a:blipFill>
                <a:blip r:embed="rId3"/>
                <a:stretch>
                  <a:fillRect l="-3846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7CAA70-2FAD-4278-8E86-0CD67C1F28DE}"/>
                  </a:ext>
                </a:extLst>
              </p:cNvPr>
              <p:cNvSpPr txBox="1"/>
              <p:nvPr/>
            </p:nvSpPr>
            <p:spPr>
              <a:xfrm>
                <a:off x="8592000" y="5417798"/>
                <a:ext cx="2072041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(FPR)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= 0.0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7CAA70-2FAD-4278-8E86-0CD67C1F2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000" y="5417798"/>
                <a:ext cx="2072041" cy="616964"/>
              </a:xfrm>
              <a:prstGeom prst="rect">
                <a:avLst/>
              </a:prstGeom>
              <a:blipFill>
                <a:blip r:embed="rId4"/>
                <a:stretch>
                  <a:fillRect l="-426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7C54C7-1209-1BA4-819B-29AE0753605C}"/>
              </a:ext>
            </a:extLst>
          </p:cNvPr>
          <p:cNvCxnSpPr>
            <a:cxnSpLocks/>
          </p:cNvCxnSpPr>
          <p:nvPr/>
        </p:nvCxnSpPr>
        <p:spPr>
          <a:xfrm flipV="1">
            <a:off x="6715496" y="4619504"/>
            <a:ext cx="730333" cy="33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7EDB08-F0EB-6354-B94B-49FC14D13F43}"/>
              </a:ext>
            </a:extLst>
          </p:cNvPr>
          <p:cNvCxnSpPr>
            <a:cxnSpLocks/>
          </p:cNvCxnSpPr>
          <p:nvPr/>
        </p:nvCxnSpPr>
        <p:spPr>
          <a:xfrm flipV="1">
            <a:off x="10230591" y="1520042"/>
            <a:ext cx="1062843" cy="3999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5119C54-CAC0-D69E-2485-5802027A0309}"/>
              </a:ext>
            </a:extLst>
          </p:cNvPr>
          <p:cNvCxnSpPr>
            <a:cxnSpLocks/>
          </p:cNvCxnSpPr>
          <p:nvPr/>
        </p:nvCxnSpPr>
        <p:spPr>
          <a:xfrm flipV="1">
            <a:off x="9765476" y="1674421"/>
            <a:ext cx="598713" cy="3279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8A3A66-1E2E-4E72-6FB6-4459C81072EC}"/>
              </a:ext>
            </a:extLst>
          </p:cNvPr>
          <p:cNvSpPr txBox="1"/>
          <p:nvPr/>
        </p:nvSpPr>
        <p:spPr>
          <a:xfrm>
            <a:off x="5103422" y="4954333"/>
            <a:ext cx="3117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Returned by a probabilistic classifier for each of the 10 tuples in a test set, sorted by decreasing probability order. </a:t>
            </a:r>
          </a:p>
        </p:txBody>
      </p:sp>
    </p:spTree>
    <p:extLst>
      <p:ext uri="{BB962C8B-B14F-4D97-AF65-F5344CB8AC3E}">
        <p14:creationId xmlns:p14="http://schemas.microsoft.com/office/powerpoint/2010/main" val="44770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14" grpId="0"/>
      <p:bldP spid="15" grpId="0"/>
      <p:bldP spid="16" grpId="0"/>
      <p:bldP spid="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FB1B-CD0B-F2CA-0B5B-F8BF4C1C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AUC Curve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4B0BB-6234-E7E6-CFE2-9E110916BE2D}"/>
              </a:ext>
            </a:extLst>
          </p:cNvPr>
          <p:cNvSpPr/>
          <p:nvPr/>
        </p:nvSpPr>
        <p:spPr>
          <a:xfrm>
            <a:off x="715063" y="1122101"/>
            <a:ext cx="7062981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np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roc_curve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RocCurveDisplay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auc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np.array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]]) </a:t>
            </a:r>
            <a:endParaRPr lang="en-IN" sz="16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np.array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model.predict_proba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(X)[:,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thresholds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roc_curve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roc_auc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RocCurveDisplay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tpr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roc_auc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roc_auc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estimator_name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).plot()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"Area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Under the Curve (AUC): 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{roc_auc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:.2f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DEA6C-A9F4-3E1E-6DED-E20603BBB521}"/>
              </a:ext>
            </a:extLst>
          </p:cNvPr>
          <p:cNvSpPr/>
          <p:nvPr/>
        </p:nvSpPr>
        <p:spPr>
          <a:xfrm>
            <a:off x="215071" y="1122101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6A071BED-4877-29A8-225B-7777E4D2A6E3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ROC.py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7A211C-D1F8-3D2F-EAE5-4D96D8E27CF0}"/>
              </a:ext>
            </a:extLst>
          </p:cNvPr>
          <p:cNvSpPr/>
          <p:nvPr/>
        </p:nvSpPr>
        <p:spPr>
          <a:xfrm>
            <a:off x="8018547" y="1286693"/>
            <a:ext cx="3823497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Under the Curve (AUC): 0.92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CC49FF0-6A4D-F132-4212-B3B85D9275F4}"/>
              </a:ext>
            </a:extLst>
          </p:cNvPr>
          <p:cNvSpPr/>
          <p:nvPr/>
        </p:nvSpPr>
        <p:spPr>
          <a:xfrm>
            <a:off x="8018547" y="957509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508130-5F42-283D-69ED-3B540FE83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01" y="1862185"/>
            <a:ext cx="4137928" cy="28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C4E6-C92D-647B-4353-1BF5446B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to Improve Classification Accuracy – Ensemble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B22E-0C05-1BBA-5C8A-61CCE3998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461999"/>
          </a:xfrm>
        </p:spPr>
        <p:txBody>
          <a:bodyPr/>
          <a:lstStyle/>
          <a:p>
            <a:r>
              <a:rPr lang="en-US" dirty="0"/>
              <a:t>We focus on </a:t>
            </a:r>
            <a:r>
              <a:rPr lang="en-US" dirty="0">
                <a:solidFill>
                  <a:srgbClr val="C00000"/>
                </a:solidFill>
              </a:rPr>
              <a:t>ensemble methods for improvement of classification accuracy</a:t>
            </a:r>
            <a:r>
              <a:rPr lang="en-US" dirty="0"/>
              <a:t>. </a:t>
            </a:r>
          </a:p>
          <a:p>
            <a:r>
              <a:rPr lang="en-US" dirty="0"/>
              <a:t>It involve </a:t>
            </a:r>
            <a:r>
              <a:rPr lang="en-US" dirty="0">
                <a:solidFill>
                  <a:srgbClr val="C00000"/>
                </a:solidFill>
              </a:rPr>
              <a:t>combining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predictions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multiple individual models </a:t>
            </a:r>
            <a:r>
              <a:rPr lang="en-US" dirty="0"/>
              <a:t>(classifiers) to improve the </a:t>
            </a:r>
            <a:r>
              <a:rPr lang="en-US" dirty="0">
                <a:solidFill>
                  <a:srgbClr val="C00000"/>
                </a:solidFill>
              </a:rPr>
              <a:t>overall performance.</a:t>
            </a:r>
            <a:r>
              <a:rPr lang="en-US" dirty="0"/>
              <a:t> </a:t>
            </a:r>
          </a:p>
          <a:p>
            <a:r>
              <a:rPr lang="en-US" dirty="0"/>
              <a:t>The individual </a:t>
            </a:r>
            <a:r>
              <a:rPr lang="en-US" dirty="0">
                <a:solidFill>
                  <a:srgbClr val="C00000"/>
                </a:solidFill>
              </a:rPr>
              <a:t>classifiers vote</a:t>
            </a:r>
            <a:r>
              <a:rPr lang="en-US" dirty="0"/>
              <a:t>, and a class label prediction is returned by the </a:t>
            </a:r>
            <a:r>
              <a:rPr lang="en-US" dirty="0">
                <a:solidFill>
                  <a:srgbClr val="C00000"/>
                </a:solidFill>
              </a:rPr>
              <a:t>ensemble based on the collection of votes. </a:t>
            </a:r>
          </a:p>
          <a:p>
            <a:r>
              <a:rPr lang="en-US" dirty="0"/>
              <a:t>Combine a series of k </a:t>
            </a:r>
            <a:r>
              <a:rPr lang="en-US" dirty="0">
                <a:solidFill>
                  <a:srgbClr val="C00000"/>
                </a:solidFill>
              </a:rPr>
              <a:t>learned models, M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, M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, …, M</a:t>
            </a:r>
            <a:r>
              <a:rPr lang="en-US" baseline="-25000" dirty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, with the aim of creating an improved model M*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DCB46B-CDB1-5A87-55BA-78EB0B9A3251}"/>
              </a:ext>
            </a:extLst>
          </p:cNvPr>
          <p:cNvGrpSpPr>
            <a:grpSpLocks/>
          </p:cNvGrpSpPr>
          <p:nvPr/>
        </p:nvGrpSpPr>
        <p:grpSpPr bwMode="auto">
          <a:xfrm>
            <a:off x="328376" y="4631829"/>
            <a:ext cx="1427728" cy="1295233"/>
            <a:chOff x="1283" y="1118"/>
            <a:chExt cx="1070" cy="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2AA3C1C-B08D-4589-FE30-2ECECB8BB19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053C80-C28D-831A-B6D7-8EA2536EF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88"/>
              <a:ext cx="934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+mn-lt"/>
                </a:rPr>
                <a:t>Data</a:t>
              </a:r>
            </a:p>
          </p:txBody>
        </p:sp>
      </p:grpSp>
      <p:sp>
        <p:nvSpPr>
          <p:cNvPr id="13" name="Rectangle 9">
            <a:extLst>
              <a:ext uri="{FF2B5EF4-FFF2-40B4-BE49-F238E27FC236}">
                <a16:creationId xmlns:a16="http://schemas.microsoft.com/office/drawing/2014/main" id="{6DE5B297-584A-A01D-3F4D-4A05F9DFC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983" y="4820525"/>
            <a:ext cx="1263166" cy="8316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Combine</a:t>
            </a:r>
          </a:p>
          <a:p>
            <a:pPr algn="ctr"/>
            <a:r>
              <a:rPr lang="en-US" alt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Vote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9919F5-3FD2-6507-0527-538EA28D4FB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756104" y="3559118"/>
            <a:ext cx="2006689" cy="172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D76A50-996E-3AF4-4B40-43DC766C8AB5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 flipV="1">
            <a:off x="1756104" y="4486771"/>
            <a:ext cx="2007515" cy="79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EA64FB-9991-E4FC-1020-49EA1FB5F7B9}"/>
              </a:ext>
            </a:extLst>
          </p:cNvPr>
          <p:cNvSpPr/>
          <p:nvPr/>
        </p:nvSpPr>
        <p:spPr>
          <a:xfrm>
            <a:off x="3763619" y="3332304"/>
            <a:ext cx="1134319" cy="48261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CA344F0-89C2-ADEF-8B22-51030A1F759F}"/>
              </a:ext>
            </a:extLst>
          </p:cNvPr>
          <p:cNvSpPr/>
          <p:nvPr/>
        </p:nvSpPr>
        <p:spPr>
          <a:xfrm>
            <a:off x="3763619" y="4245463"/>
            <a:ext cx="1134319" cy="48261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393EAB-D981-F5F8-FBD3-63C75142E90E}"/>
              </a:ext>
            </a:extLst>
          </p:cNvPr>
          <p:cNvCxnSpPr>
            <a:cxnSpLocks/>
            <a:stCxn id="5" idx="3"/>
            <a:endCxn id="27" idx="1"/>
          </p:cNvCxnSpPr>
          <p:nvPr/>
        </p:nvCxnSpPr>
        <p:spPr>
          <a:xfrm>
            <a:off x="1756104" y="5279446"/>
            <a:ext cx="2007514" cy="102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2C3823F-B49E-2A59-6FEE-CEDCB85466D7}"/>
              </a:ext>
            </a:extLst>
          </p:cNvPr>
          <p:cNvSpPr/>
          <p:nvPr/>
        </p:nvSpPr>
        <p:spPr>
          <a:xfrm>
            <a:off x="3763618" y="6067038"/>
            <a:ext cx="1134319" cy="48261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81B760-62F0-7B2F-839F-82CE03FBD48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897938" y="3576175"/>
            <a:ext cx="1812045" cy="1660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27D6B3-D420-3526-5D65-95F36E5207A1}"/>
              </a:ext>
            </a:extLst>
          </p:cNvPr>
          <p:cNvCxnSpPr>
            <a:cxnSpLocks/>
          </p:cNvCxnSpPr>
          <p:nvPr/>
        </p:nvCxnSpPr>
        <p:spPr>
          <a:xfrm>
            <a:off x="4897938" y="4508837"/>
            <a:ext cx="1716618" cy="727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61AF7D-7CAF-07B6-7C15-7F1D33C4277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897937" y="5236345"/>
            <a:ext cx="1812046" cy="1097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D62CB5-8907-A11D-A50D-0EDCEF2FDE43}"/>
              </a:ext>
            </a:extLst>
          </p:cNvPr>
          <p:cNvCxnSpPr>
            <a:cxnSpLocks/>
          </p:cNvCxnSpPr>
          <p:nvPr/>
        </p:nvCxnSpPr>
        <p:spPr>
          <a:xfrm>
            <a:off x="7973149" y="5279445"/>
            <a:ext cx="1573419" cy="2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00FB273-2C26-6DDA-BD71-6E9DE4BCA5E9}"/>
              </a:ext>
            </a:extLst>
          </p:cNvPr>
          <p:cNvSpPr txBox="1"/>
          <p:nvPr/>
        </p:nvSpPr>
        <p:spPr>
          <a:xfrm>
            <a:off x="4186346" y="5038616"/>
            <a:ext cx="2888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</a:t>
            </a:r>
          </a:p>
          <a:p>
            <a:r>
              <a:rPr lang="en-US" sz="2800" b="1" dirty="0"/>
              <a:t>.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94E1717-E2EB-168D-01D0-0440DB747750}"/>
              </a:ext>
            </a:extLst>
          </p:cNvPr>
          <p:cNvSpPr/>
          <p:nvPr/>
        </p:nvSpPr>
        <p:spPr>
          <a:xfrm>
            <a:off x="9546568" y="4753725"/>
            <a:ext cx="1812044" cy="103114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Predication 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A0B85A-E283-FB3C-7796-CC5B0FDF26A6}"/>
              </a:ext>
            </a:extLst>
          </p:cNvPr>
          <p:cNvSpPr/>
          <p:nvPr/>
        </p:nvSpPr>
        <p:spPr>
          <a:xfrm>
            <a:off x="6435544" y="3325444"/>
            <a:ext cx="1812044" cy="103114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Data </a:t>
            </a:r>
          </a:p>
          <a:p>
            <a:pPr algn="ctr"/>
            <a:r>
              <a:rPr lang="en-US" dirty="0"/>
              <a:t>Sample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1030E6-EDA7-8CEB-33A7-9E10E45E86E3}"/>
              </a:ext>
            </a:extLst>
          </p:cNvPr>
          <p:cNvCxnSpPr>
            <a:cxnSpLocks/>
            <a:stCxn id="45" idx="4"/>
            <a:endCxn id="13" idx="0"/>
          </p:cNvCxnSpPr>
          <p:nvPr/>
        </p:nvCxnSpPr>
        <p:spPr>
          <a:xfrm>
            <a:off x="7341566" y="4356593"/>
            <a:ext cx="0" cy="463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9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4" grpId="0" animBg="1"/>
      <p:bldP spid="27" grpId="0" animBg="1"/>
      <p:bldP spid="43" grpId="0"/>
      <p:bldP spid="44" grpId="0" animBg="1"/>
      <p:bldP spid="4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CD40-ECA3-F56F-2F43-BE3685E7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C8B49-2E3B-1F80-0198-4F2CD48A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Analogy</a:t>
            </a:r>
            <a:r>
              <a:rPr lang="en-US" dirty="0"/>
              <a:t>: Diagnosis based on multiple </a:t>
            </a:r>
            <a:r>
              <a:rPr lang="en-US" dirty="0">
                <a:solidFill>
                  <a:srgbClr val="C00000"/>
                </a:solidFill>
              </a:rPr>
              <a:t>doctors’ majority vote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Training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Given a set D of d tuples, at each iteration </a:t>
            </a:r>
            <a:r>
              <a:rPr lang="en-US" dirty="0" err="1"/>
              <a:t>i</a:t>
            </a:r>
            <a:r>
              <a:rPr lang="en-US" dirty="0"/>
              <a:t>, a training set D</a:t>
            </a:r>
            <a:r>
              <a:rPr lang="en-US" baseline="-25000" dirty="0"/>
              <a:t>i</a:t>
            </a:r>
            <a:r>
              <a:rPr lang="en-US" dirty="0"/>
              <a:t> of d tuples is sampled with </a:t>
            </a:r>
            <a:r>
              <a:rPr lang="en-US" dirty="0">
                <a:solidFill>
                  <a:srgbClr val="C00000"/>
                </a:solidFill>
              </a:rPr>
              <a:t>replacement from D (i.e., bootstrap)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classifier model M</a:t>
            </a:r>
            <a:r>
              <a:rPr lang="en-US" baseline="-25000" dirty="0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learned for each </a:t>
            </a:r>
            <a:r>
              <a:rPr lang="en-US" dirty="0">
                <a:solidFill>
                  <a:srgbClr val="C00000"/>
                </a:solidFill>
              </a:rPr>
              <a:t>training set D</a:t>
            </a:r>
            <a:r>
              <a:rPr lang="en-US" baseline="-25000" dirty="0">
                <a:solidFill>
                  <a:srgbClr val="C00000"/>
                </a:solidFill>
              </a:rPr>
              <a:t>i</a:t>
            </a:r>
          </a:p>
          <a:p>
            <a:r>
              <a:rPr lang="en-US" dirty="0">
                <a:solidFill>
                  <a:srgbClr val="C00000"/>
                </a:solidFill>
              </a:rPr>
              <a:t>Classification</a:t>
            </a:r>
            <a:r>
              <a:rPr lang="en-US" dirty="0"/>
              <a:t>: classify an unknown sample X </a:t>
            </a:r>
          </a:p>
          <a:p>
            <a:pPr lvl="1"/>
            <a:r>
              <a:rPr lang="en-US" dirty="0"/>
              <a:t>Each classifier M</a:t>
            </a:r>
            <a:r>
              <a:rPr lang="en-US" baseline="-25000" dirty="0"/>
              <a:t>i </a:t>
            </a:r>
            <a:r>
              <a:rPr lang="en-US" dirty="0"/>
              <a:t>returns its </a:t>
            </a:r>
            <a:r>
              <a:rPr lang="en-US" dirty="0">
                <a:solidFill>
                  <a:srgbClr val="C00000"/>
                </a:solidFill>
              </a:rPr>
              <a:t>class prediction</a:t>
            </a:r>
          </a:p>
          <a:p>
            <a:pPr lvl="1"/>
            <a:r>
              <a:rPr lang="en-US" dirty="0"/>
              <a:t>The bagged classifier M* counts the votes and assigns the class with the </a:t>
            </a:r>
            <a:r>
              <a:rPr lang="en-US" dirty="0">
                <a:solidFill>
                  <a:srgbClr val="C00000"/>
                </a:solidFill>
              </a:rPr>
              <a:t>most votes to X</a:t>
            </a:r>
          </a:p>
          <a:p>
            <a:r>
              <a:rPr lang="en-US" dirty="0">
                <a:solidFill>
                  <a:srgbClr val="C00000"/>
                </a:solidFill>
              </a:rPr>
              <a:t>Prediction</a:t>
            </a:r>
            <a:r>
              <a:rPr lang="en-US" dirty="0"/>
              <a:t> can be applied to the prediction of </a:t>
            </a:r>
            <a:r>
              <a:rPr lang="en-US" dirty="0">
                <a:solidFill>
                  <a:srgbClr val="C00000"/>
                </a:solidFill>
              </a:rPr>
              <a:t>continuous values </a:t>
            </a:r>
            <a:r>
              <a:rPr lang="en-US" dirty="0"/>
              <a:t>by taking the </a:t>
            </a:r>
            <a:r>
              <a:rPr lang="en-US" dirty="0">
                <a:solidFill>
                  <a:srgbClr val="C00000"/>
                </a:solidFill>
              </a:rPr>
              <a:t>average value </a:t>
            </a:r>
            <a:r>
              <a:rPr lang="en-US" dirty="0"/>
              <a:t>of each </a:t>
            </a:r>
            <a:r>
              <a:rPr lang="en-US" dirty="0">
                <a:solidFill>
                  <a:srgbClr val="C00000"/>
                </a:solidFill>
              </a:rPr>
              <a:t>prediction for a given test tuple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6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B4FA-9E13-200F-095B-F45D1D7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11C45-566A-22FC-195B-C85363CB7D4D}"/>
              </a:ext>
            </a:extLst>
          </p:cNvPr>
          <p:cNvSpPr txBox="1"/>
          <p:nvPr/>
        </p:nvSpPr>
        <p:spPr>
          <a:xfrm>
            <a:off x="74094" y="2960383"/>
            <a:ext cx="12043805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=1 to k do 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create k models: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create bootstrap sample, Di, by sampling D with replacement;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use Di and the learning scheme to derive a model, Mi;</a:t>
            </a:r>
          </a:p>
          <a:p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endfor</a:t>
            </a:r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EC892-F943-5F81-317C-96899FABA6E2}"/>
              </a:ext>
            </a:extLst>
          </p:cNvPr>
          <p:cNvSpPr txBox="1"/>
          <p:nvPr/>
        </p:nvSpPr>
        <p:spPr>
          <a:xfrm>
            <a:off x="74095" y="884409"/>
            <a:ext cx="12043805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Input: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D, a set of d training tuples;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k, the number of models in the ensemble;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a classification learning scheme (decision tree algorithm etc.)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49CDD-E96B-742A-D76E-1C06831E9B6E}"/>
              </a:ext>
            </a:extLst>
          </p:cNvPr>
          <p:cNvSpPr txBox="1"/>
          <p:nvPr/>
        </p:nvSpPr>
        <p:spPr>
          <a:xfrm>
            <a:off x="74095" y="2199395"/>
            <a:ext cx="12043805" cy="646331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ensemble composite model, M∗.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D4E8D-42C7-FE46-0FAC-92E566251A6F}"/>
              </a:ext>
            </a:extLst>
          </p:cNvPr>
          <p:cNvSpPr txBox="1"/>
          <p:nvPr/>
        </p:nvSpPr>
        <p:spPr>
          <a:xfrm>
            <a:off x="74094" y="4325325"/>
            <a:ext cx="6124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effectLst/>
              </a:rPr>
              <a:t>To use the ensemble to classify a tuple, </a:t>
            </a:r>
            <a:r>
              <a:rPr lang="en-IN" b="1" i="1" dirty="0">
                <a:solidFill>
                  <a:srgbClr val="000000"/>
                </a:solidFill>
                <a:effectLst/>
              </a:rPr>
              <a:t>X</a:t>
            </a:r>
            <a:r>
              <a:rPr lang="en-IN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IN" dirty="0">
                <a:solidFill>
                  <a:srgbClr val="000000"/>
                </a:solidFill>
                <a:effectLst/>
              </a:rPr>
              <a:t>let each of the </a:t>
            </a:r>
            <a:r>
              <a:rPr lang="en-IN" dirty="0">
                <a:solidFill>
                  <a:srgbClr val="C00000"/>
                </a:solidFill>
                <a:effectLst/>
              </a:rPr>
              <a:t>k models classify </a:t>
            </a:r>
            <a:r>
              <a:rPr lang="en-IN" b="1" i="1" dirty="0">
                <a:solidFill>
                  <a:srgbClr val="C00000"/>
                </a:solidFill>
                <a:effectLst/>
              </a:rPr>
              <a:t>X </a:t>
            </a:r>
            <a:r>
              <a:rPr lang="en-IN" dirty="0">
                <a:solidFill>
                  <a:srgbClr val="C00000"/>
                </a:solidFill>
                <a:effectLst/>
              </a:rPr>
              <a:t>and return the majority vote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8363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DF91-EF7A-8474-2EC7-164A1297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76571-421E-717E-62EA-B5C91D4FB21F}"/>
              </a:ext>
            </a:extLst>
          </p:cNvPr>
          <p:cNvSpPr/>
          <p:nvPr/>
        </p:nvSpPr>
        <p:spPr>
          <a:xfrm>
            <a:off x="715063" y="1122101"/>
            <a:ext cx="11261866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ensemble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BaggingClassifier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tree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DecisionTreeClassifier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datasets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load_iris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model_selection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train_test_split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metrics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accuracy_score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load_iris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70C1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.data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.target</a:t>
            </a:r>
            <a:endParaRPr lang="en-I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X_train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X_test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y_train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y_test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train_test_split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0.3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42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bagging_clf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BaggingClassifier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base_estimator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DecisionTreeClassifier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(),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n_estimators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bagging_clf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fit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X_train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y_train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y_pred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bagging_clf</a:t>
            </a:r>
            <a:r>
              <a:rPr lang="en-IN" sz="1600" dirty="0" err="1">
                <a:solidFill>
                  <a:srgbClr val="3B3B3B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predict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X_test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accuracy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accuracy_score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y_test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y_pred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795E26"/>
                </a:solidFill>
                <a:latin typeface="Menlo" panose="020B0609030804020204" pitchFamily="49" charset="0"/>
              </a:rPr>
              <a:t>print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"Accuracy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accuracy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>
                <a:solidFill>
                  <a:srgbClr val="3B3B3B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39CAB-E4FF-8669-5A23-6EAF428E5691}"/>
              </a:ext>
            </a:extLst>
          </p:cNvPr>
          <p:cNvSpPr/>
          <p:nvPr/>
        </p:nvSpPr>
        <p:spPr>
          <a:xfrm>
            <a:off x="215071" y="1122101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C33AB87-CEC6-EE16-7345-3B3A09874DDF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Bagging</a:t>
            </a:r>
            <a:r>
              <a:rPr lang="en-US" sz="1600" dirty="0" err="1">
                <a:solidFill>
                  <a:schemeClr val="bg1"/>
                </a:solidFill>
              </a:rPr>
              <a:t>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FBB463-5E1B-916D-BA2B-77482CE16C8F}"/>
              </a:ext>
            </a:extLst>
          </p:cNvPr>
          <p:cNvSpPr/>
          <p:nvPr/>
        </p:nvSpPr>
        <p:spPr>
          <a:xfrm>
            <a:off x="215071" y="5893971"/>
            <a:ext cx="3823497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 = 1.0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DC095FF-A807-1FAF-ADEC-78487C8D5D46}"/>
              </a:ext>
            </a:extLst>
          </p:cNvPr>
          <p:cNvSpPr/>
          <p:nvPr/>
        </p:nvSpPr>
        <p:spPr>
          <a:xfrm>
            <a:off x="215071" y="5564787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73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F612-EC8A-7D64-20BD-8690268A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F2E4-AFD5-C700-1BB9-7D63117F3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394334"/>
          </a:xfrm>
        </p:spPr>
        <p:txBody>
          <a:bodyPr/>
          <a:lstStyle/>
          <a:p>
            <a:r>
              <a:rPr lang="en-US" dirty="0"/>
              <a:t>Random Forest: </a:t>
            </a:r>
          </a:p>
          <a:p>
            <a:pPr lvl="1"/>
            <a:r>
              <a:rPr lang="en-US" dirty="0"/>
              <a:t>Each classifier in </a:t>
            </a:r>
            <a:r>
              <a:rPr lang="en-US" dirty="0">
                <a:solidFill>
                  <a:srgbClr val="C00000"/>
                </a:solidFill>
              </a:rPr>
              <a:t>the ensemble is a decision tree classifier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is generated using a random selection of attributes </a:t>
            </a:r>
            <a:r>
              <a:rPr lang="en-US" dirty="0"/>
              <a:t>at each node </a:t>
            </a:r>
            <a:r>
              <a:rPr lang="en-US" dirty="0">
                <a:solidFill>
                  <a:srgbClr val="C00000"/>
                </a:solidFill>
              </a:rPr>
              <a:t>to determine the split</a:t>
            </a:r>
          </a:p>
          <a:p>
            <a:pPr lvl="1"/>
            <a:r>
              <a:rPr lang="en-US" dirty="0"/>
              <a:t>During classification, each tree votes and the </a:t>
            </a:r>
            <a:r>
              <a:rPr lang="en-US" dirty="0">
                <a:solidFill>
                  <a:srgbClr val="C00000"/>
                </a:solidFill>
              </a:rPr>
              <a:t>most popular class is returned</a:t>
            </a:r>
          </a:p>
          <a:p>
            <a:pPr lvl="1"/>
            <a:r>
              <a:rPr lang="en-IN" dirty="0"/>
              <a:t>Random forests can be built using bagging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48EA5-2C8B-0766-176A-76F985AED6BB}"/>
              </a:ext>
            </a:extLst>
          </p:cNvPr>
          <p:cNvSpPr txBox="1"/>
          <p:nvPr/>
        </p:nvSpPr>
        <p:spPr>
          <a:xfrm>
            <a:off x="338666" y="2709024"/>
            <a:ext cx="11722155" cy="3139321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training set, D, of d tuples is given.</a:t>
            </a:r>
          </a:p>
          <a:p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general procedure to generate k decision trees for the ensemble is as follows.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-&gt; For each iteration, </a:t>
            </a:r>
            <a:r>
              <a:rPr lang="en-I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training set, Di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of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tuples is sampled 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with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replacement from D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-&gt; That is, each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 is a bootstrap sample of D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-&gt; Let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be the number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of attributes to be used to determine the split at each node, where F is much smaller than the number of available attributes. 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-&gt; To construct a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 tree classifier, Mi, randomly select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, at each node, F attributes as candidates for the split at the node.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-&gt; The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 methodology is used to grow the trees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it is also know as random input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selection, are called Forest-RI</a:t>
            </a:r>
          </a:p>
          <a:p>
            <a:endParaRPr lang="en-I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46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DF91-EF7A-8474-2EC7-164A1297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76571-421E-717E-62EA-B5C91D4FB21F}"/>
              </a:ext>
            </a:extLst>
          </p:cNvPr>
          <p:cNvSpPr/>
          <p:nvPr/>
        </p:nvSpPr>
        <p:spPr>
          <a:xfrm>
            <a:off x="715063" y="1122101"/>
            <a:ext cx="11261866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ensemble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RandomForestClassifier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datasets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load_iris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metrics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accuracy_score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load_iris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70C1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.data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iris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.target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0.3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rf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Menlo" panose="020B0609030804020204" pitchFamily="49" charset="0"/>
              </a:rPr>
              <a:t>RandomForestClassifier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n_estimators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max_features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'sqrt'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rf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rf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accuracy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795E26"/>
                </a:solidFill>
                <a:latin typeface="Menlo" panose="020B060903080402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"Accuracy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Menlo" panose="020B0609030804020204" pitchFamily="49" charset="0"/>
              </a:rPr>
              <a:t>accuracy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:.2f}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39CAB-E4FF-8669-5A23-6EAF428E5691}"/>
              </a:ext>
            </a:extLst>
          </p:cNvPr>
          <p:cNvSpPr/>
          <p:nvPr/>
        </p:nvSpPr>
        <p:spPr>
          <a:xfrm>
            <a:off x="215071" y="1122101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C33AB87-CEC6-EE16-7345-3B3A09874DDF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Random </a:t>
            </a:r>
            <a:r>
              <a:rPr lang="en-US" sz="1600" dirty="0" err="1"/>
              <a:t>Forest</a:t>
            </a:r>
            <a:r>
              <a:rPr lang="en-US" sz="1600" dirty="0" err="1">
                <a:solidFill>
                  <a:schemeClr val="bg1"/>
                </a:solidFill>
              </a:rPr>
              <a:t>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FBB463-5E1B-916D-BA2B-77482CE16C8F}"/>
              </a:ext>
            </a:extLst>
          </p:cNvPr>
          <p:cNvSpPr/>
          <p:nvPr/>
        </p:nvSpPr>
        <p:spPr>
          <a:xfrm>
            <a:off x="215071" y="5893971"/>
            <a:ext cx="3823497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 = 1.0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DC095FF-A807-1FAF-ADEC-78487C8D5D46}"/>
              </a:ext>
            </a:extLst>
          </p:cNvPr>
          <p:cNvSpPr/>
          <p:nvPr/>
        </p:nvSpPr>
        <p:spPr>
          <a:xfrm>
            <a:off x="215071" y="5564787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1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F635-03E1-C283-845B-BEC793F1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152F-80D9-AB35-E69D-F718BE2C2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Analogy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Consult </a:t>
            </a:r>
            <a:r>
              <a:rPr lang="en-US" dirty="0">
                <a:solidFill>
                  <a:srgbClr val="C00000"/>
                </a:solidFill>
              </a:rPr>
              <a:t>several doctors</a:t>
            </a:r>
            <a:r>
              <a:rPr lang="en-US" dirty="0"/>
              <a:t>, based on a </a:t>
            </a:r>
            <a:r>
              <a:rPr lang="en-US" dirty="0">
                <a:solidFill>
                  <a:srgbClr val="C00000"/>
                </a:solidFill>
              </a:rPr>
              <a:t>combination of weighted diagnoses</a:t>
            </a:r>
            <a:r>
              <a:rPr lang="en-US" dirty="0"/>
              <a:t>—weight assigned based on the </a:t>
            </a:r>
            <a:r>
              <a:rPr lang="en-US" dirty="0">
                <a:solidFill>
                  <a:srgbClr val="C00000"/>
                </a:solidFill>
              </a:rPr>
              <a:t>previous diagnosis accuracy</a:t>
            </a:r>
            <a:r>
              <a:rPr lang="en-US" dirty="0"/>
              <a:t>.</a:t>
            </a:r>
          </a:p>
          <a:p>
            <a:r>
              <a:rPr lang="en-US" dirty="0"/>
              <a:t>How boosting works?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Weights</a:t>
            </a:r>
            <a:r>
              <a:rPr lang="en-US" dirty="0"/>
              <a:t> are assigned to each </a:t>
            </a:r>
            <a:r>
              <a:rPr lang="en-US" dirty="0">
                <a:solidFill>
                  <a:srgbClr val="C00000"/>
                </a:solidFill>
              </a:rPr>
              <a:t>training tuple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series of k classifiers is </a:t>
            </a:r>
            <a:r>
              <a:rPr lang="en-US" dirty="0">
                <a:solidFill>
                  <a:srgbClr val="C00000"/>
                </a:solidFill>
              </a:rPr>
              <a:t>iteratively learned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After a </a:t>
            </a:r>
            <a:r>
              <a:rPr lang="en-US" dirty="0">
                <a:solidFill>
                  <a:srgbClr val="C00000"/>
                </a:solidFill>
              </a:rPr>
              <a:t>classifier M</a:t>
            </a:r>
            <a:r>
              <a:rPr lang="en-US" baseline="-25000" dirty="0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is learned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weights are updated to allow the subsequent classifier</a:t>
            </a:r>
            <a:r>
              <a:rPr lang="en-US" dirty="0"/>
              <a:t>, M</a:t>
            </a:r>
            <a:r>
              <a:rPr lang="en-US" baseline="-25000" dirty="0"/>
              <a:t>i+1</a:t>
            </a:r>
            <a:r>
              <a:rPr lang="en-US" dirty="0"/>
              <a:t>, to pay more </a:t>
            </a:r>
            <a:r>
              <a:rPr lang="en-US" dirty="0">
                <a:solidFill>
                  <a:srgbClr val="C00000"/>
                </a:solidFill>
              </a:rPr>
              <a:t>attention</a:t>
            </a:r>
            <a:r>
              <a:rPr lang="en-US" dirty="0"/>
              <a:t> to the </a:t>
            </a:r>
            <a:r>
              <a:rPr lang="en-US" dirty="0">
                <a:solidFill>
                  <a:srgbClr val="C00000"/>
                </a:solidFill>
              </a:rPr>
              <a:t>training tuples </a:t>
            </a:r>
            <a:r>
              <a:rPr lang="en-US" dirty="0"/>
              <a:t>that were </a:t>
            </a:r>
            <a:r>
              <a:rPr lang="en-US" dirty="0">
                <a:solidFill>
                  <a:srgbClr val="C00000"/>
                </a:solidFill>
              </a:rPr>
              <a:t>misclassified by M</a:t>
            </a:r>
            <a:r>
              <a:rPr lang="en-US" baseline="-25000" dirty="0">
                <a:solidFill>
                  <a:srgbClr val="C00000"/>
                </a:solidFill>
              </a:rPr>
              <a:t>i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final </a:t>
            </a:r>
            <a:r>
              <a:rPr lang="en-US" dirty="0">
                <a:solidFill>
                  <a:srgbClr val="C00000"/>
                </a:solidFill>
              </a:rPr>
              <a:t>M* combines </a:t>
            </a:r>
            <a:r>
              <a:rPr lang="en-US" dirty="0"/>
              <a:t>the votes of </a:t>
            </a:r>
            <a:r>
              <a:rPr lang="en-US" dirty="0">
                <a:solidFill>
                  <a:srgbClr val="C00000"/>
                </a:solidFill>
              </a:rPr>
              <a:t>each individual classifier</a:t>
            </a:r>
            <a:r>
              <a:rPr lang="en-US" dirty="0"/>
              <a:t>, where the </a:t>
            </a:r>
            <a:r>
              <a:rPr lang="en-US" dirty="0">
                <a:solidFill>
                  <a:srgbClr val="C00000"/>
                </a:solidFill>
              </a:rPr>
              <a:t>weight of each classifier's </a:t>
            </a:r>
            <a:r>
              <a:rPr lang="en-US" dirty="0"/>
              <a:t>vote is a function of its </a:t>
            </a:r>
            <a:r>
              <a:rPr lang="en-US" dirty="0">
                <a:solidFill>
                  <a:srgbClr val="C00000"/>
                </a:solidFill>
              </a:rPr>
              <a:t>accuracy</a:t>
            </a:r>
            <a:r>
              <a:rPr lang="en-US" dirty="0"/>
              <a:t>.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Boosting algorithm can be extended for 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numeric prediction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Comparing with bagging: Boosting tends to have greater accuracy, but it also risks overfitting the model to misclassified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29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C684-28B4-DB31-24D1-E83264E1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C5CB53-1813-9E3E-5353-26DA7159198E}"/>
              </a:ext>
            </a:extLst>
          </p:cNvPr>
          <p:cNvSpPr/>
          <p:nvPr/>
        </p:nvSpPr>
        <p:spPr>
          <a:xfrm>
            <a:off x="428977" y="1048440"/>
            <a:ext cx="1083733" cy="10047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2B4ACC-064F-60AC-D4E5-886B3CD823B6}"/>
              </a:ext>
            </a:extLst>
          </p:cNvPr>
          <p:cNvSpPr/>
          <p:nvPr/>
        </p:nvSpPr>
        <p:spPr>
          <a:xfrm>
            <a:off x="643466" y="1229062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B30374-7F8D-05FE-396C-2B6FFBDEFB73}"/>
              </a:ext>
            </a:extLst>
          </p:cNvPr>
          <p:cNvSpPr/>
          <p:nvPr/>
        </p:nvSpPr>
        <p:spPr>
          <a:xfrm>
            <a:off x="795866" y="1381462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41373B-D0AF-DD3D-C2A3-4855C68A5670}"/>
              </a:ext>
            </a:extLst>
          </p:cNvPr>
          <p:cNvSpPr/>
          <p:nvPr/>
        </p:nvSpPr>
        <p:spPr>
          <a:xfrm>
            <a:off x="948266" y="1533862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9FF61F-C699-B715-8A73-5BB1D14807F6}"/>
              </a:ext>
            </a:extLst>
          </p:cNvPr>
          <p:cNvSpPr/>
          <p:nvPr/>
        </p:nvSpPr>
        <p:spPr>
          <a:xfrm>
            <a:off x="773288" y="1706017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889AFC-E232-6791-356E-61FFFBCF9FE8}"/>
              </a:ext>
            </a:extLst>
          </p:cNvPr>
          <p:cNvSpPr/>
          <p:nvPr/>
        </p:nvSpPr>
        <p:spPr>
          <a:xfrm>
            <a:off x="965199" y="1285507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7089A7-158F-5133-E030-854D31114D51}"/>
              </a:ext>
            </a:extLst>
          </p:cNvPr>
          <p:cNvSpPr/>
          <p:nvPr/>
        </p:nvSpPr>
        <p:spPr>
          <a:xfrm>
            <a:off x="1117599" y="140968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30BA9F-A09C-8D11-3432-8163F59D2ED2}"/>
              </a:ext>
            </a:extLst>
          </p:cNvPr>
          <p:cNvSpPr/>
          <p:nvPr/>
        </p:nvSpPr>
        <p:spPr>
          <a:xfrm>
            <a:off x="632177" y="1579017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40B62F-F8E0-264B-5F60-E13B8F7A33A5}"/>
              </a:ext>
            </a:extLst>
          </p:cNvPr>
          <p:cNvSpPr/>
          <p:nvPr/>
        </p:nvSpPr>
        <p:spPr>
          <a:xfrm>
            <a:off x="959554" y="177939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BAF4FD-7A6F-24FA-F484-094513FDF0A8}"/>
              </a:ext>
            </a:extLst>
          </p:cNvPr>
          <p:cNvSpPr/>
          <p:nvPr/>
        </p:nvSpPr>
        <p:spPr>
          <a:xfrm>
            <a:off x="1151466" y="1641106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E021E4-D7DF-E0D0-C7CE-090303C27D44}"/>
              </a:ext>
            </a:extLst>
          </p:cNvPr>
          <p:cNvCxnSpPr>
            <a:cxnSpLocks/>
            <a:stCxn id="4" idx="6"/>
            <a:endCxn id="17" idx="1"/>
          </p:cNvCxnSpPr>
          <p:nvPr/>
        </p:nvCxnSpPr>
        <p:spPr>
          <a:xfrm flipV="1">
            <a:off x="1512710" y="1533862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B3053D8-4FEB-1522-A40A-D5E3F86BA2E4}"/>
              </a:ext>
            </a:extLst>
          </p:cNvPr>
          <p:cNvSpPr/>
          <p:nvPr/>
        </p:nvSpPr>
        <p:spPr>
          <a:xfrm>
            <a:off x="2167465" y="1193784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12242C-864D-642B-54C6-C0D18DD09F6E}"/>
              </a:ext>
            </a:extLst>
          </p:cNvPr>
          <p:cNvCxnSpPr>
            <a:cxnSpLocks/>
          </p:cNvCxnSpPr>
          <p:nvPr/>
        </p:nvCxnSpPr>
        <p:spPr>
          <a:xfrm flipV="1">
            <a:off x="3002843" y="1531040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B16E21-4EE5-49F2-F511-8383320B49CF}"/>
              </a:ext>
            </a:extLst>
          </p:cNvPr>
          <p:cNvSpPr txBox="1"/>
          <p:nvPr/>
        </p:nvSpPr>
        <p:spPr>
          <a:xfrm>
            <a:off x="312268" y="776019"/>
            <a:ext cx="1723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Original Training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32D9C7-4182-66A4-C4CF-6D9FA2C80FCD}"/>
              </a:ext>
            </a:extLst>
          </p:cNvPr>
          <p:cNvSpPr/>
          <p:nvPr/>
        </p:nvSpPr>
        <p:spPr>
          <a:xfrm>
            <a:off x="3705575" y="1193784"/>
            <a:ext cx="1574802" cy="709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74F29A-4CD0-127E-5BC5-D7204D678339}"/>
              </a:ext>
            </a:extLst>
          </p:cNvPr>
          <p:cNvCxnSpPr>
            <a:cxnSpLocks/>
            <a:stCxn id="21" idx="0"/>
            <a:endCxn id="21" idx="2"/>
          </p:cNvCxnSpPr>
          <p:nvPr/>
        </p:nvCxnSpPr>
        <p:spPr>
          <a:xfrm>
            <a:off x="4492976" y="1193784"/>
            <a:ext cx="0" cy="709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C4ACBDC-34CC-11AE-1894-8D2E338A2100}"/>
              </a:ext>
            </a:extLst>
          </p:cNvPr>
          <p:cNvSpPr txBox="1"/>
          <p:nvPr/>
        </p:nvSpPr>
        <p:spPr>
          <a:xfrm>
            <a:off x="3657598" y="732293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Correctly Classified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C56FFD-B843-774D-A596-8908522C38DA}"/>
              </a:ext>
            </a:extLst>
          </p:cNvPr>
          <p:cNvSpPr txBox="1"/>
          <p:nvPr/>
        </p:nvSpPr>
        <p:spPr>
          <a:xfrm>
            <a:off x="4415362" y="706271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Misclassified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AFF3655-21EB-36AE-7208-34C3EA205A21}"/>
              </a:ext>
            </a:extLst>
          </p:cNvPr>
          <p:cNvSpPr/>
          <p:nvPr/>
        </p:nvSpPr>
        <p:spPr>
          <a:xfrm>
            <a:off x="3790244" y="1285507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EB575C7-772D-4220-0E4A-BD8DB3190F0E}"/>
              </a:ext>
            </a:extLst>
          </p:cNvPr>
          <p:cNvSpPr/>
          <p:nvPr/>
        </p:nvSpPr>
        <p:spPr>
          <a:xfrm>
            <a:off x="3800120" y="1528218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515ACC-2D3D-E272-8AEB-1C77D45C7F55}"/>
              </a:ext>
            </a:extLst>
          </p:cNvPr>
          <p:cNvSpPr/>
          <p:nvPr/>
        </p:nvSpPr>
        <p:spPr>
          <a:xfrm>
            <a:off x="4027309" y="1443551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556DC83-109C-FA84-37A2-06C7E29F6C57}"/>
              </a:ext>
            </a:extLst>
          </p:cNvPr>
          <p:cNvSpPr/>
          <p:nvPr/>
        </p:nvSpPr>
        <p:spPr>
          <a:xfrm>
            <a:off x="4237565" y="1257284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1E6A9F0-6BB7-B25F-CF5B-D20A07EB871F}"/>
              </a:ext>
            </a:extLst>
          </p:cNvPr>
          <p:cNvSpPr/>
          <p:nvPr/>
        </p:nvSpPr>
        <p:spPr>
          <a:xfrm>
            <a:off x="3955340" y="1706017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D9ABD2-0339-CFF9-90DB-48A9B8A89FFF}"/>
              </a:ext>
            </a:extLst>
          </p:cNvPr>
          <p:cNvSpPr/>
          <p:nvPr/>
        </p:nvSpPr>
        <p:spPr>
          <a:xfrm>
            <a:off x="4585400" y="1319373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587A4F0-6463-AA95-07BB-BD1F92B27B84}"/>
              </a:ext>
            </a:extLst>
          </p:cNvPr>
          <p:cNvSpPr/>
          <p:nvPr/>
        </p:nvSpPr>
        <p:spPr>
          <a:xfrm>
            <a:off x="4996741" y="1334873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268667-2B19-E756-1A32-57423EDE611F}"/>
              </a:ext>
            </a:extLst>
          </p:cNvPr>
          <p:cNvSpPr/>
          <p:nvPr/>
        </p:nvSpPr>
        <p:spPr>
          <a:xfrm>
            <a:off x="4653843" y="1641106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221DBC5-8296-13E9-C0D8-C3290D69F858}"/>
              </a:ext>
            </a:extLst>
          </p:cNvPr>
          <p:cNvSpPr/>
          <p:nvPr/>
        </p:nvSpPr>
        <p:spPr>
          <a:xfrm>
            <a:off x="4179709" y="1595951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0B80FB-5FC4-2CD5-52A0-1E30FC565C25}"/>
              </a:ext>
            </a:extLst>
          </p:cNvPr>
          <p:cNvSpPr/>
          <p:nvPr/>
        </p:nvSpPr>
        <p:spPr>
          <a:xfrm>
            <a:off x="5016499" y="1641106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CCD2FD3-99BA-6AA7-B886-0172E645B408}"/>
              </a:ext>
            </a:extLst>
          </p:cNvPr>
          <p:cNvSpPr/>
          <p:nvPr/>
        </p:nvSpPr>
        <p:spPr>
          <a:xfrm>
            <a:off x="506591" y="2867963"/>
            <a:ext cx="1083733" cy="10047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DE3B54D-18AE-BCD7-A591-B5656B025C57}"/>
              </a:ext>
            </a:extLst>
          </p:cNvPr>
          <p:cNvSpPr/>
          <p:nvPr/>
        </p:nvSpPr>
        <p:spPr>
          <a:xfrm>
            <a:off x="721080" y="304858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E309036-7202-F0CD-0A68-416DEAD45A18}"/>
              </a:ext>
            </a:extLst>
          </p:cNvPr>
          <p:cNvSpPr/>
          <p:nvPr/>
        </p:nvSpPr>
        <p:spPr>
          <a:xfrm>
            <a:off x="873480" y="320098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8CFB175-A7E4-94E7-A628-CB2A00DF1735}"/>
              </a:ext>
            </a:extLst>
          </p:cNvPr>
          <p:cNvSpPr/>
          <p:nvPr/>
        </p:nvSpPr>
        <p:spPr>
          <a:xfrm>
            <a:off x="1025880" y="335338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89493D5-C6FA-D538-8A92-750B803DDF98}"/>
              </a:ext>
            </a:extLst>
          </p:cNvPr>
          <p:cNvSpPr/>
          <p:nvPr/>
        </p:nvSpPr>
        <p:spPr>
          <a:xfrm>
            <a:off x="850902" y="3525540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AF4E353-56F7-C1C6-E45C-7825369D59B7}"/>
              </a:ext>
            </a:extLst>
          </p:cNvPr>
          <p:cNvSpPr/>
          <p:nvPr/>
        </p:nvSpPr>
        <p:spPr>
          <a:xfrm>
            <a:off x="1042813" y="3105030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41AED0C-C84E-0EDC-F0F6-FD37DAC90B67}"/>
              </a:ext>
            </a:extLst>
          </p:cNvPr>
          <p:cNvSpPr/>
          <p:nvPr/>
        </p:nvSpPr>
        <p:spPr>
          <a:xfrm>
            <a:off x="1195213" y="3229208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7B642F8-EB73-BBAF-2D97-772F95256305}"/>
              </a:ext>
            </a:extLst>
          </p:cNvPr>
          <p:cNvSpPr/>
          <p:nvPr/>
        </p:nvSpPr>
        <p:spPr>
          <a:xfrm>
            <a:off x="709791" y="3398540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9B74A98-A012-4641-5C66-96EF816B3116}"/>
              </a:ext>
            </a:extLst>
          </p:cNvPr>
          <p:cNvSpPr/>
          <p:nvPr/>
        </p:nvSpPr>
        <p:spPr>
          <a:xfrm>
            <a:off x="1037168" y="3598918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460E1C7-9DAF-F2E7-72EB-3A41A48E5427}"/>
              </a:ext>
            </a:extLst>
          </p:cNvPr>
          <p:cNvSpPr/>
          <p:nvPr/>
        </p:nvSpPr>
        <p:spPr>
          <a:xfrm>
            <a:off x="1229080" y="3460629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CDF8392-C1B7-9C36-0608-3FCF6E86F8CE}"/>
              </a:ext>
            </a:extLst>
          </p:cNvPr>
          <p:cNvCxnSpPr>
            <a:cxnSpLocks/>
            <a:stCxn id="50" idx="6"/>
            <a:endCxn id="61" idx="1"/>
          </p:cNvCxnSpPr>
          <p:nvPr/>
        </p:nvCxnSpPr>
        <p:spPr>
          <a:xfrm flipV="1">
            <a:off x="1590324" y="3353385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657576D-8BF5-BE89-AB2F-632E9C0A5A50}"/>
              </a:ext>
            </a:extLst>
          </p:cNvPr>
          <p:cNvSpPr/>
          <p:nvPr/>
        </p:nvSpPr>
        <p:spPr>
          <a:xfrm>
            <a:off x="2245079" y="3013307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6B771F1-FF86-4A33-597A-9B9DB51D7324}"/>
              </a:ext>
            </a:extLst>
          </p:cNvPr>
          <p:cNvCxnSpPr>
            <a:cxnSpLocks/>
          </p:cNvCxnSpPr>
          <p:nvPr/>
        </p:nvCxnSpPr>
        <p:spPr>
          <a:xfrm flipV="1">
            <a:off x="3080457" y="3350563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51C8654-0317-A9C3-B7AD-A2ED18784A0B}"/>
              </a:ext>
            </a:extLst>
          </p:cNvPr>
          <p:cNvSpPr txBox="1"/>
          <p:nvPr/>
        </p:nvSpPr>
        <p:spPr>
          <a:xfrm>
            <a:off x="389882" y="2595542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Weighted data 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E8C89E1-5994-349D-F20F-240994F3FFD3}"/>
              </a:ext>
            </a:extLst>
          </p:cNvPr>
          <p:cNvSpPr/>
          <p:nvPr/>
        </p:nvSpPr>
        <p:spPr>
          <a:xfrm>
            <a:off x="3783189" y="3013307"/>
            <a:ext cx="1574802" cy="709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0B0707B-CBC6-4C63-E9A6-83BE93621F18}"/>
              </a:ext>
            </a:extLst>
          </p:cNvPr>
          <p:cNvCxnSpPr>
            <a:cxnSpLocks/>
            <a:stCxn id="64" idx="0"/>
            <a:endCxn id="64" idx="2"/>
          </p:cNvCxnSpPr>
          <p:nvPr/>
        </p:nvCxnSpPr>
        <p:spPr>
          <a:xfrm>
            <a:off x="4570590" y="3013307"/>
            <a:ext cx="0" cy="709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8A34E69-56D2-0AFA-C38B-2FB5B22F9843}"/>
              </a:ext>
            </a:extLst>
          </p:cNvPr>
          <p:cNvSpPr txBox="1"/>
          <p:nvPr/>
        </p:nvSpPr>
        <p:spPr>
          <a:xfrm>
            <a:off x="3735212" y="2551816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Correctly Classified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FF5A0F-C99B-A1EA-5C88-ADD344EC817E}"/>
              </a:ext>
            </a:extLst>
          </p:cNvPr>
          <p:cNvSpPr txBox="1"/>
          <p:nvPr/>
        </p:nvSpPr>
        <p:spPr>
          <a:xfrm>
            <a:off x="4492976" y="2525794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Misclassified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2F27C2C-ACD3-F984-32AD-F3B218C3466D}"/>
              </a:ext>
            </a:extLst>
          </p:cNvPr>
          <p:cNvSpPr/>
          <p:nvPr/>
        </p:nvSpPr>
        <p:spPr>
          <a:xfrm>
            <a:off x="3867858" y="3105030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9819C78-6DE6-B3B4-1C67-17D158A84297}"/>
              </a:ext>
            </a:extLst>
          </p:cNvPr>
          <p:cNvSpPr/>
          <p:nvPr/>
        </p:nvSpPr>
        <p:spPr>
          <a:xfrm>
            <a:off x="3877734" y="3347741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CA6217A-8DC8-32DA-D5E7-BAD6CA92E2C9}"/>
              </a:ext>
            </a:extLst>
          </p:cNvPr>
          <p:cNvSpPr/>
          <p:nvPr/>
        </p:nvSpPr>
        <p:spPr>
          <a:xfrm>
            <a:off x="4104923" y="3263074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71C8F3D-6731-7D12-35B6-983860C986CE}"/>
              </a:ext>
            </a:extLst>
          </p:cNvPr>
          <p:cNvSpPr/>
          <p:nvPr/>
        </p:nvSpPr>
        <p:spPr>
          <a:xfrm>
            <a:off x="4315179" y="3076807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C6B8972-2637-7DD4-D5DB-FC9502BED6B8}"/>
              </a:ext>
            </a:extLst>
          </p:cNvPr>
          <p:cNvSpPr/>
          <p:nvPr/>
        </p:nvSpPr>
        <p:spPr>
          <a:xfrm>
            <a:off x="4032954" y="3525540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47CD7C2-3226-1111-D1B5-87EE506EBE6F}"/>
              </a:ext>
            </a:extLst>
          </p:cNvPr>
          <p:cNvSpPr/>
          <p:nvPr/>
        </p:nvSpPr>
        <p:spPr>
          <a:xfrm>
            <a:off x="4663014" y="3138896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A497FDA-454E-D46B-D47B-9EA88B05A3A1}"/>
              </a:ext>
            </a:extLst>
          </p:cNvPr>
          <p:cNvSpPr/>
          <p:nvPr/>
        </p:nvSpPr>
        <p:spPr>
          <a:xfrm>
            <a:off x="5074355" y="3154396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A736845-F134-7C2F-8C4B-DFC8ED953D84}"/>
              </a:ext>
            </a:extLst>
          </p:cNvPr>
          <p:cNvSpPr/>
          <p:nvPr/>
        </p:nvSpPr>
        <p:spPr>
          <a:xfrm>
            <a:off x="4731457" y="3460629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6FBEF00-43C9-861D-6F82-4124C17947A3}"/>
              </a:ext>
            </a:extLst>
          </p:cNvPr>
          <p:cNvSpPr/>
          <p:nvPr/>
        </p:nvSpPr>
        <p:spPr>
          <a:xfrm>
            <a:off x="4257323" y="3415474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1CAFF8E-F158-FBCB-B6ED-39E16CE32112}"/>
              </a:ext>
            </a:extLst>
          </p:cNvPr>
          <p:cNvSpPr/>
          <p:nvPr/>
        </p:nvSpPr>
        <p:spPr>
          <a:xfrm>
            <a:off x="5094113" y="3460629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BBC8085E-FA8C-5BEC-5EFF-F9BF625D4FD5}"/>
              </a:ext>
            </a:extLst>
          </p:cNvPr>
          <p:cNvCxnSpPr>
            <a:cxnSpLocks/>
            <a:stCxn id="21" idx="3"/>
            <a:endCxn id="63" idx="0"/>
          </p:cNvCxnSpPr>
          <p:nvPr/>
        </p:nvCxnSpPr>
        <p:spPr>
          <a:xfrm flipH="1">
            <a:off x="1012809" y="1548679"/>
            <a:ext cx="4267568" cy="1046863"/>
          </a:xfrm>
          <a:prstGeom prst="bentConnector4">
            <a:avLst>
              <a:gd name="adj1" fmla="val -5357"/>
              <a:gd name="adj2" fmla="val 669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C0286764-6ED5-D753-C5AE-663A298798B9}"/>
              </a:ext>
            </a:extLst>
          </p:cNvPr>
          <p:cNvSpPr/>
          <p:nvPr/>
        </p:nvSpPr>
        <p:spPr>
          <a:xfrm>
            <a:off x="517878" y="4660488"/>
            <a:ext cx="1083733" cy="10047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FBD446F-9C92-5FDC-F277-9D29D85215A7}"/>
              </a:ext>
            </a:extLst>
          </p:cNvPr>
          <p:cNvSpPr/>
          <p:nvPr/>
        </p:nvSpPr>
        <p:spPr>
          <a:xfrm>
            <a:off x="732367" y="4841110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6670BD8-F77B-17C2-1223-B9E830FD420C}"/>
              </a:ext>
            </a:extLst>
          </p:cNvPr>
          <p:cNvSpPr/>
          <p:nvPr/>
        </p:nvSpPr>
        <p:spPr>
          <a:xfrm>
            <a:off x="884767" y="4993510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A39C993-7474-896A-4B29-7C12081D9071}"/>
              </a:ext>
            </a:extLst>
          </p:cNvPr>
          <p:cNvSpPr/>
          <p:nvPr/>
        </p:nvSpPr>
        <p:spPr>
          <a:xfrm>
            <a:off x="1037167" y="5145910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812861F-57CC-9BD1-9ECF-00F533FC17F3}"/>
              </a:ext>
            </a:extLst>
          </p:cNvPr>
          <p:cNvSpPr/>
          <p:nvPr/>
        </p:nvSpPr>
        <p:spPr>
          <a:xfrm>
            <a:off x="862189" y="5318065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C092B3C-D0CA-FDE6-3BD2-9A609A3382F7}"/>
              </a:ext>
            </a:extLst>
          </p:cNvPr>
          <p:cNvSpPr/>
          <p:nvPr/>
        </p:nvSpPr>
        <p:spPr>
          <a:xfrm>
            <a:off x="1054100" y="489755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5534EE5-574B-20AC-0EE9-26B7B18C649A}"/>
              </a:ext>
            </a:extLst>
          </p:cNvPr>
          <p:cNvSpPr/>
          <p:nvPr/>
        </p:nvSpPr>
        <p:spPr>
          <a:xfrm>
            <a:off x="1206500" y="5021733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E4D8B87-4282-2575-917D-22F2156711F7}"/>
              </a:ext>
            </a:extLst>
          </p:cNvPr>
          <p:cNvSpPr/>
          <p:nvPr/>
        </p:nvSpPr>
        <p:spPr>
          <a:xfrm>
            <a:off x="721078" y="5191065"/>
            <a:ext cx="112889" cy="12417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142BC1D-00EA-C156-0193-65C134D13F52}"/>
              </a:ext>
            </a:extLst>
          </p:cNvPr>
          <p:cNvSpPr/>
          <p:nvPr/>
        </p:nvSpPr>
        <p:spPr>
          <a:xfrm>
            <a:off x="1048455" y="5391443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A45955C-F781-F81E-885F-59E9A6349DA3}"/>
              </a:ext>
            </a:extLst>
          </p:cNvPr>
          <p:cNvSpPr/>
          <p:nvPr/>
        </p:nvSpPr>
        <p:spPr>
          <a:xfrm>
            <a:off x="1240367" y="5253154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E071ED0-F35E-DDC3-0766-5FEF53F81BC0}"/>
              </a:ext>
            </a:extLst>
          </p:cNvPr>
          <p:cNvCxnSpPr>
            <a:cxnSpLocks/>
            <a:stCxn id="82" idx="6"/>
            <a:endCxn id="93" idx="1"/>
          </p:cNvCxnSpPr>
          <p:nvPr/>
        </p:nvCxnSpPr>
        <p:spPr>
          <a:xfrm flipV="1">
            <a:off x="1601611" y="5145910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CC7A0D3E-2EC4-A2EA-9BBF-4C05B6782098}"/>
              </a:ext>
            </a:extLst>
          </p:cNvPr>
          <p:cNvSpPr/>
          <p:nvPr/>
        </p:nvSpPr>
        <p:spPr>
          <a:xfrm>
            <a:off x="2256366" y="4805832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3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D1435B9-4D9D-0E36-14C3-1EA3F807710E}"/>
              </a:ext>
            </a:extLst>
          </p:cNvPr>
          <p:cNvCxnSpPr>
            <a:cxnSpLocks/>
          </p:cNvCxnSpPr>
          <p:nvPr/>
        </p:nvCxnSpPr>
        <p:spPr>
          <a:xfrm flipV="1">
            <a:off x="3091744" y="5143088"/>
            <a:ext cx="654755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4C58B6A-1F3D-BE44-0FC4-27A7ACA7980D}"/>
              </a:ext>
            </a:extLst>
          </p:cNvPr>
          <p:cNvSpPr txBox="1"/>
          <p:nvPr/>
        </p:nvSpPr>
        <p:spPr>
          <a:xfrm>
            <a:off x="401169" y="4388067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Weighted data 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2A4AC39-EF98-DC49-DF9B-FCD23A966380}"/>
              </a:ext>
            </a:extLst>
          </p:cNvPr>
          <p:cNvSpPr/>
          <p:nvPr/>
        </p:nvSpPr>
        <p:spPr>
          <a:xfrm>
            <a:off x="3794476" y="4805832"/>
            <a:ext cx="1574802" cy="709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DB84047-D523-5772-BDF3-6C9AA26B9868}"/>
              </a:ext>
            </a:extLst>
          </p:cNvPr>
          <p:cNvCxnSpPr>
            <a:cxnSpLocks/>
            <a:stCxn id="96" idx="0"/>
            <a:endCxn id="96" idx="2"/>
          </p:cNvCxnSpPr>
          <p:nvPr/>
        </p:nvCxnSpPr>
        <p:spPr>
          <a:xfrm>
            <a:off x="4581877" y="4805832"/>
            <a:ext cx="0" cy="709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CFAF752-B6ED-B8C3-3F36-32741F2EC458}"/>
              </a:ext>
            </a:extLst>
          </p:cNvPr>
          <p:cNvSpPr txBox="1"/>
          <p:nvPr/>
        </p:nvSpPr>
        <p:spPr>
          <a:xfrm>
            <a:off x="3746499" y="4344341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Correctly Classified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DE0083-C562-68E9-5D80-D9550E5177DE}"/>
              </a:ext>
            </a:extLst>
          </p:cNvPr>
          <p:cNvSpPr txBox="1"/>
          <p:nvPr/>
        </p:nvSpPr>
        <p:spPr>
          <a:xfrm>
            <a:off x="4504263" y="4318319"/>
            <a:ext cx="835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Misclassified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7EA840A-45BE-6E29-937D-A822A6155F53}"/>
              </a:ext>
            </a:extLst>
          </p:cNvPr>
          <p:cNvSpPr/>
          <p:nvPr/>
        </p:nvSpPr>
        <p:spPr>
          <a:xfrm>
            <a:off x="3879145" y="4897555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3399A8C-250D-37B9-09D9-0ECF25A6413B}"/>
              </a:ext>
            </a:extLst>
          </p:cNvPr>
          <p:cNvSpPr/>
          <p:nvPr/>
        </p:nvSpPr>
        <p:spPr>
          <a:xfrm>
            <a:off x="3889021" y="5140266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3D5C481-E21A-9938-B574-8E39B3DC6BE2}"/>
              </a:ext>
            </a:extLst>
          </p:cNvPr>
          <p:cNvSpPr/>
          <p:nvPr/>
        </p:nvSpPr>
        <p:spPr>
          <a:xfrm>
            <a:off x="4116210" y="5055599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5F860DE-26A4-E198-9A39-DF16BAE1B257}"/>
              </a:ext>
            </a:extLst>
          </p:cNvPr>
          <p:cNvSpPr/>
          <p:nvPr/>
        </p:nvSpPr>
        <p:spPr>
          <a:xfrm>
            <a:off x="4326466" y="4869332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EACF812-454A-E791-B522-03F3B96B11B0}"/>
              </a:ext>
            </a:extLst>
          </p:cNvPr>
          <p:cNvSpPr/>
          <p:nvPr/>
        </p:nvSpPr>
        <p:spPr>
          <a:xfrm>
            <a:off x="4044241" y="5318065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20CBE82-6B23-C707-597B-9F1D3EC2B17A}"/>
              </a:ext>
            </a:extLst>
          </p:cNvPr>
          <p:cNvSpPr/>
          <p:nvPr/>
        </p:nvSpPr>
        <p:spPr>
          <a:xfrm>
            <a:off x="4674301" y="4931421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6BFA9C0-7BB3-730D-DCB4-B2406B256AC0}"/>
              </a:ext>
            </a:extLst>
          </p:cNvPr>
          <p:cNvSpPr/>
          <p:nvPr/>
        </p:nvSpPr>
        <p:spPr>
          <a:xfrm>
            <a:off x="5085642" y="4946921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01C57DB-9B68-D248-A850-4F78D475CFE6}"/>
              </a:ext>
            </a:extLst>
          </p:cNvPr>
          <p:cNvSpPr/>
          <p:nvPr/>
        </p:nvSpPr>
        <p:spPr>
          <a:xfrm>
            <a:off x="4742744" y="5253154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7B30F1F-4BAB-C439-CDFE-A048588DD2C3}"/>
              </a:ext>
            </a:extLst>
          </p:cNvPr>
          <p:cNvSpPr/>
          <p:nvPr/>
        </p:nvSpPr>
        <p:spPr>
          <a:xfrm>
            <a:off x="4268610" y="5207999"/>
            <a:ext cx="112889" cy="12417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8AA2756-89B5-F287-075C-D9F4491454C0}"/>
              </a:ext>
            </a:extLst>
          </p:cNvPr>
          <p:cNvSpPr/>
          <p:nvPr/>
        </p:nvSpPr>
        <p:spPr>
          <a:xfrm>
            <a:off x="5105400" y="5253154"/>
            <a:ext cx="112889" cy="1241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D4A35981-CEE2-5C24-EA76-259D6F844675}"/>
              </a:ext>
            </a:extLst>
          </p:cNvPr>
          <p:cNvCxnSpPr>
            <a:cxnSpLocks/>
          </p:cNvCxnSpPr>
          <p:nvPr/>
        </p:nvCxnSpPr>
        <p:spPr>
          <a:xfrm flipH="1">
            <a:off x="1048455" y="3372494"/>
            <a:ext cx="4267568" cy="1046863"/>
          </a:xfrm>
          <a:prstGeom prst="bentConnector4">
            <a:avLst>
              <a:gd name="adj1" fmla="val -5357"/>
              <a:gd name="adj2" fmla="val 669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C6D5958-DE35-F74F-ABEC-81752CFCDFCD}"/>
              </a:ext>
            </a:extLst>
          </p:cNvPr>
          <p:cNvSpPr txBox="1"/>
          <p:nvPr/>
        </p:nvSpPr>
        <p:spPr>
          <a:xfrm>
            <a:off x="1940275" y="586341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Creation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83D3FA-09CA-D297-6BC8-AA19FF8F1738}"/>
              </a:ext>
            </a:extLst>
          </p:cNvPr>
          <p:cNvSpPr txBox="1"/>
          <p:nvPr/>
        </p:nvSpPr>
        <p:spPr>
          <a:xfrm>
            <a:off x="8853888" y="104884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Vote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309C407-CEAC-9164-432F-D5D0225ABC5E}"/>
              </a:ext>
            </a:extLst>
          </p:cNvPr>
          <p:cNvSpPr/>
          <p:nvPr/>
        </p:nvSpPr>
        <p:spPr>
          <a:xfrm>
            <a:off x="7558620" y="1748936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54B1FA8-C792-FB1A-2240-EE7415EAEC63}"/>
              </a:ext>
            </a:extLst>
          </p:cNvPr>
          <p:cNvSpPr/>
          <p:nvPr/>
        </p:nvSpPr>
        <p:spPr>
          <a:xfrm>
            <a:off x="8964417" y="1738284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8F4FECB-EC3D-FAE2-4609-8BBF031658AD}"/>
              </a:ext>
            </a:extLst>
          </p:cNvPr>
          <p:cNvSpPr/>
          <p:nvPr/>
        </p:nvSpPr>
        <p:spPr>
          <a:xfrm>
            <a:off x="10327589" y="1720129"/>
            <a:ext cx="835378" cy="680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3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FA99F5C-F68C-B59D-5299-690A073F2795}"/>
              </a:ext>
            </a:extLst>
          </p:cNvPr>
          <p:cNvCxnSpPr>
            <a:cxnSpLocks/>
            <a:stCxn id="113" idx="2"/>
            <a:endCxn id="117" idx="0"/>
          </p:cNvCxnSpPr>
          <p:nvPr/>
        </p:nvCxnSpPr>
        <p:spPr>
          <a:xfrm>
            <a:off x="7976309" y="2429091"/>
            <a:ext cx="1463769" cy="108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5B7B36B2-E5AF-9B12-A922-401B61D60E40}"/>
              </a:ext>
            </a:extLst>
          </p:cNvPr>
          <p:cNvSpPr/>
          <p:nvPr/>
        </p:nvSpPr>
        <p:spPr>
          <a:xfrm>
            <a:off x="8534056" y="3509200"/>
            <a:ext cx="1812044" cy="103114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Predication 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6C42B18-B8FA-0853-8BEE-6B925E2AB11C}"/>
              </a:ext>
            </a:extLst>
          </p:cNvPr>
          <p:cNvCxnSpPr>
            <a:cxnSpLocks/>
            <a:stCxn id="114" idx="2"/>
            <a:endCxn id="117" idx="0"/>
          </p:cNvCxnSpPr>
          <p:nvPr/>
        </p:nvCxnSpPr>
        <p:spPr>
          <a:xfrm>
            <a:off x="9382106" y="2418439"/>
            <a:ext cx="57972" cy="1090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7DECFBE-94F4-CBC6-9882-5A105C0029CF}"/>
              </a:ext>
            </a:extLst>
          </p:cNvPr>
          <p:cNvCxnSpPr>
            <a:cxnSpLocks/>
            <a:endCxn id="117" idx="0"/>
          </p:cNvCxnSpPr>
          <p:nvPr/>
        </p:nvCxnSpPr>
        <p:spPr>
          <a:xfrm flipH="1">
            <a:off x="9440078" y="2406513"/>
            <a:ext cx="1305200" cy="1102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D56E849-52C4-D658-8D39-E6A65D94DEEA}"/>
              </a:ext>
            </a:extLst>
          </p:cNvPr>
          <p:cNvSpPr txBox="1"/>
          <p:nvPr/>
        </p:nvSpPr>
        <p:spPr>
          <a:xfrm>
            <a:off x="8583367" y="2458041"/>
            <a:ext cx="8780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Weight &amp; prediction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1F88A07-2403-40F3-A86B-BD7026590B95}"/>
              </a:ext>
            </a:extLst>
          </p:cNvPr>
          <p:cNvSpPr txBox="1"/>
          <p:nvPr/>
        </p:nvSpPr>
        <p:spPr>
          <a:xfrm>
            <a:off x="7593352" y="2737239"/>
            <a:ext cx="8780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Weight &amp; prediction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6BBBCB5-0DDB-CD60-5CB6-BBA90A32A5F2}"/>
              </a:ext>
            </a:extLst>
          </p:cNvPr>
          <p:cNvSpPr txBox="1"/>
          <p:nvPr/>
        </p:nvSpPr>
        <p:spPr>
          <a:xfrm>
            <a:off x="10515101" y="2494491"/>
            <a:ext cx="8780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Weight &amp; prediction</a:t>
            </a:r>
          </a:p>
        </p:txBody>
      </p:sp>
    </p:spTree>
    <p:extLst>
      <p:ext uri="{BB962C8B-B14F-4D97-AF65-F5344CB8AC3E}">
        <p14:creationId xmlns:p14="http://schemas.microsoft.com/office/powerpoint/2010/main" val="338285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20" grpId="0"/>
      <p:bldP spid="21" grpId="0" animBg="1"/>
      <p:bldP spid="24" grpId="0"/>
      <p:bldP spid="25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1" grpId="0" animBg="1"/>
      <p:bldP spid="63" grpId="0"/>
      <p:bldP spid="64" grpId="0" animBg="1"/>
      <p:bldP spid="66" grpId="0"/>
      <p:bldP spid="67" grpId="0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3" grpId="0" animBg="1"/>
      <p:bldP spid="95" grpId="0"/>
      <p:bldP spid="96" grpId="0" animBg="1"/>
      <p:bldP spid="98" grpId="0"/>
      <p:bldP spid="99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1" grpId="0"/>
      <p:bldP spid="112" grpId="0"/>
      <p:bldP spid="113" grpId="0" animBg="1"/>
      <p:bldP spid="114" grpId="0" animBg="1"/>
      <p:bldP spid="115" grpId="0" animBg="1"/>
      <p:bldP spid="117" grpId="0" animBg="1"/>
      <p:bldP spid="129" grpId="0"/>
      <p:bldP spid="130" grpId="0"/>
      <p:bldP spid="13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1EF6-98E3-9275-5931-91773039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vs Boosting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0EA2D9-6AC0-6915-779C-1DD3D0736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450380"/>
              </p:ext>
            </p:extLst>
          </p:nvPr>
        </p:nvGraphicFramePr>
        <p:xfrm>
          <a:off x="349956" y="936979"/>
          <a:ext cx="10555111" cy="327381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567681047"/>
                    </a:ext>
                  </a:extLst>
                </a:gridCol>
                <a:gridCol w="5068711">
                  <a:extLst>
                    <a:ext uri="{9D8B030D-6E8A-4147-A177-3AD203B41FA5}">
                      <a16:colId xmlns:a16="http://schemas.microsoft.com/office/drawing/2014/main" val="2631472704"/>
                    </a:ext>
                  </a:extLst>
                </a:gridCol>
              </a:tblGrid>
              <a:tr h="2578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919435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Aim to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decrease variance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, not bias.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Aim to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decrease bias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, not variance.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41952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Each model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receives equal weight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Models are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weighted according to their performance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512226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Each model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is built independently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New models are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influenced </a:t>
                      </a:r>
                      <a:b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</a:b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by the performance of previously built models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013315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Example: The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Random forest model uses Bagging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Example: The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AdaBoost uses Boosting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252668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Different training 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data subsets are selected using row sampling with replacement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  <a:latin typeface="+mn-lt"/>
                        </a:rPr>
                        <a:t>Iteratively train models, with each new model focusing on correcting the errors of the previous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89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98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080A-E059-BAE3-E2C5-548160BE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07B4-22DB-8724-7540-AB1FB8234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AdaBoost (short for Adaptive Boosting) is a </a:t>
            </a:r>
            <a:r>
              <a:rPr lang="en-US" dirty="0">
                <a:solidFill>
                  <a:srgbClr val="C00000"/>
                </a:solidFill>
              </a:rPr>
              <a:t>popular boosting algorithm</a:t>
            </a:r>
            <a:r>
              <a:rPr lang="en-US" dirty="0"/>
              <a:t>.</a:t>
            </a:r>
          </a:p>
          <a:p>
            <a:r>
              <a:rPr lang="en-US" dirty="0"/>
              <a:t>It is used to boost the </a:t>
            </a:r>
            <a:r>
              <a:rPr lang="en-US" dirty="0">
                <a:solidFill>
                  <a:srgbClr val="C00000"/>
                </a:solidFill>
              </a:rPr>
              <a:t>accuracy of a learning method</a:t>
            </a:r>
            <a:r>
              <a:rPr lang="en-US" dirty="0"/>
              <a:t>.</a:t>
            </a:r>
          </a:p>
          <a:p>
            <a:r>
              <a:rPr lang="en-US" dirty="0"/>
              <a:t>We are </a:t>
            </a:r>
            <a:r>
              <a:rPr lang="en-US" dirty="0">
                <a:solidFill>
                  <a:srgbClr val="C00000"/>
                </a:solidFill>
              </a:rPr>
              <a:t>given D</a:t>
            </a:r>
            <a:r>
              <a:rPr lang="en-US" dirty="0"/>
              <a:t>, a </a:t>
            </a:r>
            <a:r>
              <a:rPr lang="en-US" dirty="0">
                <a:solidFill>
                  <a:srgbClr val="C00000"/>
                </a:solidFill>
              </a:rPr>
              <a:t>data set of d class-labeled tuples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(X1,y1),(X2,y2),...,(</a:t>
            </a:r>
            <a:r>
              <a:rPr lang="en-US" dirty="0" err="1">
                <a:solidFill>
                  <a:srgbClr val="C00000"/>
                </a:solidFill>
              </a:rPr>
              <a:t>Xd,yd</a:t>
            </a:r>
            <a:r>
              <a:rPr lang="en-US" dirty="0">
                <a:solidFill>
                  <a:srgbClr val="C00000"/>
                </a:solidFill>
              </a:rPr>
              <a:t>), </a:t>
            </a:r>
            <a:r>
              <a:rPr lang="en-US" dirty="0"/>
              <a:t>where </a:t>
            </a:r>
            <a:r>
              <a:rPr lang="en-US" dirty="0" err="1">
                <a:solidFill>
                  <a:srgbClr val="C00000"/>
                </a:solidFill>
              </a:rPr>
              <a:t>yi</a:t>
            </a:r>
            <a:r>
              <a:rPr lang="en-US" dirty="0">
                <a:solidFill>
                  <a:srgbClr val="C00000"/>
                </a:solidFill>
              </a:rPr>
              <a:t> is the class label of tuple.</a:t>
            </a:r>
          </a:p>
          <a:p>
            <a:r>
              <a:rPr lang="en-US" dirty="0"/>
              <a:t>Initially, AdaBoost assigns each training tuple an equal </a:t>
            </a:r>
            <a:r>
              <a:rPr lang="en-US" dirty="0">
                <a:solidFill>
                  <a:srgbClr val="C00000"/>
                </a:solidFill>
              </a:rPr>
              <a:t>weight of 1/d</a:t>
            </a:r>
            <a:r>
              <a:rPr lang="en-US" dirty="0"/>
              <a:t>.</a:t>
            </a:r>
          </a:p>
          <a:p>
            <a:r>
              <a:rPr lang="en-US" dirty="0"/>
              <a:t>Generating </a:t>
            </a:r>
            <a:r>
              <a:rPr lang="en-US" dirty="0">
                <a:solidFill>
                  <a:srgbClr val="C00000"/>
                </a:solidFill>
              </a:rPr>
              <a:t>k classifiers for the ensemble requires k rounds through the rest of the algorithm</a:t>
            </a:r>
            <a:r>
              <a:rPr lang="en-US" dirty="0"/>
              <a:t>.</a:t>
            </a:r>
          </a:p>
          <a:p>
            <a:r>
              <a:rPr lang="en-US" dirty="0"/>
              <a:t>In round </a:t>
            </a:r>
            <a:r>
              <a:rPr lang="en-US" dirty="0" err="1"/>
              <a:t>i</a:t>
            </a:r>
            <a:r>
              <a:rPr lang="en-US" dirty="0"/>
              <a:t>, the tuples from D are sampled to </a:t>
            </a:r>
            <a:r>
              <a:rPr lang="en-US" dirty="0">
                <a:solidFill>
                  <a:srgbClr val="C00000"/>
                </a:solidFill>
              </a:rPr>
              <a:t>form a training set, Di, of size d</a:t>
            </a:r>
            <a:r>
              <a:rPr lang="en-US" dirty="0"/>
              <a:t>.</a:t>
            </a:r>
          </a:p>
          <a:p>
            <a:r>
              <a:rPr lang="en-US" dirty="0"/>
              <a:t>Sampling with </a:t>
            </a:r>
            <a:r>
              <a:rPr lang="en-US" dirty="0">
                <a:solidFill>
                  <a:srgbClr val="C00000"/>
                </a:solidFill>
              </a:rPr>
              <a:t>replacement is used </a:t>
            </a:r>
            <a:r>
              <a:rPr lang="en-US" dirty="0"/>
              <a:t>-</a:t>
            </a:r>
            <a:r>
              <a:rPr lang="en-US" dirty="0">
                <a:solidFill>
                  <a:srgbClr val="C00000"/>
                </a:solidFill>
              </a:rPr>
              <a:t>the same tuple may be selected more than once</a:t>
            </a:r>
            <a:r>
              <a:rPr lang="en-US" dirty="0"/>
              <a:t>.</a:t>
            </a:r>
          </a:p>
          <a:p>
            <a:r>
              <a:rPr lang="en-US" dirty="0"/>
              <a:t>Each tuple’s chance of being selected is </a:t>
            </a:r>
            <a:r>
              <a:rPr lang="en-US" dirty="0">
                <a:solidFill>
                  <a:srgbClr val="C00000"/>
                </a:solidFill>
              </a:rPr>
              <a:t>based on its weight</a:t>
            </a:r>
            <a:r>
              <a:rPr lang="en-US" dirty="0"/>
              <a:t>.</a:t>
            </a:r>
          </a:p>
          <a:p>
            <a:r>
              <a:rPr lang="en-US" dirty="0"/>
              <a:t>A classifier model, Mi, is </a:t>
            </a:r>
            <a:r>
              <a:rPr lang="en-US" dirty="0">
                <a:solidFill>
                  <a:srgbClr val="C00000"/>
                </a:solidFill>
              </a:rPr>
              <a:t>derived from the training tuples of Di</a:t>
            </a:r>
            <a:r>
              <a:rPr lang="en-US" dirty="0"/>
              <a:t>.</a:t>
            </a:r>
          </a:p>
          <a:p>
            <a:r>
              <a:rPr lang="en-US" dirty="0"/>
              <a:t>its error is then calculated using </a:t>
            </a:r>
            <a:r>
              <a:rPr lang="en-US" dirty="0">
                <a:solidFill>
                  <a:srgbClr val="C00000"/>
                </a:solidFill>
              </a:rPr>
              <a:t>Di as a test set</a:t>
            </a:r>
            <a:r>
              <a:rPr lang="en-US" dirty="0"/>
              <a:t>. The weights of the training tuples are then adjusted </a:t>
            </a:r>
            <a:r>
              <a:rPr lang="en-US" dirty="0">
                <a:solidFill>
                  <a:srgbClr val="C00000"/>
                </a:solidFill>
              </a:rPr>
              <a:t>according to how they were classified.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95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2B79-DD3E-F5E5-8C0A-3747F09A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40E6B-579F-7AF3-5F6D-604359B4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255134"/>
          </a:xfrm>
        </p:spPr>
        <p:txBody>
          <a:bodyPr/>
          <a:lstStyle/>
          <a:p>
            <a:r>
              <a:rPr lang="en-US" dirty="0"/>
              <a:t>If a tuple </a:t>
            </a:r>
            <a:r>
              <a:rPr lang="en-US" dirty="0">
                <a:solidFill>
                  <a:srgbClr val="C00000"/>
                </a:solidFill>
              </a:rPr>
              <a:t>was incorrectly classified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its weight is increased</a:t>
            </a:r>
            <a:r>
              <a:rPr lang="en-US" dirty="0"/>
              <a:t>. If a </a:t>
            </a:r>
            <a:r>
              <a:rPr lang="en-US" dirty="0">
                <a:solidFill>
                  <a:srgbClr val="C00000"/>
                </a:solidFill>
              </a:rPr>
              <a:t>tuple was correctly classified, its weight is decreased.</a:t>
            </a:r>
          </a:p>
          <a:p>
            <a:r>
              <a:rPr lang="en-US" dirty="0"/>
              <a:t>A tuple’s weight </a:t>
            </a:r>
            <a:r>
              <a:rPr lang="en-US" dirty="0">
                <a:solidFill>
                  <a:srgbClr val="C00000"/>
                </a:solidFill>
              </a:rPr>
              <a:t>reflects how difficult it is to classify</a:t>
            </a:r>
            <a:r>
              <a:rPr lang="en-US" dirty="0"/>
              <a:t>. </a:t>
            </a:r>
            <a:r>
              <a:rPr lang="en-US" dirty="0">
                <a:solidFill>
                  <a:srgbClr val="C00000"/>
                </a:solidFill>
              </a:rPr>
              <a:t>the higher the weight, the more often it has been misclassified.</a:t>
            </a:r>
          </a:p>
          <a:p>
            <a:r>
              <a:rPr lang="en-US" dirty="0"/>
              <a:t>These weights will be used to generate the training samples for the classifier of the next round. </a:t>
            </a:r>
          </a:p>
          <a:p>
            <a:r>
              <a:rPr lang="en-US" dirty="0"/>
              <a:t>To compute the error rate of </a:t>
            </a:r>
            <a:r>
              <a:rPr lang="en-US" dirty="0">
                <a:solidFill>
                  <a:srgbClr val="C00000"/>
                </a:solidFill>
              </a:rPr>
              <a:t>model Mi</a:t>
            </a:r>
            <a:r>
              <a:rPr lang="en-US" dirty="0"/>
              <a:t>, we sum </a:t>
            </a:r>
            <a:r>
              <a:rPr lang="en-US" dirty="0">
                <a:solidFill>
                  <a:srgbClr val="C00000"/>
                </a:solidFill>
              </a:rPr>
              <a:t>the weights of each of the tuples in Di that Mi misclassified</a:t>
            </a:r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dirty="0">
                <a:solidFill>
                  <a:srgbClr val="C00000"/>
                </a:solidFill>
              </a:rPr>
              <a:t>err(</a:t>
            </a:r>
            <a:r>
              <a:rPr lang="en-US" dirty="0" err="1">
                <a:solidFill>
                  <a:srgbClr val="C00000"/>
                </a:solidFill>
              </a:rPr>
              <a:t>Xj</a:t>
            </a:r>
            <a:r>
              <a:rPr lang="en-US" dirty="0">
                <a:solidFill>
                  <a:srgbClr val="C00000"/>
                </a:solidFill>
              </a:rPr>
              <a:t>) is the misclassification error of tuple </a:t>
            </a:r>
            <a:r>
              <a:rPr lang="en-US" dirty="0" err="1">
                <a:solidFill>
                  <a:srgbClr val="C00000"/>
                </a:solidFill>
              </a:rPr>
              <a:t>Xj</a:t>
            </a:r>
            <a:r>
              <a:rPr lang="en-US" dirty="0"/>
              <a:t>: If the tuple was </a:t>
            </a:r>
            <a:r>
              <a:rPr lang="en-US" dirty="0">
                <a:solidFill>
                  <a:srgbClr val="C00000"/>
                </a:solidFill>
              </a:rPr>
              <a:t>misclassified, then err(</a:t>
            </a:r>
            <a:r>
              <a:rPr lang="en-US" dirty="0" err="1">
                <a:solidFill>
                  <a:srgbClr val="C00000"/>
                </a:solidFill>
              </a:rPr>
              <a:t>Xj</a:t>
            </a:r>
            <a:r>
              <a:rPr lang="en-US" dirty="0">
                <a:solidFill>
                  <a:srgbClr val="C00000"/>
                </a:solidFill>
              </a:rPr>
              <a:t>)is 1; otherwise, it is 0.</a:t>
            </a:r>
          </a:p>
          <a:p>
            <a:r>
              <a:rPr lang="en-US" dirty="0"/>
              <a:t>If the </a:t>
            </a:r>
            <a:r>
              <a:rPr lang="en-US" dirty="0">
                <a:solidFill>
                  <a:srgbClr val="C00000"/>
                </a:solidFill>
              </a:rPr>
              <a:t>performance of classifier Mi </a:t>
            </a:r>
            <a:r>
              <a:rPr lang="en-US" dirty="0"/>
              <a:t>is so poor that </a:t>
            </a:r>
            <a:r>
              <a:rPr lang="en-US" dirty="0">
                <a:solidFill>
                  <a:srgbClr val="C00000"/>
                </a:solidFill>
              </a:rPr>
              <a:t>its error exceeds 0.5</a:t>
            </a:r>
            <a:r>
              <a:rPr lang="en-US" dirty="0"/>
              <a:t>, then </a:t>
            </a:r>
            <a:r>
              <a:rPr lang="en-US" dirty="0">
                <a:solidFill>
                  <a:srgbClr val="C00000"/>
                </a:solidFill>
              </a:rPr>
              <a:t>we abandon it</a:t>
            </a:r>
            <a:r>
              <a:rPr lang="en-US" dirty="0"/>
              <a:t>. Instead, we </a:t>
            </a:r>
            <a:r>
              <a:rPr lang="en-US" dirty="0">
                <a:solidFill>
                  <a:srgbClr val="C00000"/>
                </a:solidFill>
              </a:rPr>
              <a:t>try again by generating a new Di training set</a:t>
            </a:r>
            <a:r>
              <a:rPr lang="en-US" dirty="0"/>
              <a:t>, from </a:t>
            </a:r>
            <a:r>
              <a:rPr lang="en-US" dirty="0">
                <a:solidFill>
                  <a:srgbClr val="C00000"/>
                </a:solidFill>
              </a:rPr>
              <a:t>which we derive a new Mi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123BC4-B7B3-5E67-449D-E23D6C42E127}"/>
                  </a:ext>
                </a:extLst>
              </p:cNvPr>
              <p:cNvSpPr txBox="1"/>
              <p:nvPr/>
            </p:nvSpPr>
            <p:spPr>
              <a:xfrm>
                <a:off x="3431822" y="3993517"/>
                <a:ext cx="3474926" cy="422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𝑒𝑟𝑟𝑜𝑟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123BC4-B7B3-5E67-449D-E23D6C42E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822" y="3993517"/>
                <a:ext cx="3474926" cy="422873"/>
              </a:xfrm>
              <a:prstGeom prst="rect">
                <a:avLst/>
              </a:prstGeom>
              <a:blipFill>
                <a:blip r:embed="rId2"/>
                <a:stretch>
                  <a:fillRect t="-91176" b="-1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50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419E-AB92-D4B8-83CB-D0F7C8AA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259D-B32D-9E99-89CD-B990ADB82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336023"/>
          </a:xfrm>
        </p:spPr>
        <p:txBody>
          <a:bodyPr/>
          <a:lstStyle/>
          <a:p>
            <a:r>
              <a:rPr lang="en-US" dirty="0"/>
              <a:t>The error rate of </a:t>
            </a:r>
            <a:r>
              <a:rPr lang="en-US" dirty="0">
                <a:solidFill>
                  <a:srgbClr val="C00000"/>
                </a:solidFill>
              </a:rPr>
              <a:t>Mi affects how the weights of the training tuples are updated</a:t>
            </a:r>
            <a:r>
              <a:rPr lang="en-US" dirty="0"/>
              <a:t>.</a:t>
            </a:r>
          </a:p>
          <a:p>
            <a:r>
              <a:rPr lang="en-US" dirty="0"/>
              <a:t>If a tuple in round </a:t>
            </a:r>
            <a:r>
              <a:rPr lang="en-US" dirty="0" err="1"/>
              <a:t>i</a:t>
            </a:r>
            <a:r>
              <a:rPr lang="en-US" dirty="0"/>
              <a:t> was </a:t>
            </a:r>
            <a:r>
              <a:rPr lang="en-US" dirty="0">
                <a:solidFill>
                  <a:srgbClr val="C00000"/>
                </a:solidFill>
              </a:rPr>
              <a:t>correctly classified</a:t>
            </a:r>
            <a:r>
              <a:rPr lang="en-US" dirty="0"/>
              <a:t>, its weight is </a:t>
            </a:r>
            <a:r>
              <a:rPr lang="en-US" dirty="0">
                <a:solidFill>
                  <a:srgbClr val="C00000"/>
                </a:solidFill>
              </a:rPr>
              <a:t>multiplied by error(Mi)/(1−error(Mi)).</a:t>
            </a:r>
          </a:p>
          <a:p>
            <a:r>
              <a:rPr lang="en-US" dirty="0"/>
              <a:t>Once the weights of </a:t>
            </a:r>
            <a:r>
              <a:rPr lang="en-US" dirty="0">
                <a:solidFill>
                  <a:srgbClr val="C00000"/>
                </a:solidFill>
              </a:rPr>
              <a:t>all the correctly classified tuples are updated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weights for all tuples (including the misclassified ones) are normalized so that their sum remains the same as it was before. </a:t>
            </a:r>
          </a:p>
          <a:p>
            <a:r>
              <a:rPr lang="en-US" b="1" dirty="0">
                <a:solidFill>
                  <a:srgbClr val="C00000"/>
                </a:solidFill>
              </a:rPr>
              <a:t>Once boosting is complete, how is the ensemble of classifiers used to predict the class label of a tuple, X?</a:t>
            </a:r>
          </a:p>
          <a:p>
            <a:r>
              <a:rPr lang="en-US" dirty="0"/>
              <a:t>The weight of classifier Mi’s vote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E707E9-F52F-446B-D1E9-326F3C4F52B7}"/>
                  </a:ext>
                </a:extLst>
              </p:cNvPr>
              <p:cNvSpPr txBox="1"/>
              <p:nvPr/>
            </p:nvSpPr>
            <p:spPr>
              <a:xfrm>
                <a:off x="3736622" y="4199467"/>
                <a:ext cx="2040559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E707E9-F52F-446B-D1E9-326F3C4F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622" y="4199467"/>
                <a:ext cx="2040559" cy="669094"/>
              </a:xfrm>
              <a:prstGeom prst="rect">
                <a:avLst/>
              </a:prstGeom>
              <a:blipFill>
                <a:blip r:embed="rId2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9F1E-7353-378D-6458-D28B9A68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7EF4A-D114-4487-8415-0D76A246E163}"/>
              </a:ext>
            </a:extLst>
          </p:cNvPr>
          <p:cNvSpPr txBox="1"/>
          <p:nvPr/>
        </p:nvSpPr>
        <p:spPr>
          <a:xfrm>
            <a:off x="74095" y="884409"/>
            <a:ext cx="12043805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Input: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D, 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a set of d training tuples;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k, 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the number of models in the ensemble;</a:t>
            </a:r>
          </a:p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classification learning scheme (decision tree algorithm etc.)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41C4C-225E-1D79-B4FA-77AB1B522652}"/>
              </a:ext>
            </a:extLst>
          </p:cNvPr>
          <p:cNvSpPr txBox="1"/>
          <p:nvPr/>
        </p:nvSpPr>
        <p:spPr>
          <a:xfrm>
            <a:off x="74095" y="2199395"/>
            <a:ext cx="12043805" cy="646331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ensemble composite model,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M∗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3103F-6783-44C9-AB61-5978AC7AF5B0}"/>
              </a:ext>
            </a:extLst>
          </p:cNvPr>
          <p:cNvSpPr txBox="1"/>
          <p:nvPr/>
        </p:nvSpPr>
        <p:spPr>
          <a:xfrm>
            <a:off x="74094" y="2960383"/>
            <a:ext cx="12043805" cy="3416320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initialize the weight of each tuple in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to 1/d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 to k do </a:t>
            </a:r>
            <a:r>
              <a:rPr lang="en-IN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for each round: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with replacement according to the tuple weights to obtain Di;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 training set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 to derive a model, Mi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 error(Mi), the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 rate of Mi 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error(Mi)&gt;0.5 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go back to step 3 and try again;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each tuple in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 that was correctly classified do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multiply the weight of the tuple by </a:t>
            </a:r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error(Mi)/(1−error(Mi)); </a:t>
            </a:r>
            <a:r>
              <a:rPr lang="en-IN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update weights</a:t>
            </a:r>
          </a:p>
          <a:p>
            <a:pPr lvl="1"/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normalize the weight of each tuple;</a:t>
            </a:r>
          </a:p>
          <a:p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endfor</a:t>
            </a:r>
            <a:endParaRPr lang="en-IN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45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4D26-1BEC-9D74-EFFC-B8B5F35D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2D05E1-8C90-4F77-C1A2-622823FF9144}"/>
                  </a:ext>
                </a:extLst>
              </p:cNvPr>
              <p:cNvSpPr txBox="1"/>
              <p:nvPr/>
            </p:nvSpPr>
            <p:spPr>
              <a:xfrm>
                <a:off x="74097" y="1357361"/>
                <a:ext cx="12043805" cy="219605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initialize weight of each class to 0;</a:t>
                </a:r>
              </a:p>
              <a:p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for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IN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=1 to k </a:t>
                </a:r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 </a:t>
                </a:r>
                <a:r>
                  <a:rPr lang="en-IN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for each classifier:</a:t>
                </a:r>
              </a:p>
              <a:p>
                <a:pPr lvl="1"/>
                <a:r>
                  <a:rPr lang="en-IN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wi =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weight of the classifier’s vote</a:t>
                </a:r>
              </a:p>
              <a:p>
                <a:pPr lvl="1"/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 =Mi(</a:t>
                </a:r>
                <a:r>
                  <a:rPr lang="en-IN" b="1" i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</a:t>
                </a:r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); </a:t>
                </a:r>
                <a:r>
                  <a:rPr lang="en-IN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get class prediction for </a:t>
                </a:r>
                <a:r>
                  <a:rPr lang="en-IN" b="1" i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X </a:t>
                </a:r>
                <a:r>
                  <a:rPr lang="en-IN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from Mi</a:t>
                </a:r>
              </a:p>
              <a:p>
                <a:pPr lvl="1"/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add </a:t>
                </a:r>
                <a:r>
                  <a:rPr lang="en-IN" b="1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wi</a:t>
                </a:r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to weight for </a:t>
                </a:r>
                <a:r>
                  <a:rPr lang="en-IN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class c</a:t>
                </a:r>
              </a:p>
              <a:p>
                <a:r>
                  <a:rPr lang="en-IN" b="1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endfor</a:t>
                </a:r>
                <a:endParaRPr lang="en-IN" b="1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IN" b="1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return the class with the largest weight;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2D05E1-8C90-4F77-C1A2-622823FF9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7" y="1357361"/>
                <a:ext cx="12043805" cy="2196050"/>
              </a:xfrm>
              <a:prstGeom prst="rect">
                <a:avLst/>
              </a:prstGeom>
              <a:blipFill>
                <a:blip r:embed="rId2"/>
                <a:stretch>
                  <a:fillRect l="-421" t="-1143" b="-285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4DE4CA-D994-478B-CD14-ED082394B79F}"/>
              </a:ext>
            </a:extLst>
          </p:cNvPr>
          <p:cNvSpPr txBox="1"/>
          <p:nvPr/>
        </p:nvSpPr>
        <p:spPr>
          <a:xfrm>
            <a:off x="74097" y="849615"/>
            <a:ext cx="392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effectLst/>
              </a:rPr>
              <a:t>To use the ensemble to classify tuple, </a:t>
            </a:r>
            <a:r>
              <a:rPr lang="en-IN" b="1" i="1" dirty="0">
                <a:solidFill>
                  <a:srgbClr val="000000"/>
                </a:solidFill>
                <a:effectLst/>
              </a:rPr>
              <a:t>X</a:t>
            </a:r>
            <a:r>
              <a:rPr lang="en-IN" b="1" dirty="0">
                <a:solidFill>
                  <a:srgbClr val="000000"/>
                </a:solidFill>
                <a:effectLst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7028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E482-D8B7-5E66-B85E-208EC4D7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A962EE-23BE-10B5-B1F4-B01808630F7B}"/>
              </a:ext>
            </a:extLst>
          </p:cNvPr>
          <p:cNvSpPr/>
          <p:nvPr/>
        </p:nvSpPr>
        <p:spPr>
          <a:xfrm>
            <a:off x="715063" y="1122101"/>
            <a:ext cx="11261866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preprocessing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neighbors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ensemble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AdaBoostClassifier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load_iris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.target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stratify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StandardScaler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fit_transform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scaler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n_neighbors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C2D053-4980-186E-A18F-D3F39EE4D67F}"/>
              </a:ext>
            </a:extLst>
          </p:cNvPr>
          <p:cNvSpPr/>
          <p:nvPr/>
        </p:nvSpPr>
        <p:spPr>
          <a:xfrm>
            <a:off x="215071" y="1122101"/>
            <a:ext cx="499993" cy="5016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A473B60-B617-88CD-E6E9-C4617D42D9E8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AdaBoost.py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29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E482-D8B7-5E66-B85E-208EC4D7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A962EE-23BE-10B5-B1F4-B01808630F7B}"/>
              </a:ext>
            </a:extLst>
          </p:cNvPr>
          <p:cNvSpPr/>
          <p:nvPr/>
        </p:nvSpPr>
        <p:spPr>
          <a:xfrm>
            <a:off x="715063" y="1122101"/>
            <a:ext cx="11261866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y_pred_knn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accuracy_knn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y_pred_knn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"kNN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Accuracy: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accuracy_knn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adaboost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AdaBoostClassifier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n_estimators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adaboost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y_pred_adaboost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adaboost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accuracy_adaboost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y_pred_adaboost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"AdaBoost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accuracy_adaboost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C2D053-4980-186E-A18F-D3F39EE4D67F}"/>
              </a:ext>
            </a:extLst>
          </p:cNvPr>
          <p:cNvSpPr/>
          <p:nvPr/>
        </p:nvSpPr>
        <p:spPr>
          <a:xfrm>
            <a:off x="215071" y="1122101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30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A473B60-B617-88CD-E6E9-C4617D42D9E8}"/>
              </a:ext>
            </a:extLst>
          </p:cNvPr>
          <p:cNvSpPr/>
          <p:nvPr/>
        </p:nvSpPr>
        <p:spPr>
          <a:xfrm>
            <a:off x="215071" y="7929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AdaBoost.py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55F8B-2F3E-818B-8DCA-D0C27558C7C8}"/>
              </a:ext>
            </a:extLst>
          </p:cNvPr>
          <p:cNvSpPr/>
          <p:nvPr/>
        </p:nvSpPr>
        <p:spPr>
          <a:xfrm>
            <a:off x="215071" y="4498360"/>
            <a:ext cx="3823497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kNN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 Accuracy: 0.91 </a:t>
            </a:r>
          </a:p>
          <a:p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AdaBoost : 0.93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A97125C-F870-4A70-ADA3-6F2A86D9C9F6}"/>
              </a:ext>
            </a:extLst>
          </p:cNvPr>
          <p:cNvSpPr/>
          <p:nvPr/>
        </p:nvSpPr>
        <p:spPr>
          <a:xfrm>
            <a:off x="215071" y="4169176"/>
            <a:ext cx="13283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  <a:endParaRPr lang="en-US" sz="1600" dirty="0">
              <a:solidFill>
                <a:schemeClr val="bg1"/>
              </a:solidFill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10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2" grpId="0" uiExpand="1" build="p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15451</TotalTime>
  <Words>6348</Words>
  <Application>Microsoft Office PowerPoint</Application>
  <PresentationFormat>Widescreen</PresentationFormat>
  <Paragraphs>2040</Paragraphs>
  <Slides>88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108" baseType="lpstr">
      <vt:lpstr>ＭＳ Ｐゴシック</vt:lpstr>
      <vt:lpstr>Arial</vt:lpstr>
      <vt:lpstr>Calibri</vt:lpstr>
      <vt:lpstr>Cambria</vt:lpstr>
      <vt:lpstr>Cambria Math</vt:lpstr>
      <vt:lpstr>Consolas</vt:lpstr>
      <vt:lpstr>Google Sans</vt:lpstr>
      <vt:lpstr>Menlo</vt:lpstr>
      <vt:lpstr>Monotype Sorts</vt:lpstr>
      <vt:lpstr>Palatino Linotype</vt:lpstr>
      <vt:lpstr>Roboto Condensed</vt:lpstr>
      <vt:lpstr>Roboto Condensed Light</vt:lpstr>
      <vt:lpstr>Segoe UI Black</vt:lpstr>
      <vt:lpstr>Verdana</vt:lpstr>
      <vt:lpstr>Webdings</vt:lpstr>
      <vt:lpstr>Wingdings</vt:lpstr>
      <vt:lpstr>Wingdings 2</vt:lpstr>
      <vt:lpstr>Wingdings 3</vt:lpstr>
      <vt:lpstr>Office Theme</vt:lpstr>
      <vt:lpstr>Equation</vt:lpstr>
      <vt:lpstr>Unit-03  Classification </vt:lpstr>
      <vt:lpstr>PowerPoint Presentation</vt:lpstr>
      <vt:lpstr>Classification </vt:lpstr>
      <vt:lpstr>Steps in Classification</vt:lpstr>
      <vt:lpstr>Example</vt:lpstr>
      <vt:lpstr>Example</vt:lpstr>
      <vt:lpstr>Example</vt:lpstr>
      <vt:lpstr>Decision Tree Induction</vt:lpstr>
      <vt:lpstr>History of Decision Tree</vt:lpstr>
      <vt:lpstr>Decision Tree Induction Algorithm</vt:lpstr>
      <vt:lpstr>Decision Tree Induction Algorithm</vt:lpstr>
      <vt:lpstr>Decision Tree Induction Algorithm</vt:lpstr>
      <vt:lpstr>Attribute Selection Measures </vt:lpstr>
      <vt:lpstr>1. Information Gain</vt:lpstr>
      <vt:lpstr>1. Information Gain Cont..</vt:lpstr>
      <vt:lpstr>1. Information Gain Cont..</vt:lpstr>
      <vt:lpstr>PowerPoint Presentation</vt:lpstr>
      <vt:lpstr>Information Gain - Example</vt:lpstr>
      <vt:lpstr>Information Gain - Example</vt:lpstr>
      <vt:lpstr>Information Gain - Example</vt:lpstr>
      <vt:lpstr>Information Gain - Example</vt:lpstr>
      <vt:lpstr>2. Gain Ratio</vt:lpstr>
      <vt:lpstr>2. Gain Ratio Cont..</vt:lpstr>
      <vt:lpstr>2. Gain Ratio - Example</vt:lpstr>
      <vt:lpstr>Gain Ratio for the attribute income - Example</vt:lpstr>
      <vt:lpstr>3. Gini Index</vt:lpstr>
      <vt:lpstr>3. Gini Index Cont..</vt:lpstr>
      <vt:lpstr>3. Gini Index Cont..</vt:lpstr>
      <vt:lpstr>3. Gini Index - Example</vt:lpstr>
      <vt:lpstr>3. Gini Index – Example Cont..</vt:lpstr>
      <vt:lpstr>3. Gini Index – Example Cont..</vt:lpstr>
      <vt:lpstr>3. Gini Index – Example Cont..</vt:lpstr>
      <vt:lpstr>K-NN (K- Nearest neighbors)</vt:lpstr>
      <vt:lpstr>K-NN (K- Nearest neighbors) - Example</vt:lpstr>
      <vt:lpstr>K-NN - Algorithm</vt:lpstr>
      <vt:lpstr>K-NN</vt:lpstr>
      <vt:lpstr>Example</vt:lpstr>
      <vt:lpstr>SVC (Support Vector Classification)</vt:lpstr>
      <vt:lpstr>Support Vector Classification</vt:lpstr>
      <vt:lpstr>Support Vector Classification</vt:lpstr>
      <vt:lpstr>Support Vector Classification</vt:lpstr>
      <vt:lpstr>Support Vector Classification</vt:lpstr>
      <vt:lpstr>Kernel</vt:lpstr>
      <vt:lpstr>Kernel - Types</vt:lpstr>
      <vt:lpstr>Example</vt:lpstr>
      <vt:lpstr>Bayesian Classification</vt:lpstr>
      <vt:lpstr>Bayes’ Theorem</vt:lpstr>
      <vt:lpstr>Bayes’ Theorem</vt:lpstr>
      <vt:lpstr>Example</vt:lpstr>
      <vt:lpstr>Naive Bayesian Classification : Steps</vt:lpstr>
      <vt:lpstr>Naive Bayesian Classification : Steps</vt:lpstr>
      <vt:lpstr>Naive Bayesian : Example</vt:lpstr>
      <vt:lpstr>Naive Bayesian : Example</vt:lpstr>
      <vt:lpstr>Example</vt:lpstr>
      <vt:lpstr>Model Evaluation and Selection </vt:lpstr>
      <vt:lpstr>Metrics for Performance Evaluation: Confusion Matrix</vt:lpstr>
      <vt:lpstr>Metrics for Performance Evaluation: Confusion Matrix</vt:lpstr>
      <vt:lpstr>Accuracy(Recognition rate) </vt:lpstr>
      <vt:lpstr>Error rate (Misclassification rate) </vt:lpstr>
      <vt:lpstr>Class imbalance problem </vt:lpstr>
      <vt:lpstr>Precision</vt:lpstr>
      <vt:lpstr>Recall</vt:lpstr>
      <vt:lpstr>F1 and Fβ Measure</vt:lpstr>
      <vt:lpstr>Classification Report</vt:lpstr>
      <vt:lpstr>Evaluating Classifier Accuracy: Holdout</vt:lpstr>
      <vt:lpstr>Evaluating Classifier Accuracy: Cross-Validation Methods</vt:lpstr>
      <vt:lpstr>Evaluating Classifier Accuracy: Cross-Validation Methods</vt:lpstr>
      <vt:lpstr>Evaluating Classifier Accuracy: Cross-Validation Methods</vt:lpstr>
      <vt:lpstr>Evaluating Classifier Accuracy: Bootstrap</vt:lpstr>
      <vt:lpstr>Comparing Classifiers Based on ROC Curves </vt:lpstr>
      <vt:lpstr>Comparing Classifiers Based on ROC Curves </vt:lpstr>
      <vt:lpstr>ROC AUC Curve</vt:lpstr>
      <vt:lpstr>Techniques to Improve Classification Accuracy – Ensemble Learning </vt:lpstr>
      <vt:lpstr>Bagging</vt:lpstr>
      <vt:lpstr>Bagging</vt:lpstr>
      <vt:lpstr>Bagging</vt:lpstr>
      <vt:lpstr>Random Forest</vt:lpstr>
      <vt:lpstr>Random Forest</vt:lpstr>
      <vt:lpstr>Boosting</vt:lpstr>
      <vt:lpstr>Boosting</vt:lpstr>
      <vt:lpstr>Bagging vs Boosting</vt:lpstr>
      <vt:lpstr>AdaBoost</vt:lpstr>
      <vt:lpstr>AdaBoost</vt:lpstr>
      <vt:lpstr>AdaBoost</vt:lpstr>
      <vt:lpstr>AdaBoost</vt:lpstr>
      <vt:lpstr>AdaBoost</vt:lpstr>
      <vt:lpstr>AdaBoost</vt:lpstr>
      <vt:lpstr>AdaBoost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1202</cp:revision>
  <dcterms:created xsi:type="dcterms:W3CDTF">2020-05-01T05:09:15Z</dcterms:created>
  <dcterms:modified xsi:type="dcterms:W3CDTF">2025-02-12T02:43:50Z</dcterms:modified>
</cp:coreProperties>
</file>