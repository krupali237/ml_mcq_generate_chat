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19" r:id="rId1"/>
  </p:sldMasterIdLst>
  <p:notesMasterIdLst>
    <p:notesMasterId r:id="rId57"/>
  </p:notesMasterIdLst>
  <p:sldIdLst>
    <p:sldId id="372" r:id="rId2"/>
    <p:sldId id="376" r:id="rId3"/>
    <p:sldId id="556" r:id="rId4"/>
    <p:sldId id="593" r:id="rId5"/>
    <p:sldId id="647" r:id="rId6"/>
    <p:sldId id="605" r:id="rId7"/>
    <p:sldId id="594" r:id="rId8"/>
    <p:sldId id="595" r:id="rId9"/>
    <p:sldId id="596" r:id="rId10"/>
    <p:sldId id="597" r:id="rId11"/>
    <p:sldId id="598" r:id="rId12"/>
    <p:sldId id="599" r:id="rId13"/>
    <p:sldId id="606" r:id="rId14"/>
    <p:sldId id="600" r:id="rId15"/>
    <p:sldId id="601" r:id="rId16"/>
    <p:sldId id="602" r:id="rId17"/>
    <p:sldId id="603" r:id="rId18"/>
    <p:sldId id="604" r:id="rId19"/>
    <p:sldId id="607" r:id="rId20"/>
    <p:sldId id="608" r:id="rId21"/>
    <p:sldId id="582" r:id="rId22"/>
    <p:sldId id="583" r:id="rId23"/>
    <p:sldId id="584" r:id="rId24"/>
    <p:sldId id="585" r:id="rId25"/>
    <p:sldId id="586" r:id="rId26"/>
    <p:sldId id="587" r:id="rId27"/>
    <p:sldId id="588" r:id="rId28"/>
    <p:sldId id="589" r:id="rId29"/>
    <p:sldId id="590" r:id="rId30"/>
    <p:sldId id="591" r:id="rId31"/>
    <p:sldId id="592" r:id="rId32"/>
    <p:sldId id="609" r:id="rId33"/>
    <p:sldId id="641" r:id="rId34"/>
    <p:sldId id="611" r:id="rId35"/>
    <p:sldId id="612" r:id="rId36"/>
    <p:sldId id="613" r:id="rId37"/>
    <p:sldId id="614" r:id="rId38"/>
    <p:sldId id="615" r:id="rId39"/>
    <p:sldId id="616" r:id="rId40"/>
    <p:sldId id="617" r:id="rId41"/>
    <p:sldId id="623" r:id="rId42"/>
    <p:sldId id="624" r:id="rId43"/>
    <p:sldId id="625" r:id="rId44"/>
    <p:sldId id="626" r:id="rId45"/>
    <p:sldId id="627" r:id="rId46"/>
    <p:sldId id="643" r:id="rId47"/>
    <p:sldId id="644" r:id="rId48"/>
    <p:sldId id="645" r:id="rId49"/>
    <p:sldId id="646" r:id="rId50"/>
    <p:sldId id="636" r:id="rId51"/>
    <p:sldId id="637" r:id="rId52"/>
    <p:sldId id="638" r:id="rId53"/>
    <p:sldId id="639" r:id="rId54"/>
    <p:sldId id="555" r:id="rId55"/>
    <p:sldId id="377" r:id="rId56"/>
  </p:sldIdLst>
  <p:sldSz cx="12192000" cy="6858000"/>
  <p:notesSz cx="6858000" cy="9144000"/>
  <p:embeddedFontLst>
    <p:embeddedFont>
      <p:font typeface="Wingdings 2" panose="05020102010507070707" pitchFamily="18" charset="2"/>
      <p:regular r:id="rId58"/>
    </p:embeddedFont>
    <p:embeddedFont>
      <p:font typeface="Roboto Condensed" panose="02000000000000000000" pitchFamily="2" charset="0"/>
      <p:regular r:id="rId59"/>
      <p:bold r:id="rId60"/>
      <p:italic r:id="rId61"/>
      <p:boldItalic r:id="rId62"/>
    </p:embeddedFont>
    <p:embeddedFont>
      <p:font typeface="Calibri" panose="020F0502020204030204" pitchFamily="34" charset="0"/>
      <p:regular r:id="rId63"/>
      <p:bold r:id="rId64"/>
      <p:italic r:id="rId65"/>
      <p:boldItalic r:id="rId66"/>
    </p:embeddedFont>
    <p:embeddedFont>
      <p:font typeface="Palatino Linotype" panose="02040502050505030304" pitchFamily="18" charset="0"/>
      <p:regular r:id="rId67"/>
      <p:bold r:id="rId68"/>
      <p:italic r:id="rId69"/>
      <p:boldItalic r:id="rId70"/>
    </p:embeddedFont>
    <p:embeddedFont>
      <p:font typeface="Roboto Condensed Light" panose="02000000000000000000" pitchFamily="2" charset="0"/>
      <p:regular r:id="rId71"/>
      <p:italic r:id="rId72"/>
    </p:embeddedFont>
    <p:embeddedFont>
      <p:font typeface="Segoe UI Black" panose="020B0A02040204020203" pitchFamily="34" charset="0"/>
      <p:bold r:id="rId73"/>
      <p:boldItalic r:id="rId74"/>
    </p:embeddedFont>
    <p:embeddedFont>
      <p:font typeface="Wingdings 3" panose="05040102010807070707" pitchFamily="18" charset="2"/>
      <p:regular r:id="rId7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6/WJScjSLglYGwk3Dyr0Wg==" hashData="Lnfnhoz1FSve1U9Ml33xiRFbd9udyazT4mmsCRWpz9UqzFohAyfKHSKfwQZNpJoLwdiRffkJKOHZyDHFoHcxtQ=="/>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72C6"/>
    <a:srgbClr val="03A9F5"/>
    <a:srgbClr val="0E47A1"/>
    <a:srgbClr val="607D8B"/>
    <a:srgbClr val="301B92"/>
    <a:srgbClr val="673BB7"/>
    <a:srgbClr val="ED524F"/>
    <a:srgbClr val="B71B1C"/>
    <a:srgbClr val="F54337"/>
    <a:srgbClr val="D81A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71" autoAdjust="0"/>
    <p:restoredTop sz="94660"/>
  </p:normalViewPr>
  <p:slideViewPr>
    <p:cSldViewPr snapToGrid="0">
      <p:cViewPr varScale="1">
        <p:scale>
          <a:sx n="83" d="100"/>
          <a:sy n="83" d="100"/>
        </p:scale>
        <p:origin x="662"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font" Target="fonts/font11.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74" Type="http://schemas.openxmlformats.org/officeDocument/2006/relationships/font" Target="fonts/font17.fntdata"/><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font" Target="fonts/font12.fntdata"/><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font" Target="fonts/font13.fntdata"/><Relationship Id="rId75"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font" Target="fonts/font16.fntdata"/><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font" Target="fonts/font14.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microsoft.com/office/2007/relationships/hdphoto" Target="../media/hdphoto3.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Nidhi K. Chitroda</a:t>
            </a: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070371" y="6604000"/>
            <a:ext cx="7080308"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#2501CS602 (AT &amp; CC)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a:t>
            </a:r>
            <a:r>
              <a:rPr lang="fr-FR"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Code Optimization, Runtime Environments &amp; Code Generation</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 </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B8961EB9-3BA2-B72E-11E5-1A931889BBD3}"/>
              </a:ext>
            </a:extLst>
          </p:cNvPr>
          <p:cNvSpPr>
            <a:spLocks noGrp="1"/>
          </p:cNvSpPr>
          <p:nvPr>
            <p:ph idx="1"/>
          </p:nvPr>
        </p:nvSpPr>
        <p:spPr>
          <a:xfrm>
            <a:off x="131180" y="863444"/>
            <a:ext cx="11929641" cy="5590565"/>
          </a:xfrm>
        </p:spPr>
        <p:txBody>
          <a:bodyPr>
            <a:noAutofit/>
          </a:bodyPr>
          <a:lstStyle>
            <a:lvl1pPr marL="265113" indent="-265113" algn="just">
              <a:buClr>
                <a:srgbClr val="0E47A1"/>
              </a:buClr>
              <a:buFont typeface="Wingdings 3" panose="05040102010807070707" pitchFamily="18" charset="2"/>
              <a:buChar char=""/>
              <a:defRPr sz="2400">
                <a:solidFill>
                  <a:schemeClr val="tx1"/>
                </a:solidFill>
              </a:defRPr>
            </a:lvl1pPr>
            <a:lvl2pPr marL="809625" indent="-352425" algn="just">
              <a:buClr>
                <a:srgbClr val="0E47A1"/>
              </a:buClr>
              <a:buFont typeface="Wingdings 3" panose="05040102010807070707" pitchFamily="18" charset="2"/>
              <a:buChar char=""/>
              <a:defRPr sz="2000">
                <a:solidFill>
                  <a:schemeClr val="tx1"/>
                </a:solidFill>
              </a:defRPr>
            </a:lvl2pPr>
            <a:lvl3pPr marL="1143000" indent="-228600" algn="just">
              <a:buClr>
                <a:srgbClr val="0E47A1"/>
              </a:buClr>
              <a:buFont typeface="Wingdings" panose="05000000000000000000" pitchFamily="2" charset="2"/>
              <a:buChar char="§"/>
              <a:defRPr sz="1800">
                <a:solidFill>
                  <a:schemeClr val="tx1"/>
                </a:solidFill>
              </a:defRPr>
            </a:lvl3pPr>
            <a:lvl4pPr algn="just">
              <a:buClr>
                <a:srgbClr val="0E47A1"/>
              </a:buClr>
              <a:defRPr sz="1600">
                <a:solidFill>
                  <a:schemeClr val="tx1"/>
                </a:solidFill>
              </a:defRPr>
            </a:lvl4pPr>
            <a:lvl5pPr algn="just">
              <a:buClr>
                <a:srgbClr val="0E47A1"/>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96736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Nidhi K. Chitroda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B985968E-5769-B4EE-68D6-24E5D0D3CE44}"/>
              </a:ext>
            </a:extLst>
          </p:cNvPr>
          <p:cNvSpPr>
            <a:spLocks noGrp="1"/>
          </p:cNvSpPr>
          <p:nvPr>
            <p:ph idx="1"/>
          </p:nvPr>
        </p:nvSpPr>
        <p:spPr>
          <a:xfrm>
            <a:off x="131180" y="863444"/>
            <a:ext cx="11929641" cy="5590565"/>
          </a:xfrm>
        </p:spPr>
        <p:txBody>
          <a:bodyPr>
            <a:noAutofit/>
          </a:bodyPr>
          <a:lstStyle>
            <a:lvl1pPr marL="265113" indent="-265113" algn="just">
              <a:buClr>
                <a:srgbClr val="0E47A1"/>
              </a:buClr>
              <a:buFont typeface="Wingdings 3" panose="05040102010807070707" pitchFamily="18" charset="2"/>
              <a:buChar char=""/>
              <a:defRPr sz="2400">
                <a:solidFill>
                  <a:schemeClr val="tx1"/>
                </a:solidFill>
              </a:defRPr>
            </a:lvl1pPr>
            <a:lvl2pPr marL="809625" indent="-352425" algn="just">
              <a:buClr>
                <a:srgbClr val="0E47A1"/>
              </a:buClr>
              <a:buFont typeface="Wingdings 3" panose="05040102010807070707" pitchFamily="18" charset="2"/>
              <a:buChar char=""/>
              <a:defRPr sz="2000">
                <a:solidFill>
                  <a:schemeClr val="tx1"/>
                </a:solidFill>
              </a:defRPr>
            </a:lvl2pPr>
            <a:lvl3pPr marL="1143000" indent="-228600" algn="just">
              <a:buClr>
                <a:srgbClr val="0E47A1"/>
              </a:buClr>
              <a:buFont typeface="Wingdings" panose="05000000000000000000" pitchFamily="2" charset="2"/>
              <a:buChar char="§"/>
              <a:defRPr sz="1800">
                <a:solidFill>
                  <a:schemeClr val="tx1"/>
                </a:solidFill>
              </a:defRPr>
            </a:lvl3pPr>
            <a:lvl4pPr algn="just">
              <a:buClr>
                <a:srgbClr val="0E47A1"/>
              </a:buClr>
              <a:defRPr sz="1600">
                <a:solidFill>
                  <a:schemeClr val="tx1"/>
                </a:solidFill>
              </a:defRPr>
            </a:lvl4pPr>
            <a:lvl5pPr algn="just">
              <a:buClr>
                <a:srgbClr val="0E47A1"/>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B09EBCE2-EBA0-AEC3-EB78-739B7C5AFD31}"/>
              </a:ext>
            </a:extLst>
          </p:cNvPr>
          <p:cNvSpPr txBox="1">
            <a:spLocks/>
          </p:cNvSpPr>
          <p:nvPr userDrawn="1"/>
        </p:nvSpPr>
        <p:spPr>
          <a:xfrm>
            <a:off x="3070371" y="6604000"/>
            <a:ext cx="7080308"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#2501CS602 (AT &amp; CC)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a:t>
            </a:r>
            <a:r>
              <a:rPr lang="fr-FR"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Code Optimization, Runtime Environments &amp; Code Generation</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 </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2082748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Nidhi K. Chitroda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63F52789-B056-877D-995D-1DAB6C50DC12}"/>
              </a:ext>
            </a:extLst>
          </p:cNvPr>
          <p:cNvSpPr>
            <a:spLocks noGrp="1"/>
          </p:cNvSpPr>
          <p:nvPr>
            <p:ph idx="1"/>
          </p:nvPr>
        </p:nvSpPr>
        <p:spPr>
          <a:xfrm>
            <a:off x="131180" y="863444"/>
            <a:ext cx="11929641" cy="5590565"/>
          </a:xfrm>
        </p:spPr>
        <p:txBody>
          <a:bodyPr>
            <a:noAutofit/>
          </a:bodyPr>
          <a:lstStyle>
            <a:lvl1pPr marL="265113" indent="-265113" algn="just">
              <a:buClr>
                <a:srgbClr val="0E47A1"/>
              </a:buClr>
              <a:buFont typeface="Wingdings 3" panose="05040102010807070707" pitchFamily="18" charset="2"/>
              <a:buChar char=""/>
              <a:defRPr sz="2400">
                <a:solidFill>
                  <a:schemeClr val="tx1"/>
                </a:solidFill>
              </a:defRPr>
            </a:lvl1pPr>
            <a:lvl2pPr marL="809625" indent="-352425" algn="just">
              <a:buClr>
                <a:srgbClr val="0E47A1"/>
              </a:buClr>
              <a:buFont typeface="Wingdings 3" panose="05040102010807070707" pitchFamily="18" charset="2"/>
              <a:buChar char=""/>
              <a:defRPr sz="2000">
                <a:solidFill>
                  <a:schemeClr val="tx1"/>
                </a:solidFill>
              </a:defRPr>
            </a:lvl2pPr>
            <a:lvl3pPr marL="1143000" indent="-228600" algn="just">
              <a:buClr>
                <a:srgbClr val="0E47A1"/>
              </a:buClr>
              <a:buFont typeface="Wingdings" panose="05000000000000000000" pitchFamily="2" charset="2"/>
              <a:buChar char="§"/>
              <a:defRPr sz="1800">
                <a:solidFill>
                  <a:schemeClr val="tx1"/>
                </a:solidFill>
              </a:defRPr>
            </a:lvl3pPr>
            <a:lvl4pPr algn="just">
              <a:buClr>
                <a:srgbClr val="0E47A1"/>
              </a:buClr>
              <a:defRPr sz="1600">
                <a:solidFill>
                  <a:schemeClr val="tx1"/>
                </a:solidFill>
              </a:defRPr>
            </a:lvl4pPr>
            <a:lvl5pPr algn="just">
              <a:buClr>
                <a:srgbClr val="0E47A1"/>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a:extLst>
              <a:ext uri="{FF2B5EF4-FFF2-40B4-BE49-F238E27FC236}">
                <a16:creationId xmlns:a16="http://schemas.microsoft.com/office/drawing/2014/main" id="{9C3DB880-1C1C-8A59-46FB-3E130103D9FE}"/>
              </a:ext>
            </a:extLst>
          </p:cNvPr>
          <p:cNvSpPr txBox="1">
            <a:spLocks/>
          </p:cNvSpPr>
          <p:nvPr userDrawn="1"/>
        </p:nvSpPr>
        <p:spPr>
          <a:xfrm>
            <a:off x="3070371" y="6604000"/>
            <a:ext cx="7080308"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#2501CS602 (AT &amp; CC)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a:t>
            </a:r>
            <a:r>
              <a:rPr lang="fr-FR"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Code Optimization, Runtime Environments &amp; Code Generation</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 </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3941258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Freeform 17">
            <a:extLst>
              <a:ext uri="{FF2B5EF4-FFF2-40B4-BE49-F238E27FC236}">
                <a16:creationId xmlns:a16="http://schemas.microsoft.com/office/drawing/2014/main" id="{830E9B56-6CD2-0324-CBA9-D4D9040D1D12}"/>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5" name="Title 1">
            <a:extLst>
              <a:ext uri="{FF2B5EF4-FFF2-40B4-BE49-F238E27FC236}">
                <a16:creationId xmlns:a16="http://schemas.microsoft.com/office/drawing/2014/main" id="{0BE67A2A-C110-D13B-20C2-A9C8F8165A3D}"/>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0E47A1"/>
                    </a:gs>
                    <a:gs pos="100000">
                      <a:srgbClr val="03A9F5"/>
                    </a:gs>
                  </a:gsLst>
                  <a:lin ang="0" scaled="1"/>
                  <a:tileRect/>
                </a:gradFill>
                <a:effectLst/>
                <a:latin typeface="+mn-lt"/>
                <a:ea typeface="+mn-ea"/>
                <a:cs typeface="+mn-cs"/>
              </a:defRPr>
            </a:lvl1pPr>
          </a:lstStyle>
          <a:p>
            <a:r>
              <a:rPr lang="en-US" dirty="0"/>
              <a:t>Write here Section Title</a:t>
            </a:r>
          </a:p>
        </p:txBody>
      </p:sp>
    </p:spTree>
    <p:extLst>
      <p:ext uri="{BB962C8B-B14F-4D97-AF65-F5344CB8AC3E}">
        <p14:creationId xmlns:p14="http://schemas.microsoft.com/office/powerpoint/2010/main" val="1565973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Nidhi K. Chitroda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oter Placeholder 2">
            <a:extLst>
              <a:ext uri="{FF2B5EF4-FFF2-40B4-BE49-F238E27FC236}">
                <a16:creationId xmlns:a16="http://schemas.microsoft.com/office/drawing/2014/main" id="{D7F9AB9E-28FD-19E3-A90A-606833552964}"/>
              </a:ext>
            </a:extLst>
          </p:cNvPr>
          <p:cNvSpPr txBox="1">
            <a:spLocks/>
          </p:cNvSpPr>
          <p:nvPr userDrawn="1"/>
        </p:nvSpPr>
        <p:spPr>
          <a:xfrm>
            <a:off x="3070371" y="6604000"/>
            <a:ext cx="7080308"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#2501CS602 (AT &amp; CC)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a:t>
            </a:r>
            <a:r>
              <a:rPr lang="fr-FR"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Code Optimization, Runtime Environments &amp; Code Generation</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 </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3628365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Nidhi K. Chitroda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oter Placeholder 2">
            <a:extLst>
              <a:ext uri="{FF2B5EF4-FFF2-40B4-BE49-F238E27FC236}">
                <a16:creationId xmlns:a16="http://schemas.microsoft.com/office/drawing/2014/main" id="{242047DD-D2C4-B134-B174-3A476EFD808A}"/>
              </a:ext>
            </a:extLst>
          </p:cNvPr>
          <p:cNvSpPr txBox="1">
            <a:spLocks/>
          </p:cNvSpPr>
          <p:nvPr userDrawn="1"/>
        </p:nvSpPr>
        <p:spPr>
          <a:xfrm>
            <a:off x="3070371" y="6604000"/>
            <a:ext cx="7080308"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#2501CS602 (AT &amp; CC)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4 – </a:t>
            </a:r>
            <a:r>
              <a:rPr lang="fr-FR"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Code Optimization, Runtime Environments &amp; Code Generation</a:t>
            </a:r>
            <a:r>
              <a:rPr lang="en-IN"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rPr>
              <a:t> </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1154741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4727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2071377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1018DFAF-9B15-4199-9C36-C730A2CE6C5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935002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77050">
                <a:srgbClr val="0690E0"/>
              </a:gs>
              <a:gs pos="10000">
                <a:srgbClr val="0E47A1"/>
              </a:gs>
              <a:gs pos="49425">
                <a:srgbClr val="0972C6"/>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hq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023846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3/17/2026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43802853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8" r:id="rId7"/>
    <p:sldLayoutId id="2147483729" r:id="rId8"/>
    <p:sldLayoutId id="2147483738" r:id="rId9"/>
    <p:sldLayoutId id="2147483716"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59489" y="1122364"/>
            <a:ext cx="7272177" cy="2578780"/>
          </a:xfrm>
        </p:spPr>
        <p:txBody>
          <a:bodyPr/>
          <a:lstStyle/>
          <a:p>
            <a:r>
              <a:rPr lang="en-US" sz="4800" b="0" dirty="0">
                <a:latin typeface="Roboto Condensed Light" panose="02000000000000000000" pitchFamily="2" charset="0"/>
                <a:ea typeface="Roboto Condensed Light" panose="02000000000000000000" pitchFamily="2" charset="0"/>
              </a:rPr>
              <a:t>Unit</a:t>
            </a:r>
            <a:r>
              <a:rPr lang="en-US" dirty="0"/>
              <a:t> </a:t>
            </a:r>
            <a:r>
              <a:rPr lang="en-US" sz="4800" b="0" dirty="0">
                <a:latin typeface="Roboto Condensed Light" panose="02000000000000000000" pitchFamily="2" charset="0"/>
                <a:ea typeface="Roboto Condensed Light" panose="02000000000000000000" pitchFamily="2" charset="0"/>
              </a:rPr>
              <a:t>– 4</a:t>
            </a:r>
            <a:r>
              <a:rPr lang="en-US" dirty="0"/>
              <a:t/>
            </a:r>
            <a:br>
              <a:rPr lang="en-US" dirty="0"/>
            </a:br>
            <a:r>
              <a:rPr lang="fr-FR" sz="4800" dirty="0"/>
              <a:t>Code Optimization, </a:t>
            </a:r>
            <a:br>
              <a:rPr lang="fr-FR" sz="4800" dirty="0"/>
            </a:br>
            <a:r>
              <a:rPr lang="fr-FR" sz="4800" dirty="0"/>
              <a:t>Runtime Environments &amp; Code Generation</a:t>
            </a:r>
            <a:r>
              <a:rPr lang="en-IN" sz="4800" dirty="0"/>
              <a:t> </a:t>
            </a:r>
            <a:endParaRPr lang="en-US" sz="4800" dirty="0"/>
          </a:p>
        </p:txBody>
      </p:sp>
      <p:sp>
        <p:nvSpPr>
          <p:cNvPr id="16" name="Text Placeholder 15">
            <a:extLst>
              <a:ext uri="{FF2B5EF4-FFF2-40B4-BE49-F238E27FC236}">
                <a16:creationId xmlns:a16="http://schemas.microsoft.com/office/drawing/2014/main" id="{05EEC38D-B69A-4F45-9CFB-3F832F2054F3}"/>
              </a:ext>
            </a:extLst>
          </p:cNvPr>
          <p:cNvSpPr>
            <a:spLocks noGrp="1"/>
          </p:cNvSpPr>
          <p:nvPr>
            <p:ph type="body" sz="quarter" idx="11"/>
          </p:nvPr>
        </p:nvSpPr>
        <p:spPr/>
        <p:txBody>
          <a:bodyPr/>
          <a:lstStyle/>
          <a:p>
            <a:r>
              <a:rPr lang="en-US" dirty="0"/>
              <a:t>nidhi.chitroda@darshan.ac.in</a:t>
            </a:r>
          </a:p>
        </p:txBody>
      </p:sp>
      <p:sp>
        <p:nvSpPr>
          <p:cNvPr id="17" name="Text Placeholder 16">
            <a:extLst>
              <a:ext uri="{FF2B5EF4-FFF2-40B4-BE49-F238E27FC236}">
                <a16:creationId xmlns:a16="http://schemas.microsoft.com/office/drawing/2014/main" id="{3B892750-977A-4A19-B627-46C829D9CDA2}"/>
              </a:ext>
            </a:extLst>
          </p:cNvPr>
          <p:cNvSpPr>
            <a:spLocks noGrp="1"/>
          </p:cNvSpPr>
          <p:nvPr>
            <p:ph type="body" sz="quarter" idx="12"/>
          </p:nvPr>
        </p:nvSpPr>
        <p:spPr/>
        <p:txBody>
          <a:bodyPr/>
          <a:lstStyle/>
          <a:p>
            <a:r>
              <a:rPr lang="en-US" dirty="0"/>
              <a:t>+91 - 97277 47317 (CE Department)</a:t>
            </a:r>
          </a:p>
        </p:txBody>
      </p:sp>
      <p:sp>
        <p:nvSpPr>
          <p:cNvPr id="18" name="Text Placeholder 17">
            <a:extLst>
              <a:ext uri="{FF2B5EF4-FFF2-40B4-BE49-F238E27FC236}">
                <a16:creationId xmlns:a16="http://schemas.microsoft.com/office/drawing/2014/main" id="{DDD3C75D-9CAD-401D-B6F2-D687EEC3CDEC}"/>
              </a:ext>
            </a:extLst>
          </p:cNvPr>
          <p:cNvSpPr>
            <a:spLocks noGrp="1"/>
          </p:cNvSpPr>
          <p:nvPr>
            <p:ph type="body" sz="quarter" idx="13"/>
          </p:nvPr>
        </p:nvSpPr>
        <p:spPr/>
        <p:txBody>
          <a:bodyPr/>
          <a:lstStyle/>
          <a:p>
            <a:r>
              <a:rPr lang="en-US" dirty="0"/>
              <a:t>Computer Engineering Department</a:t>
            </a:r>
          </a:p>
        </p:txBody>
      </p:sp>
      <p:sp>
        <p:nvSpPr>
          <p:cNvPr id="19" name="Text Placeholder 18">
            <a:extLst>
              <a:ext uri="{FF2B5EF4-FFF2-40B4-BE49-F238E27FC236}">
                <a16:creationId xmlns:a16="http://schemas.microsoft.com/office/drawing/2014/main" id="{D6DA44CB-50AE-4D51-AC18-616176252887}"/>
              </a:ext>
            </a:extLst>
          </p:cNvPr>
          <p:cNvSpPr>
            <a:spLocks noGrp="1"/>
          </p:cNvSpPr>
          <p:nvPr>
            <p:ph type="body" sz="quarter" idx="14"/>
          </p:nvPr>
        </p:nvSpPr>
        <p:spPr/>
        <p:txBody>
          <a:bodyPr/>
          <a:lstStyle/>
          <a:p>
            <a:r>
              <a:rPr lang="en-US" dirty="0"/>
              <a:t>Prof. Nidhi K. Chitroda</a:t>
            </a:r>
          </a:p>
        </p:txBody>
      </p:sp>
      <p:sp>
        <p:nvSpPr>
          <p:cNvPr id="20" name="Text Placeholder 19">
            <a:extLst>
              <a:ext uri="{FF2B5EF4-FFF2-40B4-BE49-F238E27FC236}">
                <a16:creationId xmlns:a16="http://schemas.microsoft.com/office/drawing/2014/main" id="{FF5B8673-7BA1-4EA7-991A-5F4DCD3054D0}"/>
              </a:ext>
            </a:extLst>
          </p:cNvPr>
          <p:cNvSpPr>
            <a:spLocks noGrp="1"/>
          </p:cNvSpPr>
          <p:nvPr>
            <p:ph type="body" sz="quarter" idx="16"/>
          </p:nvPr>
        </p:nvSpPr>
        <p:spPr>
          <a:xfrm>
            <a:off x="2641025" y="71186"/>
            <a:ext cx="4646358" cy="734653"/>
          </a:xfrm>
        </p:spPr>
        <p:txBody>
          <a:bodyPr/>
          <a:lstStyle/>
          <a:p>
            <a:r>
              <a:rPr lang="en-US" b="1" dirty="0"/>
              <a:t>Automata Theory &amp; Compiler Construction </a:t>
            </a:r>
            <a:r>
              <a:rPr lang="en-US" dirty="0">
                <a:latin typeface="Roboto Condensed Light" panose="02000000000000000000" pitchFamily="2" charset="0"/>
                <a:ea typeface="Roboto Condensed Light" panose="02000000000000000000" pitchFamily="2" charset="0"/>
              </a:rPr>
              <a:t>(ATCC)</a:t>
            </a:r>
          </a:p>
          <a:p>
            <a:r>
              <a:rPr lang="en-US" dirty="0">
                <a:latin typeface="Roboto Condensed Light" panose="02000000000000000000" pitchFamily="2" charset="0"/>
                <a:ea typeface="Roboto Condensed Light" panose="02000000000000000000" pitchFamily="2" charset="0"/>
              </a:rPr>
              <a:t>DU </a:t>
            </a:r>
            <a:r>
              <a:rPr lang="en-US">
                <a:latin typeface="Roboto Condensed Light" panose="02000000000000000000" pitchFamily="2" charset="0"/>
                <a:ea typeface="Roboto Condensed Light" panose="02000000000000000000" pitchFamily="2" charset="0"/>
              </a:rPr>
              <a:t># 2501CS602</a:t>
            </a:r>
            <a:endParaRPr lang="en-US" dirty="0">
              <a:latin typeface="Roboto Condensed Light" panose="02000000000000000000" pitchFamily="2" charset="0"/>
              <a:ea typeface="Roboto Condensed Light" panose="02000000000000000000" pitchFamily="2" charset="0"/>
            </a:endParaRPr>
          </a:p>
        </p:txBody>
      </p:sp>
      <p:sp>
        <p:nvSpPr>
          <p:cNvPr id="3" name="Picture Placeholder 2">
            <a:extLst>
              <a:ext uri="{FF2B5EF4-FFF2-40B4-BE49-F238E27FC236}">
                <a16:creationId xmlns:a16="http://schemas.microsoft.com/office/drawing/2014/main" id="{43183DD2-5702-D970-1DD6-D2D66453B24E}"/>
              </a:ext>
            </a:extLst>
          </p:cNvPr>
          <p:cNvSpPr>
            <a:spLocks noGrp="1"/>
          </p:cNvSpPr>
          <p:nvPr>
            <p:ph type="pic" sz="quarter" idx="10"/>
          </p:nvPr>
        </p:nvSpPr>
        <p:spPr/>
      </p:sp>
      <p:pic>
        <p:nvPicPr>
          <p:cNvPr id="5" name="Picture Placeholder 20">
            <a:extLst>
              <a:ext uri="{FF2B5EF4-FFF2-40B4-BE49-F238E27FC236}">
                <a16:creationId xmlns:a16="http://schemas.microsoft.com/office/drawing/2014/main" id="{3C060EF2-779E-07CB-9EE4-EDBFEE29C56A}"/>
              </a:ext>
            </a:extLst>
          </p:cNvPr>
          <p:cNvPicPr>
            <a:picLocks noChangeAspect="1"/>
          </p:cNvPicPr>
          <p:nvPr/>
        </p:nvPicPr>
        <p:blipFill>
          <a:blip r:embed="rId2">
            <a:extLst>
              <a:ext uri="{28A0092B-C50C-407E-A947-70E740481C1C}">
                <a14:useLocalDpi xmlns:a14="http://schemas.microsoft.com/office/drawing/2010/main" val="0"/>
              </a:ext>
            </a:extLst>
          </a:blip>
          <a:srcRect l="13590" r="13590"/>
          <a:stretch>
            <a:fillRect/>
          </a:stretch>
        </p:blipFill>
        <p:spPr>
          <a:xfrm>
            <a:off x="350638"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Tree>
    <p:extLst>
      <p:ext uri="{BB962C8B-B14F-4D97-AF65-F5344CB8AC3E}">
        <p14:creationId xmlns:p14="http://schemas.microsoft.com/office/powerpoint/2010/main" val="4432033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07492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79766" y="195312"/>
            <a:ext cx="8417267" cy="5570756"/>
          </a:xfrm>
          <a:prstGeom prst="rect">
            <a:avLst/>
          </a:prstGeom>
          <a:noFill/>
        </p:spPr>
        <p:txBody>
          <a:bodyPr wrap="square" rtlCol="0">
            <a:spAutoFit/>
          </a:bodyPr>
          <a:lstStyle/>
          <a:p>
            <a:r>
              <a:rPr lang="en-US" sz="3600" b="1" dirty="0"/>
              <a:t>Topics to be covered </a:t>
            </a:r>
          </a:p>
          <a:p>
            <a:pPr marL="742950" lvl="1" indent="-285750">
              <a:lnSpc>
                <a:spcPct val="150000"/>
              </a:lnSpc>
              <a:buFont typeface="Arial" panose="020B0604020202020204" pitchFamily="34" charset="0"/>
              <a:buChar char="•"/>
            </a:pPr>
            <a:r>
              <a:rPr lang="en-IN" sz="2400" dirty="0"/>
              <a:t>Code optimization techniques</a:t>
            </a:r>
          </a:p>
          <a:p>
            <a:pPr marL="742950" lvl="1" indent="-285750">
              <a:lnSpc>
                <a:spcPct val="150000"/>
              </a:lnSpc>
              <a:buFont typeface="Arial" panose="020B0604020202020204" pitchFamily="34" charset="0"/>
              <a:buChar char="•"/>
            </a:pPr>
            <a:r>
              <a:rPr lang="en-IN" sz="2400" dirty="0"/>
              <a:t>Storage allocation strategies</a:t>
            </a:r>
          </a:p>
          <a:p>
            <a:pPr marL="742950" lvl="1" indent="-285750">
              <a:lnSpc>
                <a:spcPct val="150000"/>
              </a:lnSpc>
              <a:buFont typeface="Arial" panose="020B0604020202020204" pitchFamily="34" charset="0"/>
              <a:buChar char="•"/>
            </a:pPr>
            <a:r>
              <a:rPr lang="en-IN" sz="2400" dirty="0"/>
              <a:t>Static allocation</a:t>
            </a:r>
          </a:p>
          <a:p>
            <a:pPr marL="742950" lvl="1" indent="-285750">
              <a:lnSpc>
                <a:spcPct val="150000"/>
              </a:lnSpc>
              <a:buFont typeface="Arial" panose="020B0604020202020204" pitchFamily="34" charset="0"/>
              <a:buChar char="•"/>
            </a:pPr>
            <a:r>
              <a:rPr lang="en-IN" sz="2400" dirty="0"/>
              <a:t>Stack allocation</a:t>
            </a:r>
          </a:p>
          <a:p>
            <a:pPr marL="742950" lvl="1" indent="-285750">
              <a:lnSpc>
                <a:spcPct val="150000"/>
              </a:lnSpc>
              <a:buFont typeface="Arial" panose="020B0604020202020204" pitchFamily="34" charset="0"/>
              <a:buChar char="•"/>
            </a:pPr>
            <a:r>
              <a:rPr lang="en-IN" sz="2400" dirty="0"/>
              <a:t>Heap allocation</a:t>
            </a:r>
          </a:p>
          <a:p>
            <a:pPr marL="742950" lvl="1" indent="-285750">
              <a:lnSpc>
                <a:spcPct val="150000"/>
              </a:lnSpc>
              <a:buFont typeface="Arial" panose="020B0604020202020204" pitchFamily="34" charset="0"/>
              <a:buChar char="•"/>
            </a:pPr>
            <a:r>
              <a:rPr lang="en-IN" sz="2400" dirty="0"/>
              <a:t>Issues in design of code generation</a:t>
            </a:r>
          </a:p>
          <a:p>
            <a:pPr marL="742950" lvl="1" indent="-285750">
              <a:lnSpc>
                <a:spcPct val="150000"/>
              </a:lnSpc>
              <a:buFont typeface="Arial" panose="020B0604020202020204" pitchFamily="34" charset="0"/>
              <a:buChar char="•"/>
            </a:pPr>
            <a:r>
              <a:rPr lang="en-IN" sz="2400" dirty="0"/>
              <a:t>Basic Blocks and Control Flow Graphs</a:t>
            </a:r>
          </a:p>
          <a:p>
            <a:pPr marL="742950" lvl="1" indent="-285750">
              <a:lnSpc>
                <a:spcPct val="150000"/>
              </a:lnSpc>
              <a:buFont typeface="Arial" panose="020B0604020202020204" pitchFamily="34" charset="0"/>
              <a:buChar char="•"/>
            </a:pPr>
            <a:r>
              <a:rPr lang="en-IN" sz="2400" dirty="0"/>
              <a:t>Data Flow Analysis- Liveness analysis</a:t>
            </a:r>
          </a:p>
          <a:p>
            <a:pPr marL="742950" lvl="1" indent="-285750">
              <a:lnSpc>
                <a:spcPct val="150000"/>
              </a:lnSpc>
              <a:buFont typeface="Arial" panose="020B0604020202020204" pitchFamily="34" charset="0"/>
              <a:buChar char="•"/>
            </a:pPr>
            <a:r>
              <a:rPr lang="en-IN" sz="2400" dirty="0"/>
              <a:t>A simple code generator</a:t>
            </a:r>
            <a:endParaRPr lang="en-US" sz="2200" dirty="0"/>
          </a:p>
        </p:txBody>
      </p:sp>
    </p:spTree>
    <p:extLst>
      <p:ext uri="{BB962C8B-B14F-4D97-AF65-F5344CB8AC3E}">
        <p14:creationId xmlns:p14="http://schemas.microsoft.com/office/powerpoint/2010/main" val="350639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B1E20DE-1E34-7C38-F0D5-5CE799C3780F}"/>
              </a:ext>
            </a:extLst>
          </p:cNvPr>
          <p:cNvSpPr>
            <a:spLocks noGrp="1"/>
          </p:cNvSpPr>
          <p:nvPr>
            <p:ph type="body" idx="1"/>
          </p:nvPr>
        </p:nvSpPr>
        <p:spPr/>
        <p:txBody>
          <a:bodyPr/>
          <a:lstStyle/>
          <a:p>
            <a:endParaRPr lang="en-IN"/>
          </a:p>
        </p:txBody>
      </p:sp>
      <p:sp>
        <p:nvSpPr>
          <p:cNvPr id="3" name="Title 2">
            <a:extLst>
              <a:ext uri="{FF2B5EF4-FFF2-40B4-BE49-F238E27FC236}">
                <a16:creationId xmlns:a16="http://schemas.microsoft.com/office/drawing/2014/main" id="{56952E09-41D8-E724-B76F-DFF55EC45E73}"/>
              </a:ext>
            </a:extLst>
          </p:cNvPr>
          <p:cNvSpPr>
            <a:spLocks noGrp="1"/>
          </p:cNvSpPr>
          <p:nvPr>
            <p:ph type="title"/>
          </p:nvPr>
        </p:nvSpPr>
        <p:spPr/>
        <p:txBody>
          <a:bodyPr>
            <a:normAutofit/>
          </a:bodyPr>
          <a:lstStyle/>
          <a:p>
            <a:r>
              <a:rPr lang="en-US" dirty="0"/>
              <a:t/>
            </a:r>
            <a:br>
              <a:rPr lang="en-US" dirty="0"/>
            </a:br>
            <a:r>
              <a:rPr lang="en-IN" dirty="0"/>
              <a:t>Code optimization techniques</a:t>
            </a:r>
          </a:p>
        </p:txBody>
      </p:sp>
    </p:spTree>
    <p:extLst>
      <p:ext uri="{BB962C8B-B14F-4D97-AF65-F5344CB8AC3E}">
        <p14:creationId xmlns:p14="http://schemas.microsoft.com/office/powerpoint/2010/main" val="2846474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A0284-FD73-F73B-CD89-4399F0D2C149}"/>
              </a:ext>
            </a:extLst>
          </p:cNvPr>
          <p:cNvSpPr>
            <a:spLocks noGrp="1"/>
          </p:cNvSpPr>
          <p:nvPr>
            <p:ph type="title"/>
          </p:nvPr>
        </p:nvSpPr>
        <p:spPr/>
        <p:txBody>
          <a:bodyPr/>
          <a:lstStyle/>
          <a:p>
            <a:r>
              <a:rPr lang="en-US" dirty="0"/>
              <a:t>Code Optimization</a:t>
            </a:r>
            <a:endParaRPr lang="en-IN" dirty="0"/>
          </a:p>
        </p:txBody>
      </p:sp>
      <p:sp>
        <p:nvSpPr>
          <p:cNvPr id="4" name="Content Placeholder 2">
            <a:extLst>
              <a:ext uri="{FF2B5EF4-FFF2-40B4-BE49-F238E27FC236}">
                <a16:creationId xmlns:a16="http://schemas.microsoft.com/office/drawing/2014/main" id="{8BD47927-9FB1-49B5-1DF2-A9D25DBB3AB1}"/>
              </a:ext>
            </a:extLst>
          </p:cNvPr>
          <p:cNvSpPr>
            <a:spLocks noGrp="1"/>
          </p:cNvSpPr>
          <p:nvPr>
            <p:ph idx="1"/>
          </p:nvPr>
        </p:nvSpPr>
        <p:spPr>
          <a:xfrm>
            <a:off x="131180" y="863444"/>
            <a:ext cx="11929641" cy="5590565"/>
          </a:xfrm>
        </p:spPr>
        <p:txBody>
          <a:bodyPr/>
          <a:lstStyle/>
          <a:p>
            <a:pPr marL="0" indent="0">
              <a:buNone/>
            </a:pPr>
            <a:r>
              <a:rPr lang="en-US" sz="2000" dirty="0"/>
              <a:t>int foo(int x) {</a:t>
            </a:r>
          </a:p>
          <a:p>
            <a:pPr marL="0" indent="0">
              <a:buNone/>
            </a:pPr>
            <a:r>
              <a:rPr lang="en-US" sz="2000" dirty="0"/>
              <a:t>    int y = x * 2; </a:t>
            </a:r>
          </a:p>
          <a:p>
            <a:pPr marL="0" indent="0">
              <a:buNone/>
            </a:pPr>
            <a:r>
              <a:rPr lang="en-US" sz="2000" dirty="0"/>
              <a:t>    return x * 2;  </a:t>
            </a:r>
          </a:p>
          <a:p>
            <a:pPr marL="0" indent="0">
              <a:buNone/>
            </a:pPr>
            <a:r>
              <a:rPr lang="en-US" sz="2000" dirty="0"/>
              <a:t>}</a:t>
            </a:r>
          </a:p>
          <a:p>
            <a:pPr marL="0" indent="0">
              <a:buNone/>
            </a:pPr>
            <a:r>
              <a:rPr lang="en-IN" sz="2000" dirty="0"/>
              <a:t>void </a:t>
            </a:r>
            <a:r>
              <a:rPr lang="en-IN" sz="2000" dirty="0" err="1"/>
              <a:t>sendNotification</a:t>
            </a:r>
            <a:r>
              <a:rPr lang="en-IN" sz="2000" dirty="0"/>
              <a:t>(User user) {</a:t>
            </a:r>
          </a:p>
          <a:p>
            <a:pPr marL="0" indent="0">
              <a:buNone/>
            </a:pPr>
            <a:r>
              <a:rPr lang="en-IN" sz="2000" dirty="0"/>
              <a:t>    </a:t>
            </a:r>
            <a:r>
              <a:rPr lang="en-IN" sz="2000" i="1" dirty="0"/>
              <a:t>// same sending logic</a:t>
            </a:r>
            <a:endParaRPr lang="en-IN" sz="2000" dirty="0"/>
          </a:p>
          <a:p>
            <a:pPr marL="0" indent="0">
              <a:buNone/>
            </a:pPr>
            <a:r>
              <a:rPr lang="en-IN" sz="2000" dirty="0"/>
              <a:t>}</a:t>
            </a:r>
          </a:p>
          <a:p>
            <a:pPr marL="0" indent="0">
              <a:buNone/>
            </a:pPr>
            <a:r>
              <a:rPr lang="en-IN" sz="2000" dirty="0"/>
              <a:t>void </a:t>
            </a:r>
            <a:r>
              <a:rPr lang="en-IN" sz="2000" dirty="0" err="1"/>
              <a:t>alertUser</a:t>
            </a:r>
            <a:r>
              <a:rPr lang="en-IN" sz="2000" dirty="0"/>
              <a:t>(User user) {</a:t>
            </a:r>
          </a:p>
          <a:p>
            <a:pPr marL="0" indent="0">
              <a:buNone/>
            </a:pPr>
            <a:r>
              <a:rPr lang="en-IN" sz="2000" dirty="0"/>
              <a:t>    </a:t>
            </a:r>
            <a:r>
              <a:rPr lang="en-IN" sz="2000" i="1" dirty="0"/>
              <a:t>// same sending logic</a:t>
            </a:r>
            <a:endParaRPr lang="en-IN" sz="2000" dirty="0"/>
          </a:p>
          <a:p>
            <a:pPr marL="0" indent="0">
              <a:buNone/>
            </a:pPr>
            <a:r>
              <a:rPr lang="en-IN" sz="2000" dirty="0"/>
              <a:t>}</a:t>
            </a:r>
          </a:p>
          <a:p>
            <a:pPr marL="0" indent="0">
              <a:buNone/>
            </a:pPr>
            <a:r>
              <a:rPr lang="en-IN" sz="2000" dirty="0"/>
              <a:t>main()</a:t>
            </a:r>
          </a:p>
          <a:p>
            <a:pPr marL="0" indent="0">
              <a:buNone/>
            </a:pPr>
            <a:r>
              <a:rPr lang="en-IN" sz="2000" dirty="0"/>
              <a:t>{     int x=0; </a:t>
            </a:r>
          </a:p>
          <a:p>
            <a:pPr marL="0" indent="0">
              <a:buNone/>
            </a:pPr>
            <a:r>
              <a:rPr lang="en-IN" sz="2000" dirty="0"/>
              <a:t>     for(x=0;x&lt;10;x++)</a:t>
            </a:r>
          </a:p>
          <a:p>
            <a:pPr marL="0" indent="0">
              <a:buNone/>
            </a:pPr>
            <a:r>
              <a:rPr lang="en-IN" sz="2000" dirty="0"/>
              <a:t>}</a:t>
            </a:r>
            <a:endParaRPr lang="en-US" sz="2000" dirty="0"/>
          </a:p>
        </p:txBody>
      </p:sp>
      <p:cxnSp>
        <p:nvCxnSpPr>
          <p:cNvPr id="5" name="Straight Connector 4">
            <a:extLst>
              <a:ext uri="{FF2B5EF4-FFF2-40B4-BE49-F238E27FC236}">
                <a16:creationId xmlns:a16="http://schemas.microsoft.com/office/drawing/2014/main" id="{1263B57B-54BA-B1B4-B27E-89D18FA43D9B}"/>
              </a:ext>
            </a:extLst>
          </p:cNvPr>
          <p:cNvCxnSpPr/>
          <p:nvPr/>
        </p:nvCxnSpPr>
        <p:spPr>
          <a:xfrm>
            <a:off x="131180" y="2445105"/>
            <a:ext cx="1143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cxnSp>
        <p:nvCxnSpPr>
          <p:cNvPr id="3" name="Straight Connector 2">
            <a:extLst>
              <a:ext uri="{FF2B5EF4-FFF2-40B4-BE49-F238E27FC236}">
                <a16:creationId xmlns:a16="http://schemas.microsoft.com/office/drawing/2014/main" id="{83AFD2BD-4D7D-6030-C467-74B610934233}"/>
              </a:ext>
            </a:extLst>
          </p:cNvPr>
          <p:cNvCxnSpPr/>
          <p:nvPr/>
        </p:nvCxnSpPr>
        <p:spPr>
          <a:xfrm>
            <a:off x="131180" y="4891818"/>
            <a:ext cx="1143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47234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0E1D7-5F94-25A1-752D-32C30FE95E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3EC96B-3227-B65F-45D4-6A70BB8E1D20}"/>
              </a:ext>
            </a:extLst>
          </p:cNvPr>
          <p:cNvSpPr>
            <a:spLocks noGrp="1"/>
          </p:cNvSpPr>
          <p:nvPr>
            <p:ph type="title"/>
          </p:nvPr>
        </p:nvSpPr>
        <p:spPr/>
        <p:txBody>
          <a:bodyPr/>
          <a:lstStyle/>
          <a:p>
            <a:r>
              <a:rPr lang="en-US" dirty="0"/>
              <a:t>Code Optimization</a:t>
            </a:r>
            <a:endParaRPr lang="en-IN" dirty="0"/>
          </a:p>
        </p:txBody>
      </p:sp>
      <p:sp>
        <p:nvSpPr>
          <p:cNvPr id="4" name="Content Placeholder 2">
            <a:extLst>
              <a:ext uri="{FF2B5EF4-FFF2-40B4-BE49-F238E27FC236}">
                <a16:creationId xmlns:a16="http://schemas.microsoft.com/office/drawing/2014/main" id="{2C9FE505-6A5A-4B25-92B3-6C841D16ECEB}"/>
              </a:ext>
            </a:extLst>
          </p:cNvPr>
          <p:cNvSpPr>
            <a:spLocks noGrp="1"/>
          </p:cNvSpPr>
          <p:nvPr>
            <p:ph idx="1"/>
          </p:nvPr>
        </p:nvSpPr>
        <p:spPr>
          <a:xfrm>
            <a:off x="131180" y="863444"/>
            <a:ext cx="11929641" cy="5590565"/>
          </a:xfrm>
        </p:spPr>
        <p:txBody>
          <a:bodyPr/>
          <a:lstStyle/>
          <a:p>
            <a:r>
              <a:rPr lang="en-US" dirty="0"/>
              <a:t>Code Optimization is a program transformation technique which, tries to </a:t>
            </a:r>
            <a:r>
              <a:rPr lang="en-US" dirty="0">
                <a:solidFill>
                  <a:srgbClr val="C00000"/>
                </a:solidFill>
              </a:rPr>
              <a:t>improve the code </a:t>
            </a:r>
            <a:r>
              <a:rPr lang="en-US" dirty="0"/>
              <a:t>by </a:t>
            </a:r>
            <a:r>
              <a:rPr lang="en-US" dirty="0">
                <a:solidFill>
                  <a:srgbClr val="0E47A1"/>
                </a:solidFill>
              </a:rPr>
              <a:t>eliminating unnecessary code lines </a:t>
            </a:r>
            <a:r>
              <a:rPr lang="en-US" dirty="0"/>
              <a:t>and arranging the statements in such a sequence that </a:t>
            </a:r>
            <a:r>
              <a:rPr lang="en-US" dirty="0">
                <a:solidFill>
                  <a:srgbClr val="0E47A1"/>
                </a:solidFill>
              </a:rPr>
              <a:t>speed up the execution without wasting the resources</a:t>
            </a:r>
            <a:r>
              <a:rPr lang="en-US" dirty="0"/>
              <a:t>.</a:t>
            </a:r>
          </a:p>
          <a:p>
            <a:endParaRPr lang="en-US" dirty="0"/>
          </a:p>
          <a:p>
            <a:endParaRPr lang="en-US" dirty="0"/>
          </a:p>
          <a:p>
            <a:pPr marL="1001712" lvl="1" indent="-457200">
              <a:buFont typeface="+mj-lt"/>
              <a:buAutoNum type="arabicPeriod"/>
            </a:pPr>
            <a:r>
              <a:rPr lang="en-US" sz="2400" dirty="0"/>
              <a:t>Faster execution</a:t>
            </a:r>
          </a:p>
          <a:p>
            <a:pPr marL="1001712" lvl="1" indent="-457200">
              <a:buFont typeface="+mj-lt"/>
              <a:buAutoNum type="arabicPeriod"/>
            </a:pPr>
            <a:r>
              <a:rPr lang="en-US" sz="2400" dirty="0"/>
              <a:t>Better performance</a:t>
            </a:r>
          </a:p>
          <a:p>
            <a:pPr marL="1001712" lvl="1" indent="-457200">
              <a:buFont typeface="+mj-lt"/>
              <a:buAutoNum type="arabicPeriod"/>
            </a:pPr>
            <a:r>
              <a:rPr lang="en-US" sz="2400" dirty="0"/>
              <a:t>Improves the efficiency </a:t>
            </a:r>
          </a:p>
          <a:p>
            <a:pPr marL="1001712" lvl="1" indent="-457200">
              <a:buFont typeface="+mj-lt"/>
              <a:buAutoNum type="arabicPeriod"/>
            </a:pPr>
            <a:endParaRPr lang="en-US" sz="2400" dirty="0"/>
          </a:p>
          <a:p>
            <a:pPr marL="1001712" lvl="1" indent="-457200">
              <a:buFont typeface="+mj-lt"/>
              <a:buAutoNum type="arabicPeriod"/>
            </a:pPr>
            <a:endParaRPr lang="en-US" sz="2400" dirty="0"/>
          </a:p>
          <a:p>
            <a:pPr marL="1001712" lvl="1" indent="-457200"/>
            <a:r>
              <a:rPr lang="en-US" sz="2400" dirty="0"/>
              <a:t>Machine independent techniques</a:t>
            </a:r>
          </a:p>
          <a:p>
            <a:pPr marL="1001712" lvl="1" indent="-457200"/>
            <a:r>
              <a:rPr lang="en-US" sz="2400" dirty="0"/>
              <a:t>Machine dependent techniques</a:t>
            </a:r>
          </a:p>
          <a:p>
            <a:pPr marL="1001712" lvl="1" indent="-457200">
              <a:buFont typeface="+mj-lt"/>
              <a:buAutoNum type="arabicPeriod"/>
            </a:pPr>
            <a:endParaRPr lang="en-US" sz="2400" dirty="0"/>
          </a:p>
          <a:p>
            <a:pPr marL="1001712" lvl="1" indent="-457200">
              <a:buFont typeface="+mj-lt"/>
              <a:buAutoNum type="arabicPeriod"/>
            </a:pPr>
            <a:endParaRPr lang="en-US" sz="2400" dirty="0"/>
          </a:p>
        </p:txBody>
      </p:sp>
      <p:cxnSp>
        <p:nvCxnSpPr>
          <p:cNvPr id="5" name="Straight Connector 4">
            <a:extLst>
              <a:ext uri="{FF2B5EF4-FFF2-40B4-BE49-F238E27FC236}">
                <a16:creationId xmlns:a16="http://schemas.microsoft.com/office/drawing/2014/main" id="{83EE3D77-AFA6-1A8C-BD73-5A430B53F75D}"/>
              </a:ext>
            </a:extLst>
          </p:cNvPr>
          <p:cNvCxnSpPr/>
          <p:nvPr/>
        </p:nvCxnSpPr>
        <p:spPr>
          <a:xfrm>
            <a:off x="322350" y="2652924"/>
            <a:ext cx="1143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6" name="Rectangle 5">
            <a:extLst>
              <a:ext uri="{FF2B5EF4-FFF2-40B4-BE49-F238E27FC236}">
                <a16:creationId xmlns:a16="http://schemas.microsoft.com/office/drawing/2014/main" id="{E74A1DB7-B3D9-4E66-E96E-73665E308807}"/>
              </a:ext>
            </a:extLst>
          </p:cNvPr>
          <p:cNvSpPr/>
          <p:nvPr/>
        </p:nvSpPr>
        <p:spPr>
          <a:xfrm>
            <a:off x="322350" y="2192737"/>
            <a:ext cx="1901607"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dirty="0"/>
              <a:t>Advantages</a:t>
            </a:r>
          </a:p>
        </p:txBody>
      </p:sp>
      <p:cxnSp>
        <p:nvCxnSpPr>
          <p:cNvPr id="7" name="Straight Connector 6">
            <a:extLst>
              <a:ext uri="{FF2B5EF4-FFF2-40B4-BE49-F238E27FC236}">
                <a16:creationId xmlns:a16="http://schemas.microsoft.com/office/drawing/2014/main" id="{5C727744-DE10-E22D-FF8C-3481D7BA80B2}"/>
              </a:ext>
            </a:extLst>
          </p:cNvPr>
          <p:cNvCxnSpPr/>
          <p:nvPr/>
        </p:nvCxnSpPr>
        <p:spPr>
          <a:xfrm>
            <a:off x="322350" y="4683193"/>
            <a:ext cx="1143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8" name="Rectangle 7">
            <a:extLst>
              <a:ext uri="{FF2B5EF4-FFF2-40B4-BE49-F238E27FC236}">
                <a16:creationId xmlns:a16="http://schemas.microsoft.com/office/drawing/2014/main" id="{A5170AFE-F2D0-3C93-B69C-6CF7D52B106C}"/>
              </a:ext>
            </a:extLst>
          </p:cNvPr>
          <p:cNvSpPr/>
          <p:nvPr/>
        </p:nvSpPr>
        <p:spPr>
          <a:xfrm>
            <a:off x="322350" y="4214041"/>
            <a:ext cx="2904944"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dirty="0"/>
              <a:t>Types of optimization </a:t>
            </a:r>
          </a:p>
        </p:txBody>
      </p:sp>
    </p:spTree>
    <p:extLst>
      <p:ext uri="{BB962C8B-B14F-4D97-AF65-F5344CB8AC3E}">
        <p14:creationId xmlns:p14="http://schemas.microsoft.com/office/powerpoint/2010/main" val="1884820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par>
                                <p:cTn id="12" presetID="22" presetClass="entr" presetSubtype="8"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left)">
                                      <p:cBhvr>
                                        <p:cTn id="39" dur="500"/>
                                        <p:tgtEl>
                                          <p:spTgt spid="8"/>
                                        </p:tgtEl>
                                      </p:cBhvr>
                                    </p:animEffect>
                                  </p:childTnLst>
                                </p:cTn>
                              </p:par>
                              <p:par>
                                <p:cTn id="40" presetID="22" presetClass="entr" presetSubtype="8" fill="hold"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C66A459-AF0E-E0F3-1949-7B9BE6680211}"/>
              </a:ext>
            </a:extLst>
          </p:cNvPr>
          <p:cNvSpPr>
            <a:spLocks noGrp="1"/>
          </p:cNvSpPr>
          <p:nvPr>
            <p:ph type="body" idx="1"/>
          </p:nvPr>
        </p:nvSpPr>
        <p:spPr/>
        <p:txBody>
          <a:bodyPr/>
          <a:lstStyle/>
          <a:p>
            <a:endParaRPr lang="en-IN"/>
          </a:p>
        </p:txBody>
      </p:sp>
      <p:sp>
        <p:nvSpPr>
          <p:cNvPr id="4" name="Title 3">
            <a:extLst>
              <a:ext uri="{FF2B5EF4-FFF2-40B4-BE49-F238E27FC236}">
                <a16:creationId xmlns:a16="http://schemas.microsoft.com/office/drawing/2014/main" id="{42DFBE7D-64E0-39A1-335E-A8BEF1F3B3F6}"/>
              </a:ext>
            </a:extLst>
          </p:cNvPr>
          <p:cNvSpPr>
            <a:spLocks noGrp="1"/>
          </p:cNvSpPr>
          <p:nvPr>
            <p:ph type="title"/>
          </p:nvPr>
        </p:nvSpPr>
        <p:spPr/>
        <p:txBody>
          <a:bodyPr/>
          <a:lstStyle/>
          <a:p>
            <a:r>
              <a:rPr lang="en-US" dirty="0"/>
              <a:t>Machine independent techniques</a:t>
            </a:r>
            <a:endParaRPr lang="en-IN" dirty="0"/>
          </a:p>
        </p:txBody>
      </p:sp>
    </p:spTree>
    <p:extLst>
      <p:ext uri="{BB962C8B-B14F-4D97-AF65-F5344CB8AC3E}">
        <p14:creationId xmlns:p14="http://schemas.microsoft.com/office/powerpoint/2010/main" val="1869694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Machine independent techniques</a:t>
            </a:r>
            <a:endParaRPr lang="en-IN" dirty="0"/>
          </a:p>
        </p:txBody>
      </p:sp>
      <p:sp>
        <p:nvSpPr>
          <p:cNvPr id="4" name="Content Placeholder 2">
            <a:extLst>
              <a:ext uri="{FF2B5EF4-FFF2-40B4-BE49-F238E27FC236}">
                <a16:creationId xmlns:a16="http://schemas.microsoft.com/office/drawing/2014/main" id="{11CFCED2-51DD-ED35-9078-9C03E752D994}"/>
              </a:ext>
            </a:extLst>
          </p:cNvPr>
          <p:cNvSpPr>
            <a:spLocks noGrp="1"/>
          </p:cNvSpPr>
          <p:nvPr>
            <p:ph idx="1"/>
          </p:nvPr>
        </p:nvSpPr>
        <p:spPr>
          <a:xfrm>
            <a:off x="131180" y="863444"/>
            <a:ext cx="11929641" cy="5590565"/>
          </a:xfrm>
        </p:spPr>
        <p:txBody>
          <a:bodyPr/>
          <a:lstStyle/>
          <a:p>
            <a:endParaRPr lang="en-US" dirty="0"/>
          </a:p>
          <a:p>
            <a:pPr marL="1001712" lvl="1" indent="-457200">
              <a:buFont typeface="+mj-lt"/>
              <a:buAutoNum type="arabicPeriod"/>
            </a:pPr>
            <a:endParaRPr lang="en-US" sz="2400" dirty="0"/>
          </a:p>
          <a:p>
            <a:pPr marL="1001712" lvl="1" indent="-457200">
              <a:buFont typeface="+mj-lt"/>
              <a:buAutoNum type="arabicPeriod"/>
            </a:pPr>
            <a:r>
              <a:rPr lang="en-US" sz="2400" dirty="0"/>
              <a:t>Compile time evaluation</a:t>
            </a:r>
          </a:p>
          <a:p>
            <a:pPr marL="1001712" lvl="1" indent="-457200">
              <a:buFont typeface="+mj-lt"/>
              <a:buAutoNum type="arabicPeriod"/>
            </a:pPr>
            <a:r>
              <a:rPr lang="en-US" sz="2400" dirty="0"/>
              <a:t>Common sub expressions elimination</a:t>
            </a:r>
          </a:p>
          <a:p>
            <a:pPr marL="1001712" lvl="1" indent="-457200">
              <a:buFont typeface="+mj-lt"/>
              <a:buAutoNum type="arabicPeriod"/>
            </a:pPr>
            <a:r>
              <a:rPr lang="en-US" sz="2400" dirty="0"/>
              <a:t>Code Movement or Code Motion</a:t>
            </a:r>
          </a:p>
          <a:p>
            <a:pPr marL="1001712" lvl="1" indent="-457200">
              <a:buFont typeface="+mj-lt"/>
              <a:buAutoNum type="arabicPeriod"/>
            </a:pPr>
            <a:r>
              <a:rPr lang="en-US" sz="2400" dirty="0"/>
              <a:t>Reduction in Strength</a:t>
            </a:r>
          </a:p>
          <a:p>
            <a:pPr marL="1001712" lvl="1" indent="-457200">
              <a:buFont typeface="+mj-lt"/>
              <a:buAutoNum type="arabicPeriod"/>
            </a:pPr>
            <a:r>
              <a:rPr lang="en-US" sz="2400" dirty="0"/>
              <a:t>Dead code elimination</a:t>
            </a:r>
          </a:p>
          <a:p>
            <a:pPr marL="1001712" lvl="1" indent="-457200">
              <a:buFont typeface="+mj-lt"/>
              <a:buAutoNum type="arabicPeriod"/>
            </a:pPr>
            <a:endParaRPr lang="en-US" sz="2400" dirty="0"/>
          </a:p>
        </p:txBody>
      </p:sp>
      <p:cxnSp>
        <p:nvCxnSpPr>
          <p:cNvPr id="5" name="Straight Connector 4">
            <a:extLst>
              <a:ext uri="{FF2B5EF4-FFF2-40B4-BE49-F238E27FC236}">
                <a16:creationId xmlns:a16="http://schemas.microsoft.com/office/drawing/2014/main" id="{FEF05E47-97E0-1234-FE96-0A2ECF699EFE}"/>
              </a:ext>
            </a:extLst>
          </p:cNvPr>
          <p:cNvCxnSpPr/>
          <p:nvPr/>
        </p:nvCxnSpPr>
        <p:spPr>
          <a:xfrm>
            <a:off x="167756" y="1433947"/>
            <a:ext cx="1143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6" name="Rectangle 5">
            <a:extLst>
              <a:ext uri="{FF2B5EF4-FFF2-40B4-BE49-F238E27FC236}">
                <a16:creationId xmlns:a16="http://schemas.microsoft.com/office/drawing/2014/main" id="{31584A0D-2517-78D5-E25E-8BF0567020D8}"/>
              </a:ext>
            </a:extLst>
          </p:cNvPr>
          <p:cNvSpPr/>
          <p:nvPr/>
        </p:nvSpPr>
        <p:spPr>
          <a:xfrm>
            <a:off x="167756" y="973172"/>
            <a:ext cx="1901607"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dirty="0"/>
              <a:t>Techniques</a:t>
            </a:r>
          </a:p>
        </p:txBody>
      </p:sp>
    </p:spTree>
    <p:extLst>
      <p:ext uri="{BB962C8B-B14F-4D97-AF65-F5344CB8AC3E}">
        <p14:creationId xmlns:p14="http://schemas.microsoft.com/office/powerpoint/2010/main" val="2549432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Compile time evaluation</a:t>
            </a:r>
            <a:endParaRPr lang="en-IN" dirty="0"/>
          </a:p>
        </p:txBody>
      </p:sp>
      <p:sp>
        <p:nvSpPr>
          <p:cNvPr id="3" name="Content Placeholder 2">
            <a:extLst>
              <a:ext uri="{FF2B5EF4-FFF2-40B4-BE49-F238E27FC236}">
                <a16:creationId xmlns:a16="http://schemas.microsoft.com/office/drawing/2014/main" id="{704B5BE0-86F3-8670-E15F-25B3663AE95C}"/>
              </a:ext>
            </a:extLst>
          </p:cNvPr>
          <p:cNvSpPr>
            <a:spLocks noGrp="1"/>
          </p:cNvSpPr>
          <p:nvPr>
            <p:ph idx="1"/>
          </p:nvPr>
        </p:nvSpPr>
        <p:spPr>
          <a:xfrm>
            <a:off x="103044" y="821240"/>
            <a:ext cx="11929641" cy="5590565"/>
          </a:xfrm>
        </p:spPr>
        <p:txBody>
          <a:bodyPr/>
          <a:lstStyle/>
          <a:p>
            <a:pPr lvl="0">
              <a:lnSpc>
                <a:spcPct val="85000"/>
              </a:lnSpc>
            </a:pPr>
            <a:r>
              <a:rPr lang="en-US" dirty="0"/>
              <a:t>Compile time evaluation means shifting of computations from run time to compile time.</a:t>
            </a:r>
          </a:p>
          <a:p>
            <a:pPr lvl="0">
              <a:lnSpc>
                <a:spcPct val="85000"/>
              </a:lnSpc>
            </a:pPr>
            <a:r>
              <a:rPr lang="en-US" dirty="0"/>
              <a:t>There are two methods used to obtain the compile time evaluation.</a:t>
            </a:r>
          </a:p>
          <a:p>
            <a:pPr marL="0" indent="0">
              <a:lnSpc>
                <a:spcPct val="85000"/>
              </a:lnSpc>
              <a:buNone/>
            </a:pPr>
            <a:r>
              <a:rPr lang="en-US" b="1" dirty="0">
                <a:solidFill>
                  <a:srgbClr val="C00000"/>
                </a:solidFill>
              </a:rPr>
              <a:t>Folding</a:t>
            </a:r>
            <a:endParaRPr lang="en-US" dirty="0">
              <a:solidFill>
                <a:srgbClr val="C00000"/>
              </a:solidFill>
            </a:endParaRPr>
          </a:p>
          <a:p>
            <a:pPr lvl="0">
              <a:lnSpc>
                <a:spcPct val="85000"/>
              </a:lnSpc>
            </a:pPr>
            <a:r>
              <a:rPr lang="en-US" dirty="0"/>
              <a:t>In the folding technique the computation of constant is done at compile time instead of run time.</a:t>
            </a:r>
          </a:p>
          <a:p>
            <a:pPr marL="0" indent="0">
              <a:lnSpc>
                <a:spcPct val="85000"/>
              </a:lnSpc>
              <a:buNone/>
            </a:pPr>
            <a:r>
              <a:rPr lang="en-US" dirty="0"/>
              <a:t>	</a:t>
            </a:r>
            <a:r>
              <a:rPr lang="en-US" dirty="0">
                <a:solidFill>
                  <a:srgbClr val="0E47A1"/>
                </a:solidFill>
              </a:rPr>
              <a:t>Example : length = (22/7)*d</a:t>
            </a:r>
          </a:p>
          <a:p>
            <a:pPr lvl="0">
              <a:lnSpc>
                <a:spcPct val="85000"/>
              </a:lnSpc>
            </a:pPr>
            <a:r>
              <a:rPr lang="en-US" dirty="0"/>
              <a:t>Here folding is implied by performing the computation of </a:t>
            </a:r>
            <a:r>
              <a:rPr lang="en-US" dirty="0">
                <a:solidFill>
                  <a:srgbClr val="0E47A1"/>
                </a:solidFill>
              </a:rPr>
              <a:t>22/7 at compile time</a:t>
            </a:r>
            <a:r>
              <a:rPr lang="en-US" dirty="0"/>
              <a:t>. </a:t>
            </a:r>
          </a:p>
          <a:p>
            <a:pPr marL="0" indent="0">
              <a:lnSpc>
                <a:spcPct val="85000"/>
              </a:lnSpc>
              <a:buNone/>
            </a:pPr>
            <a:r>
              <a:rPr lang="en-US" b="1" dirty="0">
                <a:solidFill>
                  <a:srgbClr val="C00000"/>
                </a:solidFill>
              </a:rPr>
              <a:t>Constant propagation</a:t>
            </a:r>
            <a:endParaRPr lang="en-US" dirty="0">
              <a:solidFill>
                <a:srgbClr val="C00000"/>
              </a:solidFill>
            </a:endParaRPr>
          </a:p>
          <a:p>
            <a:pPr lvl="0">
              <a:lnSpc>
                <a:spcPct val="85000"/>
              </a:lnSpc>
            </a:pPr>
            <a:r>
              <a:rPr lang="en-US" dirty="0"/>
              <a:t>The value of variable is replaced and computation of an expression is done at compilation time.</a:t>
            </a:r>
          </a:p>
          <a:p>
            <a:pPr marL="0" indent="0">
              <a:lnSpc>
                <a:spcPct val="85000"/>
              </a:lnSpc>
              <a:buNone/>
            </a:pPr>
            <a:r>
              <a:rPr lang="en-US" dirty="0"/>
              <a:t>	</a:t>
            </a:r>
            <a:r>
              <a:rPr lang="en-US" dirty="0">
                <a:solidFill>
                  <a:srgbClr val="0E47A1"/>
                </a:solidFill>
              </a:rPr>
              <a:t>Example : pi = 3.14; r = 5;</a:t>
            </a:r>
          </a:p>
          <a:p>
            <a:pPr marL="0" indent="0">
              <a:lnSpc>
                <a:spcPct val="85000"/>
              </a:lnSpc>
              <a:buNone/>
            </a:pPr>
            <a:r>
              <a:rPr lang="en-US" dirty="0">
                <a:solidFill>
                  <a:srgbClr val="0E47A1"/>
                </a:solidFill>
              </a:rPr>
              <a:t>	Area = pi * r * r;</a:t>
            </a:r>
          </a:p>
          <a:p>
            <a:pPr lvl="0">
              <a:lnSpc>
                <a:spcPct val="85000"/>
              </a:lnSpc>
            </a:pPr>
            <a:r>
              <a:rPr lang="en-US" dirty="0"/>
              <a:t>Here at the compilation time the value of pi is replaced by 3.14 and r by 5 then </a:t>
            </a:r>
            <a:r>
              <a:rPr lang="en-US" dirty="0">
                <a:solidFill>
                  <a:srgbClr val="0E47A1"/>
                </a:solidFill>
              </a:rPr>
              <a:t>computation of 3.14 * 5 * 5 is done during compilation</a:t>
            </a:r>
            <a:r>
              <a:rPr lang="en-US" dirty="0">
                <a:solidFill>
                  <a:schemeClr val="accent1">
                    <a:lumMod val="75000"/>
                  </a:schemeClr>
                </a:solidFill>
              </a:rPr>
              <a:t>.</a:t>
            </a:r>
            <a:endParaRPr lang="en-US" dirty="0"/>
          </a:p>
          <a:p>
            <a:endParaRPr lang="en-US" dirty="0"/>
          </a:p>
        </p:txBody>
      </p:sp>
    </p:spTree>
    <p:extLst>
      <p:ext uri="{BB962C8B-B14F-4D97-AF65-F5344CB8AC3E}">
        <p14:creationId xmlns:p14="http://schemas.microsoft.com/office/powerpoint/2010/main" val="957853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Common sub expressions elimination</a:t>
            </a:r>
            <a:endParaRPr lang="en-IN" dirty="0"/>
          </a:p>
        </p:txBody>
      </p:sp>
      <p:sp>
        <p:nvSpPr>
          <p:cNvPr id="3" name="Content Placeholder 2">
            <a:extLst>
              <a:ext uri="{FF2B5EF4-FFF2-40B4-BE49-F238E27FC236}">
                <a16:creationId xmlns:a16="http://schemas.microsoft.com/office/drawing/2014/main" id="{6FD94C48-CABD-6E75-3A60-9F7BD84F894D}"/>
              </a:ext>
            </a:extLst>
          </p:cNvPr>
          <p:cNvSpPr>
            <a:spLocks noGrp="1"/>
          </p:cNvSpPr>
          <p:nvPr>
            <p:ph idx="1"/>
          </p:nvPr>
        </p:nvSpPr>
        <p:spPr>
          <a:xfrm>
            <a:off x="131180" y="863444"/>
            <a:ext cx="11929641" cy="5590565"/>
          </a:xfrm>
        </p:spPr>
        <p:txBody>
          <a:bodyPr/>
          <a:lstStyle/>
          <a:p>
            <a:pPr lvl="0"/>
            <a:r>
              <a:rPr lang="en-US" dirty="0"/>
              <a:t>The common sub expression is an expression </a:t>
            </a:r>
            <a:r>
              <a:rPr lang="en-US" dirty="0">
                <a:solidFill>
                  <a:srgbClr val="C00000"/>
                </a:solidFill>
              </a:rPr>
              <a:t>appearing repeatedly in the program </a:t>
            </a:r>
            <a:r>
              <a:rPr lang="en-US" dirty="0"/>
              <a:t>which is </a:t>
            </a:r>
            <a:r>
              <a:rPr lang="en-US" dirty="0">
                <a:solidFill>
                  <a:srgbClr val="C00000"/>
                </a:solidFill>
              </a:rPr>
              <a:t>computed previously</a:t>
            </a:r>
            <a:r>
              <a:rPr lang="en-US" dirty="0"/>
              <a:t>.</a:t>
            </a:r>
          </a:p>
          <a:p>
            <a:pPr lvl="0"/>
            <a:r>
              <a:rPr lang="en-US" dirty="0"/>
              <a:t>If the </a:t>
            </a:r>
            <a:r>
              <a:rPr lang="en-US" dirty="0">
                <a:solidFill>
                  <a:srgbClr val="0E47A1"/>
                </a:solidFill>
              </a:rPr>
              <a:t>operands of this sub expression do not get changed </a:t>
            </a:r>
            <a:r>
              <a:rPr lang="en-US" dirty="0"/>
              <a:t>at all then result of such sub expression is used instead of re-computing it each time.</a:t>
            </a:r>
          </a:p>
          <a:p>
            <a:pPr lvl="0"/>
            <a:r>
              <a:rPr lang="en-US" dirty="0">
                <a:solidFill>
                  <a:srgbClr val="0E47A1"/>
                </a:solidFill>
              </a:rPr>
              <a:t>Example:</a:t>
            </a:r>
          </a:p>
          <a:p>
            <a:endParaRPr lang="en-US" dirty="0"/>
          </a:p>
        </p:txBody>
      </p:sp>
      <p:graphicFrame>
        <p:nvGraphicFramePr>
          <p:cNvPr id="4" name="Table 3">
            <a:extLst>
              <a:ext uri="{FF2B5EF4-FFF2-40B4-BE49-F238E27FC236}">
                <a16:creationId xmlns:a16="http://schemas.microsoft.com/office/drawing/2014/main" id="{2CC905DF-0A9F-CF36-51A2-005F19AC364D}"/>
              </a:ext>
            </a:extLst>
          </p:cNvPr>
          <p:cNvGraphicFramePr>
            <a:graphicFrameLocks noGrp="1"/>
          </p:cNvGraphicFramePr>
          <p:nvPr/>
        </p:nvGraphicFramePr>
        <p:xfrm>
          <a:off x="1180214" y="3274828"/>
          <a:ext cx="1752600" cy="2405380"/>
        </p:xfrm>
        <a:graphic>
          <a:graphicData uri="http://schemas.openxmlformats.org/drawingml/2006/table">
            <a:tbl>
              <a:tblPr firstRow="1" bandRow="1">
                <a:tableStyleId>{D7AC3CCA-C797-4891-BE02-D94E43425B78}</a:tableStyleId>
              </a:tblPr>
              <a:tblGrid>
                <a:gridCol w="1752600">
                  <a:extLst>
                    <a:ext uri="{9D8B030D-6E8A-4147-A177-3AD203B41FA5}">
                      <a16:colId xmlns:a16="http://schemas.microsoft.com/office/drawing/2014/main" val="20000"/>
                    </a:ext>
                  </a:extLst>
                </a:gridCol>
              </a:tblGrid>
              <a:tr h="325392">
                <a:tc>
                  <a:txBody>
                    <a:bodyPr/>
                    <a:lstStyle/>
                    <a:p>
                      <a:pPr marL="0" marR="0" algn="just">
                        <a:lnSpc>
                          <a:spcPct val="115000"/>
                        </a:lnSpc>
                        <a:spcBef>
                          <a:spcPts val="0"/>
                        </a:spcBef>
                        <a:spcAft>
                          <a:spcPts val="1000"/>
                        </a:spcAft>
                      </a:pPr>
                      <a:r>
                        <a:rPr lang="en-US" sz="1800" b="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t1 := 4 * </a:t>
                      </a:r>
                      <a:r>
                        <a:rPr lang="en-US" sz="1800" b="0" dirty="0" err="1">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i</a:t>
                      </a:r>
                      <a:endParaRPr lang="en-US" sz="1800" b="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txBody>
                  <a:tcPr>
                    <a:noFill/>
                  </a:tcPr>
                </a:tc>
                <a:extLst>
                  <a:ext uri="{0D108BD9-81ED-4DB2-BD59-A6C34878D82A}">
                    <a16:rowId xmlns:a16="http://schemas.microsoft.com/office/drawing/2014/main" val="10000"/>
                  </a:ext>
                </a:extLst>
              </a:tr>
              <a:tr h="370840">
                <a:tc>
                  <a:txBody>
                    <a:bodyPr/>
                    <a:lstStyle/>
                    <a:p>
                      <a:pPr marL="0" marR="0" algn="just">
                        <a:lnSpc>
                          <a:spcPct val="115000"/>
                        </a:lnSpc>
                        <a:spcBef>
                          <a:spcPts val="0"/>
                        </a:spcBef>
                        <a:spcAft>
                          <a:spcPts val="1000"/>
                        </a:spcAft>
                      </a:pPr>
                      <a:r>
                        <a:rPr lang="en-US" sz="1800" b="0" dirty="0">
                          <a:effectLst/>
                          <a:latin typeface="Calibri" panose="020F0502020204030204" pitchFamily="34" charset="0"/>
                          <a:ea typeface="Palatino Linotype" panose="02040502050505030304" pitchFamily="18" charset="0"/>
                          <a:cs typeface="Palatino Linotype" panose="02040502050505030304" pitchFamily="18" charset="0"/>
                        </a:rPr>
                        <a:t>t2 := a + 2</a:t>
                      </a:r>
                      <a:endParaRPr lang="en-U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a:noFill/>
                  </a:tcPr>
                </a:tc>
                <a:extLst>
                  <a:ext uri="{0D108BD9-81ED-4DB2-BD59-A6C34878D82A}">
                    <a16:rowId xmlns:a16="http://schemas.microsoft.com/office/drawing/2014/main" val="10001"/>
                  </a:ext>
                </a:extLst>
              </a:tr>
              <a:tr h="370840">
                <a:tc>
                  <a:txBody>
                    <a:bodyPr/>
                    <a:lstStyle/>
                    <a:p>
                      <a:pPr marL="0" marR="0" algn="just">
                        <a:lnSpc>
                          <a:spcPct val="115000"/>
                        </a:lnSpc>
                        <a:spcBef>
                          <a:spcPts val="0"/>
                        </a:spcBef>
                        <a:spcAft>
                          <a:spcPts val="1000"/>
                        </a:spcAft>
                      </a:pPr>
                      <a:r>
                        <a:rPr lang="en-US" sz="1800" b="0" dirty="0">
                          <a:effectLst/>
                          <a:latin typeface="Calibri" panose="020F0502020204030204" pitchFamily="34" charset="0"/>
                          <a:ea typeface="Palatino Linotype" panose="02040502050505030304" pitchFamily="18" charset="0"/>
                          <a:cs typeface="Palatino Linotype" panose="02040502050505030304" pitchFamily="18" charset="0"/>
                        </a:rPr>
                        <a:t>t3 := </a:t>
                      </a:r>
                      <a:r>
                        <a:rPr lang="en-US" sz="1800" b="0" spc="300" dirty="0">
                          <a:effectLst/>
                          <a:latin typeface="Calibri" panose="020F0502020204030204" pitchFamily="34" charset="0"/>
                          <a:ea typeface="Palatino Linotype" panose="02040502050505030304" pitchFamily="18" charset="0"/>
                          <a:cs typeface="Palatino Linotype" panose="02040502050505030304" pitchFamily="18" charset="0"/>
                        </a:rPr>
                        <a:t>4*j </a:t>
                      </a:r>
                      <a:endParaRPr lang="en-U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a:noFill/>
                  </a:tcPr>
                </a:tc>
                <a:extLst>
                  <a:ext uri="{0D108BD9-81ED-4DB2-BD59-A6C34878D82A}">
                    <a16:rowId xmlns:a16="http://schemas.microsoft.com/office/drawing/2014/main" val="10002"/>
                  </a:ext>
                </a:extLst>
              </a:tr>
              <a:tr h="370840">
                <a:tc>
                  <a:txBody>
                    <a:bodyPr/>
                    <a:lstStyle/>
                    <a:p>
                      <a:pPr marL="0" marR="0" algn="just">
                        <a:lnSpc>
                          <a:spcPct val="115000"/>
                        </a:lnSpc>
                        <a:spcBef>
                          <a:spcPts val="0"/>
                        </a:spcBef>
                        <a:spcAft>
                          <a:spcPts val="1000"/>
                        </a:spcAft>
                      </a:pPr>
                      <a:r>
                        <a:rPr lang="en-US" sz="1800" b="0" dirty="0">
                          <a:solidFill>
                            <a:srgbClr val="C00000"/>
                          </a:solidFill>
                          <a:effectLst/>
                          <a:latin typeface="Calibri" panose="020F0502020204030204" pitchFamily="34" charset="0"/>
                          <a:ea typeface="Palatino Linotype" panose="02040502050505030304" pitchFamily="18" charset="0"/>
                          <a:cs typeface="Palatino Linotype" panose="02040502050505030304" pitchFamily="18" charset="0"/>
                        </a:rPr>
                        <a:t>t4 : = 4 * </a:t>
                      </a:r>
                      <a:r>
                        <a:rPr lang="en-US" sz="1800" b="0" dirty="0" err="1">
                          <a:solidFill>
                            <a:srgbClr val="C00000"/>
                          </a:solidFill>
                          <a:effectLst/>
                          <a:latin typeface="Calibri" panose="020F0502020204030204" pitchFamily="34" charset="0"/>
                          <a:ea typeface="Palatino Linotype" panose="02040502050505030304" pitchFamily="18" charset="0"/>
                          <a:cs typeface="Palatino Linotype" panose="02040502050505030304" pitchFamily="18" charset="0"/>
                        </a:rPr>
                        <a:t>i</a:t>
                      </a:r>
                      <a:endParaRPr lang="en-US" sz="1800" b="0"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txBody>
                  <a:tcPr>
                    <a:noFill/>
                  </a:tcPr>
                </a:tc>
                <a:extLst>
                  <a:ext uri="{0D108BD9-81ED-4DB2-BD59-A6C34878D82A}">
                    <a16:rowId xmlns:a16="http://schemas.microsoft.com/office/drawing/2014/main" val="10003"/>
                  </a:ext>
                </a:extLst>
              </a:tr>
              <a:tr h="370840">
                <a:tc>
                  <a:txBody>
                    <a:bodyPr/>
                    <a:lstStyle/>
                    <a:p>
                      <a:pPr marL="0" marR="0" algn="just">
                        <a:lnSpc>
                          <a:spcPct val="115000"/>
                        </a:lnSpc>
                        <a:spcBef>
                          <a:spcPts val="0"/>
                        </a:spcBef>
                        <a:spcAft>
                          <a:spcPts val="1000"/>
                        </a:spcAft>
                      </a:pPr>
                      <a:r>
                        <a:rPr lang="en-US" sz="1800" b="0" dirty="0">
                          <a:effectLst/>
                          <a:latin typeface="Calibri" panose="020F0502020204030204" pitchFamily="34" charset="0"/>
                          <a:ea typeface="Palatino Linotype" panose="02040502050505030304" pitchFamily="18" charset="0"/>
                          <a:cs typeface="Palatino Linotype" panose="02040502050505030304" pitchFamily="18" charset="0"/>
                        </a:rPr>
                        <a:t>t5:= n</a:t>
                      </a:r>
                      <a:endParaRPr lang="en-US" sz="1800" b="0" dirty="0">
                        <a:effectLst/>
                        <a:latin typeface="Calibri" panose="020F0502020204030204" pitchFamily="34" charset="0"/>
                        <a:ea typeface="Calibri" panose="020F0502020204030204" pitchFamily="34" charset="0"/>
                        <a:cs typeface="Times New Roman" panose="02020603050405020304" pitchFamily="18" charset="0"/>
                      </a:endParaRPr>
                    </a:p>
                  </a:txBody>
                  <a:tcPr>
                    <a:noFill/>
                  </a:tcPr>
                </a:tc>
                <a:extLst>
                  <a:ext uri="{0D108BD9-81ED-4DB2-BD59-A6C34878D82A}">
                    <a16:rowId xmlns:a16="http://schemas.microsoft.com/office/drawing/2014/main" val="10004"/>
                  </a:ext>
                </a:extLst>
              </a:tr>
              <a:tr h="370840">
                <a:tc>
                  <a:txBody>
                    <a:bodyPr/>
                    <a:lstStyle/>
                    <a:p>
                      <a:r>
                        <a:rPr lang="en-US" sz="1800" b="0" dirty="0">
                          <a:effectLst/>
                          <a:latin typeface="Calibri" panose="020F0502020204030204" pitchFamily="34" charset="0"/>
                          <a:ea typeface="Palatino Linotype" panose="02040502050505030304" pitchFamily="18" charset="0"/>
                          <a:cs typeface="Palatino Linotype" panose="02040502050505030304" pitchFamily="18" charset="0"/>
                        </a:rPr>
                        <a:t>t6 := b[t4]+t5</a:t>
                      </a:r>
                      <a:endParaRPr lang="en-US" sz="1800" b="0" dirty="0"/>
                    </a:p>
                  </a:txBody>
                  <a:tcPr>
                    <a:noFill/>
                  </a:tcPr>
                </a:tc>
                <a:extLst>
                  <a:ext uri="{0D108BD9-81ED-4DB2-BD59-A6C34878D82A}">
                    <a16:rowId xmlns:a16="http://schemas.microsoft.com/office/drawing/2014/main" val="10005"/>
                  </a:ext>
                </a:extLst>
              </a:tr>
            </a:tbl>
          </a:graphicData>
        </a:graphic>
      </p:graphicFrame>
      <p:cxnSp>
        <p:nvCxnSpPr>
          <p:cNvPr id="5" name="Straight Connector 4">
            <a:extLst>
              <a:ext uri="{FF2B5EF4-FFF2-40B4-BE49-F238E27FC236}">
                <a16:creationId xmlns:a16="http://schemas.microsoft.com/office/drawing/2014/main" id="{24AE19BE-79B7-01FF-3612-128E1F971621}"/>
              </a:ext>
            </a:extLst>
          </p:cNvPr>
          <p:cNvCxnSpPr/>
          <p:nvPr/>
        </p:nvCxnSpPr>
        <p:spPr>
          <a:xfrm>
            <a:off x="773840" y="4668402"/>
            <a:ext cx="2362200"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1C09251F-C22C-A9F4-A27C-5DC2E0F279AA}"/>
              </a:ext>
            </a:extLst>
          </p:cNvPr>
          <p:cNvSpPr/>
          <p:nvPr/>
        </p:nvSpPr>
        <p:spPr>
          <a:xfrm>
            <a:off x="867058" y="5839050"/>
            <a:ext cx="2378912" cy="4893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E47A1"/>
                </a:solidFill>
              </a:rPr>
              <a:t>Before Optimization</a:t>
            </a:r>
          </a:p>
        </p:txBody>
      </p:sp>
      <p:sp>
        <p:nvSpPr>
          <p:cNvPr id="7" name="Rectangle 6">
            <a:extLst>
              <a:ext uri="{FF2B5EF4-FFF2-40B4-BE49-F238E27FC236}">
                <a16:creationId xmlns:a16="http://schemas.microsoft.com/office/drawing/2014/main" id="{A8F2AC56-7E83-8703-510D-EDBB77B44525}"/>
              </a:ext>
            </a:extLst>
          </p:cNvPr>
          <p:cNvSpPr/>
          <p:nvPr/>
        </p:nvSpPr>
        <p:spPr>
          <a:xfrm>
            <a:off x="867058" y="5839049"/>
            <a:ext cx="2378912" cy="4893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E47A1"/>
                </a:solidFill>
              </a:rPr>
              <a:t>After Optimization</a:t>
            </a:r>
          </a:p>
        </p:txBody>
      </p:sp>
      <p:sp>
        <p:nvSpPr>
          <p:cNvPr id="8" name="Rectangle 7">
            <a:extLst>
              <a:ext uri="{FF2B5EF4-FFF2-40B4-BE49-F238E27FC236}">
                <a16:creationId xmlns:a16="http://schemas.microsoft.com/office/drawing/2014/main" id="{6CD17131-0C83-15B9-02DF-441A5ECE8B1C}"/>
              </a:ext>
            </a:extLst>
          </p:cNvPr>
          <p:cNvSpPr/>
          <p:nvPr/>
        </p:nvSpPr>
        <p:spPr>
          <a:xfrm>
            <a:off x="1940768" y="5371675"/>
            <a:ext cx="182880" cy="2898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100" dirty="0">
                <a:solidFill>
                  <a:schemeClr val="tx1"/>
                </a:solidFill>
              </a:rPr>
              <a:t>t1</a:t>
            </a:r>
          </a:p>
        </p:txBody>
      </p:sp>
    </p:spTree>
    <p:extLst>
      <p:ext uri="{BB962C8B-B14F-4D97-AF65-F5344CB8AC3E}">
        <p14:creationId xmlns:p14="http://schemas.microsoft.com/office/powerpoint/2010/main" val="318939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down)">
                                      <p:cBhvr>
                                        <p:cTn id="19" dur="500"/>
                                        <p:tgtEl>
                                          <p:spTgt spid="4"/>
                                        </p:tgtEl>
                                      </p:cBhvr>
                                    </p:animEffect>
                                  </p:childTnLst>
                                </p:cTn>
                              </p:par>
                              <p:par>
                                <p:cTn id="20" presetID="1"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500"/>
                                        <p:tgtEl>
                                          <p:spTgt spid="5"/>
                                        </p:tgtEl>
                                      </p:cBhvr>
                                    </p:animEffect>
                                  </p:childTnLst>
                                </p:cTn>
                              </p:par>
                              <p:par>
                                <p:cTn id="27" presetID="1" presetClass="exit" presetSubtype="0" fill="hold" grpId="1" nodeType="withEffect">
                                  <p:stCondLst>
                                    <p:cond delay="0"/>
                                  </p:stCondLst>
                                  <p:childTnLst>
                                    <p:set>
                                      <p:cBhvr>
                                        <p:cTn id="28" dur="1" fill="hold">
                                          <p:stCondLst>
                                            <p:cond delay="0"/>
                                          </p:stCondLst>
                                        </p:cTn>
                                        <p:tgtEl>
                                          <p:spTgt spid="6"/>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Code Movement or Code Motion</a:t>
            </a:r>
            <a:endParaRPr lang="en-IN" dirty="0"/>
          </a:p>
        </p:txBody>
      </p:sp>
      <p:sp>
        <p:nvSpPr>
          <p:cNvPr id="3" name="Content Placeholder 2">
            <a:extLst>
              <a:ext uri="{FF2B5EF4-FFF2-40B4-BE49-F238E27FC236}">
                <a16:creationId xmlns:a16="http://schemas.microsoft.com/office/drawing/2014/main" id="{897780A5-9F4F-F256-BEF6-834541078271}"/>
              </a:ext>
            </a:extLst>
          </p:cNvPr>
          <p:cNvSpPr>
            <a:spLocks noGrp="1"/>
          </p:cNvSpPr>
          <p:nvPr>
            <p:ph idx="1"/>
          </p:nvPr>
        </p:nvSpPr>
        <p:spPr>
          <a:xfrm>
            <a:off x="131180" y="863444"/>
            <a:ext cx="11929641" cy="5590565"/>
          </a:xfrm>
        </p:spPr>
        <p:txBody>
          <a:bodyPr/>
          <a:lstStyle/>
          <a:p>
            <a:pPr lvl="0"/>
            <a:r>
              <a:rPr lang="en-US" dirty="0"/>
              <a:t>Optimization can be obtained by </a:t>
            </a:r>
            <a:r>
              <a:rPr lang="en-US" dirty="0">
                <a:solidFill>
                  <a:srgbClr val="C00000"/>
                </a:solidFill>
              </a:rPr>
              <a:t>moving some amount of code outside the loop</a:t>
            </a:r>
            <a:r>
              <a:rPr lang="en-US" dirty="0"/>
              <a:t> and placing it just before entering in the loop. </a:t>
            </a:r>
          </a:p>
          <a:p>
            <a:pPr lvl="0"/>
            <a:r>
              <a:rPr lang="en-US" dirty="0"/>
              <a:t>It won't have any difference if it executes inside or outside the loop.</a:t>
            </a:r>
          </a:p>
          <a:p>
            <a:pPr lvl="0"/>
            <a:r>
              <a:rPr lang="en-US" dirty="0"/>
              <a:t>This method is also called </a:t>
            </a:r>
            <a:r>
              <a:rPr lang="en-US" dirty="0">
                <a:solidFill>
                  <a:srgbClr val="0E47A1"/>
                </a:solidFill>
              </a:rPr>
              <a:t>loop invariant computation</a:t>
            </a:r>
            <a:r>
              <a:rPr lang="en-US" dirty="0"/>
              <a:t>.</a:t>
            </a:r>
          </a:p>
          <a:p>
            <a:r>
              <a:rPr lang="en-US" dirty="0">
                <a:solidFill>
                  <a:srgbClr val="0E47A1"/>
                </a:solidFill>
              </a:rPr>
              <a:t>Example:</a:t>
            </a:r>
          </a:p>
          <a:p>
            <a:endParaRPr lang="en-US" dirty="0"/>
          </a:p>
        </p:txBody>
      </p:sp>
      <p:graphicFrame>
        <p:nvGraphicFramePr>
          <p:cNvPr id="4" name="Table 3">
            <a:extLst>
              <a:ext uri="{FF2B5EF4-FFF2-40B4-BE49-F238E27FC236}">
                <a16:creationId xmlns:a16="http://schemas.microsoft.com/office/drawing/2014/main" id="{37E3C113-F93C-815C-6936-620537EA2CF7}"/>
              </a:ext>
            </a:extLst>
          </p:cNvPr>
          <p:cNvGraphicFramePr>
            <a:graphicFrameLocks noGrp="1"/>
          </p:cNvGraphicFramePr>
          <p:nvPr/>
        </p:nvGraphicFramePr>
        <p:xfrm>
          <a:off x="1802564" y="3175420"/>
          <a:ext cx="5486402" cy="1752600"/>
        </p:xfrm>
        <a:graphic>
          <a:graphicData uri="http://schemas.openxmlformats.org/drawingml/2006/table">
            <a:tbl>
              <a:tblPr firstRow="1" firstCol="1" bandRow="1">
                <a:tableStyleId>{5C22544A-7EE6-4342-B048-85BDC9FD1C3A}</a:tableStyleId>
              </a:tblPr>
              <a:tblGrid>
                <a:gridCol w="1956786">
                  <a:extLst>
                    <a:ext uri="{9D8B030D-6E8A-4147-A177-3AD203B41FA5}">
                      <a16:colId xmlns:a16="http://schemas.microsoft.com/office/drawing/2014/main" val="20000"/>
                    </a:ext>
                  </a:extLst>
                </a:gridCol>
                <a:gridCol w="836376">
                  <a:extLst>
                    <a:ext uri="{9D8B030D-6E8A-4147-A177-3AD203B41FA5}">
                      <a16:colId xmlns:a16="http://schemas.microsoft.com/office/drawing/2014/main" val="20001"/>
                    </a:ext>
                  </a:extLst>
                </a:gridCol>
                <a:gridCol w="2693240">
                  <a:extLst>
                    <a:ext uri="{9D8B030D-6E8A-4147-A177-3AD203B41FA5}">
                      <a16:colId xmlns:a16="http://schemas.microsoft.com/office/drawing/2014/main" val="20002"/>
                    </a:ext>
                  </a:extLst>
                </a:gridCol>
              </a:tblGrid>
              <a:tr h="1689830">
                <a:tc>
                  <a:txBody>
                    <a:bodyPr/>
                    <a:lstStyle/>
                    <a:p>
                      <a:pPr marL="0" marR="12700" algn="just">
                        <a:lnSpc>
                          <a:spcPct val="115000"/>
                        </a:lnSpc>
                        <a:spcBef>
                          <a:spcPts val="0"/>
                        </a:spcBef>
                        <a:spcAft>
                          <a:spcPts val="0"/>
                        </a:spcAft>
                      </a:pPr>
                      <a:r>
                        <a:rPr lang="en-US" sz="2000" b="0" dirty="0">
                          <a:solidFill>
                            <a:schemeClr val="tx1"/>
                          </a:solidFill>
                          <a:effectLst/>
                        </a:rPr>
                        <a:t>While(</a:t>
                      </a:r>
                      <a:r>
                        <a:rPr lang="en-US" sz="2000" b="0" dirty="0" err="1">
                          <a:solidFill>
                            <a:schemeClr val="tx1"/>
                          </a:solidFill>
                          <a:effectLst/>
                        </a:rPr>
                        <a:t>i</a:t>
                      </a:r>
                      <a:r>
                        <a:rPr lang="en-US" sz="2000" b="0" dirty="0">
                          <a:solidFill>
                            <a:schemeClr val="tx1"/>
                          </a:solidFill>
                          <a:effectLst/>
                        </a:rPr>
                        <a:t>&lt;=</a:t>
                      </a:r>
                      <a:r>
                        <a:rPr lang="en-US" sz="2000" b="0" dirty="0">
                          <a:solidFill>
                            <a:srgbClr val="C00000"/>
                          </a:solidFill>
                          <a:effectLst/>
                        </a:rPr>
                        <a:t>max-1</a:t>
                      </a:r>
                      <a:r>
                        <a:rPr lang="en-US" sz="2000" b="0" dirty="0">
                          <a:solidFill>
                            <a:schemeClr val="tx1"/>
                          </a:solidFill>
                          <a:effectLst/>
                        </a:rPr>
                        <a:t>)</a:t>
                      </a:r>
                    </a:p>
                    <a:p>
                      <a:pPr marL="0" marR="12700" algn="just">
                        <a:lnSpc>
                          <a:spcPct val="115000"/>
                        </a:lnSpc>
                        <a:spcBef>
                          <a:spcPts val="0"/>
                        </a:spcBef>
                        <a:spcAft>
                          <a:spcPts val="0"/>
                        </a:spcAft>
                      </a:pPr>
                      <a:r>
                        <a:rPr lang="en-US" sz="2000" b="0" dirty="0">
                          <a:solidFill>
                            <a:schemeClr val="tx1"/>
                          </a:solidFill>
                          <a:effectLst/>
                        </a:rPr>
                        <a:t>{</a:t>
                      </a:r>
                    </a:p>
                    <a:p>
                      <a:pPr marL="0" marR="12700" algn="just">
                        <a:lnSpc>
                          <a:spcPct val="115000"/>
                        </a:lnSpc>
                        <a:spcBef>
                          <a:spcPts val="0"/>
                        </a:spcBef>
                        <a:spcAft>
                          <a:spcPts val="0"/>
                        </a:spcAft>
                      </a:pPr>
                      <a:r>
                        <a:rPr lang="en-US" sz="2000" b="0" dirty="0">
                          <a:solidFill>
                            <a:schemeClr val="tx1"/>
                          </a:solidFill>
                          <a:effectLst/>
                        </a:rPr>
                        <a:t>    sum=</a:t>
                      </a:r>
                      <a:r>
                        <a:rPr lang="en-US" sz="2000" b="0" dirty="0" err="1">
                          <a:solidFill>
                            <a:schemeClr val="tx1"/>
                          </a:solidFill>
                          <a:effectLst/>
                        </a:rPr>
                        <a:t>sum+a</a:t>
                      </a:r>
                      <a:r>
                        <a:rPr lang="en-US" sz="2000" b="0" dirty="0">
                          <a:solidFill>
                            <a:schemeClr val="tx1"/>
                          </a:solidFill>
                          <a:effectLst/>
                        </a:rPr>
                        <a:t>[</a:t>
                      </a:r>
                      <a:r>
                        <a:rPr lang="en-US" sz="2000" b="0" dirty="0" err="1">
                          <a:solidFill>
                            <a:schemeClr val="tx1"/>
                          </a:solidFill>
                          <a:effectLst/>
                        </a:rPr>
                        <a:t>i</a:t>
                      </a:r>
                      <a:r>
                        <a:rPr lang="en-US" sz="2000" b="0" dirty="0">
                          <a:solidFill>
                            <a:schemeClr val="tx1"/>
                          </a:solidFill>
                          <a:effectLst/>
                        </a:rPr>
                        <a:t>];</a:t>
                      </a:r>
                    </a:p>
                    <a:p>
                      <a:pPr marL="0" marR="12700" algn="just">
                        <a:lnSpc>
                          <a:spcPct val="115000"/>
                        </a:lnSpc>
                        <a:spcBef>
                          <a:spcPts val="0"/>
                        </a:spcBef>
                        <a:spcAft>
                          <a:spcPts val="0"/>
                        </a:spcAft>
                      </a:pPr>
                      <a:r>
                        <a:rPr lang="en-US" sz="2000" b="0" dirty="0">
                          <a:solidFill>
                            <a:schemeClr val="tx1"/>
                          </a:solidFill>
                          <a:effectLst/>
                        </a:rPr>
                        <a:t>}</a:t>
                      </a:r>
                    </a:p>
                    <a:p>
                      <a:pPr marL="0" marR="0" algn="just">
                        <a:lnSpc>
                          <a:spcPct val="115000"/>
                        </a:lnSpc>
                        <a:spcBef>
                          <a:spcPts val="0"/>
                        </a:spcBef>
                        <a:spcAft>
                          <a:spcPts val="0"/>
                        </a:spcAft>
                      </a:pPr>
                      <a:r>
                        <a:rPr lang="en-US" sz="2000" b="0" dirty="0">
                          <a:solidFill>
                            <a:schemeClr val="tx1"/>
                          </a:solidFill>
                          <a:effectLst/>
                        </a:rPr>
                        <a:t> </a:t>
                      </a:r>
                      <a:endParaRPr lang="en-US"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marL="0" marR="0" algn="just">
                        <a:lnSpc>
                          <a:spcPct val="115000"/>
                        </a:lnSpc>
                        <a:spcBef>
                          <a:spcPts val="0"/>
                        </a:spcBef>
                        <a:spcAft>
                          <a:spcPts val="0"/>
                        </a:spcAft>
                      </a:pPr>
                      <a:r>
                        <a:rPr lang="en-US" sz="2000" b="0">
                          <a:solidFill>
                            <a:schemeClr val="tx1"/>
                          </a:solidFill>
                          <a:effectLst/>
                        </a:rPr>
                        <a:t> </a:t>
                      </a:r>
                      <a:endParaRPr lang="en-US" sz="20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marL="457200" marR="12700" algn="just">
                        <a:lnSpc>
                          <a:spcPct val="115000"/>
                        </a:lnSpc>
                        <a:spcBef>
                          <a:spcPts val="0"/>
                        </a:spcBef>
                        <a:spcAft>
                          <a:spcPts val="0"/>
                        </a:spcAft>
                      </a:pPr>
                      <a:r>
                        <a:rPr lang="en-US" sz="2000" b="0" dirty="0">
                          <a:solidFill>
                            <a:srgbClr val="C00000"/>
                          </a:solidFill>
                          <a:effectLst/>
                        </a:rPr>
                        <a:t>N=max-1;</a:t>
                      </a:r>
                    </a:p>
                    <a:p>
                      <a:pPr marL="457200" marR="12700" algn="just">
                        <a:lnSpc>
                          <a:spcPct val="115000"/>
                        </a:lnSpc>
                        <a:spcBef>
                          <a:spcPts val="0"/>
                        </a:spcBef>
                        <a:spcAft>
                          <a:spcPts val="0"/>
                        </a:spcAft>
                      </a:pPr>
                      <a:r>
                        <a:rPr lang="en-US" sz="2000" b="0" dirty="0">
                          <a:solidFill>
                            <a:schemeClr val="tx1"/>
                          </a:solidFill>
                          <a:effectLst/>
                        </a:rPr>
                        <a:t>While(</a:t>
                      </a:r>
                      <a:r>
                        <a:rPr lang="en-US" sz="2000" b="0" dirty="0" err="1">
                          <a:solidFill>
                            <a:schemeClr val="tx1"/>
                          </a:solidFill>
                          <a:effectLst/>
                        </a:rPr>
                        <a:t>i</a:t>
                      </a:r>
                      <a:r>
                        <a:rPr lang="en-US" sz="2000" b="0" dirty="0">
                          <a:solidFill>
                            <a:schemeClr val="tx1"/>
                          </a:solidFill>
                          <a:effectLst/>
                        </a:rPr>
                        <a:t>&lt;=N)</a:t>
                      </a:r>
                    </a:p>
                    <a:p>
                      <a:pPr marL="457200" marR="12700" algn="just">
                        <a:lnSpc>
                          <a:spcPct val="115000"/>
                        </a:lnSpc>
                        <a:spcBef>
                          <a:spcPts val="0"/>
                        </a:spcBef>
                        <a:spcAft>
                          <a:spcPts val="0"/>
                        </a:spcAft>
                      </a:pPr>
                      <a:r>
                        <a:rPr lang="en-US" sz="2000" b="0" dirty="0">
                          <a:solidFill>
                            <a:schemeClr val="tx1"/>
                          </a:solidFill>
                          <a:effectLst/>
                        </a:rPr>
                        <a:t>{</a:t>
                      </a:r>
                    </a:p>
                    <a:p>
                      <a:pPr marL="457200" marR="12700" algn="just">
                        <a:lnSpc>
                          <a:spcPct val="115000"/>
                        </a:lnSpc>
                        <a:spcBef>
                          <a:spcPts val="0"/>
                        </a:spcBef>
                        <a:spcAft>
                          <a:spcPts val="0"/>
                        </a:spcAft>
                      </a:pPr>
                      <a:r>
                        <a:rPr lang="en-US" sz="2000" b="0" dirty="0">
                          <a:solidFill>
                            <a:schemeClr val="tx1"/>
                          </a:solidFill>
                          <a:effectLst/>
                        </a:rPr>
                        <a:t>	sum=</a:t>
                      </a:r>
                      <a:r>
                        <a:rPr lang="en-US" sz="2000" b="0" dirty="0" err="1">
                          <a:solidFill>
                            <a:schemeClr val="tx1"/>
                          </a:solidFill>
                          <a:effectLst/>
                        </a:rPr>
                        <a:t>sum+a</a:t>
                      </a:r>
                      <a:r>
                        <a:rPr lang="en-US" sz="2000" b="0" dirty="0">
                          <a:solidFill>
                            <a:schemeClr val="tx1"/>
                          </a:solidFill>
                          <a:effectLst/>
                        </a:rPr>
                        <a:t>[</a:t>
                      </a:r>
                      <a:r>
                        <a:rPr lang="en-US" sz="2000" b="0" dirty="0" err="1">
                          <a:solidFill>
                            <a:schemeClr val="tx1"/>
                          </a:solidFill>
                          <a:effectLst/>
                        </a:rPr>
                        <a:t>i</a:t>
                      </a:r>
                      <a:r>
                        <a:rPr lang="en-US" sz="2000" b="0" dirty="0">
                          <a:solidFill>
                            <a:schemeClr val="tx1"/>
                          </a:solidFill>
                          <a:effectLst/>
                        </a:rPr>
                        <a:t>];</a:t>
                      </a:r>
                    </a:p>
                    <a:p>
                      <a:pPr marL="457200" marR="12700" algn="just">
                        <a:lnSpc>
                          <a:spcPct val="115000"/>
                        </a:lnSpc>
                        <a:spcBef>
                          <a:spcPts val="0"/>
                        </a:spcBef>
                        <a:spcAft>
                          <a:spcPts val="0"/>
                        </a:spcAft>
                      </a:pPr>
                      <a:r>
                        <a:rPr lang="en-US" sz="2000" b="0" dirty="0">
                          <a:solidFill>
                            <a:schemeClr val="tx1"/>
                          </a:solidFill>
                          <a:effectLst/>
                        </a:rPr>
                        <a:t>}</a:t>
                      </a:r>
                      <a:endParaRPr lang="en-US"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10000"/>
                  </a:ext>
                </a:extLst>
              </a:tr>
            </a:tbl>
          </a:graphicData>
        </a:graphic>
      </p:graphicFrame>
      <p:sp>
        <p:nvSpPr>
          <p:cNvPr id="5" name="Right Arrow 4">
            <a:extLst>
              <a:ext uri="{FF2B5EF4-FFF2-40B4-BE49-F238E27FC236}">
                <a16:creationId xmlns:a16="http://schemas.microsoft.com/office/drawing/2014/main" id="{78998A46-FFEF-3F56-64A2-25BC4954AC3B}"/>
              </a:ext>
            </a:extLst>
          </p:cNvPr>
          <p:cNvSpPr/>
          <p:nvPr/>
        </p:nvSpPr>
        <p:spPr>
          <a:xfrm>
            <a:off x="3936165" y="3733800"/>
            <a:ext cx="914400" cy="127420"/>
          </a:xfrm>
          <a:prstGeom prst="rightArrow">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558C916-87D0-C641-CEC5-9A27787B7033}"/>
              </a:ext>
            </a:extLst>
          </p:cNvPr>
          <p:cNvSpPr/>
          <p:nvPr/>
        </p:nvSpPr>
        <p:spPr>
          <a:xfrm>
            <a:off x="5041065" y="3175420"/>
            <a:ext cx="2057400" cy="1808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C374D09-589D-DABB-B5DB-C13724BE26DE}"/>
              </a:ext>
            </a:extLst>
          </p:cNvPr>
          <p:cNvSpPr/>
          <p:nvPr/>
        </p:nvSpPr>
        <p:spPr>
          <a:xfrm>
            <a:off x="1606412" y="4928020"/>
            <a:ext cx="2378912" cy="4893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E47A1"/>
                </a:solidFill>
              </a:rPr>
              <a:t>Before Optimization</a:t>
            </a:r>
          </a:p>
        </p:txBody>
      </p:sp>
      <p:sp>
        <p:nvSpPr>
          <p:cNvPr id="8" name="Rectangle 7">
            <a:extLst>
              <a:ext uri="{FF2B5EF4-FFF2-40B4-BE49-F238E27FC236}">
                <a16:creationId xmlns:a16="http://schemas.microsoft.com/office/drawing/2014/main" id="{3CF725D6-46BF-883D-0D6C-74FB8ADA923D}"/>
              </a:ext>
            </a:extLst>
          </p:cNvPr>
          <p:cNvSpPr/>
          <p:nvPr/>
        </p:nvSpPr>
        <p:spPr>
          <a:xfrm>
            <a:off x="4845693" y="4909732"/>
            <a:ext cx="2378912" cy="4893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E47A1"/>
                </a:solidFill>
              </a:rPr>
              <a:t>After Optimization</a:t>
            </a:r>
          </a:p>
        </p:txBody>
      </p:sp>
    </p:spTree>
    <p:extLst>
      <p:ext uri="{BB962C8B-B14F-4D97-AF65-F5344CB8AC3E}">
        <p14:creationId xmlns:p14="http://schemas.microsoft.com/office/powerpoint/2010/main" val="3857894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up)">
                                      <p:cBhvr>
                                        <p:cTn id="23" dur="500"/>
                                        <p:tgtEl>
                                          <p:spTgt spid="4"/>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xit" presetSubtype="1" fill="hold" grpId="0" nodeType="clickEffect">
                                  <p:stCondLst>
                                    <p:cond delay="0"/>
                                  </p:stCondLst>
                                  <p:childTnLst>
                                    <p:animEffect transition="out" filter="wipe(up)">
                                      <p:cBhvr>
                                        <p:cTn id="34" dur="500"/>
                                        <p:tgtEl>
                                          <p:spTgt spid="6"/>
                                        </p:tgtEl>
                                      </p:cBhvr>
                                    </p:animEffect>
                                    <p:set>
                                      <p:cBhvr>
                                        <p:cTn id="35" dur="1" fill="hold">
                                          <p:stCondLst>
                                            <p:cond delay="499"/>
                                          </p:stCondLst>
                                        </p:cTn>
                                        <p:tgtEl>
                                          <p:spTgt spid="6"/>
                                        </p:tgtEl>
                                        <p:attrNameLst>
                                          <p:attrName>style.visibility</p:attrName>
                                        </p:attrNameLst>
                                      </p:cBhvr>
                                      <p:to>
                                        <p:strVal val="hidden"/>
                                      </p:to>
                                    </p:set>
                                  </p:childTnLst>
                                </p:cTn>
                              </p:par>
                              <p:par>
                                <p:cTn id="36" presetID="1"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Reduction in Strength</a:t>
            </a:r>
            <a:endParaRPr lang="en-IN" dirty="0"/>
          </a:p>
        </p:txBody>
      </p:sp>
      <p:sp>
        <p:nvSpPr>
          <p:cNvPr id="3" name="Content Placeholder 2">
            <a:extLst>
              <a:ext uri="{FF2B5EF4-FFF2-40B4-BE49-F238E27FC236}">
                <a16:creationId xmlns:a16="http://schemas.microsoft.com/office/drawing/2014/main" id="{95009520-A472-7609-6789-3B1C00A82059}"/>
              </a:ext>
            </a:extLst>
          </p:cNvPr>
          <p:cNvSpPr>
            <a:spLocks noGrp="1"/>
          </p:cNvSpPr>
          <p:nvPr>
            <p:ph idx="1"/>
          </p:nvPr>
        </p:nvSpPr>
        <p:spPr>
          <a:xfrm>
            <a:off x="131180" y="863444"/>
            <a:ext cx="11929641" cy="5590565"/>
          </a:xfrm>
        </p:spPr>
        <p:txBody>
          <a:bodyPr/>
          <a:lstStyle/>
          <a:p>
            <a:pPr lvl="0"/>
            <a:r>
              <a:rPr lang="en-US" dirty="0"/>
              <a:t>priority of certain operators is higher than others. </a:t>
            </a:r>
          </a:p>
          <a:p>
            <a:pPr lvl="0"/>
            <a:r>
              <a:rPr lang="en-US" dirty="0"/>
              <a:t>For instance strength of * is higher than +. </a:t>
            </a:r>
          </a:p>
          <a:p>
            <a:pPr lvl="0"/>
            <a:r>
              <a:rPr lang="en-US" dirty="0"/>
              <a:t>In this technique the higher strength operators can be replaced by lower strength operators.</a:t>
            </a:r>
          </a:p>
          <a:p>
            <a:pPr lvl="0"/>
            <a:r>
              <a:rPr lang="en-US" dirty="0">
                <a:solidFill>
                  <a:srgbClr val="0E47A1"/>
                </a:solidFill>
              </a:rPr>
              <a:t>Example:</a:t>
            </a:r>
          </a:p>
          <a:p>
            <a:pPr marL="0" lvl="0" indent="0">
              <a:buNone/>
            </a:pPr>
            <a:r>
              <a:rPr lang="en-US" dirty="0">
                <a:solidFill>
                  <a:schemeClr val="accent1">
                    <a:lumMod val="75000"/>
                  </a:schemeClr>
                </a:solidFill>
              </a:rPr>
              <a:t>			</a:t>
            </a:r>
          </a:p>
          <a:p>
            <a:pPr marL="0" lvl="0" indent="0">
              <a:buNone/>
            </a:pPr>
            <a:r>
              <a:rPr lang="en-US" dirty="0">
                <a:solidFill>
                  <a:schemeClr val="accent1">
                    <a:lumMod val="75000"/>
                  </a:schemeClr>
                </a:solidFill>
              </a:rPr>
              <a:t>				</a:t>
            </a:r>
            <a:r>
              <a:rPr lang="en-US" dirty="0">
                <a:solidFill>
                  <a:srgbClr val="C00000"/>
                </a:solidFill>
              </a:rPr>
              <a:t>A=A*2</a:t>
            </a:r>
            <a:r>
              <a:rPr lang="en-US" dirty="0">
                <a:solidFill>
                  <a:schemeClr val="accent1">
                    <a:lumMod val="75000"/>
                  </a:schemeClr>
                </a:solidFill>
              </a:rPr>
              <a:t>				</a:t>
            </a:r>
            <a:r>
              <a:rPr lang="en-US" dirty="0">
                <a:solidFill>
                  <a:srgbClr val="C00000"/>
                </a:solidFill>
              </a:rPr>
              <a:t>A=A+A</a:t>
            </a:r>
          </a:p>
          <a:p>
            <a:pPr lvl="0"/>
            <a:endParaRPr lang="en-US" dirty="0">
              <a:solidFill>
                <a:schemeClr val="accent1">
                  <a:lumMod val="75000"/>
                </a:schemeClr>
              </a:solidFill>
            </a:endParaRPr>
          </a:p>
          <a:p>
            <a:pPr lvl="0"/>
            <a:endParaRPr lang="en-US" dirty="0">
              <a:solidFill>
                <a:schemeClr val="accent1">
                  <a:lumMod val="75000"/>
                </a:schemeClr>
              </a:solidFill>
            </a:endParaRPr>
          </a:p>
          <a:p>
            <a:endParaRPr lang="en-US" dirty="0"/>
          </a:p>
          <a:p>
            <a:pPr lvl="0"/>
            <a:endParaRPr lang="en-US" dirty="0"/>
          </a:p>
        </p:txBody>
      </p:sp>
      <p:sp>
        <p:nvSpPr>
          <p:cNvPr id="4" name="Rectangle 3">
            <a:extLst>
              <a:ext uri="{FF2B5EF4-FFF2-40B4-BE49-F238E27FC236}">
                <a16:creationId xmlns:a16="http://schemas.microsoft.com/office/drawing/2014/main" id="{711E87D1-620B-6AB4-ED0D-51A26B30F88B}"/>
              </a:ext>
            </a:extLst>
          </p:cNvPr>
          <p:cNvSpPr/>
          <p:nvPr/>
        </p:nvSpPr>
        <p:spPr>
          <a:xfrm>
            <a:off x="3061618" y="3605406"/>
            <a:ext cx="2378912" cy="4893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E47A1"/>
                </a:solidFill>
              </a:rPr>
              <a:t>Before Optimization</a:t>
            </a:r>
          </a:p>
        </p:txBody>
      </p:sp>
      <p:sp>
        <p:nvSpPr>
          <p:cNvPr id="5" name="Rectangle 4">
            <a:extLst>
              <a:ext uri="{FF2B5EF4-FFF2-40B4-BE49-F238E27FC236}">
                <a16:creationId xmlns:a16="http://schemas.microsoft.com/office/drawing/2014/main" id="{D22D0E41-03C2-B01E-1590-0C98619F172E}"/>
              </a:ext>
            </a:extLst>
          </p:cNvPr>
          <p:cNvSpPr/>
          <p:nvPr/>
        </p:nvSpPr>
        <p:spPr>
          <a:xfrm>
            <a:off x="6894126" y="3605405"/>
            <a:ext cx="2378912" cy="4893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E47A1"/>
                </a:solidFill>
              </a:rPr>
              <a:t>After Optimization</a:t>
            </a:r>
          </a:p>
        </p:txBody>
      </p:sp>
    </p:spTree>
    <p:extLst>
      <p:ext uri="{BB962C8B-B14F-4D97-AF65-F5344CB8AC3E}">
        <p14:creationId xmlns:p14="http://schemas.microsoft.com/office/powerpoint/2010/main" val="2970579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Dead code elimination</a:t>
            </a:r>
            <a:endParaRPr lang="en-IN" dirty="0"/>
          </a:p>
        </p:txBody>
      </p:sp>
      <p:sp>
        <p:nvSpPr>
          <p:cNvPr id="3" name="Content Placeholder 2">
            <a:extLst>
              <a:ext uri="{FF2B5EF4-FFF2-40B4-BE49-F238E27FC236}">
                <a16:creationId xmlns:a16="http://schemas.microsoft.com/office/drawing/2014/main" id="{F177AD14-EF60-863F-E18B-4BDAECDB37F4}"/>
              </a:ext>
            </a:extLst>
          </p:cNvPr>
          <p:cNvSpPr>
            <a:spLocks noGrp="1"/>
          </p:cNvSpPr>
          <p:nvPr>
            <p:ph idx="1"/>
          </p:nvPr>
        </p:nvSpPr>
        <p:spPr>
          <a:xfrm>
            <a:off x="131180" y="863444"/>
            <a:ext cx="11929641" cy="5590565"/>
          </a:xfrm>
        </p:spPr>
        <p:txBody>
          <a:bodyPr/>
          <a:lstStyle/>
          <a:p>
            <a:pPr lvl="0"/>
            <a:r>
              <a:rPr lang="en-US" dirty="0"/>
              <a:t>The variable is said to be </a:t>
            </a:r>
            <a:r>
              <a:rPr lang="en-US" dirty="0">
                <a:solidFill>
                  <a:srgbClr val="C00000"/>
                </a:solidFill>
              </a:rPr>
              <a:t>dead at a point in a program if the value contained into it is never been used</a:t>
            </a:r>
            <a:r>
              <a:rPr lang="en-US" dirty="0"/>
              <a:t>. </a:t>
            </a:r>
          </a:p>
          <a:p>
            <a:pPr lvl="0"/>
            <a:r>
              <a:rPr lang="en-US" dirty="0"/>
              <a:t>The code containing</a:t>
            </a:r>
            <a:r>
              <a:rPr lang="en-US" b="1" i="1" dirty="0"/>
              <a:t> </a:t>
            </a:r>
            <a:r>
              <a:rPr lang="en-US" dirty="0"/>
              <a:t>such a variable</a:t>
            </a:r>
            <a:r>
              <a:rPr lang="en-US" b="1" i="1" dirty="0"/>
              <a:t> </a:t>
            </a:r>
            <a:r>
              <a:rPr lang="en-US" dirty="0"/>
              <a:t>supposed to be a dead code. </a:t>
            </a:r>
          </a:p>
          <a:p>
            <a:r>
              <a:rPr lang="en-US" dirty="0">
                <a:solidFill>
                  <a:srgbClr val="0E47A1"/>
                </a:solidFill>
              </a:rPr>
              <a:t>Example:</a:t>
            </a:r>
          </a:p>
          <a:p>
            <a:pPr marL="0" indent="0">
              <a:buNone/>
            </a:pPr>
            <a:r>
              <a:rPr lang="en-US" dirty="0"/>
              <a:t>		</a:t>
            </a:r>
            <a:r>
              <a:rPr lang="en-US" dirty="0" err="1"/>
              <a:t>i</a:t>
            </a:r>
            <a:r>
              <a:rPr lang="en-US" dirty="0"/>
              <a:t>=0;</a:t>
            </a:r>
          </a:p>
          <a:p>
            <a:pPr marL="0" indent="0">
              <a:buNone/>
            </a:pPr>
            <a:r>
              <a:rPr lang="en-US" dirty="0"/>
              <a:t>		</a:t>
            </a:r>
            <a:r>
              <a:rPr lang="en-US" dirty="0">
                <a:solidFill>
                  <a:srgbClr val="C00000"/>
                </a:solidFill>
              </a:rPr>
              <a:t>if(</a:t>
            </a:r>
            <a:r>
              <a:rPr lang="en-US" dirty="0" err="1">
                <a:solidFill>
                  <a:srgbClr val="C00000"/>
                </a:solidFill>
              </a:rPr>
              <a:t>i</a:t>
            </a:r>
            <a:r>
              <a:rPr lang="en-US" dirty="0">
                <a:solidFill>
                  <a:srgbClr val="C00000"/>
                </a:solidFill>
              </a:rPr>
              <a:t>==1) </a:t>
            </a:r>
          </a:p>
          <a:p>
            <a:pPr marL="0" indent="0">
              <a:buNone/>
            </a:pPr>
            <a:r>
              <a:rPr lang="en-US" dirty="0"/>
              <a:t>		{</a:t>
            </a:r>
          </a:p>
          <a:p>
            <a:pPr marL="0" indent="0">
              <a:buNone/>
            </a:pPr>
            <a:r>
              <a:rPr lang="en-US" dirty="0"/>
              <a:t>			a=x+5; </a:t>
            </a:r>
          </a:p>
          <a:p>
            <a:pPr marL="0" indent="0">
              <a:buNone/>
            </a:pPr>
            <a:r>
              <a:rPr lang="en-US" dirty="0"/>
              <a:t>		}</a:t>
            </a:r>
          </a:p>
          <a:p>
            <a:endParaRPr lang="en-US" dirty="0"/>
          </a:p>
          <a:p>
            <a:r>
              <a:rPr lang="en-US" dirty="0"/>
              <a:t>If statement is a dead code as this condition will never get satisfied hence, statement can be eliminated and optimization can be done.</a:t>
            </a:r>
          </a:p>
          <a:p>
            <a:endParaRPr lang="en-US" dirty="0"/>
          </a:p>
        </p:txBody>
      </p:sp>
      <p:sp>
        <p:nvSpPr>
          <p:cNvPr id="4" name="Right Brace 3">
            <a:extLst>
              <a:ext uri="{FF2B5EF4-FFF2-40B4-BE49-F238E27FC236}">
                <a16:creationId xmlns:a16="http://schemas.microsoft.com/office/drawing/2014/main" id="{6BFF10D6-BA2C-4242-5688-9CDA15498649}"/>
              </a:ext>
            </a:extLst>
          </p:cNvPr>
          <p:cNvSpPr/>
          <p:nvPr/>
        </p:nvSpPr>
        <p:spPr>
          <a:xfrm>
            <a:off x="3817319" y="3021848"/>
            <a:ext cx="533400" cy="1752600"/>
          </a:xfrm>
          <a:prstGeom prst="rightBrace">
            <a:avLst/>
          </a:prstGeom>
          <a:ln w="25400">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E47A1"/>
              </a:solidFill>
            </a:endParaRPr>
          </a:p>
        </p:txBody>
      </p:sp>
      <p:sp>
        <p:nvSpPr>
          <p:cNvPr id="5" name="Rectangle 4">
            <a:extLst>
              <a:ext uri="{FF2B5EF4-FFF2-40B4-BE49-F238E27FC236}">
                <a16:creationId xmlns:a16="http://schemas.microsoft.com/office/drawing/2014/main" id="{60A1AB11-8D89-90D7-87E9-80BA34ED9A44}"/>
              </a:ext>
            </a:extLst>
          </p:cNvPr>
          <p:cNvSpPr/>
          <p:nvPr/>
        </p:nvSpPr>
        <p:spPr>
          <a:xfrm>
            <a:off x="4084019" y="3640020"/>
            <a:ext cx="1981200" cy="4857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Dead Code</a:t>
            </a:r>
          </a:p>
        </p:txBody>
      </p:sp>
      <p:cxnSp>
        <p:nvCxnSpPr>
          <p:cNvPr id="6" name="Straight Connector 5">
            <a:extLst>
              <a:ext uri="{FF2B5EF4-FFF2-40B4-BE49-F238E27FC236}">
                <a16:creationId xmlns:a16="http://schemas.microsoft.com/office/drawing/2014/main" id="{DB23FABE-1788-4A44-F73C-B444D3C4D6F9}"/>
              </a:ext>
            </a:extLst>
          </p:cNvPr>
          <p:cNvCxnSpPr/>
          <p:nvPr/>
        </p:nvCxnSpPr>
        <p:spPr>
          <a:xfrm>
            <a:off x="2058850" y="3086325"/>
            <a:ext cx="1603717" cy="168812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7FA1322-1662-4130-3811-EAF50EAD455D}"/>
              </a:ext>
            </a:extLst>
          </p:cNvPr>
          <p:cNvCxnSpPr/>
          <p:nvPr/>
        </p:nvCxnSpPr>
        <p:spPr>
          <a:xfrm flipH="1">
            <a:off x="2074684" y="3101924"/>
            <a:ext cx="1533378" cy="167405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119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up)">
                                      <p:cBhvr>
                                        <p:cTn id="39" dur="500"/>
                                        <p:tgtEl>
                                          <p:spTgt spid="7"/>
                                        </p:tgtEl>
                                      </p:cBhvr>
                                    </p:animEffect>
                                  </p:childTnLst>
                                </p:cTn>
                              </p:par>
                              <p:par>
                                <p:cTn id="40" presetID="22" presetClass="entr" presetSubtype="1" fill="hold" nodeType="with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up)">
                                      <p:cBhvr>
                                        <p:cTn id="4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C66A459-AF0E-E0F3-1949-7B9BE6680211}"/>
              </a:ext>
            </a:extLst>
          </p:cNvPr>
          <p:cNvSpPr>
            <a:spLocks noGrp="1"/>
          </p:cNvSpPr>
          <p:nvPr>
            <p:ph type="body" idx="1"/>
          </p:nvPr>
        </p:nvSpPr>
        <p:spPr/>
        <p:txBody>
          <a:bodyPr/>
          <a:lstStyle/>
          <a:p>
            <a:endParaRPr lang="en-IN"/>
          </a:p>
        </p:txBody>
      </p:sp>
      <p:sp>
        <p:nvSpPr>
          <p:cNvPr id="4" name="Title 3">
            <a:extLst>
              <a:ext uri="{FF2B5EF4-FFF2-40B4-BE49-F238E27FC236}">
                <a16:creationId xmlns:a16="http://schemas.microsoft.com/office/drawing/2014/main" id="{42DFBE7D-64E0-39A1-335E-A8BEF1F3B3F6}"/>
              </a:ext>
            </a:extLst>
          </p:cNvPr>
          <p:cNvSpPr>
            <a:spLocks noGrp="1"/>
          </p:cNvSpPr>
          <p:nvPr>
            <p:ph type="title"/>
          </p:nvPr>
        </p:nvSpPr>
        <p:spPr/>
        <p:txBody>
          <a:bodyPr/>
          <a:lstStyle/>
          <a:p>
            <a:r>
              <a:rPr lang="en-US" dirty="0"/>
              <a:t>Machine dependent techniques</a:t>
            </a:r>
            <a:endParaRPr lang="en-IN" dirty="0"/>
          </a:p>
        </p:txBody>
      </p:sp>
    </p:spTree>
    <p:extLst>
      <p:ext uri="{BB962C8B-B14F-4D97-AF65-F5344CB8AC3E}">
        <p14:creationId xmlns:p14="http://schemas.microsoft.com/office/powerpoint/2010/main" val="3235853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Machine dependent optimization</a:t>
            </a:r>
            <a:endParaRPr lang="en-IN" dirty="0"/>
          </a:p>
        </p:txBody>
      </p:sp>
      <p:sp>
        <p:nvSpPr>
          <p:cNvPr id="3" name="Content Placeholder 2">
            <a:extLst>
              <a:ext uri="{FF2B5EF4-FFF2-40B4-BE49-F238E27FC236}">
                <a16:creationId xmlns:a16="http://schemas.microsoft.com/office/drawing/2014/main" id="{8B75C0F6-565F-6C49-8353-2C6D30230DBA}"/>
              </a:ext>
            </a:extLst>
          </p:cNvPr>
          <p:cNvSpPr>
            <a:spLocks noGrp="1"/>
          </p:cNvSpPr>
          <p:nvPr>
            <p:ph idx="1"/>
          </p:nvPr>
        </p:nvSpPr>
        <p:spPr>
          <a:xfrm>
            <a:off x="131180" y="863444"/>
            <a:ext cx="11929641" cy="5590565"/>
          </a:xfrm>
        </p:spPr>
        <p:txBody>
          <a:bodyPr/>
          <a:lstStyle/>
          <a:p>
            <a:r>
              <a:rPr lang="en-US" dirty="0"/>
              <a:t>Machine dependent optimization may vary from machine to machine.</a:t>
            </a:r>
          </a:p>
          <a:p>
            <a:r>
              <a:rPr lang="en-US" dirty="0"/>
              <a:t>Machine-dependent optimization is done after the </a:t>
            </a:r>
            <a:r>
              <a:rPr lang="en-US" b="1" dirty="0"/>
              <a:t>target code</a:t>
            </a:r>
            <a:r>
              <a:rPr lang="en-US" dirty="0"/>
              <a:t> has been generated and when the code is transformed according to the target machine architecture. </a:t>
            </a:r>
          </a:p>
          <a:p>
            <a:r>
              <a:rPr lang="en-US" dirty="0"/>
              <a:t>Machine-dependent optimizers put efforts to take maximum </a:t>
            </a:r>
            <a:r>
              <a:rPr lang="en-US" b="1" dirty="0"/>
              <a:t>advantage</a:t>
            </a:r>
            <a:r>
              <a:rPr lang="en-US" dirty="0"/>
              <a:t> of the memory hierarchy.</a:t>
            </a:r>
          </a:p>
          <a:p>
            <a:endParaRPr lang="en-US" dirty="0"/>
          </a:p>
          <a:p>
            <a:endParaRPr lang="en-US" dirty="0"/>
          </a:p>
          <a:p>
            <a:pPr marL="457200" indent="-457200">
              <a:buFont typeface="+mj-lt"/>
              <a:buAutoNum type="arabicPeriod"/>
            </a:pPr>
            <a:r>
              <a:rPr lang="en-US" dirty="0"/>
              <a:t>Register allocation</a:t>
            </a:r>
          </a:p>
          <a:p>
            <a:pPr marL="457200" indent="-457200">
              <a:buFont typeface="+mj-lt"/>
              <a:buAutoNum type="arabicPeriod"/>
            </a:pPr>
            <a:r>
              <a:rPr lang="en-US" dirty="0"/>
              <a:t>Use of addressing modes</a:t>
            </a:r>
          </a:p>
          <a:p>
            <a:pPr marL="457200" indent="-457200">
              <a:buFont typeface="+mj-lt"/>
              <a:buAutoNum type="arabicPeriod"/>
            </a:pPr>
            <a:r>
              <a:rPr lang="en-US" dirty="0"/>
              <a:t>Peephole optimization</a:t>
            </a:r>
          </a:p>
          <a:p>
            <a:endParaRPr lang="en-US" dirty="0"/>
          </a:p>
          <a:p>
            <a:endParaRPr lang="en-US" dirty="0"/>
          </a:p>
          <a:p>
            <a:pPr lvl="0"/>
            <a:endParaRPr lang="en-US" dirty="0"/>
          </a:p>
        </p:txBody>
      </p:sp>
      <p:cxnSp>
        <p:nvCxnSpPr>
          <p:cNvPr id="4" name="Straight Connector 3">
            <a:extLst>
              <a:ext uri="{FF2B5EF4-FFF2-40B4-BE49-F238E27FC236}">
                <a16:creationId xmlns:a16="http://schemas.microsoft.com/office/drawing/2014/main" id="{F2F58970-649A-E4FD-3B9A-C0162560186C}"/>
              </a:ext>
            </a:extLst>
          </p:cNvPr>
          <p:cNvCxnSpPr/>
          <p:nvPr/>
        </p:nvCxnSpPr>
        <p:spPr>
          <a:xfrm>
            <a:off x="309423" y="3443048"/>
            <a:ext cx="11430000" cy="0"/>
          </a:xfrm>
          <a:prstGeom prst="line">
            <a:avLst/>
          </a:prstGeom>
          <a:ln>
            <a:solidFill>
              <a:srgbClr val="0E47A1"/>
            </a:solidFill>
          </a:ln>
        </p:spPr>
        <p:style>
          <a:lnRef idx="2">
            <a:schemeClr val="accent6"/>
          </a:lnRef>
          <a:fillRef idx="0">
            <a:schemeClr val="accent6"/>
          </a:fillRef>
          <a:effectRef idx="1">
            <a:schemeClr val="accent6"/>
          </a:effectRef>
          <a:fontRef idx="minor">
            <a:schemeClr val="tx1"/>
          </a:fontRef>
        </p:style>
      </p:cxnSp>
      <p:sp>
        <p:nvSpPr>
          <p:cNvPr id="5" name="Rectangle 4">
            <a:extLst>
              <a:ext uri="{FF2B5EF4-FFF2-40B4-BE49-F238E27FC236}">
                <a16:creationId xmlns:a16="http://schemas.microsoft.com/office/drawing/2014/main" id="{3D9D90ED-7DBB-15A7-E9C4-6C857FE04582}"/>
              </a:ext>
            </a:extLst>
          </p:cNvPr>
          <p:cNvSpPr/>
          <p:nvPr/>
        </p:nvSpPr>
        <p:spPr>
          <a:xfrm>
            <a:off x="309423" y="2982273"/>
            <a:ext cx="1901607" cy="461665"/>
          </a:xfrm>
          <a:prstGeom prst="rect">
            <a:avLst/>
          </a:prstGeom>
          <a:solidFill>
            <a:srgbClr val="0E47A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US" sz="2400" b="1" dirty="0"/>
              <a:t>Techniques</a:t>
            </a:r>
          </a:p>
        </p:txBody>
      </p:sp>
      <p:sp>
        <p:nvSpPr>
          <p:cNvPr id="6" name="Rectangular Callout 3">
            <a:extLst>
              <a:ext uri="{FF2B5EF4-FFF2-40B4-BE49-F238E27FC236}">
                <a16:creationId xmlns:a16="http://schemas.microsoft.com/office/drawing/2014/main" id="{5ABC48C0-D218-8A7D-5025-F2A31735977C}"/>
              </a:ext>
            </a:extLst>
          </p:cNvPr>
          <p:cNvSpPr/>
          <p:nvPr/>
        </p:nvSpPr>
        <p:spPr>
          <a:xfrm>
            <a:off x="4301545" y="3595292"/>
            <a:ext cx="5320758" cy="852869"/>
          </a:xfrm>
          <a:prstGeom prst="wedgeRectCallout">
            <a:avLst>
              <a:gd name="adj1" fmla="val -74273"/>
              <a:gd name="adj2" fmla="val -356"/>
            </a:avLst>
          </a:prstGeom>
          <a:noFill/>
          <a:ln>
            <a:solidFill>
              <a:srgbClr val="0E47A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Number of register may vary from machine to machine.</a:t>
            </a:r>
          </a:p>
          <a:p>
            <a:r>
              <a:rPr lang="en-US" dirty="0">
                <a:solidFill>
                  <a:schemeClr val="tx1"/>
                </a:solidFill>
              </a:rPr>
              <a:t>Used register may be of 32-bit register or 64 bit register.</a:t>
            </a:r>
          </a:p>
        </p:txBody>
      </p:sp>
      <p:sp>
        <p:nvSpPr>
          <p:cNvPr id="7" name="Rectangular Callout 8">
            <a:extLst>
              <a:ext uri="{FF2B5EF4-FFF2-40B4-BE49-F238E27FC236}">
                <a16:creationId xmlns:a16="http://schemas.microsoft.com/office/drawing/2014/main" id="{4FF7D063-4861-4560-2C69-7E68928E0E9C}"/>
              </a:ext>
            </a:extLst>
          </p:cNvPr>
          <p:cNvSpPr/>
          <p:nvPr/>
        </p:nvSpPr>
        <p:spPr>
          <a:xfrm>
            <a:off x="4863289" y="4159497"/>
            <a:ext cx="5132897" cy="577328"/>
          </a:xfrm>
          <a:prstGeom prst="wedgeRectCallout">
            <a:avLst>
              <a:gd name="adj1" fmla="val -69759"/>
              <a:gd name="adj2" fmla="val -6317"/>
            </a:avLst>
          </a:prstGeom>
          <a:noFill/>
          <a:ln>
            <a:solidFill>
              <a:srgbClr val="0E47A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Addressing mode also vary from machine to machine.</a:t>
            </a:r>
          </a:p>
        </p:txBody>
      </p:sp>
    </p:spTree>
    <p:extLst>
      <p:ext uri="{BB962C8B-B14F-4D97-AF65-F5344CB8AC3E}">
        <p14:creationId xmlns:p14="http://schemas.microsoft.com/office/powerpoint/2010/main" val="3006207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par>
                                <p:cTn id="20" presetID="22" presetClass="entr" presetSubtype="8"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childTnLst>
                                </p:cTn>
                              </p:par>
                              <p:par>
                                <p:cTn id="36" presetID="1" presetClass="exit" presetSubtype="0" fill="hold" grpId="1" nodeType="withEffect">
                                  <p:stCondLst>
                                    <p:cond delay="0"/>
                                  </p:stCondLst>
                                  <p:childTnLst>
                                    <p:set>
                                      <p:cBhvr>
                                        <p:cTn id="37" dur="1" fill="hold">
                                          <p:stCondLst>
                                            <p:cond delay="0"/>
                                          </p:stCondLst>
                                        </p:cTn>
                                        <p:tgtEl>
                                          <p:spTgt spid="6"/>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6" grpId="1" animBg="1"/>
      <p:bldP spid="7" grpId="0" animBg="1"/>
      <p:bldP spid="7"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Peephole optimization</a:t>
            </a:r>
            <a:endParaRPr lang="en-IN" dirty="0"/>
          </a:p>
        </p:txBody>
      </p:sp>
      <p:sp>
        <p:nvSpPr>
          <p:cNvPr id="3" name="Content Placeholder 2">
            <a:extLst>
              <a:ext uri="{FF2B5EF4-FFF2-40B4-BE49-F238E27FC236}">
                <a16:creationId xmlns:a16="http://schemas.microsoft.com/office/drawing/2014/main" id="{39F28F41-E745-8C57-5167-68A5D90D0FA0}"/>
              </a:ext>
            </a:extLst>
          </p:cNvPr>
          <p:cNvSpPr>
            <a:spLocks noGrp="1"/>
          </p:cNvSpPr>
          <p:nvPr>
            <p:ph idx="1"/>
          </p:nvPr>
        </p:nvSpPr>
        <p:spPr>
          <a:xfrm>
            <a:off x="131180" y="863444"/>
            <a:ext cx="11929641" cy="5590565"/>
          </a:xfrm>
        </p:spPr>
        <p:txBody>
          <a:bodyPr/>
          <a:lstStyle/>
          <a:p>
            <a:pPr>
              <a:lnSpc>
                <a:spcPct val="100000"/>
              </a:lnSpc>
            </a:pPr>
            <a:r>
              <a:rPr lang="en-US" dirty="0"/>
              <a:t>Peephole optimization is a simple and effective technique for locally improving target code. </a:t>
            </a:r>
          </a:p>
          <a:p>
            <a:pPr>
              <a:lnSpc>
                <a:spcPct val="100000"/>
              </a:lnSpc>
            </a:pPr>
            <a:r>
              <a:rPr lang="en-US" dirty="0"/>
              <a:t>This technique is applied to improve the performance of the target program by examining the short sequence of target instructions (called the peephole) and replacing these instructions by shorter or faster sequence whenever possible. </a:t>
            </a:r>
          </a:p>
          <a:p>
            <a:pPr>
              <a:lnSpc>
                <a:spcPct val="100000"/>
              </a:lnSpc>
            </a:pPr>
            <a:r>
              <a:rPr lang="en-US" dirty="0"/>
              <a:t>Peephole is a </a:t>
            </a:r>
            <a:r>
              <a:rPr lang="en-US" dirty="0">
                <a:solidFill>
                  <a:srgbClr val="C00000"/>
                </a:solidFill>
              </a:rPr>
              <a:t>small, moving window </a:t>
            </a:r>
            <a:r>
              <a:rPr lang="en-US" dirty="0"/>
              <a:t>on the target program.</a:t>
            </a:r>
          </a:p>
          <a:p>
            <a:pPr marL="457200" indent="0">
              <a:buNone/>
            </a:pPr>
            <a:endParaRPr lang="en-US" dirty="0"/>
          </a:p>
          <a:p>
            <a:endParaRPr lang="en-US" dirty="0"/>
          </a:p>
        </p:txBody>
      </p:sp>
    </p:spTree>
    <p:extLst>
      <p:ext uri="{BB962C8B-B14F-4D97-AF65-F5344CB8AC3E}">
        <p14:creationId xmlns:p14="http://schemas.microsoft.com/office/powerpoint/2010/main" val="330265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Redundant Loads &amp; Stores</a:t>
            </a:r>
            <a:endParaRPr lang="en-IN" dirty="0"/>
          </a:p>
        </p:txBody>
      </p:sp>
      <p:sp>
        <p:nvSpPr>
          <p:cNvPr id="3" name="Content Placeholder 2">
            <a:extLst>
              <a:ext uri="{FF2B5EF4-FFF2-40B4-BE49-F238E27FC236}">
                <a16:creationId xmlns:a16="http://schemas.microsoft.com/office/drawing/2014/main" id="{980DE044-FA95-3B79-BE59-873150FAA7BF}"/>
              </a:ext>
            </a:extLst>
          </p:cNvPr>
          <p:cNvSpPr>
            <a:spLocks noGrp="1"/>
          </p:cNvSpPr>
          <p:nvPr>
            <p:ph idx="1"/>
          </p:nvPr>
        </p:nvSpPr>
        <p:spPr>
          <a:xfrm>
            <a:off x="131180" y="863444"/>
            <a:ext cx="11929641" cy="5590565"/>
          </a:xfrm>
        </p:spPr>
        <p:txBody>
          <a:bodyPr/>
          <a:lstStyle/>
          <a:p>
            <a:pPr lvl="0">
              <a:lnSpc>
                <a:spcPct val="100000"/>
              </a:lnSpc>
            </a:pPr>
            <a:r>
              <a:rPr lang="en-US" dirty="0"/>
              <a:t>Especially the </a:t>
            </a:r>
            <a:r>
              <a:rPr lang="en-US" dirty="0">
                <a:solidFill>
                  <a:srgbClr val="C00000"/>
                </a:solidFill>
              </a:rPr>
              <a:t>redundant loads and stores can be eliminated </a:t>
            </a:r>
            <a:r>
              <a:rPr lang="en-US" dirty="0"/>
              <a:t>in following type of transformations.</a:t>
            </a:r>
          </a:p>
          <a:p>
            <a:pPr>
              <a:lnSpc>
                <a:spcPct val="100000"/>
              </a:lnSpc>
            </a:pPr>
            <a:r>
              <a:rPr lang="en-US" dirty="0"/>
              <a:t>Example:</a:t>
            </a:r>
          </a:p>
          <a:p>
            <a:pPr marL="0" indent="0">
              <a:lnSpc>
                <a:spcPct val="100000"/>
              </a:lnSpc>
              <a:buNone/>
            </a:pPr>
            <a:r>
              <a:rPr lang="en-US" dirty="0"/>
              <a:t>	MOV R0,x</a:t>
            </a:r>
          </a:p>
          <a:p>
            <a:pPr marL="0" indent="0">
              <a:lnSpc>
                <a:spcPct val="100000"/>
              </a:lnSpc>
              <a:buNone/>
            </a:pPr>
            <a:r>
              <a:rPr lang="en-US" dirty="0"/>
              <a:t>	</a:t>
            </a:r>
            <a:r>
              <a:rPr lang="en-US" dirty="0">
                <a:solidFill>
                  <a:srgbClr val="C00000"/>
                </a:solidFill>
              </a:rPr>
              <a:t>MOV x,R0</a:t>
            </a:r>
          </a:p>
          <a:p>
            <a:pPr>
              <a:lnSpc>
                <a:spcPct val="100000"/>
              </a:lnSpc>
            </a:pPr>
            <a:r>
              <a:rPr lang="en-US" dirty="0"/>
              <a:t>We can eliminate the second instruction since x is in already R0. </a:t>
            </a:r>
          </a:p>
          <a:p>
            <a:endParaRPr lang="en-US" dirty="0"/>
          </a:p>
        </p:txBody>
      </p:sp>
    </p:spTree>
    <p:extLst>
      <p:ext uri="{BB962C8B-B14F-4D97-AF65-F5344CB8AC3E}">
        <p14:creationId xmlns:p14="http://schemas.microsoft.com/office/powerpoint/2010/main" val="905717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Flow of Control Optimization</a:t>
            </a:r>
            <a:endParaRPr lang="en-IN" dirty="0"/>
          </a:p>
        </p:txBody>
      </p:sp>
      <p:sp>
        <p:nvSpPr>
          <p:cNvPr id="3" name="Content Placeholder 2">
            <a:extLst>
              <a:ext uri="{FF2B5EF4-FFF2-40B4-BE49-F238E27FC236}">
                <a16:creationId xmlns:a16="http://schemas.microsoft.com/office/drawing/2014/main" id="{21089DA5-7ED2-0852-C59A-E97982D9716E}"/>
              </a:ext>
            </a:extLst>
          </p:cNvPr>
          <p:cNvSpPr>
            <a:spLocks noGrp="1"/>
          </p:cNvSpPr>
          <p:nvPr>
            <p:ph idx="1"/>
          </p:nvPr>
        </p:nvSpPr>
        <p:spPr>
          <a:xfrm>
            <a:off x="131180" y="863444"/>
            <a:ext cx="11929641" cy="5590565"/>
          </a:xfrm>
        </p:spPr>
        <p:txBody>
          <a:bodyPr/>
          <a:lstStyle/>
          <a:p>
            <a:pPr lvl="0"/>
            <a:r>
              <a:rPr lang="en-US" dirty="0"/>
              <a:t>The unnecessary jumps can be eliminated in either the intermediate code or the target code by the following types of peephole optimizations.</a:t>
            </a:r>
          </a:p>
          <a:p>
            <a:pPr lvl="0"/>
            <a:r>
              <a:rPr lang="en-US" dirty="0"/>
              <a:t>We can replace the jump sequence.</a:t>
            </a:r>
          </a:p>
          <a:p>
            <a:pPr lvl="0"/>
            <a:endParaRPr lang="en-US" dirty="0"/>
          </a:p>
          <a:p>
            <a:pPr lvl="0"/>
            <a:endParaRPr lang="en-US" dirty="0"/>
          </a:p>
          <a:p>
            <a:pPr lvl="0"/>
            <a:endParaRPr lang="en-US" dirty="0"/>
          </a:p>
          <a:p>
            <a:pPr lvl="0"/>
            <a:endParaRPr lang="en-US" dirty="0"/>
          </a:p>
          <a:p>
            <a:r>
              <a:rPr lang="en-US" dirty="0"/>
              <a:t>It may be possible to eliminate the statement </a:t>
            </a:r>
            <a:r>
              <a:rPr lang="en-US" dirty="0">
                <a:solidFill>
                  <a:srgbClr val="C00000"/>
                </a:solidFill>
              </a:rPr>
              <a:t>L1: </a:t>
            </a:r>
            <a:r>
              <a:rPr lang="en-US" dirty="0" err="1">
                <a:solidFill>
                  <a:srgbClr val="C00000"/>
                </a:solidFill>
              </a:rPr>
              <a:t>goto</a:t>
            </a:r>
            <a:r>
              <a:rPr lang="en-US" dirty="0">
                <a:solidFill>
                  <a:srgbClr val="C00000"/>
                </a:solidFill>
              </a:rPr>
              <a:t> L2 </a:t>
            </a:r>
            <a:r>
              <a:rPr lang="en-US" dirty="0"/>
              <a:t>provided it is preceded by an unconditional jump. Similarly, the sequence can be replaced by:</a:t>
            </a:r>
          </a:p>
          <a:p>
            <a:pPr marL="0" lvl="0" indent="0">
              <a:buNone/>
            </a:pPr>
            <a:endParaRPr lang="en-US" dirty="0"/>
          </a:p>
        </p:txBody>
      </p:sp>
      <p:graphicFrame>
        <p:nvGraphicFramePr>
          <p:cNvPr id="4" name="Table 3">
            <a:extLst>
              <a:ext uri="{FF2B5EF4-FFF2-40B4-BE49-F238E27FC236}">
                <a16:creationId xmlns:a16="http://schemas.microsoft.com/office/drawing/2014/main" id="{B49F96C8-28C9-719C-F390-FCE466941E08}"/>
              </a:ext>
            </a:extLst>
          </p:cNvPr>
          <p:cNvGraphicFramePr>
            <a:graphicFrameLocks noGrp="1"/>
          </p:cNvGraphicFramePr>
          <p:nvPr/>
        </p:nvGraphicFramePr>
        <p:xfrm>
          <a:off x="2849880" y="2550730"/>
          <a:ext cx="6248402" cy="1097280"/>
        </p:xfrm>
        <a:graphic>
          <a:graphicData uri="http://schemas.openxmlformats.org/drawingml/2006/table">
            <a:tbl>
              <a:tblPr firstRow="1" firstCol="1" bandRow="1">
                <a:tableStyleId>{5C22544A-7EE6-4342-B048-85BDC9FD1C3A}</a:tableStyleId>
              </a:tblPr>
              <a:tblGrid>
                <a:gridCol w="2667000">
                  <a:extLst>
                    <a:ext uri="{9D8B030D-6E8A-4147-A177-3AD203B41FA5}">
                      <a16:colId xmlns:a16="http://schemas.microsoft.com/office/drawing/2014/main" val="20000"/>
                    </a:ext>
                  </a:extLst>
                </a:gridCol>
                <a:gridCol w="514101">
                  <a:extLst>
                    <a:ext uri="{9D8B030D-6E8A-4147-A177-3AD203B41FA5}">
                      <a16:colId xmlns:a16="http://schemas.microsoft.com/office/drawing/2014/main" val="20001"/>
                    </a:ext>
                  </a:extLst>
                </a:gridCol>
                <a:gridCol w="3067301">
                  <a:extLst>
                    <a:ext uri="{9D8B030D-6E8A-4147-A177-3AD203B41FA5}">
                      <a16:colId xmlns:a16="http://schemas.microsoft.com/office/drawing/2014/main" val="20002"/>
                    </a:ext>
                  </a:extLst>
                </a:gridCol>
              </a:tblGrid>
              <a:tr h="838200">
                <a:tc>
                  <a:txBody>
                    <a:bodyPr/>
                    <a:lstStyle/>
                    <a:p>
                      <a:r>
                        <a:rPr lang="en-US" sz="2200" b="0" dirty="0">
                          <a:solidFill>
                            <a:srgbClr val="0E47A1"/>
                          </a:solidFill>
                        </a:rPr>
                        <a:t> </a:t>
                      </a:r>
                      <a:r>
                        <a:rPr lang="en-US" sz="2400" b="0" i="1" dirty="0" err="1">
                          <a:solidFill>
                            <a:srgbClr val="0E47A1"/>
                          </a:solidFill>
                        </a:rPr>
                        <a:t>Goto</a:t>
                      </a:r>
                      <a:r>
                        <a:rPr lang="en-US" sz="2400" b="0" i="1" dirty="0">
                          <a:solidFill>
                            <a:srgbClr val="0E47A1"/>
                          </a:solidFill>
                        </a:rPr>
                        <a:t> L1</a:t>
                      </a:r>
                      <a:endParaRPr lang="en-US" sz="2400" b="0" dirty="0">
                        <a:solidFill>
                          <a:srgbClr val="0E47A1"/>
                        </a:solidFill>
                      </a:endParaRPr>
                    </a:p>
                    <a:p>
                      <a:r>
                        <a:rPr lang="en-US" sz="2400" b="0" i="1" dirty="0">
                          <a:solidFill>
                            <a:srgbClr val="0E47A1"/>
                          </a:solidFill>
                        </a:rPr>
                        <a:t>	……</a:t>
                      </a:r>
                      <a:endParaRPr lang="en-US" sz="2400" b="0" dirty="0">
                        <a:solidFill>
                          <a:srgbClr val="0E47A1"/>
                        </a:solidFill>
                      </a:endParaRPr>
                    </a:p>
                    <a:p>
                      <a:r>
                        <a:rPr lang="en-US" sz="2400" b="0" i="1" dirty="0">
                          <a:solidFill>
                            <a:srgbClr val="0E47A1"/>
                          </a:solidFill>
                        </a:rPr>
                        <a:t>L1: </a:t>
                      </a:r>
                      <a:r>
                        <a:rPr lang="en-US" sz="2400" b="0" i="1" dirty="0" err="1">
                          <a:solidFill>
                            <a:srgbClr val="0E47A1"/>
                          </a:solidFill>
                        </a:rPr>
                        <a:t>goto</a:t>
                      </a:r>
                      <a:r>
                        <a:rPr lang="en-US" sz="2400" b="0" i="1" dirty="0">
                          <a:solidFill>
                            <a:srgbClr val="0E47A1"/>
                          </a:solidFill>
                        </a:rPr>
                        <a:t> L2</a:t>
                      </a:r>
                      <a:endParaRPr lang="en-US" sz="2400" b="0" dirty="0">
                        <a:solidFill>
                          <a:srgbClr val="0E47A1"/>
                        </a:solidFill>
                      </a:endParaRPr>
                    </a:p>
                  </a:txBody>
                  <a:tcPr marL="68580" marR="68580" marT="0" marB="0">
                    <a:noFill/>
                  </a:tcPr>
                </a:tc>
                <a:tc>
                  <a:txBody>
                    <a:bodyPr/>
                    <a:lstStyle/>
                    <a:p>
                      <a:pPr marL="0" marR="0" algn="just">
                        <a:lnSpc>
                          <a:spcPct val="115000"/>
                        </a:lnSpc>
                        <a:spcBef>
                          <a:spcPts val="0"/>
                        </a:spcBef>
                        <a:spcAft>
                          <a:spcPts val="0"/>
                        </a:spcAft>
                      </a:pPr>
                      <a:r>
                        <a:rPr lang="en-US" sz="2200" b="0" dirty="0">
                          <a:solidFill>
                            <a:srgbClr val="0E47A1"/>
                          </a:solidFill>
                          <a:effectLst/>
                        </a:rPr>
                        <a:t> </a:t>
                      </a:r>
                      <a:endParaRPr lang="en-US" sz="2200" b="0" dirty="0">
                        <a:solidFill>
                          <a:srgbClr val="0E47A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endParaRPr lang="en-US" sz="2400" b="0" i="1" dirty="0">
                        <a:solidFill>
                          <a:srgbClr val="0E47A1"/>
                        </a:solidFill>
                      </a:endParaRPr>
                    </a:p>
                    <a:p>
                      <a:r>
                        <a:rPr lang="en-US" sz="2400" b="0" i="1" dirty="0" err="1">
                          <a:solidFill>
                            <a:srgbClr val="0E47A1"/>
                          </a:solidFill>
                        </a:rPr>
                        <a:t>Goto</a:t>
                      </a:r>
                      <a:r>
                        <a:rPr lang="en-US" sz="2400" b="0" i="1" dirty="0">
                          <a:solidFill>
                            <a:srgbClr val="0E47A1"/>
                          </a:solidFill>
                        </a:rPr>
                        <a:t> L2</a:t>
                      </a:r>
                      <a:endParaRPr lang="en-US" sz="2400" b="0" dirty="0">
                        <a:solidFill>
                          <a:srgbClr val="0E47A1"/>
                        </a:solidFill>
                      </a:endParaRPr>
                    </a:p>
                  </a:txBody>
                  <a:tcPr marL="68580" marR="68580" marT="0" marB="0">
                    <a:noFill/>
                  </a:tcPr>
                </a:tc>
                <a:extLst>
                  <a:ext uri="{0D108BD9-81ED-4DB2-BD59-A6C34878D82A}">
                    <a16:rowId xmlns:a16="http://schemas.microsoft.com/office/drawing/2014/main" val="10000"/>
                  </a:ext>
                </a:extLst>
              </a:tr>
            </a:tbl>
          </a:graphicData>
        </a:graphic>
      </p:graphicFrame>
      <p:sp>
        <p:nvSpPr>
          <p:cNvPr id="5" name="Right Arrow 4">
            <a:extLst>
              <a:ext uri="{FF2B5EF4-FFF2-40B4-BE49-F238E27FC236}">
                <a16:creationId xmlns:a16="http://schemas.microsoft.com/office/drawing/2014/main" id="{218DFAEA-1C96-4D18-CC60-D332BCBA4908}"/>
              </a:ext>
            </a:extLst>
          </p:cNvPr>
          <p:cNvSpPr/>
          <p:nvPr/>
        </p:nvSpPr>
        <p:spPr>
          <a:xfrm>
            <a:off x="4914777" y="3010596"/>
            <a:ext cx="609600" cy="177547"/>
          </a:xfrm>
          <a:prstGeom prst="rightArrow">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E47A1"/>
              </a:solidFill>
            </a:endParaRPr>
          </a:p>
        </p:txBody>
      </p:sp>
      <p:sp>
        <p:nvSpPr>
          <p:cNvPr id="6" name="Rectangle 5">
            <a:extLst>
              <a:ext uri="{FF2B5EF4-FFF2-40B4-BE49-F238E27FC236}">
                <a16:creationId xmlns:a16="http://schemas.microsoft.com/office/drawing/2014/main" id="{72857DA6-412F-42D6-EF94-7EE2DE36036C}"/>
              </a:ext>
            </a:extLst>
          </p:cNvPr>
          <p:cNvSpPr/>
          <p:nvPr/>
        </p:nvSpPr>
        <p:spPr>
          <a:xfrm>
            <a:off x="5953127" y="2337369"/>
            <a:ext cx="2880608" cy="152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E47A1"/>
              </a:solidFill>
            </a:endParaRPr>
          </a:p>
        </p:txBody>
      </p:sp>
      <p:graphicFrame>
        <p:nvGraphicFramePr>
          <p:cNvPr id="7" name="Table 6">
            <a:extLst>
              <a:ext uri="{FF2B5EF4-FFF2-40B4-BE49-F238E27FC236}">
                <a16:creationId xmlns:a16="http://schemas.microsoft.com/office/drawing/2014/main" id="{E9DCE964-3CE3-D5AF-64BC-9354DAF75FCB}"/>
              </a:ext>
            </a:extLst>
          </p:cNvPr>
          <p:cNvGraphicFramePr>
            <a:graphicFrameLocks noGrp="1"/>
          </p:cNvGraphicFramePr>
          <p:nvPr/>
        </p:nvGraphicFramePr>
        <p:xfrm>
          <a:off x="2782389" y="5250049"/>
          <a:ext cx="6248402" cy="1097280"/>
        </p:xfrm>
        <a:graphic>
          <a:graphicData uri="http://schemas.openxmlformats.org/drawingml/2006/table">
            <a:tbl>
              <a:tblPr firstRow="1" firstCol="1" bandRow="1">
                <a:tableStyleId>{5C22544A-7EE6-4342-B048-85BDC9FD1C3A}</a:tableStyleId>
              </a:tblPr>
              <a:tblGrid>
                <a:gridCol w="2667000">
                  <a:extLst>
                    <a:ext uri="{9D8B030D-6E8A-4147-A177-3AD203B41FA5}">
                      <a16:colId xmlns:a16="http://schemas.microsoft.com/office/drawing/2014/main" val="20000"/>
                    </a:ext>
                  </a:extLst>
                </a:gridCol>
                <a:gridCol w="514101">
                  <a:extLst>
                    <a:ext uri="{9D8B030D-6E8A-4147-A177-3AD203B41FA5}">
                      <a16:colId xmlns:a16="http://schemas.microsoft.com/office/drawing/2014/main" val="20001"/>
                    </a:ext>
                  </a:extLst>
                </a:gridCol>
                <a:gridCol w="3067301">
                  <a:extLst>
                    <a:ext uri="{9D8B030D-6E8A-4147-A177-3AD203B41FA5}">
                      <a16:colId xmlns:a16="http://schemas.microsoft.com/office/drawing/2014/main" val="20002"/>
                    </a:ext>
                  </a:extLst>
                </a:gridCol>
              </a:tblGrid>
              <a:tr h="1011545">
                <a:tc>
                  <a:txBody>
                    <a:bodyPr/>
                    <a:lstStyle/>
                    <a:p>
                      <a:r>
                        <a:rPr lang="en-US" sz="2200" b="0" dirty="0">
                          <a:solidFill>
                            <a:srgbClr val="0E47A1"/>
                          </a:solidFill>
                        </a:rPr>
                        <a:t> </a:t>
                      </a:r>
                      <a:r>
                        <a:rPr lang="en-US" sz="2400" b="0" i="1" dirty="0">
                          <a:solidFill>
                            <a:srgbClr val="0E47A1"/>
                          </a:solidFill>
                        </a:rPr>
                        <a:t>If a&lt;b </a:t>
                      </a:r>
                      <a:r>
                        <a:rPr lang="en-US" sz="2400" b="0" i="1" dirty="0" err="1">
                          <a:solidFill>
                            <a:srgbClr val="0E47A1"/>
                          </a:solidFill>
                        </a:rPr>
                        <a:t>goto</a:t>
                      </a:r>
                      <a:r>
                        <a:rPr lang="en-US" sz="2400" b="0" i="1" dirty="0">
                          <a:solidFill>
                            <a:srgbClr val="0E47A1"/>
                          </a:solidFill>
                        </a:rPr>
                        <a:t> L1</a:t>
                      </a:r>
                      <a:endParaRPr lang="en-US" sz="2400" b="0" dirty="0">
                        <a:solidFill>
                          <a:srgbClr val="0E47A1"/>
                        </a:solidFill>
                      </a:endParaRPr>
                    </a:p>
                    <a:p>
                      <a:r>
                        <a:rPr lang="en-US" sz="2400" b="0" i="1" dirty="0">
                          <a:solidFill>
                            <a:srgbClr val="0E47A1"/>
                          </a:solidFill>
                        </a:rPr>
                        <a:t>	……</a:t>
                      </a:r>
                      <a:endParaRPr lang="en-US" sz="2400" b="0" dirty="0">
                        <a:solidFill>
                          <a:srgbClr val="0E47A1"/>
                        </a:solidFill>
                      </a:endParaRPr>
                    </a:p>
                    <a:p>
                      <a:r>
                        <a:rPr lang="en-US" sz="2400" b="0" i="1" dirty="0">
                          <a:solidFill>
                            <a:srgbClr val="0E47A1"/>
                          </a:solidFill>
                        </a:rPr>
                        <a:t>L1: </a:t>
                      </a:r>
                      <a:r>
                        <a:rPr lang="en-US" sz="2400" b="0" i="1" dirty="0" err="1">
                          <a:solidFill>
                            <a:srgbClr val="0E47A1"/>
                          </a:solidFill>
                        </a:rPr>
                        <a:t>goto</a:t>
                      </a:r>
                      <a:r>
                        <a:rPr lang="en-US" sz="2400" b="0" i="1" dirty="0">
                          <a:solidFill>
                            <a:srgbClr val="0E47A1"/>
                          </a:solidFill>
                        </a:rPr>
                        <a:t> L2</a:t>
                      </a:r>
                      <a:endParaRPr lang="en-US" sz="2400" b="0" dirty="0">
                        <a:solidFill>
                          <a:srgbClr val="0E47A1"/>
                        </a:solidFill>
                      </a:endParaRPr>
                    </a:p>
                  </a:txBody>
                  <a:tcPr marL="68580" marR="68580" marT="0" marB="0">
                    <a:noFill/>
                  </a:tcPr>
                </a:tc>
                <a:tc>
                  <a:txBody>
                    <a:bodyPr/>
                    <a:lstStyle/>
                    <a:p>
                      <a:pPr marL="0" marR="0" algn="just">
                        <a:lnSpc>
                          <a:spcPct val="115000"/>
                        </a:lnSpc>
                        <a:spcBef>
                          <a:spcPts val="0"/>
                        </a:spcBef>
                        <a:spcAft>
                          <a:spcPts val="0"/>
                        </a:spcAft>
                      </a:pPr>
                      <a:r>
                        <a:rPr lang="en-US" sz="2200" b="0" dirty="0">
                          <a:solidFill>
                            <a:srgbClr val="0E47A1"/>
                          </a:solidFill>
                          <a:effectLst/>
                        </a:rPr>
                        <a:t> </a:t>
                      </a:r>
                      <a:endParaRPr lang="en-US" sz="2200" b="0" dirty="0">
                        <a:solidFill>
                          <a:srgbClr val="0E47A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endParaRPr lang="en-US" sz="2400" b="0" i="1" dirty="0">
                        <a:solidFill>
                          <a:srgbClr val="0E47A1"/>
                        </a:solidFill>
                      </a:endParaRPr>
                    </a:p>
                    <a:p>
                      <a:r>
                        <a:rPr lang="en-US" sz="2400" b="0" i="1" dirty="0">
                          <a:solidFill>
                            <a:srgbClr val="0E47A1"/>
                          </a:solidFill>
                        </a:rPr>
                        <a:t>If a&lt;b </a:t>
                      </a:r>
                      <a:r>
                        <a:rPr lang="en-US" sz="2400" b="0" i="1" dirty="0" err="1">
                          <a:solidFill>
                            <a:srgbClr val="0E47A1"/>
                          </a:solidFill>
                        </a:rPr>
                        <a:t>goto</a:t>
                      </a:r>
                      <a:r>
                        <a:rPr lang="en-US" sz="2400" b="0" i="1" dirty="0">
                          <a:solidFill>
                            <a:srgbClr val="0E47A1"/>
                          </a:solidFill>
                        </a:rPr>
                        <a:t> L2</a:t>
                      </a:r>
                      <a:endParaRPr lang="en-US" sz="2400" b="0" dirty="0">
                        <a:solidFill>
                          <a:srgbClr val="0E47A1"/>
                        </a:solidFill>
                      </a:endParaRPr>
                    </a:p>
                  </a:txBody>
                  <a:tcPr marL="68580" marR="68580" marT="0" marB="0">
                    <a:noFill/>
                  </a:tcPr>
                </a:tc>
                <a:extLst>
                  <a:ext uri="{0D108BD9-81ED-4DB2-BD59-A6C34878D82A}">
                    <a16:rowId xmlns:a16="http://schemas.microsoft.com/office/drawing/2014/main" val="10000"/>
                  </a:ext>
                </a:extLst>
              </a:tr>
            </a:tbl>
          </a:graphicData>
        </a:graphic>
      </p:graphicFrame>
      <p:sp>
        <p:nvSpPr>
          <p:cNvPr id="8" name="Right Arrow 7">
            <a:extLst>
              <a:ext uri="{FF2B5EF4-FFF2-40B4-BE49-F238E27FC236}">
                <a16:creationId xmlns:a16="http://schemas.microsoft.com/office/drawing/2014/main" id="{FB82CDAF-39E4-DCDC-A3B6-74F419BE6DB0}"/>
              </a:ext>
            </a:extLst>
          </p:cNvPr>
          <p:cNvSpPr/>
          <p:nvPr/>
        </p:nvSpPr>
        <p:spPr>
          <a:xfrm>
            <a:off x="4870269" y="5714488"/>
            <a:ext cx="609600" cy="177547"/>
          </a:xfrm>
          <a:prstGeom prst="rightArrow">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F679E73-E858-E5DE-6795-94FC14E91EA5}"/>
              </a:ext>
            </a:extLst>
          </p:cNvPr>
          <p:cNvSpPr/>
          <p:nvPr/>
        </p:nvSpPr>
        <p:spPr>
          <a:xfrm>
            <a:off x="5920879" y="4823329"/>
            <a:ext cx="2095500" cy="152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6384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xit" presetSubtype="1" fill="hold" grpId="0" nodeType="clickEffect">
                                  <p:stCondLst>
                                    <p:cond delay="0"/>
                                  </p:stCondLst>
                                  <p:childTnLst>
                                    <p:animEffect transition="out" filter="wipe(up)">
                                      <p:cBhvr>
                                        <p:cTn id="24" dur="500"/>
                                        <p:tgtEl>
                                          <p:spTgt spid="6"/>
                                        </p:tgtEl>
                                      </p:cBhvr>
                                    </p:animEffect>
                                    <p:set>
                                      <p:cBhvr>
                                        <p:cTn id="25" dur="1" fill="hold">
                                          <p:stCondLst>
                                            <p:cond delay="499"/>
                                          </p:stCondLst>
                                        </p:cTn>
                                        <p:tgtEl>
                                          <p:spTgt spid="6"/>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up)">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left)">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xit" presetSubtype="1" fill="hold" grpId="0" nodeType="clickEffect">
                                  <p:stCondLst>
                                    <p:cond delay="0"/>
                                  </p:stCondLst>
                                  <p:childTnLst>
                                    <p:animEffect transition="out" filter="wipe(up)">
                                      <p:cBhvr>
                                        <p:cTn id="43" dur="500"/>
                                        <p:tgtEl>
                                          <p:spTgt spid="9"/>
                                        </p:tgtEl>
                                      </p:cBhvr>
                                    </p:animEffect>
                                    <p:set>
                                      <p:cBhvr>
                                        <p:cTn id="44"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Algebraic simplification</a:t>
            </a:r>
            <a:endParaRPr lang="en-IN" dirty="0"/>
          </a:p>
        </p:txBody>
      </p:sp>
      <p:sp>
        <p:nvSpPr>
          <p:cNvPr id="3" name="Content Placeholder 2">
            <a:extLst>
              <a:ext uri="{FF2B5EF4-FFF2-40B4-BE49-F238E27FC236}">
                <a16:creationId xmlns:a16="http://schemas.microsoft.com/office/drawing/2014/main" id="{8A59D3F2-EA11-F0BB-813B-AF3F66C1B8C6}"/>
              </a:ext>
            </a:extLst>
          </p:cNvPr>
          <p:cNvSpPr>
            <a:spLocks noGrp="1"/>
          </p:cNvSpPr>
          <p:nvPr>
            <p:ph idx="1"/>
          </p:nvPr>
        </p:nvSpPr>
        <p:spPr>
          <a:xfrm>
            <a:off x="131180" y="863444"/>
            <a:ext cx="11929641" cy="5590565"/>
          </a:xfrm>
        </p:spPr>
        <p:txBody>
          <a:bodyPr/>
          <a:lstStyle/>
          <a:p>
            <a:pPr lvl="0"/>
            <a:r>
              <a:rPr lang="en-US" dirty="0"/>
              <a:t>Peephole optimization is an effective technique for algebraic simplification.</a:t>
            </a:r>
          </a:p>
          <a:p>
            <a:pPr lvl="0"/>
            <a:r>
              <a:rPr lang="en-US" dirty="0"/>
              <a:t>The statements such as </a:t>
            </a:r>
            <a:r>
              <a:rPr lang="en-US" dirty="0">
                <a:solidFill>
                  <a:srgbClr val="C00000"/>
                </a:solidFill>
              </a:rPr>
              <a:t>x = x + 0 </a:t>
            </a:r>
            <a:r>
              <a:rPr lang="en-US" dirty="0"/>
              <a:t>or</a:t>
            </a:r>
            <a:r>
              <a:rPr lang="en-US" dirty="0">
                <a:solidFill>
                  <a:srgbClr val="C00000"/>
                </a:solidFill>
              </a:rPr>
              <a:t> x := x* 1 </a:t>
            </a:r>
            <a:r>
              <a:rPr lang="en-US" dirty="0"/>
              <a:t>can be eliminated by peephole optimization.</a:t>
            </a:r>
          </a:p>
          <a:p>
            <a:endParaRPr lang="en-US" dirty="0"/>
          </a:p>
        </p:txBody>
      </p:sp>
    </p:spTree>
    <p:extLst>
      <p:ext uri="{BB962C8B-B14F-4D97-AF65-F5344CB8AC3E}">
        <p14:creationId xmlns:p14="http://schemas.microsoft.com/office/powerpoint/2010/main" val="2921612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Reduction in strength</a:t>
            </a:r>
            <a:endParaRPr lang="en-IN" dirty="0"/>
          </a:p>
        </p:txBody>
      </p:sp>
      <p:sp>
        <p:nvSpPr>
          <p:cNvPr id="3" name="Content Placeholder 2">
            <a:extLst>
              <a:ext uri="{FF2B5EF4-FFF2-40B4-BE49-F238E27FC236}">
                <a16:creationId xmlns:a16="http://schemas.microsoft.com/office/drawing/2014/main" id="{CF22C41B-0A3D-45DA-4A3F-4C0DBB20A661}"/>
              </a:ext>
            </a:extLst>
          </p:cNvPr>
          <p:cNvSpPr>
            <a:spLocks noGrp="1"/>
          </p:cNvSpPr>
          <p:nvPr>
            <p:ph idx="1"/>
          </p:nvPr>
        </p:nvSpPr>
        <p:spPr>
          <a:xfrm>
            <a:off x="131180" y="863444"/>
            <a:ext cx="11929641" cy="5590565"/>
          </a:xfrm>
        </p:spPr>
        <p:txBody>
          <a:bodyPr/>
          <a:lstStyle/>
          <a:p>
            <a:pPr lvl="0">
              <a:lnSpc>
                <a:spcPct val="100000"/>
              </a:lnSpc>
            </a:pPr>
            <a:r>
              <a:rPr lang="en-US" dirty="0"/>
              <a:t>Certain machine instructions are cheaper than the other. </a:t>
            </a:r>
          </a:p>
          <a:p>
            <a:pPr lvl="0">
              <a:lnSpc>
                <a:spcPct val="100000"/>
              </a:lnSpc>
            </a:pPr>
            <a:r>
              <a:rPr lang="en-US" dirty="0"/>
              <a:t>In order to improve performance of the intermediate code we can </a:t>
            </a:r>
            <a:r>
              <a:rPr lang="en-US" dirty="0">
                <a:solidFill>
                  <a:srgbClr val="C00000"/>
                </a:solidFill>
              </a:rPr>
              <a:t>replace</a:t>
            </a:r>
            <a:r>
              <a:rPr lang="en-US" dirty="0"/>
              <a:t> these </a:t>
            </a:r>
            <a:r>
              <a:rPr lang="en-US" dirty="0">
                <a:solidFill>
                  <a:srgbClr val="C00000"/>
                </a:solidFill>
              </a:rPr>
              <a:t>instructions by equivalent cheaper instruction</a:t>
            </a:r>
            <a:r>
              <a:rPr lang="en-US" dirty="0"/>
              <a:t>. </a:t>
            </a:r>
          </a:p>
          <a:p>
            <a:pPr lvl="0">
              <a:lnSpc>
                <a:spcPct val="100000"/>
              </a:lnSpc>
            </a:pPr>
            <a:r>
              <a:rPr lang="en-US" dirty="0"/>
              <a:t>For example, </a:t>
            </a:r>
            <a:r>
              <a:rPr lang="en-US" dirty="0">
                <a:solidFill>
                  <a:srgbClr val="C00000"/>
                </a:solidFill>
              </a:rPr>
              <a:t>x</a:t>
            </a:r>
            <a:r>
              <a:rPr lang="en-US" baseline="30000" dirty="0">
                <a:solidFill>
                  <a:srgbClr val="C00000"/>
                </a:solidFill>
              </a:rPr>
              <a:t>2</a:t>
            </a:r>
            <a:r>
              <a:rPr lang="en-US" dirty="0"/>
              <a:t> is cheaper than </a:t>
            </a:r>
            <a:r>
              <a:rPr lang="en-US" dirty="0">
                <a:solidFill>
                  <a:srgbClr val="C00000"/>
                </a:solidFill>
              </a:rPr>
              <a:t>x * x. </a:t>
            </a:r>
          </a:p>
          <a:p>
            <a:pPr lvl="0">
              <a:lnSpc>
                <a:spcPct val="100000"/>
              </a:lnSpc>
            </a:pPr>
            <a:r>
              <a:rPr lang="en-US" dirty="0"/>
              <a:t>Similarly addition and subtraction are cheaper than multiplication and division. So we can add effectively equivalent addition and subtraction for multiplication and division.</a:t>
            </a:r>
          </a:p>
          <a:p>
            <a:endParaRPr lang="en-US" dirty="0"/>
          </a:p>
        </p:txBody>
      </p:sp>
    </p:spTree>
    <p:extLst>
      <p:ext uri="{BB962C8B-B14F-4D97-AF65-F5344CB8AC3E}">
        <p14:creationId xmlns:p14="http://schemas.microsoft.com/office/powerpoint/2010/main" val="235842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Machine idioms</a:t>
            </a:r>
            <a:endParaRPr lang="en-IN" dirty="0"/>
          </a:p>
        </p:txBody>
      </p:sp>
      <p:sp>
        <p:nvSpPr>
          <p:cNvPr id="3" name="Content Placeholder 2">
            <a:extLst>
              <a:ext uri="{FF2B5EF4-FFF2-40B4-BE49-F238E27FC236}">
                <a16:creationId xmlns:a16="http://schemas.microsoft.com/office/drawing/2014/main" id="{A64C516A-976B-CCF4-2742-92E1187C373C}"/>
              </a:ext>
            </a:extLst>
          </p:cNvPr>
          <p:cNvSpPr>
            <a:spLocks noGrp="1"/>
          </p:cNvSpPr>
          <p:nvPr>
            <p:ph idx="1"/>
          </p:nvPr>
        </p:nvSpPr>
        <p:spPr>
          <a:xfrm>
            <a:off x="131180" y="863444"/>
            <a:ext cx="11929641" cy="5590565"/>
          </a:xfrm>
        </p:spPr>
        <p:txBody>
          <a:bodyPr/>
          <a:lstStyle/>
          <a:p>
            <a:pPr lvl="0">
              <a:lnSpc>
                <a:spcPct val="100000"/>
              </a:lnSpc>
            </a:pPr>
            <a:r>
              <a:rPr lang="en-US" dirty="0"/>
              <a:t>The target instructions have equivalent machine instructions for performing some operations.</a:t>
            </a:r>
          </a:p>
          <a:p>
            <a:pPr lvl="0">
              <a:lnSpc>
                <a:spcPct val="100000"/>
              </a:lnSpc>
            </a:pPr>
            <a:r>
              <a:rPr lang="en-US" dirty="0"/>
              <a:t>Hence we can replace these target instructions by equivalent machine instructions in order to improve the efficiency.</a:t>
            </a:r>
          </a:p>
          <a:p>
            <a:pPr>
              <a:lnSpc>
                <a:spcPct val="100000"/>
              </a:lnSpc>
            </a:pPr>
            <a:r>
              <a:rPr lang="en-US" dirty="0"/>
              <a:t>Example: Some machines have </a:t>
            </a:r>
            <a:r>
              <a:rPr lang="en-US" dirty="0">
                <a:solidFill>
                  <a:srgbClr val="C00000"/>
                </a:solidFill>
              </a:rPr>
              <a:t>auto-increment or auto-decrement addressing modes</a:t>
            </a:r>
            <a:r>
              <a:rPr lang="en-US" dirty="0"/>
              <a:t>.</a:t>
            </a:r>
          </a:p>
          <a:p>
            <a:pPr marL="0" indent="0">
              <a:lnSpc>
                <a:spcPct val="100000"/>
              </a:lnSpc>
              <a:buNone/>
            </a:pPr>
            <a:r>
              <a:rPr lang="en-US" dirty="0"/>
              <a:t>   (Example : INC </a:t>
            </a:r>
            <a:r>
              <a:rPr lang="en-US" dirty="0" err="1"/>
              <a:t>i</a:t>
            </a:r>
            <a:r>
              <a:rPr lang="en-US" dirty="0"/>
              <a:t>)</a:t>
            </a:r>
          </a:p>
          <a:p>
            <a:pPr>
              <a:lnSpc>
                <a:spcPct val="100000"/>
              </a:lnSpc>
            </a:pPr>
            <a:r>
              <a:rPr lang="en-US" dirty="0"/>
              <a:t>These modes can be used in code for statement like</a:t>
            </a:r>
            <a:r>
              <a:rPr lang="en-US" dirty="0">
                <a:solidFill>
                  <a:srgbClr val="C00000"/>
                </a:solidFill>
              </a:rPr>
              <a:t> </a:t>
            </a:r>
            <a:r>
              <a:rPr lang="en-US" dirty="0" err="1">
                <a:solidFill>
                  <a:srgbClr val="C00000"/>
                </a:solidFill>
              </a:rPr>
              <a:t>i</a:t>
            </a:r>
            <a:r>
              <a:rPr lang="en-US" dirty="0">
                <a:solidFill>
                  <a:srgbClr val="C00000"/>
                </a:solidFill>
              </a:rPr>
              <a:t>=i+1</a:t>
            </a:r>
            <a:r>
              <a:rPr lang="en-US" dirty="0"/>
              <a:t>.</a:t>
            </a:r>
            <a:endParaRPr lang="en-US" b="1" dirty="0"/>
          </a:p>
          <a:p>
            <a:endParaRPr lang="en-US" dirty="0"/>
          </a:p>
        </p:txBody>
      </p:sp>
    </p:spTree>
    <p:extLst>
      <p:ext uri="{BB962C8B-B14F-4D97-AF65-F5344CB8AC3E}">
        <p14:creationId xmlns:p14="http://schemas.microsoft.com/office/powerpoint/2010/main" val="2763354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3E96530-1569-8E60-CA34-0A41BA766164}"/>
              </a:ext>
            </a:extLst>
          </p:cNvPr>
          <p:cNvSpPr>
            <a:spLocks noGrp="1"/>
          </p:cNvSpPr>
          <p:nvPr>
            <p:ph type="body" idx="1"/>
          </p:nvPr>
        </p:nvSpPr>
        <p:spPr/>
        <p:txBody>
          <a:bodyPr/>
          <a:lstStyle/>
          <a:p>
            <a:endParaRPr lang="en-IN"/>
          </a:p>
        </p:txBody>
      </p:sp>
      <p:sp>
        <p:nvSpPr>
          <p:cNvPr id="3" name="Title 2">
            <a:extLst>
              <a:ext uri="{FF2B5EF4-FFF2-40B4-BE49-F238E27FC236}">
                <a16:creationId xmlns:a16="http://schemas.microsoft.com/office/drawing/2014/main" id="{B268D6D3-D181-E9C7-77AF-FAF22986E8BB}"/>
              </a:ext>
            </a:extLst>
          </p:cNvPr>
          <p:cNvSpPr>
            <a:spLocks noGrp="1"/>
          </p:cNvSpPr>
          <p:nvPr>
            <p:ph type="title"/>
          </p:nvPr>
        </p:nvSpPr>
        <p:spPr/>
        <p:txBody>
          <a:bodyPr/>
          <a:lstStyle/>
          <a:p>
            <a:r>
              <a:rPr lang="en-US" dirty="0"/>
              <a:t>Storage allocation strategies</a:t>
            </a:r>
            <a:endParaRPr lang="en-IN" dirty="0"/>
          </a:p>
        </p:txBody>
      </p:sp>
    </p:spTree>
    <p:extLst>
      <p:ext uri="{BB962C8B-B14F-4D97-AF65-F5344CB8AC3E}">
        <p14:creationId xmlns:p14="http://schemas.microsoft.com/office/powerpoint/2010/main" val="436810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55C3E-E9B8-9BB5-B9B7-773334EC6C30}"/>
              </a:ext>
            </a:extLst>
          </p:cNvPr>
          <p:cNvSpPr>
            <a:spLocks noGrp="1"/>
          </p:cNvSpPr>
          <p:nvPr>
            <p:ph type="title"/>
          </p:nvPr>
        </p:nvSpPr>
        <p:spPr/>
        <p:txBody>
          <a:bodyPr/>
          <a:lstStyle/>
          <a:p>
            <a:r>
              <a:rPr lang="en-US" dirty="0"/>
              <a:t>Storage allocation strategies</a:t>
            </a:r>
            <a:endParaRPr lang="en-IN" dirty="0"/>
          </a:p>
        </p:txBody>
      </p:sp>
      <p:sp>
        <p:nvSpPr>
          <p:cNvPr id="3" name="Content Placeholder 2">
            <a:extLst>
              <a:ext uri="{FF2B5EF4-FFF2-40B4-BE49-F238E27FC236}">
                <a16:creationId xmlns:a16="http://schemas.microsoft.com/office/drawing/2014/main" id="{CA139098-7F25-9ECC-100E-70B3C3549A25}"/>
              </a:ext>
            </a:extLst>
          </p:cNvPr>
          <p:cNvSpPr>
            <a:spLocks noGrp="1"/>
          </p:cNvSpPr>
          <p:nvPr>
            <p:ph idx="1"/>
          </p:nvPr>
        </p:nvSpPr>
        <p:spPr>
          <a:xfrm>
            <a:off x="131180" y="863444"/>
            <a:ext cx="8807547" cy="5590565"/>
          </a:xfrm>
        </p:spPr>
        <p:txBody>
          <a:bodyPr/>
          <a:lstStyle/>
          <a:p>
            <a:pPr marL="0" indent="0">
              <a:buNone/>
            </a:pPr>
            <a:r>
              <a:rPr lang="en-US" dirty="0"/>
              <a:t>The different storage allocation strategies are:</a:t>
            </a:r>
          </a:p>
          <a:p>
            <a:pPr lvl="0"/>
            <a:r>
              <a:rPr lang="en-US" dirty="0">
                <a:solidFill>
                  <a:srgbClr val="0E47A1"/>
                </a:solidFill>
              </a:rPr>
              <a:t>Static allocation</a:t>
            </a:r>
            <a:r>
              <a:rPr lang="en-US" dirty="0"/>
              <a:t>: lays out storage for all data objects at compile time.</a:t>
            </a:r>
          </a:p>
          <a:p>
            <a:pPr lvl="0"/>
            <a:r>
              <a:rPr lang="en-US" dirty="0">
                <a:solidFill>
                  <a:srgbClr val="0E47A1"/>
                </a:solidFill>
              </a:rPr>
              <a:t>Stack allocation</a:t>
            </a:r>
            <a:r>
              <a:rPr lang="en-US" dirty="0"/>
              <a:t>: manages the run-time storage as a stack.</a:t>
            </a:r>
          </a:p>
          <a:p>
            <a:pPr lvl="0"/>
            <a:r>
              <a:rPr lang="en-US" dirty="0">
                <a:solidFill>
                  <a:srgbClr val="0E47A1"/>
                </a:solidFill>
              </a:rPr>
              <a:t>Heap allocation</a:t>
            </a:r>
            <a:r>
              <a:rPr lang="en-US" dirty="0"/>
              <a:t>: allocates and de-allocates storage as needed at run time from a data area known as heap.</a:t>
            </a:r>
          </a:p>
          <a:p>
            <a:endParaRPr lang="en-US" dirty="0"/>
          </a:p>
          <a:p>
            <a:endParaRPr lang="en-US" dirty="0"/>
          </a:p>
        </p:txBody>
      </p:sp>
      <p:graphicFrame>
        <p:nvGraphicFramePr>
          <p:cNvPr id="4" name="Table 3">
            <a:extLst>
              <a:ext uri="{FF2B5EF4-FFF2-40B4-BE49-F238E27FC236}">
                <a16:creationId xmlns:a16="http://schemas.microsoft.com/office/drawing/2014/main" id="{E46D755B-4BA9-A977-DBD6-28E5B78DB927}"/>
              </a:ext>
            </a:extLst>
          </p:cNvPr>
          <p:cNvGraphicFramePr>
            <a:graphicFrameLocks noGrp="1"/>
          </p:cNvGraphicFramePr>
          <p:nvPr/>
        </p:nvGraphicFramePr>
        <p:xfrm>
          <a:off x="9624701" y="1087840"/>
          <a:ext cx="1981200" cy="1854200"/>
        </p:xfrm>
        <a:graphic>
          <a:graphicData uri="http://schemas.openxmlformats.org/drawingml/2006/table">
            <a:tbl>
              <a:tblPr firstRow="1" bandRow="1">
                <a:tableStyleId>{D7AC3CCA-C797-4891-BE02-D94E43425B78}</a:tableStyleId>
              </a:tblPr>
              <a:tblGrid>
                <a:gridCol w="1981200">
                  <a:extLst>
                    <a:ext uri="{9D8B030D-6E8A-4147-A177-3AD203B41FA5}">
                      <a16:colId xmlns:a16="http://schemas.microsoft.com/office/drawing/2014/main" val="20000"/>
                    </a:ext>
                  </a:extLst>
                </a:gridCol>
              </a:tblGrid>
              <a:tr h="370840">
                <a:tc>
                  <a:txBody>
                    <a:bodyPr/>
                    <a:lstStyle/>
                    <a:p>
                      <a:pPr algn="ctr"/>
                      <a:r>
                        <a:rPr lang="en-US" b="0" dirty="0"/>
                        <a:t>Code area</a:t>
                      </a:r>
                    </a:p>
                  </a:txBody>
                  <a:tcPr>
                    <a:noFill/>
                  </a:tcPr>
                </a:tc>
                <a:extLst>
                  <a:ext uri="{0D108BD9-81ED-4DB2-BD59-A6C34878D82A}">
                    <a16:rowId xmlns:a16="http://schemas.microsoft.com/office/drawing/2014/main" val="10000"/>
                  </a:ext>
                </a:extLst>
              </a:tr>
              <a:tr h="370840">
                <a:tc>
                  <a:txBody>
                    <a:bodyPr/>
                    <a:lstStyle/>
                    <a:p>
                      <a:pPr algn="ctr"/>
                      <a:r>
                        <a:rPr lang="en-US" dirty="0"/>
                        <a:t>Static data area</a:t>
                      </a:r>
                    </a:p>
                  </a:txBody>
                  <a:tcPr>
                    <a:noFill/>
                  </a:tcPr>
                </a:tc>
                <a:extLst>
                  <a:ext uri="{0D108BD9-81ED-4DB2-BD59-A6C34878D82A}">
                    <a16:rowId xmlns:a16="http://schemas.microsoft.com/office/drawing/2014/main" val="10001"/>
                  </a:ext>
                </a:extLst>
              </a:tr>
              <a:tr h="370840">
                <a:tc>
                  <a:txBody>
                    <a:bodyPr/>
                    <a:lstStyle/>
                    <a:p>
                      <a:pPr algn="ctr"/>
                      <a:r>
                        <a:rPr lang="en-US" dirty="0"/>
                        <a:t>Stack</a:t>
                      </a:r>
                    </a:p>
                  </a:txBody>
                  <a:tcPr>
                    <a:noFill/>
                  </a:tcPr>
                </a:tc>
                <a:extLst>
                  <a:ext uri="{0D108BD9-81ED-4DB2-BD59-A6C34878D82A}">
                    <a16:rowId xmlns:a16="http://schemas.microsoft.com/office/drawing/2014/main" val="10002"/>
                  </a:ext>
                </a:extLst>
              </a:tr>
              <a:tr h="370840">
                <a:tc>
                  <a:txBody>
                    <a:bodyPr/>
                    <a:lstStyle/>
                    <a:p>
                      <a:pPr algn="ctr"/>
                      <a:endParaRPr lang="en-US" dirty="0"/>
                    </a:p>
                  </a:txBody>
                  <a:tcPr>
                    <a:noFill/>
                  </a:tcPr>
                </a:tc>
                <a:extLst>
                  <a:ext uri="{0D108BD9-81ED-4DB2-BD59-A6C34878D82A}">
                    <a16:rowId xmlns:a16="http://schemas.microsoft.com/office/drawing/2014/main" val="10003"/>
                  </a:ext>
                </a:extLst>
              </a:tr>
              <a:tr h="370840">
                <a:tc>
                  <a:txBody>
                    <a:bodyPr/>
                    <a:lstStyle/>
                    <a:p>
                      <a:pPr algn="ctr"/>
                      <a:r>
                        <a:rPr lang="en-US" dirty="0"/>
                        <a:t>Heap </a:t>
                      </a:r>
                    </a:p>
                  </a:txBody>
                  <a:tcPr>
                    <a:noFill/>
                  </a:tcPr>
                </a:tc>
                <a:extLst>
                  <a:ext uri="{0D108BD9-81ED-4DB2-BD59-A6C34878D82A}">
                    <a16:rowId xmlns:a16="http://schemas.microsoft.com/office/drawing/2014/main" val="10004"/>
                  </a:ext>
                </a:extLst>
              </a:tr>
            </a:tbl>
          </a:graphicData>
        </a:graphic>
      </p:graphicFrame>
      <p:cxnSp>
        <p:nvCxnSpPr>
          <p:cNvPr id="5" name="Straight Arrow Connector 4">
            <a:extLst>
              <a:ext uri="{FF2B5EF4-FFF2-40B4-BE49-F238E27FC236}">
                <a16:creationId xmlns:a16="http://schemas.microsoft.com/office/drawing/2014/main" id="{465505CF-94B0-9B1C-0D0D-7058B52113E8}"/>
              </a:ext>
            </a:extLst>
          </p:cNvPr>
          <p:cNvCxnSpPr/>
          <p:nvPr/>
        </p:nvCxnSpPr>
        <p:spPr>
          <a:xfrm>
            <a:off x="11037194" y="2047741"/>
            <a:ext cx="0" cy="321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9EF56A5-D616-E085-83C1-875F84F98B5C}"/>
              </a:ext>
            </a:extLst>
          </p:cNvPr>
          <p:cNvCxnSpPr/>
          <p:nvPr/>
        </p:nvCxnSpPr>
        <p:spPr>
          <a:xfrm flipV="1">
            <a:off x="11037194" y="2446986"/>
            <a:ext cx="0" cy="2446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0317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55C3E-E9B8-9BB5-B9B7-773334EC6C30}"/>
              </a:ext>
            </a:extLst>
          </p:cNvPr>
          <p:cNvSpPr>
            <a:spLocks noGrp="1"/>
          </p:cNvSpPr>
          <p:nvPr>
            <p:ph type="title"/>
          </p:nvPr>
        </p:nvSpPr>
        <p:spPr/>
        <p:txBody>
          <a:bodyPr/>
          <a:lstStyle/>
          <a:p>
            <a:r>
              <a:rPr lang="en-US" dirty="0"/>
              <a:t>Static allocation</a:t>
            </a:r>
            <a:endParaRPr lang="en-IN" dirty="0"/>
          </a:p>
        </p:txBody>
      </p:sp>
      <p:sp>
        <p:nvSpPr>
          <p:cNvPr id="3" name="Content Placeholder 2">
            <a:extLst>
              <a:ext uri="{FF2B5EF4-FFF2-40B4-BE49-F238E27FC236}">
                <a16:creationId xmlns:a16="http://schemas.microsoft.com/office/drawing/2014/main" id="{38FA2094-FBD9-1E6F-ECCA-808AC2AA9D9C}"/>
              </a:ext>
            </a:extLst>
          </p:cNvPr>
          <p:cNvSpPr>
            <a:spLocks noGrp="1"/>
          </p:cNvSpPr>
          <p:nvPr>
            <p:ph idx="1"/>
          </p:nvPr>
        </p:nvSpPr>
        <p:spPr>
          <a:xfrm>
            <a:off x="131180" y="863444"/>
            <a:ext cx="4350393" cy="5590565"/>
          </a:xfrm>
        </p:spPr>
        <p:txBody>
          <a:bodyPr/>
          <a:lstStyle/>
          <a:p>
            <a:pPr lvl="0"/>
            <a:r>
              <a:rPr lang="en-US" sz="2000" dirty="0"/>
              <a:t>In static allocation, </a:t>
            </a:r>
            <a:r>
              <a:rPr lang="en-US" sz="2000" dirty="0">
                <a:solidFill>
                  <a:srgbClr val="C00000"/>
                </a:solidFill>
              </a:rPr>
              <a:t>names are bound to storage as the program is compiled</a:t>
            </a:r>
            <a:r>
              <a:rPr lang="en-US" sz="2000" dirty="0"/>
              <a:t>, so there is no need for a run-time support package.</a:t>
            </a:r>
          </a:p>
          <a:p>
            <a:pPr lvl="0"/>
            <a:r>
              <a:rPr lang="en-US" sz="2000" dirty="0"/>
              <a:t>Since the bindings do not change at run-time, every time a procedure is activated, its names are bounded to the same storage location.</a:t>
            </a:r>
          </a:p>
          <a:p>
            <a:pPr marL="0" indent="0">
              <a:buNone/>
            </a:pPr>
            <a:r>
              <a:rPr lang="en-US" sz="2000" b="1" dirty="0">
                <a:solidFill>
                  <a:srgbClr val="0E47A1"/>
                </a:solidFill>
              </a:rPr>
              <a:t>Limitation</a:t>
            </a:r>
          </a:p>
          <a:p>
            <a:pPr marL="457200" indent="-457200">
              <a:buFont typeface="+mj-lt"/>
              <a:buAutoNum type="arabicPeriod"/>
            </a:pPr>
            <a:r>
              <a:rPr lang="en-US" sz="2000" dirty="0"/>
              <a:t>Size of data object must be known at compile time.</a:t>
            </a:r>
          </a:p>
          <a:p>
            <a:pPr marL="457200" indent="-457200">
              <a:buFont typeface="+mj-lt"/>
              <a:buAutoNum type="arabicPeriod"/>
            </a:pPr>
            <a:r>
              <a:rPr lang="en-US" sz="2000" dirty="0"/>
              <a:t>Recursive procedures are restricted.</a:t>
            </a:r>
          </a:p>
          <a:p>
            <a:pPr marL="457200" indent="-457200">
              <a:buFont typeface="+mj-lt"/>
              <a:buAutoNum type="arabicPeriod"/>
            </a:pPr>
            <a:r>
              <a:rPr lang="en-US" sz="2000" dirty="0"/>
              <a:t>Data structure can’t be created dynamically.</a:t>
            </a:r>
          </a:p>
          <a:p>
            <a:endParaRPr lang="en-US" dirty="0"/>
          </a:p>
        </p:txBody>
      </p:sp>
      <p:sp>
        <p:nvSpPr>
          <p:cNvPr id="4" name="Content Placeholder 2">
            <a:extLst>
              <a:ext uri="{FF2B5EF4-FFF2-40B4-BE49-F238E27FC236}">
                <a16:creationId xmlns:a16="http://schemas.microsoft.com/office/drawing/2014/main" id="{4B10B024-7AEA-B01D-040A-2C12450C3C57}"/>
              </a:ext>
            </a:extLst>
          </p:cNvPr>
          <p:cNvSpPr txBox="1">
            <a:spLocks/>
          </p:cNvSpPr>
          <p:nvPr/>
        </p:nvSpPr>
        <p:spPr>
          <a:xfrm>
            <a:off x="4818176" y="863444"/>
            <a:ext cx="3592961" cy="559056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E47A1"/>
                </a:solidFill>
              </a:rPr>
              <a:t>Example:</a:t>
            </a:r>
          </a:p>
          <a:p>
            <a:pPr marL="0" indent="0">
              <a:buNone/>
            </a:pPr>
            <a:r>
              <a:rPr lang="en-US" sz="1800" dirty="0" err="1"/>
              <a:t>int</a:t>
            </a:r>
            <a:r>
              <a:rPr lang="en-US" sz="1800" dirty="0"/>
              <a:t> main() </a:t>
            </a:r>
          </a:p>
          <a:p>
            <a:pPr marL="0" indent="0">
              <a:buNone/>
            </a:pPr>
            <a:r>
              <a:rPr lang="en-US" sz="1800" dirty="0"/>
              <a:t>{</a:t>
            </a:r>
          </a:p>
          <a:p>
            <a:pPr marL="0" indent="0">
              <a:buNone/>
            </a:pPr>
            <a:r>
              <a:rPr lang="en-US" sz="1800" dirty="0"/>
              <a:t>   </a:t>
            </a:r>
            <a:r>
              <a:rPr lang="en-US" sz="1800" dirty="0" err="1"/>
              <a:t>int</a:t>
            </a:r>
            <a:r>
              <a:rPr lang="en-US" sz="1800" dirty="0"/>
              <a:t> num1=100, num2=200, res;</a:t>
            </a:r>
          </a:p>
          <a:p>
            <a:pPr marL="0" indent="0">
              <a:buNone/>
            </a:pPr>
            <a:r>
              <a:rPr lang="en-US" sz="1800" dirty="0"/>
              <a:t>   res = sum(num1, num2);</a:t>
            </a:r>
          </a:p>
          <a:p>
            <a:pPr marL="0" indent="0">
              <a:buNone/>
            </a:pPr>
            <a:r>
              <a:rPr lang="en-US" sz="1800" dirty="0"/>
              <a:t>   </a:t>
            </a:r>
            <a:r>
              <a:rPr lang="en-US" sz="1800" dirty="0" err="1"/>
              <a:t>printf</a:t>
            </a:r>
            <a:r>
              <a:rPr lang="en-US" sz="1800" dirty="0"/>
              <a:t>(“\n Addition is %d : “,res);</a:t>
            </a:r>
          </a:p>
          <a:p>
            <a:pPr marL="0" indent="0">
              <a:buNone/>
            </a:pPr>
            <a:r>
              <a:rPr lang="en-US" sz="1800" dirty="0"/>
              <a:t>   return (0);</a:t>
            </a:r>
          </a:p>
          <a:p>
            <a:pPr marL="0" indent="0">
              <a:buNone/>
            </a:pPr>
            <a:r>
              <a:rPr lang="en-US" sz="1800" dirty="0"/>
              <a:t>}</a:t>
            </a:r>
          </a:p>
          <a:p>
            <a:pPr marL="0" indent="0">
              <a:buNone/>
            </a:pPr>
            <a:r>
              <a:rPr lang="en-US" sz="1800" dirty="0"/>
              <a:t> </a:t>
            </a:r>
            <a:r>
              <a:rPr lang="en-US" sz="1800" dirty="0" err="1"/>
              <a:t>int</a:t>
            </a:r>
            <a:r>
              <a:rPr lang="en-US" sz="1800" dirty="0"/>
              <a:t> sum(</a:t>
            </a:r>
            <a:r>
              <a:rPr lang="en-US" sz="1800" dirty="0" err="1"/>
              <a:t>int</a:t>
            </a:r>
            <a:r>
              <a:rPr lang="en-US" sz="1800" dirty="0"/>
              <a:t> num1, </a:t>
            </a:r>
            <a:r>
              <a:rPr lang="en-US" sz="1800" dirty="0" err="1"/>
              <a:t>int</a:t>
            </a:r>
            <a:r>
              <a:rPr lang="en-US" sz="1800" dirty="0"/>
              <a:t> num2) </a:t>
            </a:r>
          </a:p>
          <a:p>
            <a:pPr marL="0" indent="0">
              <a:buNone/>
            </a:pPr>
            <a:r>
              <a:rPr lang="en-US" sz="1800" dirty="0"/>
              <a:t>{</a:t>
            </a:r>
          </a:p>
          <a:p>
            <a:pPr marL="0" indent="0">
              <a:buNone/>
            </a:pPr>
            <a:r>
              <a:rPr lang="en-US" sz="1800" dirty="0"/>
              <a:t>   </a:t>
            </a:r>
            <a:r>
              <a:rPr lang="en-US" sz="1800" dirty="0" err="1"/>
              <a:t>int</a:t>
            </a:r>
            <a:r>
              <a:rPr lang="en-US" sz="1800" dirty="0"/>
              <a:t> num3;</a:t>
            </a:r>
          </a:p>
          <a:p>
            <a:pPr marL="0" indent="0">
              <a:buNone/>
            </a:pPr>
            <a:r>
              <a:rPr lang="en-US" sz="1800" dirty="0"/>
              <a:t>   num3 = num1 + num2;</a:t>
            </a:r>
          </a:p>
          <a:p>
            <a:pPr marL="0" indent="0">
              <a:buNone/>
            </a:pPr>
            <a:r>
              <a:rPr lang="en-US" sz="1800" dirty="0"/>
              <a:t>   return (num3);</a:t>
            </a:r>
          </a:p>
          <a:p>
            <a:pPr marL="0" indent="0">
              <a:buNone/>
            </a:pPr>
            <a:r>
              <a:rPr lang="en-US" sz="1800" dirty="0"/>
              <a:t>}</a:t>
            </a:r>
          </a:p>
          <a:p>
            <a:endParaRPr lang="en-US" dirty="0"/>
          </a:p>
        </p:txBody>
      </p:sp>
      <p:graphicFrame>
        <p:nvGraphicFramePr>
          <p:cNvPr id="5" name="Table 4">
            <a:extLst>
              <a:ext uri="{FF2B5EF4-FFF2-40B4-BE49-F238E27FC236}">
                <a16:creationId xmlns:a16="http://schemas.microsoft.com/office/drawing/2014/main" id="{B6E4ADAF-4F9A-A9C3-0DDC-D79B9215035D}"/>
              </a:ext>
            </a:extLst>
          </p:cNvPr>
          <p:cNvGraphicFramePr>
            <a:graphicFrameLocks noGrp="1"/>
          </p:cNvGraphicFramePr>
          <p:nvPr/>
        </p:nvGraphicFramePr>
        <p:xfrm>
          <a:off x="9181716" y="1730027"/>
          <a:ext cx="1505268" cy="3621406"/>
        </p:xfrm>
        <a:graphic>
          <a:graphicData uri="http://schemas.openxmlformats.org/drawingml/2006/table">
            <a:tbl>
              <a:tblPr firstRow="1" bandRow="1">
                <a:tableStyleId>{D7AC3CCA-C797-4891-BE02-D94E43425B78}</a:tableStyleId>
              </a:tblPr>
              <a:tblGrid>
                <a:gridCol w="1505268">
                  <a:extLst>
                    <a:ext uri="{9D8B030D-6E8A-4147-A177-3AD203B41FA5}">
                      <a16:colId xmlns:a16="http://schemas.microsoft.com/office/drawing/2014/main" val="20000"/>
                    </a:ext>
                  </a:extLst>
                </a:gridCol>
              </a:tblGrid>
              <a:tr h="401296">
                <a:tc>
                  <a:txBody>
                    <a:bodyPr/>
                    <a:lstStyle/>
                    <a:p>
                      <a:pPr algn="ctr"/>
                      <a:r>
                        <a:rPr lang="en-US" b="0" dirty="0"/>
                        <a:t>Code for main</a:t>
                      </a:r>
                    </a:p>
                  </a:txBody>
                  <a:tcPr>
                    <a:noFill/>
                  </a:tcPr>
                </a:tc>
                <a:extLst>
                  <a:ext uri="{0D108BD9-81ED-4DB2-BD59-A6C34878D82A}">
                    <a16:rowId xmlns:a16="http://schemas.microsoft.com/office/drawing/2014/main" val="10000"/>
                  </a:ext>
                </a:extLst>
              </a:tr>
              <a:tr h="461906">
                <a:tc>
                  <a:txBody>
                    <a:bodyPr/>
                    <a:lstStyle/>
                    <a:p>
                      <a:pPr algn="ctr"/>
                      <a:r>
                        <a:rPr lang="en-US" dirty="0"/>
                        <a:t>Code for sum</a:t>
                      </a:r>
                    </a:p>
                  </a:txBody>
                  <a:tcPr>
                    <a:noFill/>
                  </a:tcPr>
                </a:tc>
                <a:extLst>
                  <a:ext uri="{0D108BD9-81ED-4DB2-BD59-A6C34878D82A}">
                    <a16:rowId xmlns:a16="http://schemas.microsoft.com/office/drawing/2014/main" val="10001"/>
                  </a:ext>
                </a:extLst>
              </a:tr>
              <a:tr h="401295">
                <a:tc>
                  <a:txBody>
                    <a:bodyPr/>
                    <a:lstStyle/>
                    <a:p>
                      <a:pPr algn="ctr"/>
                      <a:endParaRPr lang="en-US" dirty="0"/>
                    </a:p>
                  </a:txBody>
                  <a:tcPr>
                    <a:noFill/>
                  </a:tcPr>
                </a:tc>
                <a:extLst>
                  <a:ext uri="{0D108BD9-81ED-4DB2-BD59-A6C34878D82A}">
                    <a16:rowId xmlns:a16="http://schemas.microsoft.com/office/drawing/2014/main" val="10002"/>
                  </a:ext>
                </a:extLst>
              </a:tr>
              <a:tr h="1304207">
                <a:tc>
                  <a:txBody>
                    <a:bodyPr/>
                    <a:lstStyle/>
                    <a:p>
                      <a:pPr algn="ctr"/>
                      <a:r>
                        <a:rPr lang="en-US" dirty="0"/>
                        <a:t>int num1</a:t>
                      </a:r>
                    </a:p>
                    <a:p>
                      <a:pPr algn="ctr"/>
                      <a:r>
                        <a:rPr lang="en-US" dirty="0" err="1"/>
                        <a:t>int</a:t>
                      </a:r>
                      <a:r>
                        <a:rPr lang="en-US" baseline="0" dirty="0"/>
                        <a:t> </a:t>
                      </a:r>
                      <a:r>
                        <a:rPr lang="en-US" baseline="0" dirty="0" err="1"/>
                        <a:t>num</a:t>
                      </a:r>
                      <a:r>
                        <a:rPr lang="en-US" baseline="0" dirty="0"/>
                        <a:t> 2</a:t>
                      </a:r>
                    </a:p>
                    <a:p>
                      <a:pPr algn="ctr"/>
                      <a:r>
                        <a:rPr lang="en-US" baseline="0" dirty="0" err="1"/>
                        <a:t>int</a:t>
                      </a:r>
                      <a:r>
                        <a:rPr lang="en-US" baseline="0" dirty="0"/>
                        <a:t> res</a:t>
                      </a:r>
                      <a:endParaRPr lang="en-US" dirty="0"/>
                    </a:p>
                    <a:p>
                      <a:pPr algn="ctr"/>
                      <a:endParaRPr lang="en-US" dirty="0"/>
                    </a:p>
                  </a:txBody>
                  <a:tcPr>
                    <a:noFill/>
                  </a:tcPr>
                </a:tc>
                <a:extLst>
                  <a:ext uri="{0D108BD9-81ED-4DB2-BD59-A6C34878D82A}">
                    <a16:rowId xmlns:a16="http://schemas.microsoft.com/office/drawing/2014/main" val="10003"/>
                  </a:ext>
                </a:extLst>
              </a:tr>
              <a:tr h="1052702">
                <a:tc>
                  <a:txBody>
                    <a:bodyPr/>
                    <a:lstStyle/>
                    <a:p>
                      <a:pPr algn="ctr"/>
                      <a:r>
                        <a:rPr lang="en-US"/>
                        <a:t>int </a:t>
                      </a:r>
                      <a:r>
                        <a:rPr lang="en-US" dirty="0"/>
                        <a:t>num1</a:t>
                      </a:r>
                    </a:p>
                    <a:p>
                      <a:pPr algn="ctr"/>
                      <a:r>
                        <a:rPr lang="en-US" dirty="0" err="1"/>
                        <a:t>int</a:t>
                      </a:r>
                      <a:r>
                        <a:rPr lang="en-US" baseline="0" dirty="0"/>
                        <a:t> </a:t>
                      </a:r>
                      <a:r>
                        <a:rPr lang="en-US" baseline="0" dirty="0" err="1"/>
                        <a:t>num</a:t>
                      </a:r>
                      <a:r>
                        <a:rPr lang="en-US" baseline="0" dirty="0"/>
                        <a:t> 2</a:t>
                      </a:r>
                    </a:p>
                    <a:p>
                      <a:pPr algn="ctr"/>
                      <a:r>
                        <a:rPr lang="en-US" baseline="0" dirty="0" err="1"/>
                        <a:t>int</a:t>
                      </a:r>
                      <a:r>
                        <a:rPr lang="en-US" baseline="0" dirty="0"/>
                        <a:t> num3</a:t>
                      </a:r>
                      <a:endParaRPr lang="en-US" dirty="0"/>
                    </a:p>
                  </a:txBody>
                  <a:tcPr>
                    <a:no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81B078A6-8241-8415-3638-B68D646FDCB2}"/>
              </a:ext>
            </a:extLst>
          </p:cNvPr>
          <p:cNvSpPr/>
          <p:nvPr/>
        </p:nvSpPr>
        <p:spPr>
          <a:xfrm>
            <a:off x="10809646" y="3552695"/>
            <a:ext cx="14859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Activation record for main</a:t>
            </a:r>
          </a:p>
        </p:txBody>
      </p:sp>
      <p:sp>
        <p:nvSpPr>
          <p:cNvPr id="7" name="Right Brace 6">
            <a:extLst>
              <a:ext uri="{FF2B5EF4-FFF2-40B4-BE49-F238E27FC236}">
                <a16:creationId xmlns:a16="http://schemas.microsoft.com/office/drawing/2014/main" id="{36706B09-71B0-302E-1F6E-8F0CDEA60F3A}"/>
              </a:ext>
            </a:extLst>
          </p:cNvPr>
          <p:cNvSpPr/>
          <p:nvPr/>
        </p:nvSpPr>
        <p:spPr>
          <a:xfrm>
            <a:off x="10670776" y="3016810"/>
            <a:ext cx="255213" cy="1271854"/>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ectangle 7">
            <a:extLst>
              <a:ext uri="{FF2B5EF4-FFF2-40B4-BE49-F238E27FC236}">
                <a16:creationId xmlns:a16="http://schemas.microsoft.com/office/drawing/2014/main" id="{962416A4-8D7E-D9FC-BF79-E109AA2F9097}"/>
              </a:ext>
            </a:extLst>
          </p:cNvPr>
          <p:cNvSpPr/>
          <p:nvPr/>
        </p:nvSpPr>
        <p:spPr>
          <a:xfrm>
            <a:off x="10722430" y="4745712"/>
            <a:ext cx="14859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Activation record for sum</a:t>
            </a:r>
          </a:p>
        </p:txBody>
      </p:sp>
      <p:sp>
        <p:nvSpPr>
          <p:cNvPr id="9" name="Right Brace 8">
            <a:extLst>
              <a:ext uri="{FF2B5EF4-FFF2-40B4-BE49-F238E27FC236}">
                <a16:creationId xmlns:a16="http://schemas.microsoft.com/office/drawing/2014/main" id="{3C5883E7-2B31-ECB3-8D32-F8EBD424839A}"/>
              </a:ext>
            </a:extLst>
          </p:cNvPr>
          <p:cNvSpPr/>
          <p:nvPr/>
        </p:nvSpPr>
        <p:spPr>
          <a:xfrm>
            <a:off x="10686984" y="4288665"/>
            <a:ext cx="177239" cy="1062769"/>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ectangle 9">
            <a:extLst>
              <a:ext uri="{FF2B5EF4-FFF2-40B4-BE49-F238E27FC236}">
                <a16:creationId xmlns:a16="http://schemas.microsoft.com/office/drawing/2014/main" id="{9B53BCCD-5F46-349F-48E2-48ACD00826FC}"/>
              </a:ext>
            </a:extLst>
          </p:cNvPr>
          <p:cNvSpPr/>
          <p:nvPr/>
        </p:nvSpPr>
        <p:spPr>
          <a:xfrm>
            <a:off x="10806486" y="1884912"/>
            <a:ext cx="989641"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code</a:t>
            </a:r>
          </a:p>
        </p:txBody>
      </p:sp>
      <p:sp>
        <p:nvSpPr>
          <p:cNvPr id="11" name="Right Brace 10">
            <a:extLst>
              <a:ext uri="{FF2B5EF4-FFF2-40B4-BE49-F238E27FC236}">
                <a16:creationId xmlns:a16="http://schemas.microsoft.com/office/drawing/2014/main" id="{71C4076A-C673-2414-B951-425BD4DA0F0D}"/>
              </a:ext>
            </a:extLst>
          </p:cNvPr>
          <p:cNvSpPr/>
          <p:nvPr/>
        </p:nvSpPr>
        <p:spPr>
          <a:xfrm>
            <a:off x="10686984" y="1730029"/>
            <a:ext cx="239005" cy="829733"/>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ectangle 11">
            <a:extLst>
              <a:ext uri="{FF2B5EF4-FFF2-40B4-BE49-F238E27FC236}">
                <a16:creationId xmlns:a16="http://schemas.microsoft.com/office/drawing/2014/main" id="{750D84CD-B01B-C0C5-423C-4D66CCD889C2}"/>
              </a:ext>
            </a:extLst>
          </p:cNvPr>
          <p:cNvSpPr/>
          <p:nvPr/>
        </p:nvSpPr>
        <p:spPr>
          <a:xfrm>
            <a:off x="7815319" y="3743652"/>
            <a:ext cx="14859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Static </a:t>
            </a:r>
          </a:p>
          <a:p>
            <a:pPr algn="ctr"/>
            <a:r>
              <a:rPr lang="en-US" i="1" dirty="0">
                <a:solidFill>
                  <a:schemeClr val="tx1"/>
                </a:solidFill>
              </a:rPr>
              <a:t>data</a:t>
            </a:r>
          </a:p>
        </p:txBody>
      </p:sp>
      <p:sp>
        <p:nvSpPr>
          <p:cNvPr id="13" name="Right Brace 12">
            <a:extLst>
              <a:ext uri="{FF2B5EF4-FFF2-40B4-BE49-F238E27FC236}">
                <a16:creationId xmlns:a16="http://schemas.microsoft.com/office/drawing/2014/main" id="{966CEB85-BD68-79FE-39A5-913B9CE47FCD}"/>
              </a:ext>
            </a:extLst>
          </p:cNvPr>
          <p:cNvSpPr/>
          <p:nvPr/>
        </p:nvSpPr>
        <p:spPr>
          <a:xfrm flipH="1">
            <a:off x="8888904" y="3016810"/>
            <a:ext cx="292812" cy="2334623"/>
          </a:xfrm>
          <a:prstGeom prst="rightBrace">
            <a:avLst>
              <a:gd name="adj1" fmla="val 8333"/>
              <a:gd name="adj2" fmla="val 50000"/>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891820AF-B86A-8BB9-6079-8B7601C17E4C}"/>
              </a:ext>
            </a:extLst>
          </p:cNvPr>
          <p:cNvCxnSpPr/>
          <p:nvPr/>
        </p:nvCxnSpPr>
        <p:spPr>
          <a:xfrm>
            <a:off x="4577658" y="841828"/>
            <a:ext cx="0" cy="5540309"/>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AC81B99-4B37-309C-6F37-DA6241A8E6C6}"/>
              </a:ext>
            </a:extLst>
          </p:cNvPr>
          <p:cNvCxnSpPr/>
          <p:nvPr/>
        </p:nvCxnSpPr>
        <p:spPr>
          <a:xfrm>
            <a:off x="8193427" y="890815"/>
            <a:ext cx="0" cy="5540309"/>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349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par>
                                <p:cTn id="8" presetID="1"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
                                            <p:txEl>
                                              <p:pRg st="1" end="1"/>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4">
                                            <p:txEl>
                                              <p:pRg st="2" end="2"/>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4">
                                            <p:txEl>
                                              <p:pRg st="0" end="0"/>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4">
                                            <p:txEl>
                                              <p:pRg st="3" end="3"/>
                                            </p:txEl>
                                          </p:spTgt>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4">
                                            <p:txEl>
                                              <p:pRg st="4" end="4"/>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
                                            <p:txEl>
                                              <p:pRg st="5" end="5"/>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4">
                                            <p:txEl>
                                              <p:pRg st="6" end="6"/>
                                            </p:txEl>
                                          </p:spTgt>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4">
                                            <p:txEl>
                                              <p:pRg st="7" end="7"/>
                                            </p:txEl>
                                          </p:spTgt>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4">
                                            <p:txEl>
                                              <p:pRg st="8" end="8"/>
                                            </p:txEl>
                                          </p:spTgt>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4">
                                            <p:txEl>
                                              <p:pRg st="10" end="10"/>
                                            </p:txEl>
                                          </p:spTgt>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4">
                                            <p:txEl>
                                              <p:pRg st="11" end="11"/>
                                            </p:txEl>
                                          </p:spTgt>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4">
                                            <p:txEl>
                                              <p:pRg st="12" end="12"/>
                                            </p:txEl>
                                          </p:spTgt>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4">
                                            <p:txEl>
                                              <p:pRg st="13" end="13"/>
                                            </p:txEl>
                                          </p:spTgt>
                                        </p:tgtEl>
                                        <p:attrNameLst>
                                          <p:attrName>style.visibility</p:attrName>
                                        </p:attrNameLst>
                                      </p:cBhvr>
                                      <p:to>
                                        <p:strVal val="visible"/>
                                      </p:to>
                                    </p:set>
                                  </p:childTnLst>
                                </p:cTn>
                              </p:par>
                              <p:par>
                                <p:cTn id="60" presetID="22" presetClass="entr" presetSubtype="4" fill="hold"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down)">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gtEl>
                                        <p:attrNameLst>
                                          <p:attrName>style.visibility</p:attrName>
                                        </p:attrNameLst>
                                      </p:cBhvr>
                                      <p:to>
                                        <p:strVal val="visible"/>
                                      </p:to>
                                    </p:set>
                                  </p:childTnLst>
                                </p:cTn>
                              </p:par>
                              <p:par>
                                <p:cTn id="67" presetID="22" presetClass="entr" presetSubtype="4" fill="hold" grpId="0" nodeType="withEffect">
                                  <p:stCondLst>
                                    <p:cond delay="0"/>
                                  </p:stCondLst>
                                  <p:childTnLst>
                                    <p:set>
                                      <p:cBhvr>
                                        <p:cTn id="68" dur="1" fill="hold">
                                          <p:stCondLst>
                                            <p:cond delay="0"/>
                                          </p:stCondLst>
                                        </p:cTn>
                                        <p:tgtEl>
                                          <p:spTgt spid="12"/>
                                        </p:tgtEl>
                                        <p:attrNameLst>
                                          <p:attrName>style.visibility</p:attrName>
                                        </p:attrNameLst>
                                      </p:cBhvr>
                                      <p:to>
                                        <p:strVal val="visible"/>
                                      </p:to>
                                    </p:set>
                                    <p:animEffect transition="in" filter="wipe(down)">
                                      <p:cBhvr>
                                        <p:cTn id="69" dur="500"/>
                                        <p:tgtEl>
                                          <p:spTgt spid="12"/>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wipe(down)">
                                      <p:cBhvr>
                                        <p:cTn id="72" dur="500"/>
                                        <p:tgtEl>
                                          <p:spTgt spid="13"/>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wipe(down)">
                                      <p:cBhvr>
                                        <p:cTn id="75" dur="500"/>
                                        <p:tgtEl>
                                          <p:spTgt spid="11"/>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10"/>
                                        </p:tgtEl>
                                        <p:attrNameLst>
                                          <p:attrName>style.visibility</p:attrName>
                                        </p:attrNameLst>
                                      </p:cBhvr>
                                      <p:to>
                                        <p:strVal val="visible"/>
                                      </p:to>
                                    </p:set>
                                    <p:animEffect transition="in" filter="wipe(down)">
                                      <p:cBhvr>
                                        <p:cTn id="78" dur="500"/>
                                        <p:tgtEl>
                                          <p:spTgt spid="10"/>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wipe(down)">
                                      <p:cBhvr>
                                        <p:cTn id="81" dur="500"/>
                                        <p:tgtEl>
                                          <p:spTgt spid="6"/>
                                        </p:tgtEl>
                                      </p:cBhvr>
                                    </p:animEffect>
                                  </p:childTnLst>
                                </p:cTn>
                              </p:par>
                              <p:par>
                                <p:cTn id="82" presetID="22" presetClass="entr" presetSubtype="4" fill="hold" grpId="0" nodeType="withEffect">
                                  <p:stCondLst>
                                    <p:cond delay="0"/>
                                  </p:stCondLst>
                                  <p:childTnLst>
                                    <p:set>
                                      <p:cBhvr>
                                        <p:cTn id="83" dur="1" fill="hold">
                                          <p:stCondLst>
                                            <p:cond delay="0"/>
                                          </p:stCondLst>
                                        </p:cTn>
                                        <p:tgtEl>
                                          <p:spTgt spid="7"/>
                                        </p:tgtEl>
                                        <p:attrNameLst>
                                          <p:attrName>style.visibility</p:attrName>
                                        </p:attrNameLst>
                                      </p:cBhvr>
                                      <p:to>
                                        <p:strVal val="visible"/>
                                      </p:to>
                                    </p:set>
                                    <p:animEffect transition="in" filter="wipe(down)">
                                      <p:cBhvr>
                                        <p:cTn id="84" dur="500"/>
                                        <p:tgtEl>
                                          <p:spTgt spid="7"/>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9"/>
                                        </p:tgtEl>
                                        <p:attrNameLst>
                                          <p:attrName>style.visibility</p:attrName>
                                        </p:attrNameLst>
                                      </p:cBhvr>
                                      <p:to>
                                        <p:strVal val="visible"/>
                                      </p:to>
                                    </p:set>
                                    <p:animEffect transition="in" filter="wipe(down)">
                                      <p:cBhvr>
                                        <p:cTn id="87" dur="500"/>
                                        <p:tgtEl>
                                          <p:spTgt spid="9"/>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8"/>
                                        </p:tgtEl>
                                        <p:attrNameLst>
                                          <p:attrName>style.visibility</p:attrName>
                                        </p:attrNameLst>
                                      </p:cBhvr>
                                      <p:to>
                                        <p:strVal val="visible"/>
                                      </p:to>
                                    </p:set>
                                    <p:animEffect transition="in" filter="wipe(down)">
                                      <p:cBhvr>
                                        <p:cTn id="9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animBg="1"/>
      <p:bldP spid="10" grpId="0"/>
      <p:bldP spid="11" grpId="0" animBg="1"/>
      <p:bldP spid="12" grpId="0"/>
      <p:bldP spid="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55C3E-E9B8-9BB5-B9B7-773334EC6C30}"/>
              </a:ext>
            </a:extLst>
          </p:cNvPr>
          <p:cNvSpPr>
            <a:spLocks noGrp="1"/>
          </p:cNvSpPr>
          <p:nvPr>
            <p:ph type="title"/>
          </p:nvPr>
        </p:nvSpPr>
        <p:spPr/>
        <p:txBody>
          <a:bodyPr/>
          <a:lstStyle/>
          <a:p>
            <a:r>
              <a:rPr lang="en-US" dirty="0"/>
              <a:t>Stack allocation</a:t>
            </a:r>
            <a:endParaRPr lang="en-IN" dirty="0"/>
          </a:p>
        </p:txBody>
      </p:sp>
      <p:sp>
        <p:nvSpPr>
          <p:cNvPr id="3" name="Content Placeholder 2">
            <a:extLst>
              <a:ext uri="{FF2B5EF4-FFF2-40B4-BE49-F238E27FC236}">
                <a16:creationId xmlns:a16="http://schemas.microsoft.com/office/drawing/2014/main" id="{E9183AE4-6110-F34A-C9D5-392627C77D95}"/>
              </a:ext>
            </a:extLst>
          </p:cNvPr>
          <p:cNvSpPr>
            <a:spLocks noGrp="1"/>
          </p:cNvSpPr>
          <p:nvPr>
            <p:ph idx="1"/>
          </p:nvPr>
        </p:nvSpPr>
        <p:spPr>
          <a:xfrm>
            <a:off x="131180" y="863444"/>
            <a:ext cx="11929641" cy="5590565"/>
          </a:xfrm>
        </p:spPr>
        <p:txBody>
          <a:bodyPr/>
          <a:lstStyle/>
          <a:p>
            <a:pPr lvl="0"/>
            <a:r>
              <a:rPr lang="en-US" dirty="0"/>
              <a:t>All compilers for languages that use procedures, functions or methods as units of user define actions manage at least part of their run-time memory as a stack.</a:t>
            </a:r>
          </a:p>
          <a:p>
            <a:pPr lvl="0"/>
            <a:r>
              <a:rPr lang="en-US" dirty="0"/>
              <a:t>Each time a procedure is called, </a:t>
            </a:r>
            <a:r>
              <a:rPr lang="en-US" dirty="0">
                <a:solidFill>
                  <a:srgbClr val="C00000"/>
                </a:solidFill>
              </a:rPr>
              <a:t>space for its local variables is pushed onto a stack, and when the procedure terminates, the space is popped off the stack.</a:t>
            </a:r>
          </a:p>
          <a:p>
            <a:pPr lvl="0"/>
            <a:r>
              <a:rPr lang="en-US" dirty="0"/>
              <a:t>Locals are bound to fresh storage in each activations.</a:t>
            </a:r>
          </a:p>
          <a:p>
            <a:pPr lvl="0"/>
            <a:r>
              <a:rPr lang="en-US" dirty="0"/>
              <a:t>Locals are deleted when the activation ends.</a:t>
            </a:r>
          </a:p>
          <a:p>
            <a:endParaRPr lang="en-US" dirty="0">
              <a:solidFill>
                <a:srgbClr val="C00000"/>
              </a:solidFill>
            </a:endParaRPr>
          </a:p>
        </p:txBody>
      </p:sp>
    </p:spTree>
    <p:extLst>
      <p:ext uri="{BB962C8B-B14F-4D97-AF65-F5344CB8AC3E}">
        <p14:creationId xmlns:p14="http://schemas.microsoft.com/office/powerpoint/2010/main" val="1915126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55C3E-E9B8-9BB5-B9B7-773334EC6C30}"/>
              </a:ext>
            </a:extLst>
          </p:cNvPr>
          <p:cNvSpPr>
            <a:spLocks noGrp="1"/>
          </p:cNvSpPr>
          <p:nvPr>
            <p:ph type="title"/>
          </p:nvPr>
        </p:nvSpPr>
        <p:spPr/>
        <p:txBody>
          <a:bodyPr/>
          <a:lstStyle/>
          <a:p>
            <a:r>
              <a:rPr lang="en-US" dirty="0"/>
              <a:t>Stack allocation</a:t>
            </a:r>
            <a:endParaRPr lang="en-IN" dirty="0"/>
          </a:p>
        </p:txBody>
      </p:sp>
      <p:sp>
        <p:nvSpPr>
          <p:cNvPr id="3" name="Content Placeholder 2">
            <a:extLst>
              <a:ext uri="{FF2B5EF4-FFF2-40B4-BE49-F238E27FC236}">
                <a16:creationId xmlns:a16="http://schemas.microsoft.com/office/drawing/2014/main" id="{77291A2F-803B-6F29-A979-8F407EBC2D0C}"/>
              </a:ext>
            </a:extLst>
          </p:cNvPr>
          <p:cNvSpPr>
            <a:spLocks noGrp="1"/>
          </p:cNvSpPr>
          <p:nvPr>
            <p:ph idx="1"/>
          </p:nvPr>
        </p:nvSpPr>
        <p:spPr>
          <a:xfrm>
            <a:off x="0" y="858603"/>
            <a:ext cx="11929641" cy="5590565"/>
          </a:xfrm>
        </p:spPr>
        <p:txBody>
          <a:bodyPr/>
          <a:lstStyle/>
          <a:p>
            <a:r>
              <a:rPr lang="en-US" sz="1800" dirty="0"/>
              <a:t>At run time, an activation record can be allocated by incrementing ‘top’ by the size of the record.</a:t>
            </a:r>
          </a:p>
          <a:p>
            <a:r>
              <a:rPr lang="en-US" sz="1800" dirty="0" err="1"/>
              <a:t>Deallocated</a:t>
            </a:r>
            <a:r>
              <a:rPr lang="en-US" sz="1800" dirty="0"/>
              <a:t> by decrementing ‘top’ by the size of record.</a:t>
            </a:r>
          </a:p>
        </p:txBody>
      </p:sp>
      <p:graphicFrame>
        <p:nvGraphicFramePr>
          <p:cNvPr id="4" name="Table 3">
            <a:extLst>
              <a:ext uri="{FF2B5EF4-FFF2-40B4-BE49-F238E27FC236}">
                <a16:creationId xmlns:a16="http://schemas.microsoft.com/office/drawing/2014/main" id="{C8E41A83-B98F-E21D-819B-D9384E05DD76}"/>
              </a:ext>
            </a:extLst>
          </p:cNvPr>
          <p:cNvGraphicFramePr>
            <a:graphicFrameLocks noGrp="1"/>
          </p:cNvGraphicFramePr>
          <p:nvPr/>
        </p:nvGraphicFramePr>
        <p:xfrm>
          <a:off x="510908" y="1752445"/>
          <a:ext cx="7659466" cy="4592097"/>
        </p:xfrm>
        <a:graphic>
          <a:graphicData uri="http://schemas.openxmlformats.org/drawingml/2006/table">
            <a:tbl>
              <a:tblPr firstRow="1" bandRow="1">
                <a:tableStyleId>{D7AC3CCA-C797-4891-BE02-D94E43425B78}</a:tableStyleId>
              </a:tblPr>
              <a:tblGrid>
                <a:gridCol w="2632910">
                  <a:extLst>
                    <a:ext uri="{9D8B030D-6E8A-4147-A177-3AD203B41FA5}">
                      <a16:colId xmlns:a16="http://schemas.microsoft.com/office/drawing/2014/main" val="20000"/>
                    </a:ext>
                  </a:extLst>
                </a:gridCol>
                <a:gridCol w="2473401">
                  <a:extLst>
                    <a:ext uri="{9D8B030D-6E8A-4147-A177-3AD203B41FA5}">
                      <a16:colId xmlns:a16="http://schemas.microsoft.com/office/drawing/2014/main" val="20001"/>
                    </a:ext>
                  </a:extLst>
                </a:gridCol>
                <a:gridCol w="2553155">
                  <a:extLst>
                    <a:ext uri="{9D8B030D-6E8A-4147-A177-3AD203B41FA5}">
                      <a16:colId xmlns:a16="http://schemas.microsoft.com/office/drawing/2014/main" val="20002"/>
                    </a:ext>
                  </a:extLst>
                </a:gridCol>
              </a:tblGrid>
              <a:tr h="370272">
                <a:tc>
                  <a:txBody>
                    <a:bodyPr/>
                    <a:lstStyle/>
                    <a:p>
                      <a:pPr algn="ctr"/>
                      <a:r>
                        <a:rPr lang="en-US" dirty="0"/>
                        <a:t>Position in activation tree</a:t>
                      </a:r>
                    </a:p>
                  </a:txBody>
                  <a:tcPr>
                    <a:noFill/>
                  </a:tcPr>
                </a:tc>
                <a:tc>
                  <a:txBody>
                    <a:bodyPr/>
                    <a:lstStyle/>
                    <a:p>
                      <a:pPr algn="ctr"/>
                      <a:r>
                        <a:rPr lang="en-US" dirty="0"/>
                        <a:t>Activation record on the stack</a:t>
                      </a:r>
                    </a:p>
                  </a:txBody>
                  <a:tcPr>
                    <a:noFill/>
                  </a:tcPr>
                </a:tc>
                <a:tc>
                  <a:txBody>
                    <a:bodyPr/>
                    <a:lstStyle/>
                    <a:p>
                      <a:pPr algn="ctr"/>
                      <a:r>
                        <a:rPr lang="en-US" dirty="0"/>
                        <a:t>Remarks</a:t>
                      </a:r>
                      <a:r>
                        <a:rPr lang="en-US" baseline="0" dirty="0"/>
                        <a:t> </a:t>
                      </a:r>
                      <a:endParaRPr lang="en-US" dirty="0"/>
                    </a:p>
                  </a:txBody>
                  <a:tcPr>
                    <a:noFill/>
                  </a:tcPr>
                </a:tc>
                <a:extLst>
                  <a:ext uri="{0D108BD9-81ED-4DB2-BD59-A6C34878D82A}">
                    <a16:rowId xmlns:a16="http://schemas.microsoft.com/office/drawing/2014/main" val="10000"/>
                  </a:ext>
                </a:extLst>
              </a:tr>
              <a:tr h="921099">
                <a:tc>
                  <a:txBody>
                    <a:bodyPr/>
                    <a:lstStyle/>
                    <a:p>
                      <a:pPr algn="ctr"/>
                      <a:r>
                        <a:rPr lang="en-US" dirty="0"/>
                        <a:t>main</a:t>
                      </a:r>
                    </a:p>
                  </a:txBody>
                  <a:tcPr>
                    <a:noFill/>
                  </a:tcPr>
                </a:tc>
                <a:tc>
                  <a:txBody>
                    <a:bodyPr/>
                    <a:lstStyle/>
                    <a:p>
                      <a:pPr algn="ctr"/>
                      <a:endParaRPr lang="en-US" dirty="0"/>
                    </a:p>
                  </a:txBody>
                  <a:tcPr>
                    <a:noFill/>
                  </a:tcPr>
                </a:tc>
                <a:tc>
                  <a:txBody>
                    <a:bodyPr/>
                    <a:lstStyle/>
                    <a:p>
                      <a:pPr algn="ctr"/>
                      <a:r>
                        <a:rPr lang="en-US" dirty="0"/>
                        <a:t>Frame for main</a:t>
                      </a:r>
                    </a:p>
                  </a:txBody>
                  <a:tcPr>
                    <a:noFill/>
                  </a:tcPr>
                </a:tc>
                <a:extLst>
                  <a:ext uri="{0D108BD9-81ED-4DB2-BD59-A6C34878D82A}">
                    <a16:rowId xmlns:a16="http://schemas.microsoft.com/office/drawing/2014/main" val="10001"/>
                  </a:ext>
                </a:extLst>
              </a:tr>
              <a:tr h="921099">
                <a:tc>
                  <a:txBody>
                    <a:bodyPr/>
                    <a:lstStyle/>
                    <a:p>
                      <a:pPr algn="ctr"/>
                      <a:endParaRPr lang="en-US" dirty="0"/>
                    </a:p>
                    <a:p>
                      <a:pPr algn="ctr"/>
                      <a:endParaRPr lang="en-US" dirty="0"/>
                    </a:p>
                    <a:p>
                      <a:pPr algn="ctr"/>
                      <a:endParaRPr lang="en-US" dirty="0"/>
                    </a:p>
                    <a:p>
                      <a:pPr algn="ctr"/>
                      <a:endParaRPr lang="en-US" dirty="0"/>
                    </a:p>
                  </a:txBody>
                  <a:tcPr>
                    <a:noFill/>
                  </a:tcPr>
                </a:tc>
                <a:tc>
                  <a:txBody>
                    <a:bodyPr/>
                    <a:lstStyle/>
                    <a:p>
                      <a:pPr algn="ctr"/>
                      <a:endParaRPr lang="en-US" dirty="0"/>
                    </a:p>
                  </a:txBody>
                  <a:tcPr>
                    <a:noFill/>
                  </a:tcPr>
                </a:tc>
                <a:tc>
                  <a:txBody>
                    <a:bodyPr/>
                    <a:lstStyle/>
                    <a:p>
                      <a:pPr algn="ctr"/>
                      <a:r>
                        <a:rPr lang="en-US" dirty="0"/>
                        <a:t>Ra is activated</a:t>
                      </a:r>
                    </a:p>
                  </a:txBody>
                  <a:tcPr>
                    <a:noFill/>
                  </a:tcPr>
                </a:tc>
                <a:extLst>
                  <a:ext uri="{0D108BD9-81ED-4DB2-BD59-A6C34878D82A}">
                    <a16:rowId xmlns:a16="http://schemas.microsoft.com/office/drawing/2014/main" val="10002"/>
                  </a:ext>
                </a:extLst>
              </a:tr>
              <a:tr h="1842198">
                <a:tc>
                  <a:txBody>
                    <a:bodyPr/>
                    <a:lstStyle/>
                    <a:p>
                      <a:pPr algn="ctr"/>
                      <a:endParaRPr lang="en-US" dirty="0"/>
                    </a:p>
                  </a:txBody>
                  <a:tcPr>
                    <a:noFill/>
                  </a:tcPr>
                </a:tc>
                <a:tc>
                  <a:txBody>
                    <a:bodyPr/>
                    <a:lstStyle/>
                    <a:p>
                      <a:pPr algn="ctr"/>
                      <a:endParaRPr lang="en-US" dirty="0"/>
                    </a:p>
                  </a:txBody>
                  <a:tcPr>
                    <a:noFill/>
                  </a:tcPr>
                </a:tc>
                <a:tc>
                  <a:txBody>
                    <a:bodyPr/>
                    <a:lstStyle/>
                    <a:p>
                      <a:pPr algn="ctr"/>
                      <a:r>
                        <a:rPr lang="en-US" dirty="0"/>
                        <a:t>Frame </a:t>
                      </a:r>
                      <a:r>
                        <a:rPr lang="en-US" dirty="0" err="1"/>
                        <a:t>ra</a:t>
                      </a:r>
                      <a:r>
                        <a:rPr lang="en-US" dirty="0"/>
                        <a:t> has been </a:t>
                      </a:r>
                      <a:r>
                        <a:rPr lang="en-US" dirty="0" err="1"/>
                        <a:t>poped</a:t>
                      </a:r>
                      <a:r>
                        <a:rPr lang="en-US" baseline="0" dirty="0"/>
                        <a:t> and </a:t>
                      </a:r>
                      <a:r>
                        <a:rPr lang="en-US" baseline="0" dirty="0" err="1"/>
                        <a:t>qs</a:t>
                      </a:r>
                      <a:r>
                        <a:rPr lang="en-US" baseline="0" dirty="0"/>
                        <a:t>(1,10) is pushed.</a:t>
                      </a:r>
                      <a:endParaRPr lang="en-US" dirty="0"/>
                    </a:p>
                  </a:txBody>
                  <a:tcPr>
                    <a:no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9B305DB6-DE5F-DE96-0F50-2996DB1BF1B4}"/>
              </a:ext>
            </a:extLst>
          </p:cNvPr>
          <p:cNvSpPr/>
          <p:nvPr/>
        </p:nvSpPr>
        <p:spPr>
          <a:xfrm>
            <a:off x="1534154" y="3401923"/>
            <a:ext cx="1331141" cy="355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47A1"/>
                </a:solidFill>
              </a:rPr>
              <a:t>main</a:t>
            </a:r>
          </a:p>
        </p:txBody>
      </p:sp>
      <p:cxnSp>
        <p:nvCxnSpPr>
          <p:cNvPr id="6" name="Straight Connector 5">
            <a:extLst>
              <a:ext uri="{FF2B5EF4-FFF2-40B4-BE49-F238E27FC236}">
                <a16:creationId xmlns:a16="http://schemas.microsoft.com/office/drawing/2014/main" id="{90094A7E-FEEA-CA6C-C29E-F9FC5E117D32}"/>
              </a:ext>
            </a:extLst>
          </p:cNvPr>
          <p:cNvCxnSpPr>
            <a:stCxn id="5" idx="2"/>
          </p:cNvCxnSpPr>
          <p:nvPr/>
        </p:nvCxnSpPr>
        <p:spPr>
          <a:xfrm flipH="1">
            <a:off x="1580145" y="3757329"/>
            <a:ext cx="619580" cy="203551"/>
          </a:xfrm>
          <a:prstGeom prst="line">
            <a:avLst/>
          </a:prstGeom>
          <a:ln>
            <a:solidFill>
              <a:srgbClr val="0E47A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3A3D32D1-DAB1-861C-67F3-2CEF5FD21540}"/>
              </a:ext>
            </a:extLst>
          </p:cNvPr>
          <p:cNvSpPr/>
          <p:nvPr/>
        </p:nvSpPr>
        <p:spPr>
          <a:xfrm>
            <a:off x="781064" y="3960880"/>
            <a:ext cx="1331141" cy="355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0E47A1"/>
                </a:solidFill>
              </a:rPr>
              <a:t>ra</a:t>
            </a:r>
            <a:r>
              <a:rPr lang="en-US" dirty="0">
                <a:solidFill>
                  <a:srgbClr val="0E47A1"/>
                </a:solidFill>
              </a:rPr>
              <a:t>()</a:t>
            </a:r>
          </a:p>
        </p:txBody>
      </p:sp>
      <p:sp>
        <p:nvSpPr>
          <p:cNvPr id="8" name="Rectangle 7">
            <a:extLst>
              <a:ext uri="{FF2B5EF4-FFF2-40B4-BE49-F238E27FC236}">
                <a16:creationId xmlns:a16="http://schemas.microsoft.com/office/drawing/2014/main" id="{8D3CF34A-CC0B-11B3-419F-005B97FFDDB1}"/>
              </a:ext>
            </a:extLst>
          </p:cNvPr>
          <p:cNvSpPr/>
          <p:nvPr/>
        </p:nvSpPr>
        <p:spPr>
          <a:xfrm>
            <a:off x="1202780" y="4659011"/>
            <a:ext cx="1331141" cy="355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47A1"/>
                </a:solidFill>
              </a:rPr>
              <a:t>main</a:t>
            </a:r>
          </a:p>
        </p:txBody>
      </p:sp>
      <p:cxnSp>
        <p:nvCxnSpPr>
          <p:cNvPr id="9" name="Straight Connector 8">
            <a:extLst>
              <a:ext uri="{FF2B5EF4-FFF2-40B4-BE49-F238E27FC236}">
                <a16:creationId xmlns:a16="http://schemas.microsoft.com/office/drawing/2014/main" id="{36C18782-1891-F96C-EAC6-86F86A084BE3}"/>
              </a:ext>
            </a:extLst>
          </p:cNvPr>
          <p:cNvCxnSpPr>
            <a:stCxn id="8" idx="2"/>
          </p:cNvCxnSpPr>
          <p:nvPr/>
        </p:nvCxnSpPr>
        <p:spPr>
          <a:xfrm flipH="1">
            <a:off x="1248771" y="5014417"/>
            <a:ext cx="619580" cy="203551"/>
          </a:xfrm>
          <a:prstGeom prst="line">
            <a:avLst/>
          </a:prstGeom>
          <a:ln>
            <a:solidFill>
              <a:srgbClr val="0E47A1"/>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3558A19-C6BE-5B1A-E79C-DC00AEEE7DB6}"/>
              </a:ext>
            </a:extLst>
          </p:cNvPr>
          <p:cNvCxnSpPr>
            <a:stCxn id="8" idx="2"/>
          </p:cNvCxnSpPr>
          <p:nvPr/>
        </p:nvCxnSpPr>
        <p:spPr>
          <a:xfrm>
            <a:off x="1868351" y="5014417"/>
            <a:ext cx="580217" cy="203551"/>
          </a:xfrm>
          <a:prstGeom prst="line">
            <a:avLst/>
          </a:prstGeom>
          <a:ln>
            <a:solidFill>
              <a:srgbClr val="0E47A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10D9904-E2DC-B401-A5BB-3A3FEA180E2F}"/>
              </a:ext>
            </a:extLst>
          </p:cNvPr>
          <p:cNvSpPr/>
          <p:nvPr/>
        </p:nvSpPr>
        <p:spPr>
          <a:xfrm>
            <a:off x="449690" y="5217968"/>
            <a:ext cx="1331141" cy="355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0E47A1"/>
                </a:solidFill>
              </a:rPr>
              <a:t>ra</a:t>
            </a:r>
            <a:r>
              <a:rPr lang="en-US" dirty="0">
                <a:solidFill>
                  <a:srgbClr val="0E47A1"/>
                </a:solidFill>
              </a:rPr>
              <a:t>()</a:t>
            </a:r>
          </a:p>
        </p:txBody>
      </p:sp>
      <p:sp>
        <p:nvSpPr>
          <p:cNvPr id="12" name="Rectangle 11">
            <a:extLst>
              <a:ext uri="{FF2B5EF4-FFF2-40B4-BE49-F238E27FC236}">
                <a16:creationId xmlns:a16="http://schemas.microsoft.com/office/drawing/2014/main" id="{F0308980-36B9-A5F7-466A-653C56C57DED}"/>
              </a:ext>
            </a:extLst>
          </p:cNvPr>
          <p:cNvSpPr/>
          <p:nvPr/>
        </p:nvSpPr>
        <p:spPr>
          <a:xfrm>
            <a:off x="1814307" y="5268713"/>
            <a:ext cx="1563917" cy="355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0E47A1"/>
                </a:solidFill>
              </a:rPr>
              <a:t>qs</a:t>
            </a:r>
            <a:r>
              <a:rPr lang="en-US" dirty="0">
                <a:solidFill>
                  <a:srgbClr val="0E47A1"/>
                </a:solidFill>
              </a:rPr>
              <a:t>(1,10)</a:t>
            </a:r>
          </a:p>
        </p:txBody>
      </p:sp>
      <p:sp>
        <p:nvSpPr>
          <p:cNvPr id="13" name="Rectangle 12">
            <a:extLst>
              <a:ext uri="{FF2B5EF4-FFF2-40B4-BE49-F238E27FC236}">
                <a16:creationId xmlns:a16="http://schemas.microsoft.com/office/drawing/2014/main" id="{ADBE9444-EC59-AF06-472C-06058161D4F3}"/>
              </a:ext>
            </a:extLst>
          </p:cNvPr>
          <p:cNvSpPr/>
          <p:nvPr/>
        </p:nvSpPr>
        <p:spPr>
          <a:xfrm>
            <a:off x="3914684" y="2494021"/>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main</a:t>
            </a:r>
          </a:p>
        </p:txBody>
      </p:sp>
      <p:sp>
        <p:nvSpPr>
          <p:cNvPr id="14" name="Rectangle 13">
            <a:extLst>
              <a:ext uri="{FF2B5EF4-FFF2-40B4-BE49-F238E27FC236}">
                <a16:creationId xmlns:a16="http://schemas.microsoft.com/office/drawing/2014/main" id="{5D80AFA0-6735-0F11-B85C-CFF755E196C3}"/>
              </a:ext>
            </a:extLst>
          </p:cNvPr>
          <p:cNvSpPr/>
          <p:nvPr/>
        </p:nvSpPr>
        <p:spPr>
          <a:xfrm>
            <a:off x="3914684" y="2745782"/>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C00000"/>
                </a:solidFill>
              </a:rPr>
              <a:t>Int</a:t>
            </a:r>
            <a:r>
              <a:rPr lang="en-US" dirty="0">
                <a:solidFill>
                  <a:srgbClr val="C00000"/>
                </a:solidFill>
              </a:rPr>
              <a:t> n</a:t>
            </a:r>
          </a:p>
        </p:txBody>
      </p:sp>
      <p:sp>
        <p:nvSpPr>
          <p:cNvPr id="15" name="Rectangle 14">
            <a:extLst>
              <a:ext uri="{FF2B5EF4-FFF2-40B4-BE49-F238E27FC236}">
                <a16:creationId xmlns:a16="http://schemas.microsoft.com/office/drawing/2014/main" id="{29BB5BFA-4099-2C83-37E5-32B1E2548F01}"/>
              </a:ext>
            </a:extLst>
          </p:cNvPr>
          <p:cNvSpPr/>
          <p:nvPr/>
        </p:nvSpPr>
        <p:spPr>
          <a:xfrm>
            <a:off x="3903122" y="3407119"/>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main</a:t>
            </a:r>
          </a:p>
        </p:txBody>
      </p:sp>
      <p:sp>
        <p:nvSpPr>
          <p:cNvPr id="16" name="Rectangle 15">
            <a:extLst>
              <a:ext uri="{FF2B5EF4-FFF2-40B4-BE49-F238E27FC236}">
                <a16:creationId xmlns:a16="http://schemas.microsoft.com/office/drawing/2014/main" id="{41F5C3BE-A6B6-15E1-6F38-4A58A2AABEA2}"/>
              </a:ext>
            </a:extLst>
          </p:cNvPr>
          <p:cNvSpPr/>
          <p:nvPr/>
        </p:nvSpPr>
        <p:spPr>
          <a:xfrm>
            <a:off x="3903120" y="3658015"/>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C00000"/>
                </a:solidFill>
              </a:rPr>
              <a:t>Int</a:t>
            </a:r>
            <a:r>
              <a:rPr lang="en-US" dirty="0">
                <a:solidFill>
                  <a:srgbClr val="C00000"/>
                </a:solidFill>
              </a:rPr>
              <a:t> n</a:t>
            </a:r>
          </a:p>
        </p:txBody>
      </p:sp>
      <p:sp>
        <p:nvSpPr>
          <p:cNvPr id="17" name="Rectangle 16">
            <a:extLst>
              <a:ext uri="{FF2B5EF4-FFF2-40B4-BE49-F238E27FC236}">
                <a16:creationId xmlns:a16="http://schemas.microsoft.com/office/drawing/2014/main" id="{98A49EE7-90F3-8B4F-C38D-788E3AF744BB}"/>
              </a:ext>
            </a:extLst>
          </p:cNvPr>
          <p:cNvSpPr/>
          <p:nvPr/>
        </p:nvSpPr>
        <p:spPr>
          <a:xfrm>
            <a:off x="3903120" y="3909776"/>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C00000"/>
                </a:solidFill>
              </a:rPr>
              <a:t>ra</a:t>
            </a:r>
            <a:endParaRPr lang="en-US" dirty="0">
              <a:solidFill>
                <a:srgbClr val="C00000"/>
              </a:solidFill>
            </a:endParaRPr>
          </a:p>
        </p:txBody>
      </p:sp>
      <p:sp>
        <p:nvSpPr>
          <p:cNvPr id="18" name="Rectangle 17">
            <a:extLst>
              <a:ext uri="{FF2B5EF4-FFF2-40B4-BE49-F238E27FC236}">
                <a16:creationId xmlns:a16="http://schemas.microsoft.com/office/drawing/2014/main" id="{B2E469EE-7CEF-FB04-7F22-87DC6DCA4640}"/>
              </a:ext>
            </a:extLst>
          </p:cNvPr>
          <p:cNvSpPr/>
          <p:nvPr/>
        </p:nvSpPr>
        <p:spPr>
          <a:xfrm>
            <a:off x="3914684" y="4773756"/>
            <a:ext cx="992681"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main</a:t>
            </a:r>
          </a:p>
        </p:txBody>
      </p:sp>
      <p:sp>
        <p:nvSpPr>
          <p:cNvPr id="19" name="Rectangle 18">
            <a:extLst>
              <a:ext uri="{FF2B5EF4-FFF2-40B4-BE49-F238E27FC236}">
                <a16:creationId xmlns:a16="http://schemas.microsoft.com/office/drawing/2014/main" id="{69FD948D-C0F3-C297-99EE-A7DA7A91A8FD}"/>
              </a:ext>
            </a:extLst>
          </p:cNvPr>
          <p:cNvSpPr/>
          <p:nvPr/>
        </p:nvSpPr>
        <p:spPr>
          <a:xfrm>
            <a:off x="3914686" y="5014417"/>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C00000"/>
                </a:solidFill>
              </a:rPr>
              <a:t>Int</a:t>
            </a:r>
            <a:r>
              <a:rPr lang="en-US" dirty="0">
                <a:solidFill>
                  <a:srgbClr val="C00000"/>
                </a:solidFill>
              </a:rPr>
              <a:t> n</a:t>
            </a:r>
          </a:p>
        </p:txBody>
      </p:sp>
      <p:sp>
        <p:nvSpPr>
          <p:cNvPr id="20" name="Rectangle 19">
            <a:extLst>
              <a:ext uri="{FF2B5EF4-FFF2-40B4-BE49-F238E27FC236}">
                <a16:creationId xmlns:a16="http://schemas.microsoft.com/office/drawing/2014/main" id="{25A9073C-C459-62AE-14DC-BB584FD037D5}"/>
              </a:ext>
            </a:extLst>
          </p:cNvPr>
          <p:cNvSpPr/>
          <p:nvPr/>
        </p:nvSpPr>
        <p:spPr>
          <a:xfrm>
            <a:off x="3914684" y="5265313"/>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C00000"/>
                </a:solidFill>
              </a:rPr>
              <a:t>qs</a:t>
            </a:r>
            <a:r>
              <a:rPr lang="en-US" dirty="0">
                <a:solidFill>
                  <a:srgbClr val="C00000"/>
                </a:solidFill>
              </a:rPr>
              <a:t>(1,10)</a:t>
            </a:r>
          </a:p>
        </p:txBody>
      </p:sp>
      <p:sp>
        <p:nvSpPr>
          <p:cNvPr id="21" name="Rectangle 20">
            <a:extLst>
              <a:ext uri="{FF2B5EF4-FFF2-40B4-BE49-F238E27FC236}">
                <a16:creationId xmlns:a16="http://schemas.microsoft.com/office/drawing/2014/main" id="{34954608-9035-22A7-9B99-54B407597DF1}"/>
              </a:ext>
            </a:extLst>
          </p:cNvPr>
          <p:cNvSpPr/>
          <p:nvPr/>
        </p:nvSpPr>
        <p:spPr>
          <a:xfrm>
            <a:off x="3914684" y="5517074"/>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C00000"/>
                </a:solidFill>
              </a:rPr>
              <a:t>Int</a:t>
            </a:r>
            <a:r>
              <a:rPr lang="en-US" dirty="0">
                <a:solidFill>
                  <a:srgbClr val="C00000"/>
                </a:solidFill>
              </a:rPr>
              <a:t> </a:t>
            </a:r>
            <a:r>
              <a:rPr lang="en-US" dirty="0" err="1">
                <a:solidFill>
                  <a:srgbClr val="C00000"/>
                </a:solidFill>
              </a:rPr>
              <a:t>i</a:t>
            </a:r>
            <a:endParaRPr lang="en-US" dirty="0">
              <a:solidFill>
                <a:srgbClr val="C00000"/>
              </a:solidFill>
            </a:endParaRPr>
          </a:p>
        </p:txBody>
      </p:sp>
      <p:sp>
        <p:nvSpPr>
          <p:cNvPr id="22" name="Rectangle 21">
            <a:extLst>
              <a:ext uri="{FF2B5EF4-FFF2-40B4-BE49-F238E27FC236}">
                <a16:creationId xmlns:a16="http://schemas.microsoft.com/office/drawing/2014/main" id="{D5D39452-2652-3637-C579-4207A83A5A93}"/>
              </a:ext>
            </a:extLst>
          </p:cNvPr>
          <p:cNvSpPr/>
          <p:nvPr/>
        </p:nvSpPr>
        <p:spPr>
          <a:xfrm>
            <a:off x="3903120" y="4153664"/>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C00000"/>
                </a:solidFill>
              </a:rPr>
              <a:t>Int</a:t>
            </a:r>
            <a:r>
              <a:rPr lang="en-US" dirty="0">
                <a:solidFill>
                  <a:srgbClr val="C00000"/>
                </a:solidFill>
              </a:rPr>
              <a:t> </a:t>
            </a:r>
            <a:r>
              <a:rPr lang="en-US" dirty="0" err="1">
                <a:solidFill>
                  <a:srgbClr val="C00000"/>
                </a:solidFill>
              </a:rPr>
              <a:t>i</a:t>
            </a:r>
            <a:endParaRPr lang="en-US" dirty="0">
              <a:solidFill>
                <a:srgbClr val="C00000"/>
              </a:solidFill>
            </a:endParaRPr>
          </a:p>
        </p:txBody>
      </p:sp>
      <p:sp>
        <p:nvSpPr>
          <p:cNvPr id="23" name="Rectangle 22">
            <a:extLst>
              <a:ext uri="{FF2B5EF4-FFF2-40B4-BE49-F238E27FC236}">
                <a16:creationId xmlns:a16="http://schemas.microsoft.com/office/drawing/2014/main" id="{45ABF6DC-0A21-C987-0664-93595D8E3F96}"/>
              </a:ext>
            </a:extLst>
          </p:cNvPr>
          <p:cNvSpPr/>
          <p:nvPr/>
        </p:nvSpPr>
        <p:spPr>
          <a:xfrm>
            <a:off x="9089682" y="1574742"/>
            <a:ext cx="1331141" cy="355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47A1"/>
                </a:solidFill>
              </a:rPr>
              <a:t>main</a:t>
            </a:r>
          </a:p>
        </p:txBody>
      </p:sp>
      <p:cxnSp>
        <p:nvCxnSpPr>
          <p:cNvPr id="24" name="Straight Connector 23">
            <a:extLst>
              <a:ext uri="{FF2B5EF4-FFF2-40B4-BE49-F238E27FC236}">
                <a16:creationId xmlns:a16="http://schemas.microsoft.com/office/drawing/2014/main" id="{B821D373-F22C-CD08-8629-B652F221EB42}"/>
              </a:ext>
            </a:extLst>
          </p:cNvPr>
          <p:cNvCxnSpPr>
            <a:stCxn id="23" idx="2"/>
          </p:cNvCxnSpPr>
          <p:nvPr/>
        </p:nvCxnSpPr>
        <p:spPr>
          <a:xfrm flipH="1">
            <a:off x="9135673" y="1930148"/>
            <a:ext cx="619580" cy="203551"/>
          </a:xfrm>
          <a:prstGeom prst="line">
            <a:avLst/>
          </a:prstGeom>
          <a:ln>
            <a:solidFill>
              <a:srgbClr val="0E47A1"/>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53028A1-40B3-C916-B81C-660C7EDF3BF0}"/>
              </a:ext>
            </a:extLst>
          </p:cNvPr>
          <p:cNvCxnSpPr>
            <a:stCxn id="23" idx="2"/>
          </p:cNvCxnSpPr>
          <p:nvPr/>
        </p:nvCxnSpPr>
        <p:spPr>
          <a:xfrm>
            <a:off x="9755253" y="1930148"/>
            <a:ext cx="529890" cy="227037"/>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C67B0DD2-E0A1-56E1-365D-57A15DF727E4}"/>
              </a:ext>
            </a:extLst>
          </p:cNvPr>
          <p:cNvSpPr/>
          <p:nvPr/>
        </p:nvSpPr>
        <p:spPr>
          <a:xfrm>
            <a:off x="8336592" y="2133699"/>
            <a:ext cx="1331141" cy="355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0E47A1"/>
                </a:solidFill>
              </a:rPr>
              <a:t>ra</a:t>
            </a:r>
            <a:r>
              <a:rPr lang="en-US" dirty="0">
                <a:solidFill>
                  <a:srgbClr val="0E47A1"/>
                </a:solidFill>
              </a:rPr>
              <a:t>()</a:t>
            </a:r>
          </a:p>
        </p:txBody>
      </p:sp>
      <p:sp>
        <p:nvSpPr>
          <p:cNvPr id="27" name="Rectangle 26">
            <a:extLst>
              <a:ext uri="{FF2B5EF4-FFF2-40B4-BE49-F238E27FC236}">
                <a16:creationId xmlns:a16="http://schemas.microsoft.com/office/drawing/2014/main" id="{09F729A3-1F6D-CB05-D463-F27D7AC12CAB}"/>
              </a:ext>
            </a:extLst>
          </p:cNvPr>
          <p:cNvSpPr/>
          <p:nvPr/>
        </p:nvSpPr>
        <p:spPr>
          <a:xfrm>
            <a:off x="9890613" y="2133699"/>
            <a:ext cx="1563917" cy="355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0E47A1"/>
                </a:solidFill>
              </a:rPr>
              <a:t>qs</a:t>
            </a:r>
            <a:r>
              <a:rPr lang="en-US" dirty="0">
                <a:solidFill>
                  <a:srgbClr val="0E47A1"/>
                </a:solidFill>
              </a:rPr>
              <a:t>(1,10)</a:t>
            </a:r>
          </a:p>
        </p:txBody>
      </p:sp>
      <p:cxnSp>
        <p:nvCxnSpPr>
          <p:cNvPr id="28" name="Straight Connector 27">
            <a:extLst>
              <a:ext uri="{FF2B5EF4-FFF2-40B4-BE49-F238E27FC236}">
                <a16:creationId xmlns:a16="http://schemas.microsoft.com/office/drawing/2014/main" id="{CD34A120-1892-618E-2C7B-467912B0656C}"/>
              </a:ext>
            </a:extLst>
          </p:cNvPr>
          <p:cNvCxnSpPr/>
          <p:nvPr/>
        </p:nvCxnSpPr>
        <p:spPr>
          <a:xfrm flipH="1">
            <a:off x="9801243" y="2615658"/>
            <a:ext cx="619580" cy="203551"/>
          </a:xfrm>
          <a:prstGeom prst="line">
            <a:avLst/>
          </a:prstGeom>
          <a:ln>
            <a:solidFill>
              <a:srgbClr val="0E47A1"/>
            </a:solidFill>
            <a:prstDash val="sys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ED473A1-123F-9B0B-4E78-ADD7BB7183D9}"/>
              </a:ext>
            </a:extLst>
          </p:cNvPr>
          <p:cNvCxnSpPr>
            <a:endCxn id="31" idx="0"/>
          </p:cNvCxnSpPr>
          <p:nvPr/>
        </p:nvCxnSpPr>
        <p:spPr>
          <a:xfrm>
            <a:off x="10420823" y="2615658"/>
            <a:ext cx="648843" cy="430588"/>
          </a:xfrm>
          <a:prstGeom prst="line">
            <a:avLst/>
          </a:prstGeom>
          <a:ln w="25400">
            <a:solidFill>
              <a:srgbClr val="0E47A1"/>
            </a:solidFill>
            <a:prstDash val="solid"/>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92179F14-673B-5C49-B8DF-742B20D832EE}"/>
              </a:ext>
            </a:extLst>
          </p:cNvPr>
          <p:cNvSpPr/>
          <p:nvPr/>
        </p:nvSpPr>
        <p:spPr>
          <a:xfrm>
            <a:off x="8359195" y="2747899"/>
            <a:ext cx="1520477" cy="355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47A1"/>
                </a:solidFill>
              </a:rPr>
              <a:t>pa(1,10)</a:t>
            </a:r>
          </a:p>
        </p:txBody>
      </p:sp>
      <p:sp>
        <p:nvSpPr>
          <p:cNvPr id="31" name="Rectangle 30">
            <a:extLst>
              <a:ext uri="{FF2B5EF4-FFF2-40B4-BE49-F238E27FC236}">
                <a16:creationId xmlns:a16="http://schemas.microsoft.com/office/drawing/2014/main" id="{10E9B115-744C-D5CA-1D70-FBA27DE2CD84}"/>
              </a:ext>
            </a:extLst>
          </p:cNvPr>
          <p:cNvSpPr/>
          <p:nvPr/>
        </p:nvSpPr>
        <p:spPr>
          <a:xfrm>
            <a:off x="10335470" y="3046246"/>
            <a:ext cx="1468391" cy="355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0E47A1"/>
                </a:solidFill>
              </a:rPr>
              <a:t>qs</a:t>
            </a:r>
            <a:r>
              <a:rPr lang="en-US" dirty="0">
                <a:solidFill>
                  <a:srgbClr val="0E47A1"/>
                </a:solidFill>
              </a:rPr>
              <a:t>(1,4)</a:t>
            </a:r>
          </a:p>
        </p:txBody>
      </p:sp>
      <p:cxnSp>
        <p:nvCxnSpPr>
          <p:cNvPr id="32" name="Straight Connector 31">
            <a:extLst>
              <a:ext uri="{FF2B5EF4-FFF2-40B4-BE49-F238E27FC236}">
                <a16:creationId xmlns:a16="http://schemas.microsoft.com/office/drawing/2014/main" id="{EE7B3489-69A1-B081-D487-5E8F80CA947A}"/>
              </a:ext>
            </a:extLst>
          </p:cNvPr>
          <p:cNvCxnSpPr/>
          <p:nvPr/>
        </p:nvCxnSpPr>
        <p:spPr>
          <a:xfrm flipH="1">
            <a:off x="10641113" y="3526654"/>
            <a:ext cx="619580" cy="203551"/>
          </a:xfrm>
          <a:prstGeom prst="line">
            <a:avLst/>
          </a:prstGeom>
          <a:ln>
            <a:solidFill>
              <a:srgbClr val="0E47A1"/>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E98A605-FE9D-AE35-9783-11707FB057C2}"/>
              </a:ext>
            </a:extLst>
          </p:cNvPr>
          <p:cNvCxnSpPr/>
          <p:nvPr/>
        </p:nvCxnSpPr>
        <p:spPr>
          <a:xfrm>
            <a:off x="11260693" y="3526654"/>
            <a:ext cx="469462" cy="232952"/>
          </a:xfrm>
          <a:prstGeom prst="line">
            <a:avLst/>
          </a:prstGeom>
          <a:ln>
            <a:solidFill>
              <a:srgbClr val="0E47A1"/>
            </a:solidFill>
            <a:prstDash val="sysDash"/>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B7BAE4FC-022E-5C61-C1D9-4E90368718FB}"/>
              </a:ext>
            </a:extLst>
          </p:cNvPr>
          <p:cNvSpPr/>
          <p:nvPr/>
        </p:nvSpPr>
        <p:spPr>
          <a:xfrm>
            <a:off x="9199065" y="3658895"/>
            <a:ext cx="1520477" cy="355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47A1"/>
                </a:solidFill>
              </a:rPr>
              <a:t>pa(1,4)</a:t>
            </a:r>
          </a:p>
        </p:txBody>
      </p:sp>
      <p:sp>
        <p:nvSpPr>
          <p:cNvPr id="35" name="Rectangle 34">
            <a:extLst>
              <a:ext uri="{FF2B5EF4-FFF2-40B4-BE49-F238E27FC236}">
                <a16:creationId xmlns:a16="http://schemas.microsoft.com/office/drawing/2014/main" id="{732DEED8-8BA1-E005-ACA1-6811B4E6BDB4}"/>
              </a:ext>
            </a:extLst>
          </p:cNvPr>
          <p:cNvSpPr/>
          <p:nvPr/>
        </p:nvSpPr>
        <p:spPr>
          <a:xfrm>
            <a:off x="9620955" y="4519387"/>
            <a:ext cx="1833485" cy="355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Activation Tree</a:t>
            </a:r>
          </a:p>
        </p:txBody>
      </p:sp>
      <p:sp>
        <p:nvSpPr>
          <p:cNvPr id="36" name="Rectangle 35">
            <a:extLst>
              <a:ext uri="{FF2B5EF4-FFF2-40B4-BE49-F238E27FC236}">
                <a16:creationId xmlns:a16="http://schemas.microsoft.com/office/drawing/2014/main" id="{ADD12CAD-7584-FF66-6765-7CF63A9914BC}"/>
              </a:ext>
            </a:extLst>
          </p:cNvPr>
          <p:cNvSpPr/>
          <p:nvPr/>
        </p:nvSpPr>
        <p:spPr>
          <a:xfrm>
            <a:off x="8628274" y="4806547"/>
            <a:ext cx="992681"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main</a:t>
            </a:r>
          </a:p>
        </p:txBody>
      </p:sp>
      <p:sp>
        <p:nvSpPr>
          <p:cNvPr id="37" name="Rectangle 36">
            <a:extLst>
              <a:ext uri="{FF2B5EF4-FFF2-40B4-BE49-F238E27FC236}">
                <a16:creationId xmlns:a16="http://schemas.microsoft.com/office/drawing/2014/main" id="{A4BF5864-CFA2-8DD8-B024-E14964808B1F}"/>
              </a:ext>
            </a:extLst>
          </p:cNvPr>
          <p:cNvSpPr/>
          <p:nvPr/>
        </p:nvSpPr>
        <p:spPr>
          <a:xfrm>
            <a:off x="8628276" y="5047208"/>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C00000"/>
                </a:solidFill>
              </a:rPr>
              <a:t>Int</a:t>
            </a:r>
            <a:r>
              <a:rPr lang="en-US" dirty="0">
                <a:solidFill>
                  <a:srgbClr val="C00000"/>
                </a:solidFill>
              </a:rPr>
              <a:t> n</a:t>
            </a:r>
          </a:p>
        </p:txBody>
      </p:sp>
      <p:sp>
        <p:nvSpPr>
          <p:cNvPr id="38" name="Rectangle 37">
            <a:extLst>
              <a:ext uri="{FF2B5EF4-FFF2-40B4-BE49-F238E27FC236}">
                <a16:creationId xmlns:a16="http://schemas.microsoft.com/office/drawing/2014/main" id="{012DA391-72BA-A5AB-FD37-991A869E9693}"/>
              </a:ext>
            </a:extLst>
          </p:cNvPr>
          <p:cNvSpPr/>
          <p:nvPr/>
        </p:nvSpPr>
        <p:spPr>
          <a:xfrm>
            <a:off x="8628274" y="5298104"/>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C00000"/>
                </a:solidFill>
              </a:rPr>
              <a:t>qs</a:t>
            </a:r>
            <a:r>
              <a:rPr lang="en-US" dirty="0">
                <a:solidFill>
                  <a:srgbClr val="C00000"/>
                </a:solidFill>
              </a:rPr>
              <a:t>(1,10)</a:t>
            </a:r>
          </a:p>
        </p:txBody>
      </p:sp>
      <p:sp>
        <p:nvSpPr>
          <p:cNvPr id="39" name="Rectangle 38">
            <a:extLst>
              <a:ext uri="{FF2B5EF4-FFF2-40B4-BE49-F238E27FC236}">
                <a16:creationId xmlns:a16="http://schemas.microsoft.com/office/drawing/2014/main" id="{D0C3BC51-89B5-EC6C-5E0A-2C4D6AF59B75}"/>
              </a:ext>
            </a:extLst>
          </p:cNvPr>
          <p:cNvSpPr/>
          <p:nvPr/>
        </p:nvSpPr>
        <p:spPr>
          <a:xfrm>
            <a:off x="8628274" y="5549865"/>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C00000"/>
                </a:solidFill>
              </a:rPr>
              <a:t>Int</a:t>
            </a:r>
            <a:r>
              <a:rPr lang="en-US" dirty="0">
                <a:solidFill>
                  <a:srgbClr val="C00000"/>
                </a:solidFill>
              </a:rPr>
              <a:t> </a:t>
            </a:r>
            <a:r>
              <a:rPr lang="en-US" dirty="0" err="1">
                <a:solidFill>
                  <a:srgbClr val="C00000"/>
                </a:solidFill>
              </a:rPr>
              <a:t>i</a:t>
            </a:r>
            <a:endParaRPr lang="en-US" dirty="0">
              <a:solidFill>
                <a:srgbClr val="C00000"/>
              </a:solidFill>
            </a:endParaRPr>
          </a:p>
        </p:txBody>
      </p:sp>
      <p:sp>
        <p:nvSpPr>
          <p:cNvPr id="40" name="Rectangle 39">
            <a:extLst>
              <a:ext uri="{FF2B5EF4-FFF2-40B4-BE49-F238E27FC236}">
                <a16:creationId xmlns:a16="http://schemas.microsoft.com/office/drawing/2014/main" id="{BE4D4015-1258-3C55-0D45-53F1718A7497}"/>
              </a:ext>
            </a:extLst>
          </p:cNvPr>
          <p:cNvSpPr/>
          <p:nvPr/>
        </p:nvSpPr>
        <p:spPr>
          <a:xfrm>
            <a:off x="8632913" y="5798206"/>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C00000"/>
                </a:solidFill>
              </a:rPr>
              <a:t>qs</a:t>
            </a:r>
            <a:r>
              <a:rPr lang="en-US" dirty="0">
                <a:solidFill>
                  <a:srgbClr val="C00000"/>
                </a:solidFill>
              </a:rPr>
              <a:t>(1,4)</a:t>
            </a:r>
          </a:p>
        </p:txBody>
      </p:sp>
      <p:sp>
        <p:nvSpPr>
          <p:cNvPr id="41" name="Rectangle 40">
            <a:extLst>
              <a:ext uri="{FF2B5EF4-FFF2-40B4-BE49-F238E27FC236}">
                <a16:creationId xmlns:a16="http://schemas.microsoft.com/office/drawing/2014/main" id="{18FA8513-8E6A-F58D-4218-FCDB0AAC24CF}"/>
              </a:ext>
            </a:extLst>
          </p:cNvPr>
          <p:cNvSpPr/>
          <p:nvPr/>
        </p:nvSpPr>
        <p:spPr>
          <a:xfrm>
            <a:off x="8632913" y="6033638"/>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C00000"/>
                </a:solidFill>
              </a:rPr>
              <a:t>Int</a:t>
            </a:r>
            <a:r>
              <a:rPr lang="en-US" dirty="0">
                <a:solidFill>
                  <a:srgbClr val="C00000"/>
                </a:solidFill>
              </a:rPr>
              <a:t> </a:t>
            </a:r>
            <a:r>
              <a:rPr lang="en-US" dirty="0" err="1">
                <a:solidFill>
                  <a:srgbClr val="C00000"/>
                </a:solidFill>
              </a:rPr>
              <a:t>i</a:t>
            </a:r>
            <a:endParaRPr lang="en-US" dirty="0">
              <a:solidFill>
                <a:srgbClr val="C00000"/>
              </a:solidFill>
            </a:endParaRPr>
          </a:p>
        </p:txBody>
      </p:sp>
    </p:spTree>
    <p:extLst>
      <p:ext uri="{BB962C8B-B14F-4D97-AF65-F5344CB8AC3E}">
        <p14:creationId xmlns:p14="http://schemas.microsoft.com/office/powerpoint/2010/main" val="57514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up)">
                                      <p:cBhvr>
                                        <p:cTn id="18" dur="500"/>
                                        <p:tgtEl>
                                          <p:spTgt spid="5"/>
                                        </p:tgtEl>
                                      </p:cBhvr>
                                    </p:animEffect>
                                  </p:childTnLst>
                                </p:cTn>
                              </p:par>
                              <p:par>
                                <p:cTn id="19" presetID="22" presetClass="entr" presetSubtype="1"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500"/>
                                        <p:tgtEl>
                                          <p:spTgt spid="6"/>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up)">
                                      <p:cBhvr>
                                        <p:cTn id="24" dur="500"/>
                                        <p:tgtEl>
                                          <p:spTgt spid="7"/>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par>
                                <p:cTn id="28" presetID="22" presetClass="entr" presetSubtype="1"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up)">
                                      <p:cBhvr>
                                        <p:cTn id="30" dur="500"/>
                                        <p:tgtEl>
                                          <p:spTgt spid="9"/>
                                        </p:tgtEl>
                                      </p:cBhvr>
                                    </p:animEffect>
                                  </p:childTnLst>
                                </p:cTn>
                              </p:par>
                              <p:par>
                                <p:cTn id="31" presetID="22" presetClass="entr" presetSubtype="1"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up)">
                                      <p:cBhvr>
                                        <p:cTn id="33" dur="500"/>
                                        <p:tgtEl>
                                          <p:spTgt spid="10"/>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up)">
                                      <p:cBhvr>
                                        <p:cTn id="36" dur="500"/>
                                        <p:tgtEl>
                                          <p:spTgt spid="11"/>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up)">
                                      <p:cBhvr>
                                        <p:cTn id="39" dur="500"/>
                                        <p:tgtEl>
                                          <p:spTgt spid="12"/>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up)">
                                      <p:cBhvr>
                                        <p:cTn id="42" dur="500"/>
                                        <p:tgtEl>
                                          <p:spTgt spid="13"/>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up)">
                                      <p:cBhvr>
                                        <p:cTn id="45" dur="500"/>
                                        <p:tgtEl>
                                          <p:spTgt spid="14"/>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up)">
                                      <p:cBhvr>
                                        <p:cTn id="48" dur="500"/>
                                        <p:tgtEl>
                                          <p:spTgt spid="15"/>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up)">
                                      <p:cBhvr>
                                        <p:cTn id="51" dur="500"/>
                                        <p:tgtEl>
                                          <p:spTgt spid="16"/>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wipe(up)">
                                      <p:cBhvr>
                                        <p:cTn id="54" dur="500"/>
                                        <p:tgtEl>
                                          <p:spTgt spid="17"/>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wipe(up)">
                                      <p:cBhvr>
                                        <p:cTn id="57" dur="500"/>
                                        <p:tgtEl>
                                          <p:spTgt spid="18"/>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wipe(up)">
                                      <p:cBhvr>
                                        <p:cTn id="60" dur="500"/>
                                        <p:tgtEl>
                                          <p:spTgt spid="19"/>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up)">
                                      <p:cBhvr>
                                        <p:cTn id="63" dur="500"/>
                                        <p:tgtEl>
                                          <p:spTgt spid="20"/>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wipe(up)">
                                      <p:cBhvr>
                                        <p:cTn id="66" dur="500"/>
                                        <p:tgtEl>
                                          <p:spTgt spid="21"/>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wipe(up)">
                                      <p:cBhvr>
                                        <p:cTn id="69" dur="500"/>
                                        <p:tgtEl>
                                          <p:spTgt spid="22"/>
                                        </p:tgtEl>
                                      </p:cBhvr>
                                    </p:animEffect>
                                  </p:childTnLst>
                                </p:cTn>
                              </p:par>
                              <p:par>
                                <p:cTn id="70" presetID="22" presetClass="entr" presetSubtype="1"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wipe(up)">
                                      <p:cBhvr>
                                        <p:cTn id="72" dur="500"/>
                                        <p:tgtEl>
                                          <p:spTgt spid="23"/>
                                        </p:tgtEl>
                                      </p:cBhvr>
                                    </p:animEffect>
                                  </p:childTnLst>
                                </p:cTn>
                              </p:par>
                              <p:par>
                                <p:cTn id="73" presetID="22" presetClass="entr" presetSubtype="1" fill="hold"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wipe(up)">
                                      <p:cBhvr>
                                        <p:cTn id="75" dur="500"/>
                                        <p:tgtEl>
                                          <p:spTgt spid="24"/>
                                        </p:tgtEl>
                                      </p:cBhvr>
                                    </p:animEffect>
                                  </p:childTnLst>
                                </p:cTn>
                              </p:par>
                              <p:par>
                                <p:cTn id="76" presetID="22" presetClass="entr" presetSubtype="1" fill="hold"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wipe(up)">
                                      <p:cBhvr>
                                        <p:cTn id="78" dur="500"/>
                                        <p:tgtEl>
                                          <p:spTgt spid="25"/>
                                        </p:tgtEl>
                                      </p:cBhvr>
                                    </p:animEffect>
                                  </p:childTnLst>
                                </p:cTn>
                              </p:par>
                              <p:par>
                                <p:cTn id="79" presetID="22" presetClass="entr" presetSubtype="1"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wipe(up)">
                                      <p:cBhvr>
                                        <p:cTn id="81" dur="500"/>
                                        <p:tgtEl>
                                          <p:spTgt spid="26"/>
                                        </p:tgtEl>
                                      </p:cBhvr>
                                    </p:animEffect>
                                  </p:childTnLst>
                                </p:cTn>
                              </p:par>
                              <p:par>
                                <p:cTn id="82" presetID="22" presetClass="entr" presetSubtype="1"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wipe(up)">
                                      <p:cBhvr>
                                        <p:cTn id="84" dur="500"/>
                                        <p:tgtEl>
                                          <p:spTgt spid="27"/>
                                        </p:tgtEl>
                                      </p:cBhvr>
                                    </p:animEffect>
                                  </p:childTnLst>
                                </p:cTn>
                              </p:par>
                              <p:par>
                                <p:cTn id="85" presetID="22" presetClass="entr" presetSubtype="1" fill="hold"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wipe(up)">
                                      <p:cBhvr>
                                        <p:cTn id="87" dur="500"/>
                                        <p:tgtEl>
                                          <p:spTgt spid="28"/>
                                        </p:tgtEl>
                                      </p:cBhvr>
                                    </p:animEffect>
                                  </p:childTnLst>
                                </p:cTn>
                              </p:par>
                              <p:par>
                                <p:cTn id="88" presetID="22" presetClass="entr" presetSubtype="1" fill="hold" nodeType="with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wipe(up)">
                                      <p:cBhvr>
                                        <p:cTn id="90" dur="500"/>
                                        <p:tgtEl>
                                          <p:spTgt spid="29"/>
                                        </p:tgtEl>
                                      </p:cBhvr>
                                    </p:animEffect>
                                  </p:childTnLst>
                                </p:cTn>
                              </p:par>
                              <p:par>
                                <p:cTn id="91" presetID="22" presetClass="entr" presetSubtype="1" fill="hold" grpId="0" nodeType="with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wipe(up)">
                                      <p:cBhvr>
                                        <p:cTn id="93" dur="500"/>
                                        <p:tgtEl>
                                          <p:spTgt spid="30"/>
                                        </p:tgtEl>
                                      </p:cBhvr>
                                    </p:animEffect>
                                  </p:childTnLst>
                                </p:cTn>
                              </p:par>
                              <p:par>
                                <p:cTn id="94" presetID="22" presetClass="entr" presetSubtype="1" fill="hold" grpId="0" nodeType="withEffect">
                                  <p:stCondLst>
                                    <p:cond delay="0"/>
                                  </p:stCondLst>
                                  <p:childTnLst>
                                    <p:set>
                                      <p:cBhvr>
                                        <p:cTn id="95" dur="1" fill="hold">
                                          <p:stCondLst>
                                            <p:cond delay="0"/>
                                          </p:stCondLst>
                                        </p:cTn>
                                        <p:tgtEl>
                                          <p:spTgt spid="31"/>
                                        </p:tgtEl>
                                        <p:attrNameLst>
                                          <p:attrName>style.visibility</p:attrName>
                                        </p:attrNameLst>
                                      </p:cBhvr>
                                      <p:to>
                                        <p:strVal val="visible"/>
                                      </p:to>
                                    </p:set>
                                    <p:animEffect transition="in" filter="wipe(up)">
                                      <p:cBhvr>
                                        <p:cTn id="96" dur="500"/>
                                        <p:tgtEl>
                                          <p:spTgt spid="31"/>
                                        </p:tgtEl>
                                      </p:cBhvr>
                                    </p:animEffect>
                                  </p:childTnLst>
                                </p:cTn>
                              </p:par>
                              <p:par>
                                <p:cTn id="97" presetID="22" presetClass="entr" presetSubtype="1" fill="hold" nodeType="with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wipe(up)">
                                      <p:cBhvr>
                                        <p:cTn id="99" dur="500"/>
                                        <p:tgtEl>
                                          <p:spTgt spid="32"/>
                                        </p:tgtEl>
                                      </p:cBhvr>
                                    </p:animEffect>
                                  </p:childTnLst>
                                </p:cTn>
                              </p:par>
                              <p:par>
                                <p:cTn id="100" presetID="22" presetClass="entr" presetSubtype="1" fill="hold" nodeType="with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wipe(up)">
                                      <p:cBhvr>
                                        <p:cTn id="102" dur="500"/>
                                        <p:tgtEl>
                                          <p:spTgt spid="33"/>
                                        </p:tgtEl>
                                      </p:cBhvr>
                                    </p:animEffect>
                                  </p:childTnLst>
                                </p:cTn>
                              </p:par>
                              <p:par>
                                <p:cTn id="103" presetID="22" presetClass="entr" presetSubtype="1" fill="hold" grpId="0" nodeType="withEffect">
                                  <p:stCondLst>
                                    <p:cond delay="0"/>
                                  </p:stCondLst>
                                  <p:childTnLst>
                                    <p:set>
                                      <p:cBhvr>
                                        <p:cTn id="104" dur="1" fill="hold">
                                          <p:stCondLst>
                                            <p:cond delay="0"/>
                                          </p:stCondLst>
                                        </p:cTn>
                                        <p:tgtEl>
                                          <p:spTgt spid="34"/>
                                        </p:tgtEl>
                                        <p:attrNameLst>
                                          <p:attrName>style.visibility</p:attrName>
                                        </p:attrNameLst>
                                      </p:cBhvr>
                                      <p:to>
                                        <p:strVal val="visible"/>
                                      </p:to>
                                    </p:set>
                                    <p:animEffect transition="in" filter="wipe(up)">
                                      <p:cBhvr>
                                        <p:cTn id="105" dur="500"/>
                                        <p:tgtEl>
                                          <p:spTgt spid="34"/>
                                        </p:tgtEl>
                                      </p:cBhvr>
                                    </p:animEffect>
                                  </p:childTnLst>
                                </p:cTn>
                              </p:par>
                              <p:par>
                                <p:cTn id="106" presetID="22" presetClass="entr" presetSubtype="1" fill="hold" grpId="0" nodeType="withEffect">
                                  <p:stCondLst>
                                    <p:cond delay="0"/>
                                  </p:stCondLst>
                                  <p:childTnLst>
                                    <p:set>
                                      <p:cBhvr>
                                        <p:cTn id="107" dur="1" fill="hold">
                                          <p:stCondLst>
                                            <p:cond delay="0"/>
                                          </p:stCondLst>
                                        </p:cTn>
                                        <p:tgtEl>
                                          <p:spTgt spid="35"/>
                                        </p:tgtEl>
                                        <p:attrNameLst>
                                          <p:attrName>style.visibility</p:attrName>
                                        </p:attrNameLst>
                                      </p:cBhvr>
                                      <p:to>
                                        <p:strVal val="visible"/>
                                      </p:to>
                                    </p:set>
                                    <p:animEffect transition="in" filter="wipe(up)">
                                      <p:cBhvr>
                                        <p:cTn id="108" dur="500"/>
                                        <p:tgtEl>
                                          <p:spTgt spid="35"/>
                                        </p:tgtEl>
                                      </p:cBhvr>
                                    </p:animEffect>
                                  </p:childTnLst>
                                </p:cTn>
                              </p:par>
                              <p:par>
                                <p:cTn id="109" presetID="22" presetClass="entr" presetSubtype="1" fill="hold" grpId="0" nodeType="withEffect">
                                  <p:stCondLst>
                                    <p:cond delay="0"/>
                                  </p:stCondLst>
                                  <p:childTnLst>
                                    <p:set>
                                      <p:cBhvr>
                                        <p:cTn id="110" dur="1" fill="hold">
                                          <p:stCondLst>
                                            <p:cond delay="0"/>
                                          </p:stCondLst>
                                        </p:cTn>
                                        <p:tgtEl>
                                          <p:spTgt spid="36"/>
                                        </p:tgtEl>
                                        <p:attrNameLst>
                                          <p:attrName>style.visibility</p:attrName>
                                        </p:attrNameLst>
                                      </p:cBhvr>
                                      <p:to>
                                        <p:strVal val="visible"/>
                                      </p:to>
                                    </p:set>
                                    <p:animEffect transition="in" filter="wipe(up)">
                                      <p:cBhvr>
                                        <p:cTn id="111" dur="500"/>
                                        <p:tgtEl>
                                          <p:spTgt spid="36"/>
                                        </p:tgtEl>
                                      </p:cBhvr>
                                    </p:animEffect>
                                  </p:childTnLst>
                                </p:cTn>
                              </p:par>
                              <p:par>
                                <p:cTn id="112" presetID="22" presetClass="entr" presetSubtype="1" fill="hold" grpId="0" nodeType="withEffect">
                                  <p:stCondLst>
                                    <p:cond delay="0"/>
                                  </p:stCondLst>
                                  <p:childTnLst>
                                    <p:set>
                                      <p:cBhvr>
                                        <p:cTn id="113" dur="1" fill="hold">
                                          <p:stCondLst>
                                            <p:cond delay="0"/>
                                          </p:stCondLst>
                                        </p:cTn>
                                        <p:tgtEl>
                                          <p:spTgt spid="37"/>
                                        </p:tgtEl>
                                        <p:attrNameLst>
                                          <p:attrName>style.visibility</p:attrName>
                                        </p:attrNameLst>
                                      </p:cBhvr>
                                      <p:to>
                                        <p:strVal val="visible"/>
                                      </p:to>
                                    </p:set>
                                    <p:animEffect transition="in" filter="wipe(up)">
                                      <p:cBhvr>
                                        <p:cTn id="114" dur="500"/>
                                        <p:tgtEl>
                                          <p:spTgt spid="37"/>
                                        </p:tgtEl>
                                      </p:cBhvr>
                                    </p:animEffect>
                                  </p:childTnLst>
                                </p:cTn>
                              </p:par>
                              <p:par>
                                <p:cTn id="115" presetID="22" presetClass="entr" presetSubtype="1" fill="hold" grpId="0" nodeType="withEffect">
                                  <p:stCondLst>
                                    <p:cond delay="0"/>
                                  </p:stCondLst>
                                  <p:childTnLst>
                                    <p:set>
                                      <p:cBhvr>
                                        <p:cTn id="116" dur="1" fill="hold">
                                          <p:stCondLst>
                                            <p:cond delay="0"/>
                                          </p:stCondLst>
                                        </p:cTn>
                                        <p:tgtEl>
                                          <p:spTgt spid="38"/>
                                        </p:tgtEl>
                                        <p:attrNameLst>
                                          <p:attrName>style.visibility</p:attrName>
                                        </p:attrNameLst>
                                      </p:cBhvr>
                                      <p:to>
                                        <p:strVal val="visible"/>
                                      </p:to>
                                    </p:set>
                                    <p:animEffect transition="in" filter="wipe(up)">
                                      <p:cBhvr>
                                        <p:cTn id="117" dur="500"/>
                                        <p:tgtEl>
                                          <p:spTgt spid="38"/>
                                        </p:tgtEl>
                                      </p:cBhvr>
                                    </p:animEffect>
                                  </p:childTnLst>
                                </p:cTn>
                              </p:par>
                              <p:par>
                                <p:cTn id="118" presetID="22" presetClass="entr" presetSubtype="1" fill="hold" grpId="0" nodeType="withEffect">
                                  <p:stCondLst>
                                    <p:cond delay="0"/>
                                  </p:stCondLst>
                                  <p:childTnLst>
                                    <p:set>
                                      <p:cBhvr>
                                        <p:cTn id="119" dur="1" fill="hold">
                                          <p:stCondLst>
                                            <p:cond delay="0"/>
                                          </p:stCondLst>
                                        </p:cTn>
                                        <p:tgtEl>
                                          <p:spTgt spid="39"/>
                                        </p:tgtEl>
                                        <p:attrNameLst>
                                          <p:attrName>style.visibility</p:attrName>
                                        </p:attrNameLst>
                                      </p:cBhvr>
                                      <p:to>
                                        <p:strVal val="visible"/>
                                      </p:to>
                                    </p:set>
                                    <p:animEffect transition="in" filter="wipe(up)">
                                      <p:cBhvr>
                                        <p:cTn id="120" dur="500"/>
                                        <p:tgtEl>
                                          <p:spTgt spid="39"/>
                                        </p:tgtEl>
                                      </p:cBhvr>
                                    </p:animEffect>
                                  </p:childTnLst>
                                </p:cTn>
                              </p:par>
                              <p:par>
                                <p:cTn id="121" presetID="22" presetClass="entr" presetSubtype="1" fill="hold" grpId="0" nodeType="withEffect">
                                  <p:stCondLst>
                                    <p:cond delay="0"/>
                                  </p:stCondLst>
                                  <p:childTnLst>
                                    <p:set>
                                      <p:cBhvr>
                                        <p:cTn id="122" dur="1" fill="hold">
                                          <p:stCondLst>
                                            <p:cond delay="0"/>
                                          </p:stCondLst>
                                        </p:cTn>
                                        <p:tgtEl>
                                          <p:spTgt spid="40"/>
                                        </p:tgtEl>
                                        <p:attrNameLst>
                                          <p:attrName>style.visibility</p:attrName>
                                        </p:attrNameLst>
                                      </p:cBhvr>
                                      <p:to>
                                        <p:strVal val="visible"/>
                                      </p:to>
                                    </p:set>
                                    <p:animEffect transition="in" filter="wipe(up)">
                                      <p:cBhvr>
                                        <p:cTn id="123" dur="500"/>
                                        <p:tgtEl>
                                          <p:spTgt spid="40"/>
                                        </p:tgtEl>
                                      </p:cBhvr>
                                    </p:animEffect>
                                  </p:childTnLst>
                                </p:cTn>
                              </p:par>
                              <p:par>
                                <p:cTn id="124" presetID="22" presetClass="entr" presetSubtype="1" fill="hold" grpId="0" nodeType="withEffect">
                                  <p:stCondLst>
                                    <p:cond delay="0"/>
                                  </p:stCondLst>
                                  <p:childTnLst>
                                    <p:set>
                                      <p:cBhvr>
                                        <p:cTn id="125" dur="1" fill="hold">
                                          <p:stCondLst>
                                            <p:cond delay="0"/>
                                          </p:stCondLst>
                                        </p:cTn>
                                        <p:tgtEl>
                                          <p:spTgt spid="41"/>
                                        </p:tgtEl>
                                        <p:attrNameLst>
                                          <p:attrName>style.visibility</p:attrName>
                                        </p:attrNameLst>
                                      </p:cBhvr>
                                      <p:to>
                                        <p:strVal val="visible"/>
                                      </p:to>
                                    </p:set>
                                    <p:animEffect transition="in" filter="wipe(up)">
                                      <p:cBhvr>
                                        <p:cTn id="12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11" grpId="0"/>
      <p:bldP spid="12" grpId="0"/>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p:bldP spid="26" grpId="0"/>
      <p:bldP spid="27" grpId="0"/>
      <p:bldP spid="30" grpId="0"/>
      <p:bldP spid="31" grpId="0"/>
      <p:bldP spid="34" grpId="0"/>
      <p:bldP spid="35" grpId="0"/>
      <p:bldP spid="36" grpId="0" animBg="1"/>
      <p:bldP spid="37" grpId="0" animBg="1"/>
      <p:bldP spid="38" grpId="0" animBg="1"/>
      <p:bldP spid="39" grpId="0" animBg="1"/>
      <p:bldP spid="40" grpId="0" animBg="1"/>
      <p:bldP spid="4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55C3E-E9B8-9BB5-B9B7-773334EC6C30}"/>
              </a:ext>
            </a:extLst>
          </p:cNvPr>
          <p:cNvSpPr>
            <a:spLocks noGrp="1"/>
          </p:cNvSpPr>
          <p:nvPr>
            <p:ph type="title"/>
          </p:nvPr>
        </p:nvSpPr>
        <p:spPr/>
        <p:txBody>
          <a:bodyPr/>
          <a:lstStyle/>
          <a:p>
            <a:r>
              <a:rPr lang="en-US" dirty="0"/>
              <a:t>Stack allocation: Calling Sequences</a:t>
            </a:r>
            <a:endParaRPr lang="en-IN" dirty="0"/>
          </a:p>
        </p:txBody>
      </p:sp>
      <p:sp>
        <p:nvSpPr>
          <p:cNvPr id="3" name="Content Placeholder 2">
            <a:extLst>
              <a:ext uri="{FF2B5EF4-FFF2-40B4-BE49-F238E27FC236}">
                <a16:creationId xmlns:a16="http://schemas.microsoft.com/office/drawing/2014/main" id="{A955294A-BF50-0D21-A268-B331273C1208}"/>
              </a:ext>
            </a:extLst>
          </p:cNvPr>
          <p:cNvSpPr>
            <a:spLocks noGrp="1"/>
          </p:cNvSpPr>
          <p:nvPr>
            <p:ph idx="1"/>
          </p:nvPr>
        </p:nvSpPr>
        <p:spPr>
          <a:xfrm>
            <a:off x="92543" y="734654"/>
            <a:ext cx="11929641" cy="2610953"/>
          </a:xfrm>
        </p:spPr>
        <p:txBody>
          <a:bodyPr/>
          <a:lstStyle/>
          <a:p>
            <a:pPr lvl="0"/>
            <a:r>
              <a:rPr lang="en-US" dirty="0"/>
              <a:t>Procedures calls are implemented by generating what are known as </a:t>
            </a:r>
            <a:r>
              <a:rPr lang="en-US" dirty="0">
                <a:solidFill>
                  <a:srgbClr val="C00000"/>
                </a:solidFill>
              </a:rPr>
              <a:t>calling sequences in the target code</a:t>
            </a:r>
            <a:r>
              <a:rPr lang="en-US" dirty="0"/>
              <a:t>.</a:t>
            </a:r>
          </a:p>
          <a:p>
            <a:pPr lvl="0"/>
            <a:r>
              <a:rPr lang="en-US" dirty="0"/>
              <a:t>A call sequence </a:t>
            </a:r>
            <a:r>
              <a:rPr lang="en-US" dirty="0">
                <a:solidFill>
                  <a:srgbClr val="C00000"/>
                </a:solidFill>
              </a:rPr>
              <a:t>allocates an activation record</a:t>
            </a:r>
            <a:r>
              <a:rPr lang="en-US" dirty="0">
                <a:solidFill>
                  <a:srgbClr val="FF0000"/>
                </a:solidFill>
              </a:rPr>
              <a:t> </a:t>
            </a:r>
            <a:r>
              <a:rPr lang="en-US" dirty="0"/>
              <a:t>and </a:t>
            </a:r>
            <a:r>
              <a:rPr lang="en-US" dirty="0">
                <a:solidFill>
                  <a:srgbClr val="C00000"/>
                </a:solidFill>
              </a:rPr>
              <a:t>enters the information </a:t>
            </a:r>
            <a:r>
              <a:rPr lang="en-US" dirty="0"/>
              <a:t>into its fields.</a:t>
            </a:r>
          </a:p>
          <a:p>
            <a:pPr lvl="0"/>
            <a:r>
              <a:rPr lang="en-US" dirty="0"/>
              <a:t>A Return sequence restore the state of machine so the calling procedure can continue its execution.</a:t>
            </a:r>
          </a:p>
          <a:p>
            <a:pPr lvl="0"/>
            <a:r>
              <a:rPr lang="en-US" dirty="0"/>
              <a:t>The code is calling sequence of often divided between the calling procedure (caller) and procedure is calls (</a:t>
            </a:r>
            <a:r>
              <a:rPr lang="en-US" dirty="0" err="1"/>
              <a:t>callee</a:t>
            </a:r>
            <a:r>
              <a:rPr lang="en-US" dirty="0"/>
              <a:t>).</a:t>
            </a:r>
          </a:p>
          <a:p>
            <a:endParaRPr lang="en-US" dirty="0"/>
          </a:p>
        </p:txBody>
      </p:sp>
      <p:graphicFrame>
        <p:nvGraphicFramePr>
          <p:cNvPr id="4" name="Table 3">
            <a:extLst>
              <a:ext uri="{FF2B5EF4-FFF2-40B4-BE49-F238E27FC236}">
                <a16:creationId xmlns:a16="http://schemas.microsoft.com/office/drawing/2014/main" id="{BF2BA432-6623-4BA5-7E35-ABEBB67C9819}"/>
              </a:ext>
            </a:extLst>
          </p:cNvPr>
          <p:cNvGraphicFramePr>
            <a:graphicFrameLocks noGrp="1"/>
          </p:cNvGraphicFramePr>
          <p:nvPr/>
        </p:nvGraphicFramePr>
        <p:xfrm>
          <a:off x="3193960" y="3566294"/>
          <a:ext cx="3429000" cy="3003625"/>
        </p:xfrm>
        <a:graphic>
          <a:graphicData uri="http://schemas.openxmlformats.org/drawingml/2006/table">
            <a:tbl>
              <a:tblPr firstRow="1" bandRow="1">
                <a:tableStyleId>{D7AC3CCA-C797-4891-BE02-D94E43425B78}</a:tableStyleId>
              </a:tblPr>
              <a:tblGrid>
                <a:gridCol w="3429000">
                  <a:extLst>
                    <a:ext uri="{9D8B030D-6E8A-4147-A177-3AD203B41FA5}">
                      <a16:colId xmlns:a16="http://schemas.microsoft.com/office/drawing/2014/main" val="20000"/>
                    </a:ext>
                  </a:extLst>
                </a:gridCol>
              </a:tblGrid>
              <a:tr h="365761">
                <a:tc>
                  <a:txBody>
                    <a:bodyPr/>
                    <a:lstStyle/>
                    <a:p>
                      <a:pPr algn="ctr"/>
                      <a:r>
                        <a:rPr lang="en-US" b="0" dirty="0"/>
                        <a:t>Parameter and return value</a:t>
                      </a:r>
                    </a:p>
                  </a:txBody>
                  <a:tcPr>
                    <a:noFill/>
                  </a:tcPr>
                </a:tc>
                <a:extLst>
                  <a:ext uri="{0D108BD9-81ED-4DB2-BD59-A6C34878D82A}">
                    <a16:rowId xmlns:a16="http://schemas.microsoft.com/office/drawing/2014/main" val="10000"/>
                  </a:ext>
                </a:extLst>
              </a:tr>
              <a:tr h="569966">
                <a:tc>
                  <a:txBody>
                    <a:bodyPr/>
                    <a:lstStyle/>
                    <a:p>
                      <a:pPr algn="ctr"/>
                      <a:r>
                        <a:rPr lang="en-US" dirty="0"/>
                        <a:t>Control link</a:t>
                      </a:r>
                    </a:p>
                    <a:p>
                      <a:pPr algn="ctr"/>
                      <a:r>
                        <a:rPr lang="en-US" dirty="0"/>
                        <a:t>Links and saved status</a:t>
                      </a:r>
                    </a:p>
                  </a:txBody>
                  <a:tcPr>
                    <a:noFill/>
                  </a:tcPr>
                </a:tc>
                <a:extLst>
                  <a:ext uri="{0D108BD9-81ED-4DB2-BD59-A6C34878D82A}">
                    <a16:rowId xmlns:a16="http://schemas.microsoft.com/office/drawing/2014/main" val="10001"/>
                  </a:ext>
                </a:extLst>
              </a:tr>
              <a:tr h="325695">
                <a:tc>
                  <a:txBody>
                    <a:bodyPr/>
                    <a:lstStyle/>
                    <a:p>
                      <a:pPr algn="ctr"/>
                      <a:r>
                        <a:rPr lang="en-US" dirty="0"/>
                        <a:t>Temporaries and local data</a:t>
                      </a:r>
                    </a:p>
                  </a:txBody>
                  <a:tcPr>
                    <a:noFill/>
                  </a:tcPr>
                </a:tc>
                <a:extLst>
                  <a:ext uri="{0D108BD9-81ED-4DB2-BD59-A6C34878D82A}">
                    <a16:rowId xmlns:a16="http://schemas.microsoft.com/office/drawing/2014/main" val="10002"/>
                  </a:ext>
                </a:extLst>
              </a:tr>
              <a:tr h="325695">
                <a:tc>
                  <a:txBody>
                    <a:bodyPr/>
                    <a:lstStyle/>
                    <a:p>
                      <a:pPr algn="ctr"/>
                      <a:r>
                        <a:rPr lang="en-US" dirty="0"/>
                        <a:t>Parameter and returned value</a:t>
                      </a:r>
                    </a:p>
                  </a:txBody>
                  <a:tcPr>
                    <a:noFill/>
                  </a:tcPr>
                </a:tc>
                <a:extLst>
                  <a:ext uri="{0D108BD9-81ED-4DB2-BD59-A6C34878D82A}">
                    <a16:rowId xmlns:a16="http://schemas.microsoft.com/office/drawing/2014/main" val="10003"/>
                  </a:ext>
                </a:extLst>
              </a:tr>
              <a:tr h="569966">
                <a:tc>
                  <a:txBody>
                    <a:bodyPr/>
                    <a:lstStyle/>
                    <a:p>
                      <a:pPr algn="ctr"/>
                      <a:r>
                        <a:rPr lang="en-US" dirty="0"/>
                        <a:t>Control link</a:t>
                      </a:r>
                    </a:p>
                    <a:p>
                      <a:pPr algn="ctr"/>
                      <a:r>
                        <a:rPr lang="en-US" dirty="0"/>
                        <a:t>Links</a:t>
                      </a:r>
                      <a:r>
                        <a:rPr lang="en-US" baseline="0" dirty="0"/>
                        <a:t> and saved status</a:t>
                      </a:r>
                      <a:endParaRPr lang="en-US" dirty="0"/>
                    </a:p>
                  </a:txBody>
                  <a:tcPr>
                    <a:noFill/>
                  </a:tcPr>
                </a:tc>
                <a:extLst>
                  <a:ext uri="{0D108BD9-81ED-4DB2-BD59-A6C34878D82A}">
                    <a16:rowId xmlns:a16="http://schemas.microsoft.com/office/drawing/2014/main" val="10004"/>
                  </a:ext>
                </a:extLst>
              </a:tr>
              <a:tr h="626184">
                <a:tc>
                  <a:txBody>
                    <a:bodyPr/>
                    <a:lstStyle/>
                    <a:p>
                      <a:pPr algn="ctr"/>
                      <a:r>
                        <a:rPr lang="en-US" dirty="0"/>
                        <a:t>Temporaries and local data</a:t>
                      </a:r>
                    </a:p>
                  </a:txBody>
                  <a:tcPr>
                    <a:noFill/>
                  </a:tcPr>
                </a:tc>
                <a:extLst>
                  <a:ext uri="{0D108BD9-81ED-4DB2-BD59-A6C34878D82A}">
                    <a16:rowId xmlns:a16="http://schemas.microsoft.com/office/drawing/2014/main" val="10005"/>
                  </a:ext>
                </a:extLst>
              </a:tr>
            </a:tbl>
          </a:graphicData>
        </a:graphic>
      </p:graphicFrame>
      <p:cxnSp>
        <p:nvCxnSpPr>
          <p:cNvPr id="5" name="Straight Arrow Connector 4">
            <a:extLst>
              <a:ext uri="{FF2B5EF4-FFF2-40B4-BE49-F238E27FC236}">
                <a16:creationId xmlns:a16="http://schemas.microsoft.com/office/drawing/2014/main" id="{FC5F1CEB-6BAA-43EF-5D22-12A3D5E5898C}"/>
              </a:ext>
            </a:extLst>
          </p:cNvPr>
          <p:cNvCxnSpPr/>
          <p:nvPr/>
        </p:nvCxnSpPr>
        <p:spPr>
          <a:xfrm>
            <a:off x="2736760" y="5960319"/>
            <a:ext cx="457200" cy="0"/>
          </a:xfrm>
          <a:prstGeom prst="straightConnector1">
            <a:avLst/>
          </a:prstGeom>
          <a:ln w="22225">
            <a:solidFill>
              <a:srgbClr val="0E47A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D395FAE-90E9-3F9E-51C0-D77283CABF63}"/>
              </a:ext>
            </a:extLst>
          </p:cNvPr>
          <p:cNvSpPr/>
          <p:nvPr/>
        </p:nvSpPr>
        <p:spPr>
          <a:xfrm>
            <a:off x="1784260" y="5684097"/>
            <a:ext cx="9906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solidFill>
                  <a:schemeClr val="tx1"/>
                </a:solidFill>
              </a:rPr>
              <a:t>top_sp</a:t>
            </a:r>
            <a:endParaRPr lang="en-US" i="1" dirty="0">
              <a:solidFill>
                <a:schemeClr val="tx1"/>
              </a:solidFill>
            </a:endParaRPr>
          </a:p>
        </p:txBody>
      </p:sp>
      <p:sp>
        <p:nvSpPr>
          <p:cNvPr id="7" name="Rectangle 6">
            <a:extLst>
              <a:ext uri="{FF2B5EF4-FFF2-40B4-BE49-F238E27FC236}">
                <a16:creationId xmlns:a16="http://schemas.microsoft.com/office/drawing/2014/main" id="{BC0736A9-9103-44C9-389C-0CC975077614}"/>
              </a:ext>
            </a:extLst>
          </p:cNvPr>
          <p:cNvSpPr/>
          <p:nvPr/>
        </p:nvSpPr>
        <p:spPr>
          <a:xfrm>
            <a:off x="6775360" y="4818887"/>
            <a:ext cx="14859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Caller’s responsibility</a:t>
            </a:r>
          </a:p>
        </p:txBody>
      </p:sp>
      <p:sp>
        <p:nvSpPr>
          <p:cNvPr id="8" name="Rectangle 7">
            <a:extLst>
              <a:ext uri="{FF2B5EF4-FFF2-40B4-BE49-F238E27FC236}">
                <a16:creationId xmlns:a16="http://schemas.microsoft.com/office/drawing/2014/main" id="{0BAE6FBF-F2F6-38DA-0446-1BC11B5DA995}"/>
              </a:ext>
            </a:extLst>
          </p:cNvPr>
          <p:cNvSpPr/>
          <p:nvPr/>
        </p:nvSpPr>
        <p:spPr>
          <a:xfrm>
            <a:off x="6775360" y="6141297"/>
            <a:ext cx="14859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solidFill>
                  <a:schemeClr val="tx1"/>
                </a:solidFill>
              </a:rPr>
              <a:t>Callee’s</a:t>
            </a:r>
            <a:r>
              <a:rPr lang="en-US" i="1" dirty="0">
                <a:solidFill>
                  <a:schemeClr val="tx1"/>
                </a:solidFill>
              </a:rPr>
              <a:t> responsibility</a:t>
            </a:r>
          </a:p>
        </p:txBody>
      </p:sp>
      <p:sp>
        <p:nvSpPr>
          <p:cNvPr id="9" name="Rectangle 8">
            <a:extLst>
              <a:ext uri="{FF2B5EF4-FFF2-40B4-BE49-F238E27FC236}">
                <a16:creationId xmlns:a16="http://schemas.microsoft.com/office/drawing/2014/main" id="{43B68C4A-B72F-931E-D0BD-20F97CE3AF3F}"/>
              </a:ext>
            </a:extLst>
          </p:cNvPr>
          <p:cNvSpPr/>
          <p:nvPr/>
        </p:nvSpPr>
        <p:spPr>
          <a:xfrm>
            <a:off x="8061235" y="3892548"/>
            <a:ext cx="14859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Caller’s activation</a:t>
            </a:r>
          </a:p>
          <a:p>
            <a:pPr algn="ctr"/>
            <a:r>
              <a:rPr lang="en-US" i="1" dirty="0">
                <a:solidFill>
                  <a:schemeClr val="tx1"/>
                </a:solidFill>
              </a:rPr>
              <a:t>record</a:t>
            </a:r>
          </a:p>
        </p:txBody>
      </p:sp>
      <p:sp>
        <p:nvSpPr>
          <p:cNvPr id="10" name="Rectangle 9">
            <a:extLst>
              <a:ext uri="{FF2B5EF4-FFF2-40B4-BE49-F238E27FC236}">
                <a16:creationId xmlns:a16="http://schemas.microsoft.com/office/drawing/2014/main" id="{C5F4C645-6DD2-D8D4-0C6B-3A0C9E42CEF1}"/>
              </a:ext>
            </a:extLst>
          </p:cNvPr>
          <p:cNvSpPr/>
          <p:nvPr/>
        </p:nvSpPr>
        <p:spPr>
          <a:xfrm>
            <a:off x="8108860" y="5788873"/>
            <a:ext cx="14859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solidFill>
                  <a:schemeClr val="tx1"/>
                </a:solidFill>
              </a:rPr>
              <a:t>Callee’s</a:t>
            </a:r>
            <a:r>
              <a:rPr lang="en-US" i="1" dirty="0">
                <a:solidFill>
                  <a:schemeClr val="tx1"/>
                </a:solidFill>
              </a:rPr>
              <a:t> activation</a:t>
            </a:r>
          </a:p>
          <a:p>
            <a:pPr algn="ctr"/>
            <a:r>
              <a:rPr lang="en-US" i="1" dirty="0">
                <a:solidFill>
                  <a:schemeClr val="tx1"/>
                </a:solidFill>
              </a:rPr>
              <a:t>record</a:t>
            </a:r>
          </a:p>
        </p:txBody>
      </p:sp>
      <p:sp>
        <p:nvSpPr>
          <p:cNvPr id="11" name="Right Brace 10">
            <a:extLst>
              <a:ext uri="{FF2B5EF4-FFF2-40B4-BE49-F238E27FC236}">
                <a16:creationId xmlns:a16="http://schemas.microsoft.com/office/drawing/2014/main" id="{FD97DA40-380F-8645-0E19-8013CAE0046E}"/>
              </a:ext>
            </a:extLst>
          </p:cNvPr>
          <p:cNvSpPr/>
          <p:nvPr/>
        </p:nvSpPr>
        <p:spPr>
          <a:xfrm>
            <a:off x="9204235" y="3445718"/>
            <a:ext cx="200025" cy="1489036"/>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a:extLst>
              <a:ext uri="{FF2B5EF4-FFF2-40B4-BE49-F238E27FC236}">
                <a16:creationId xmlns:a16="http://schemas.microsoft.com/office/drawing/2014/main" id="{DB3915CC-321E-A653-3892-BC9180F0E82D}"/>
              </a:ext>
            </a:extLst>
          </p:cNvPr>
          <p:cNvSpPr/>
          <p:nvPr/>
        </p:nvSpPr>
        <p:spPr>
          <a:xfrm>
            <a:off x="9218521" y="5019338"/>
            <a:ext cx="200025" cy="1489036"/>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a:extLst>
              <a:ext uri="{FF2B5EF4-FFF2-40B4-BE49-F238E27FC236}">
                <a16:creationId xmlns:a16="http://schemas.microsoft.com/office/drawing/2014/main" id="{D7C18EF3-5757-708D-7E6F-10283BDB50B6}"/>
              </a:ext>
            </a:extLst>
          </p:cNvPr>
          <p:cNvSpPr/>
          <p:nvPr/>
        </p:nvSpPr>
        <p:spPr>
          <a:xfrm>
            <a:off x="8142197" y="4042032"/>
            <a:ext cx="200025" cy="1489036"/>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Brace 13">
            <a:extLst>
              <a:ext uri="{FF2B5EF4-FFF2-40B4-BE49-F238E27FC236}">
                <a16:creationId xmlns:a16="http://schemas.microsoft.com/office/drawing/2014/main" id="{0514EACB-3A0D-C3B3-436B-157DC000BBE5}"/>
              </a:ext>
            </a:extLst>
          </p:cNvPr>
          <p:cNvSpPr/>
          <p:nvPr/>
        </p:nvSpPr>
        <p:spPr>
          <a:xfrm>
            <a:off x="8142197" y="5680552"/>
            <a:ext cx="200025" cy="889367"/>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Curved Down Arrow 14">
            <a:extLst>
              <a:ext uri="{FF2B5EF4-FFF2-40B4-BE49-F238E27FC236}">
                <a16:creationId xmlns:a16="http://schemas.microsoft.com/office/drawing/2014/main" id="{6D7565E8-7738-A7E7-AD88-1DB1933BD4CF}"/>
              </a:ext>
            </a:extLst>
          </p:cNvPr>
          <p:cNvSpPr/>
          <p:nvPr/>
        </p:nvSpPr>
        <p:spPr>
          <a:xfrm rot="16200000">
            <a:off x="2582793" y="4754207"/>
            <a:ext cx="993737" cy="228602"/>
          </a:xfrm>
          <a:prstGeom prst="curvedDownArrow">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Curved Down Arrow 15">
            <a:extLst>
              <a:ext uri="{FF2B5EF4-FFF2-40B4-BE49-F238E27FC236}">
                <a16:creationId xmlns:a16="http://schemas.microsoft.com/office/drawing/2014/main" id="{FC2B42C0-F525-663B-8696-5AF7E335D65A}"/>
              </a:ext>
            </a:extLst>
          </p:cNvPr>
          <p:cNvSpPr/>
          <p:nvPr/>
        </p:nvSpPr>
        <p:spPr>
          <a:xfrm rot="16200000">
            <a:off x="2754242" y="3669985"/>
            <a:ext cx="638177" cy="212688"/>
          </a:xfrm>
          <a:prstGeom prst="curvedDownArrow">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Rectangle 16">
            <a:extLst>
              <a:ext uri="{FF2B5EF4-FFF2-40B4-BE49-F238E27FC236}">
                <a16:creationId xmlns:a16="http://schemas.microsoft.com/office/drawing/2014/main" id="{5FA18001-7042-2183-D536-8851426B444F}"/>
              </a:ext>
            </a:extLst>
          </p:cNvPr>
          <p:cNvSpPr/>
          <p:nvPr/>
        </p:nvSpPr>
        <p:spPr>
          <a:xfrm>
            <a:off x="6911611" y="4437192"/>
            <a:ext cx="1257300" cy="3370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F0000"/>
                </a:solidFill>
              </a:rPr>
              <a:t>Calling procedure</a:t>
            </a:r>
          </a:p>
        </p:txBody>
      </p:sp>
      <p:sp>
        <p:nvSpPr>
          <p:cNvPr id="18" name="Rectangle 17">
            <a:extLst>
              <a:ext uri="{FF2B5EF4-FFF2-40B4-BE49-F238E27FC236}">
                <a16:creationId xmlns:a16="http://schemas.microsoft.com/office/drawing/2014/main" id="{4D8086F4-692B-2659-1AC5-F4239E63B757}"/>
              </a:ext>
            </a:extLst>
          </p:cNvPr>
          <p:cNvSpPr/>
          <p:nvPr/>
        </p:nvSpPr>
        <p:spPr>
          <a:xfrm>
            <a:off x="6911611" y="5769919"/>
            <a:ext cx="1257300" cy="3370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F0000"/>
                </a:solidFill>
              </a:rPr>
              <a:t>Called procedure</a:t>
            </a:r>
          </a:p>
        </p:txBody>
      </p:sp>
    </p:spTree>
    <p:extLst>
      <p:ext uri="{BB962C8B-B14F-4D97-AF65-F5344CB8AC3E}">
        <p14:creationId xmlns:p14="http://schemas.microsoft.com/office/powerpoint/2010/main" val="2043416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up)">
                                      <p:cBhvr>
                                        <p:cTn id="14" dur="500"/>
                                        <p:tgtEl>
                                          <p:spTgt spid="13"/>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up)">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up)">
                                      <p:cBhvr>
                                        <p:cTn id="31" dur="500"/>
                                        <p:tgtEl>
                                          <p:spTgt spid="12"/>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up)">
                                      <p:cBhvr>
                                        <p:cTn id="34" dur="500"/>
                                        <p:tgtEl>
                                          <p:spTgt spid="10"/>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up)">
                                      <p:cBhvr>
                                        <p:cTn id="37" dur="500"/>
                                        <p:tgtEl>
                                          <p:spTgt spid="11"/>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up)">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left)">
                                      <p:cBhvr>
                                        <p:cTn id="45" dur="500"/>
                                        <p:tgtEl>
                                          <p:spTgt spid="5"/>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wipe(left)">
                                      <p:cBhvr>
                                        <p:cTn id="48" dur="500"/>
                                        <p:tgtEl>
                                          <p:spTgt spid="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down)">
                                      <p:cBhvr>
                                        <p:cTn id="53" dur="500"/>
                                        <p:tgtEl>
                                          <p:spTgt spid="15"/>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wipe(down)">
                                      <p:cBhvr>
                                        <p:cTn id="56" dur="500"/>
                                        <p:tgtEl>
                                          <p:spTgt spid="16"/>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animBg="1"/>
      <p:bldP spid="12" grpId="0" animBg="1"/>
      <p:bldP spid="13" grpId="0" animBg="1"/>
      <p:bldP spid="14" grpId="0" animBg="1"/>
      <p:bldP spid="15" grpId="0" animBg="1"/>
      <p:bldP spid="16" grpId="0" animBg="1"/>
      <p:bldP spid="17" grpId="0"/>
      <p:bldP spid="1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55C3E-E9B8-9BB5-B9B7-773334EC6C30}"/>
              </a:ext>
            </a:extLst>
          </p:cNvPr>
          <p:cNvSpPr>
            <a:spLocks noGrp="1"/>
          </p:cNvSpPr>
          <p:nvPr>
            <p:ph type="title"/>
          </p:nvPr>
        </p:nvSpPr>
        <p:spPr/>
        <p:txBody>
          <a:bodyPr/>
          <a:lstStyle/>
          <a:p>
            <a:r>
              <a:rPr lang="en-US" dirty="0"/>
              <a:t>Stack allocation: Calling Sequences</a:t>
            </a:r>
            <a:endParaRPr lang="en-IN" dirty="0"/>
          </a:p>
        </p:txBody>
      </p:sp>
      <p:sp>
        <p:nvSpPr>
          <p:cNvPr id="3" name="Content Placeholder 2">
            <a:extLst>
              <a:ext uri="{FF2B5EF4-FFF2-40B4-BE49-F238E27FC236}">
                <a16:creationId xmlns:a16="http://schemas.microsoft.com/office/drawing/2014/main" id="{D511DC1D-9DB8-9D7F-E918-4D80938003CB}"/>
              </a:ext>
            </a:extLst>
          </p:cNvPr>
          <p:cNvSpPr>
            <a:spLocks noGrp="1"/>
          </p:cNvSpPr>
          <p:nvPr>
            <p:ph idx="1"/>
          </p:nvPr>
        </p:nvSpPr>
        <p:spPr>
          <a:xfrm>
            <a:off x="131180" y="863444"/>
            <a:ext cx="11929641" cy="5590565"/>
          </a:xfrm>
        </p:spPr>
        <p:txBody>
          <a:bodyPr/>
          <a:lstStyle/>
          <a:p>
            <a:pPr lvl="0"/>
            <a:r>
              <a:rPr lang="en-US" dirty="0"/>
              <a:t>The calling sequence and its division between caller and </a:t>
            </a:r>
            <a:r>
              <a:rPr lang="en-US" dirty="0" err="1"/>
              <a:t>callee</a:t>
            </a:r>
            <a:r>
              <a:rPr lang="en-US" dirty="0"/>
              <a:t> are as follows:</a:t>
            </a:r>
          </a:p>
          <a:p>
            <a:pPr lvl="1">
              <a:buFont typeface="+mj-lt"/>
              <a:buAutoNum type="arabicPeriod"/>
            </a:pPr>
            <a:r>
              <a:rPr lang="en-US" sz="2400" dirty="0"/>
              <a:t>The caller </a:t>
            </a:r>
            <a:r>
              <a:rPr lang="en-US" sz="2400" dirty="0">
                <a:solidFill>
                  <a:srgbClr val="FF0000"/>
                </a:solidFill>
              </a:rPr>
              <a:t>(Calling procedure) </a:t>
            </a:r>
            <a:r>
              <a:rPr lang="en-US" sz="2400" dirty="0"/>
              <a:t>evaluates the actual parameters.</a:t>
            </a:r>
          </a:p>
          <a:p>
            <a:pPr lvl="1">
              <a:buFont typeface="+mj-lt"/>
              <a:buAutoNum type="arabicPeriod"/>
            </a:pPr>
            <a:r>
              <a:rPr lang="en-US" sz="2400" dirty="0"/>
              <a:t>The caller stores a return address and the old value of </a:t>
            </a:r>
            <a:r>
              <a:rPr lang="en-US" sz="2400" i="1" dirty="0" err="1"/>
              <a:t>top_sp</a:t>
            </a:r>
            <a:r>
              <a:rPr lang="en-US" sz="2400" dirty="0"/>
              <a:t> into the </a:t>
            </a:r>
            <a:r>
              <a:rPr lang="en-US" sz="2400" dirty="0" err="1"/>
              <a:t>callee’s</a:t>
            </a:r>
            <a:r>
              <a:rPr lang="en-US" sz="2400" dirty="0"/>
              <a:t> activation record. The caller then increments the </a:t>
            </a:r>
            <a:r>
              <a:rPr lang="en-US" sz="2400" i="1" dirty="0" err="1"/>
              <a:t>top_sp</a:t>
            </a:r>
            <a:r>
              <a:rPr lang="en-US" sz="2400" dirty="0"/>
              <a:t> to the respective positions.</a:t>
            </a:r>
          </a:p>
          <a:p>
            <a:pPr lvl="1">
              <a:buFont typeface="+mj-lt"/>
              <a:buAutoNum type="arabicPeriod"/>
            </a:pPr>
            <a:r>
              <a:rPr lang="en-US" sz="2400" dirty="0"/>
              <a:t>The </a:t>
            </a:r>
            <a:r>
              <a:rPr lang="en-US" sz="2400" dirty="0" err="1"/>
              <a:t>callee</a:t>
            </a:r>
            <a:r>
              <a:rPr lang="en-US" sz="2400" dirty="0"/>
              <a:t> </a:t>
            </a:r>
            <a:r>
              <a:rPr lang="en-US" sz="2400" dirty="0">
                <a:solidFill>
                  <a:srgbClr val="FF0000"/>
                </a:solidFill>
              </a:rPr>
              <a:t>(Called procedure) </a:t>
            </a:r>
            <a:r>
              <a:rPr lang="en-US" sz="2400" dirty="0"/>
              <a:t>saves the register values and other status information.</a:t>
            </a:r>
          </a:p>
          <a:p>
            <a:pPr lvl="1">
              <a:buFont typeface="+mj-lt"/>
              <a:buAutoNum type="arabicPeriod"/>
            </a:pPr>
            <a:r>
              <a:rPr lang="en-US" sz="2400" dirty="0"/>
              <a:t>The </a:t>
            </a:r>
            <a:r>
              <a:rPr lang="en-US" sz="2400" dirty="0" err="1"/>
              <a:t>callee</a:t>
            </a:r>
            <a:r>
              <a:rPr lang="en-US" sz="2400" dirty="0"/>
              <a:t> initializes its local data and begins execution.</a:t>
            </a:r>
          </a:p>
          <a:p>
            <a:endParaRPr lang="en-US" dirty="0"/>
          </a:p>
        </p:txBody>
      </p:sp>
      <p:graphicFrame>
        <p:nvGraphicFramePr>
          <p:cNvPr id="4" name="Table 3">
            <a:extLst>
              <a:ext uri="{FF2B5EF4-FFF2-40B4-BE49-F238E27FC236}">
                <a16:creationId xmlns:a16="http://schemas.microsoft.com/office/drawing/2014/main" id="{42584F9C-89EB-F93B-4127-D9BC2A1DE351}"/>
              </a:ext>
            </a:extLst>
          </p:cNvPr>
          <p:cNvGraphicFramePr>
            <a:graphicFrameLocks noGrp="1"/>
          </p:cNvGraphicFramePr>
          <p:nvPr/>
        </p:nvGraphicFramePr>
        <p:xfrm>
          <a:off x="3193960" y="3566294"/>
          <a:ext cx="3429000" cy="3003625"/>
        </p:xfrm>
        <a:graphic>
          <a:graphicData uri="http://schemas.openxmlformats.org/drawingml/2006/table">
            <a:tbl>
              <a:tblPr firstRow="1" bandRow="1">
                <a:tableStyleId>{D7AC3CCA-C797-4891-BE02-D94E43425B78}</a:tableStyleId>
              </a:tblPr>
              <a:tblGrid>
                <a:gridCol w="3429000">
                  <a:extLst>
                    <a:ext uri="{9D8B030D-6E8A-4147-A177-3AD203B41FA5}">
                      <a16:colId xmlns:a16="http://schemas.microsoft.com/office/drawing/2014/main" val="20000"/>
                    </a:ext>
                  </a:extLst>
                </a:gridCol>
              </a:tblGrid>
              <a:tr h="365761">
                <a:tc>
                  <a:txBody>
                    <a:bodyPr/>
                    <a:lstStyle/>
                    <a:p>
                      <a:pPr algn="ctr"/>
                      <a:r>
                        <a:rPr lang="en-US" b="0" dirty="0"/>
                        <a:t>Parameter and return value</a:t>
                      </a:r>
                    </a:p>
                  </a:txBody>
                  <a:tcPr>
                    <a:noFill/>
                  </a:tcPr>
                </a:tc>
                <a:extLst>
                  <a:ext uri="{0D108BD9-81ED-4DB2-BD59-A6C34878D82A}">
                    <a16:rowId xmlns:a16="http://schemas.microsoft.com/office/drawing/2014/main" val="10000"/>
                  </a:ext>
                </a:extLst>
              </a:tr>
              <a:tr h="569966">
                <a:tc>
                  <a:txBody>
                    <a:bodyPr/>
                    <a:lstStyle/>
                    <a:p>
                      <a:pPr algn="ctr"/>
                      <a:r>
                        <a:rPr lang="en-US" dirty="0"/>
                        <a:t>Control link</a:t>
                      </a:r>
                    </a:p>
                    <a:p>
                      <a:pPr algn="ctr"/>
                      <a:r>
                        <a:rPr lang="en-US" dirty="0"/>
                        <a:t>Links and saved status</a:t>
                      </a:r>
                    </a:p>
                  </a:txBody>
                  <a:tcPr>
                    <a:noFill/>
                  </a:tcPr>
                </a:tc>
                <a:extLst>
                  <a:ext uri="{0D108BD9-81ED-4DB2-BD59-A6C34878D82A}">
                    <a16:rowId xmlns:a16="http://schemas.microsoft.com/office/drawing/2014/main" val="10001"/>
                  </a:ext>
                </a:extLst>
              </a:tr>
              <a:tr h="325695">
                <a:tc>
                  <a:txBody>
                    <a:bodyPr/>
                    <a:lstStyle/>
                    <a:p>
                      <a:pPr algn="ctr"/>
                      <a:r>
                        <a:rPr lang="en-US" dirty="0"/>
                        <a:t>Temporaries and local data</a:t>
                      </a:r>
                    </a:p>
                  </a:txBody>
                  <a:tcPr>
                    <a:noFill/>
                  </a:tcPr>
                </a:tc>
                <a:extLst>
                  <a:ext uri="{0D108BD9-81ED-4DB2-BD59-A6C34878D82A}">
                    <a16:rowId xmlns:a16="http://schemas.microsoft.com/office/drawing/2014/main" val="10002"/>
                  </a:ext>
                </a:extLst>
              </a:tr>
              <a:tr h="325695">
                <a:tc>
                  <a:txBody>
                    <a:bodyPr/>
                    <a:lstStyle/>
                    <a:p>
                      <a:pPr algn="ctr"/>
                      <a:r>
                        <a:rPr lang="en-US" dirty="0"/>
                        <a:t>Parameter and returned value</a:t>
                      </a:r>
                    </a:p>
                  </a:txBody>
                  <a:tcPr>
                    <a:noFill/>
                  </a:tcPr>
                </a:tc>
                <a:extLst>
                  <a:ext uri="{0D108BD9-81ED-4DB2-BD59-A6C34878D82A}">
                    <a16:rowId xmlns:a16="http://schemas.microsoft.com/office/drawing/2014/main" val="10003"/>
                  </a:ext>
                </a:extLst>
              </a:tr>
              <a:tr h="569966">
                <a:tc>
                  <a:txBody>
                    <a:bodyPr/>
                    <a:lstStyle/>
                    <a:p>
                      <a:pPr algn="ctr"/>
                      <a:r>
                        <a:rPr lang="en-US" dirty="0"/>
                        <a:t>Control link</a:t>
                      </a:r>
                    </a:p>
                    <a:p>
                      <a:pPr algn="ctr"/>
                      <a:r>
                        <a:rPr lang="en-US" dirty="0"/>
                        <a:t>Links</a:t>
                      </a:r>
                      <a:r>
                        <a:rPr lang="en-US" baseline="0" dirty="0"/>
                        <a:t> and saved status</a:t>
                      </a:r>
                      <a:endParaRPr lang="en-US" dirty="0"/>
                    </a:p>
                  </a:txBody>
                  <a:tcPr>
                    <a:noFill/>
                  </a:tcPr>
                </a:tc>
                <a:extLst>
                  <a:ext uri="{0D108BD9-81ED-4DB2-BD59-A6C34878D82A}">
                    <a16:rowId xmlns:a16="http://schemas.microsoft.com/office/drawing/2014/main" val="10004"/>
                  </a:ext>
                </a:extLst>
              </a:tr>
              <a:tr h="626184">
                <a:tc>
                  <a:txBody>
                    <a:bodyPr/>
                    <a:lstStyle/>
                    <a:p>
                      <a:pPr algn="ctr"/>
                      <a:r>
                        <a:rPr lang="en-US" dirty="0"/>
                        <a:t>Temporaries and local data</a:t>
                      </a:r>
                    </a:p>
                  </a:txBody>
                  <a:tcPr>
                    <a:noFill/>
                  </a:tcPr>
                </a:tc>
                <a:extLst>
                  <a:ext uri="{0D108BD9-81ED-4DB2-BD59-A6C34878D82A}">
                    <a16:rowId xmlns:a16="http://schemas.microsoft.com/office/drawing/2014/main" val="10005"/>
                  </a:ext>
                </a:extLst>
              </a:tr>
            </a:tbl>
          </a:graphicData>
        </a:graphic>
      </p:graphicFrame>
      <p:cxnSp>
        <p:nvCxnSpPr>
          <p:cNvPr id="5" name="Straight Arrow Connector 4">
            <a:extLst>
              <a:ext uri="{FF2B5EF4-FFF2-40B4-BE49-F238E27FC236}">
                <a16:creationId xmlns:a16="http://schemas.microsoft.com/office/drawing/2014/main" id="{7919EF7B-D30B-0CC4-FDDB-7AA5AAA5327B}"/>
              </a:ext>
            </a:extLst>
          </p:cNvPr>
          <p:cNvCxnSpPr/>
          <p:nvPr/>
        </p:nvCxnSpPr>
        <p:spPr>
          <a:xfrm>
            <a:off x="2736760" y="5960319"/>
            <a:ext cx="457200" cy="0"/>
          </a:xfrm>
          <a:prstGeom prst="straightConnector1">
            <a:avLst/>
          </a:prstGeom>
          <a:ln w="22225">
            <a:solidFill>
              <a:srgbClr val="0E47A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A18C5C81-20DD-9812-DF87-B9D3DAFCFB87}"/>
              </a:ext>
            </a:extLst>
          </p:cNvPr>
          <p:cNvSpPr/>
          <p:nvPr/>
        </p:nvSpPr>
        <p:spPr>
          <a:xfrm>
            <a:off x="1784260" y="5684097"/>
            <a:ext cx="9906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solidFill>
                  <a:schemeClr val="tx1"/>
                </a:solidFill>
              </a:rPr>
              <a:t>top_sp</a:t>
            </a:r>
            <a:endParaRPr lang="en-US" i="1" dirty="0">
              <a:solidFill>
                <a:schemeClr val="tx1"/>
              </a:solidFill>
            </a:endParaRPr>
          </a:p>
        </p:txBody>
      </p:sp>
      <p:sp>
        <p:nvSpPr>
          <p:cNvPr id="7" name="Rectangle 6">
            <a:extLst>
              <a:ext uri="{FF2B5EF4-FFF2-40B4-BE49-F238E27FC236}">
                <a16:creationId xmlns:a16="http://schemas.microsoft.com/office/drawing/2014/main" id="{85EC550B-A5A1-3B9E-280A-C589944411AC}"/>
              </a:ext>
            </a:extLst>
          </p:cNvPr>
          <p:cNvSpPr/>
          <p:nvPr/>
        </p:nvSpPr>
        <p:spPr>
          <a:xfrm>
            <a:off x="6775360" y="4818887"/>
            <a:ext cx="14859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Caller’s responsibility</a:t>
            </a:r>
          </a:p>
        </p:txBody>
      </p:sp>
      <p:sp>
        <p:nvSpPr>
          <p:cNvPr id="8" name="Rectangle 7">
            <a:extLst>
              <a:ext uri="{FF2B5EF4-FFF2-40B4-BE49-F238E27FC236}">
                <a16:creationId xmlns:a16="http://schemas.microsoft.com/office/drawing/2014/main" id="{0268C561-8CA2-36E8-B9C1-225F5463F94E}"/>
              </a:ext>
            </a:extLst>
          </p:cNvPr>
          <p:cNvSpPr/>
          <p:nvPr/>
        </p:nvSpPr>
        <p:spPr>
          <a:xfrm>
            <a:off x="6775360" y="6141297"/>
            <a:ext cx="14859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solidFill>
                  <a:schemeClr val="tx1"/>
                </a:solidFill>
              </a:rPr>
              <a:t>Callee’s</a:t>
            </a:r>
            <a:r>
              <a:rPr lang="en-US" i="1" dirty="0">
                <a:solidFill>
                  <a:schemeClr val="tx1"/>
                </a:solidFill>
              </a:rPr>
              <a:t> responsibility</a:t>
            </a:r>
          </a:p>
        </p:txBody>
      </p:sp>
      <p:sp>
        <p:nvSpPr>
          <p:cNvPr id="9" name="Rectangle 8">
            <a:extLst>
              <a:ext uri="{FF2B5EF4-FFF2-40B4-BE49-F238E27FC236}">
                <a16:creationId xmlns:a16="http://schemas.microsoft.com/office/drawing/2014/main" id="{AB78B930-50A9-8E7B-4022-653B9D5221A5}"/>
              </a:ext>
            </a:extLst>
          </p:cNvPr>
          <p:cNvSpPr/>
          <p:nvPr/>
        </p:nvSpPr>
        <p:spPr>
          <a:xfrm>
            <a:off x="8061235" y="3892548"/>
            <a:ext cx="14859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Caller’s activation</a:t>
            </a:r>
          </a:p>
          <a:p>
            <a:pPr algn="ctr"/>
            <a:r>
              <a:rPr lang="en-US" i="1" dirty="0">
                <a:solidFill>
                  <a:schemeClr val="tx1"/>
                </a:solidFill>
              </a:rPr>
              <a:t>record</a:t>
            </a:r>
          </a:p>
        </p:txBody>
      </p:sp>
      <p:sp>
        <p:nvSpPr>
          <p:cNvPr id="10" name="Rectangle 9">
            <a:extLst>
              <a:ext uri="{FF2B5EF4-FFF2-40B4-BE49-F238E27FC236}">
                <a16:creationId xmlns:a16="http://schemas.microsoft.com/office/drawing/2014/main" id="{1703DDE4-5972-6385-4934-54F3BC0FE8C5}"/>
              </a:ext>
            </a:extLst>
          </p:cNvPr>
          <p:cNvSpPr/>
          <p:nvPr/>
        </p:nvSpPr>
        <p:spPr>
          <a:xfrm>
            <a:off x="8108860" y="5788873"/>
            <a:ext cx="14859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solidFill>
                  <a:schemeClr val="tx1"/>
                </a:solidFill>
              </a:rPr>
              <a:t>Callee’s</a:t>
            </a:r>
            <a:r>
              <a:rPr lang="en-US" i="1" dirty="0">
                <a:solidFill>
                  <a:schemeClr val="tx1"/>
                </a:solidFill>
              </a:rPr>
              <a:t> activation</a:t>
            </a:r>
          </a:p>
          <a:p>
            <a:pPr algn="ctr"/>
            <a:r>
              <a:rPr lang="en-US" i="1" dirty="0">
                <a:solidFill>
                  <a:schemeClr val="tx1"/>
                </a:solidFill>
              </a:rPr>
              <a:t>record</a:t>
            </a:r>
          </a:p>
        </p:txBody>
      </p:sp>
      <p:sp>
        <p:nvSpPr>
          <p:cNvPr id="11" name="Right Brace 10">
            <a:extLst>
              <a:ext uri="{FF2B5EF4-FFF2-40B4-BE49-F238E27FC236}">
                <a16:creationId xmlns:a16="http://schemas.microsoft.com/office/drawing/2014/main" id="{64B61587-53BB-9F19-4BE0-C7ED5B6022C2}"/>
              </a:ext>
            </a:extLst>
          </p:cNvPr>
          <p:cNvSpPr/>
          <p:nvPr/>
        </p:nvSpPr>
        <p:spPr>
          <a:xfrm>
            <a:off x="9204235" y="3445718"/>
            <a:ext cx="200025" cy="1489036"/>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a:extLst>
              <a:ext uri="{FF2B5EF4-FFF2-40B4-BE49-F238E27FC236}">
                <a16:creationId xmlns:a16="http://schemas.microsoft.com/office/drawing/2014/main" id="{BE34625B-29A0-264E-A4BA-F078CA808506}"/>
              </a:ext>
            </a:extLst>
          </p:cNvPr>
          <p:cNvSpPr/>
          <p:nvPr/>
        </p:nvSpPr>
        <p:spPr>
          <a:xfrm>
            <a:off x="9218521" y="5019338"/>
            <a:ext cx="200025" cy="1489036"/>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a:extLst>
              <a:ext uri="{FF2B5EF4-FFF2-40B4-BE49-F238E27FC236}">
                <a16:creationId xmlns:a16="http://schemas.microsoft.com/office/drawing/2014/main" id="{9B160105-6944-1CB3-3218-620E60FDA871}"/>
              </a:ext>
            </a:extLst>
          </p:cNvPr>
          <p:cNvSpPr/>
          <p:nvPr/>
        </p:nvSpPr>
        <p:spPr>
          <a:xfrm>
            <a:off x="8142197" y="4042032"/>
            <a:ext cx="200025" cy="1489036"/>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Brace 13">
            <a:extLst>
              <a:ext uri="{FF2B5EF4-FFF2-40B4-BE49-F238E27FC236}">
                <a16:creationId xmlns:a16="http://schemas.microsoft.com/office/drawing/2014/main" id="{D274F325-5ADD-8F82-4A3E-E9A8D8DD94EA}"/>
              </a:ext>
            </a:extLst>
          </p:cNvPr>
          <p:cNvSpPr/>
          <p:nvPr/>
        </p:nvSpPr>
        <p:spPr>
          <a:xfrm>
            <a:off x="8142197" y="5680552"/>
            <a:ext cx="200025" cy="889367"/>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Curved Down Arrow 27">
            <a:extLst>
              <a:ext uri="{FF2B5EF4-FFF2-40B4-BE49-F238E27FC236}">
                <a16:creationId xmlns:a16="http://schemas.microsoft.com/office/drawing/2014/main" id="{55FACFED-A7F2-ABE6-E934-2D9B4CF988EE}"/>
              </a:ext>
            </a:extLst>
          </p:cNvPr>
          <p:cNvSpPr/>
          <p:nvPr/>
        </p:nvSpPr>
        <p:spPr>
          <a:xfrm rot="16200000">
            <a:off x="2582793" y="4754207"/>
            <a:ext cx="993737" cy="228602"/>
          </a:xfrm>
          <a:prstGeom prst="curvedDownArrow">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Curved Down Arrow 28">
            <a:extLst>
              <a:ext uri="{FF2B5EF4-FFF2-40B4-BE49-F238E27FC236}">
                <a16:creationId xmlns:a16="http://schemas.microsoft.com/office/drawing/2014/main" id="{F0A465E9-6E99-468D-4EDC-24C252957E31}"/>
              </a:ext>
            </a:extLst>
          </p:cNvPr>
          <p:cNvSpPr/>
          <p:nvPr/>
        </p:nvSpPr>
        <p:spPr>
          <a:xfrm rot="16200000">
            <a:off x="2754242" y="3669985"/>
            <a:ext cx="638177" cy="212688"/>
          </a:xfrm>
          <a:prstGeom prst="curvedDownArrow">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Rectangle 16">
            <a:extLst>
              <a:ext uri="{FF2B5EF4-FFF2-40B4-BE49-F238E27FC236}">
                <a16:creationId xmlns:a16="http://schemas.microsoft.com/office/drawing/2014/main" id="{AD3D0A93-C1EC-3417-6F9D-E67B492053F3}"/>
              </a:ext>
            </a:extLst>
          </p:cNvPr>
          <p:cNvSpPr/>
          <p:nvPr/>
        </p:nvSpPr>
        <p:spPr>
          <a:xfrm>
            <a:off x="6911611" y="4437192"/>
            <a:ext cx="1257300" cy="3370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F0000"/>
                </a:solidFill>
              </a:rPr>
              <a:t>Calling procedure</a:t>
            </a:r>
          </a:p>
        </p:txBody>
      </p:sp>
      <p:sp>
        <p:nvSpPr>
          <p:cNvPr id="18" name="Rectangle 17">
            <a:extLst>
              <a:ext uri="{FF2B5EF4-FFF2-40B4-BE49-F238E27FC236}">
                <a16:creationId xmlns:a16="http://schemas.microsoft.com/office/drawing/2014/main" id="{554A278C-288E-2553-363E-5535D3B7FD51}"/>
              </a:ext>
            </a:extLst>
          </p:cNvPr>
          <p:cNvSpPr/>
          <p:nvPr/>
        </p:nvSpPr>
        <p:spPr>
          <a:xfrm>
            <a:off x="6911611" y="5769919"/>
            <a:ext cx="1257300" cy="3370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F0000"/>
                </a:solidFill>
              </a:rPr>
              <a:t>Called procedure</a:t>
            </a:r>
          </a:p>
        </p:txBody>
      </p:sp>
    </p:spTree>
    <p:extLst>
      <p:ext uri="{BB962C8B-B14F-4D97-AF65-F5344CB8AC3E}">
        <p14:creationId xmlns:p14="http://schemas.microsoft.com/office/powerpoint/2010/main" val="135448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55C3E-E9B8-9BB5-B9B7-773334EC6C30}"/>
              </a:ext>
            </a:extLst>
          </p:cNvPr>
          <p:cNvSpPr>
            <a:spLocks noGrp="1"/>
          </p:cNvSpPr>
          <p:nvPr>
            <p:ph type="title"/>
          </p:nvPr>
        </p:nvSpPr>
        <p:spPr/>
        <p:txBody>
          <a:bodyPr/>
          <a:lstStyle/>
          <a:p>
            <a:r>
              <a:rPr lang="en-US" dirty="0"/>
              <a:t>Stack allocation: Calling Sequences</a:t>
            </a:r>
            <a:endParaRPr lang="en-IN" dirty="0"/>
          </a:p>
        </p:txBody>
      </p:sp>
      <p:sp>
        <p:nvSpPr>
          <p:cNvPr id="3" name="Content Placeholder 2">
            <a:extLst>
              <a:ext uri="{FF2B5EF4-FFF2-40B4-BE49-F238E27FC236}">
                <a16:creationId xmlns:a16="http://schemas.microsoft.com/office/drawing/2014/main" id="{7115784C-3A74-026E-FACB-4198B79B7D5A}"/>
              </a:ext>
            </a:extLst>
          </p:cNvPr>
          <p:cNvSpPr>
            <a:spLocks noGrp="1"/>
          </p:cNvSpPr>
          <p:nvPr>
            <p:ph idx="1"/>
          </p:nvPr>
        </p:nvSpPr>
        <p:spPr>
          <a:xfrm>
            <a:off x="131180" y="863444"/>
            <a:ext cx="11929641" cy="5590565"/>
          </a:xfrm>
        </p:spPr>
        <p:txBody>
          <a:bodyPr/>
          <a:lstStyle/>
          <a:p>
            <a:pPr lvl="0"/>
            <a:r>
              <a:rPr lang="en-US" dirty="0"/>
              <a:t>A suitable, corresponding return sequence is:</a:t>
            </a:r>
          </a:p>
          <a:p>
            <a:pPr lvl="1">
              <a:buFont typeface="+mj-lt"/>
              <a:buAutoNum type="arabicPeriod"/>
            </a:pPr>
            <a:r>
              <a:rPr lang="en-US" sz="2400" dirty="0"/>
              <a:t>The </a:t>
            </a:r>
            <a:r>
              <a:rPr lang="en-US" sz="2400" dirty="0" err="1"/>
              <a:t>callee</a:t>
            </a:r>
            <a:r>
              <a:rPr lang="en-US" sz="2400" dirty="0"/>
              <a:t> places the return value next to the parameters.</a:t>
            </a:r>
          </a:p>
          <a:p>
            <a:pPr lvl="1">
              <a:buFont typeface="+mj-lt"/>
              <a:buAutoNum type="arabicPeriod"/>
            </a:pPr>
            <a:r>
              <a:rPr lang="en-US" sz="2400" dirty="0"/>
              <a:t>Using the information in the machine status field, the </a:t>
            </a:r>
            <a:r>
              <a:rPr lang="en-US" sz="2400" dirty="0" err="1"/>
              <a:t>callee</a:t>
            </a:r>
            <a:r>
              <a:rPr lang="en-US" sz="2400" dirty="0"/>
              <a:t> restores </a:t>
            </a:r>
            <a:r>
              <a:rPr lang="en-US" sz="2400" i="1" dirty="0" err="1"/>
              <a:t>top_sp</a:t>
            </a:r>
            <a:r>
              <a:rPr lang="en-US" sz="2400" i="1" dirty="0"/>
              <a:t> </a:t>
            </a:r>
            <a:r>
              <a:rPr lang="en-US" sz="2400" dirty="0"/>
              <a:t>and other registers, and then branches to the return address that the caller placed in the status field.</a:t>
            </a:r>
          </a:p>
          <a:p>
            <a:pPr lvl="1">
              <a:buFont typeface="+mj-lt"/>
              <a:buAutoNum type="arabicPeriod"/>
            </a:pPr>
            <a:r>
              <a:rPr lang="en-US" sz="2400" dirty="0"/>
              <a:t>Although </a:t>
            </a:r>
            <a:r>
              <a:rPr lang="en-US" sz="2400" i="1" dirty="0" err="1"/>
              <a:t>top_sp</a:t>
            </a:r>
            <a:r>
              <a:rPr lang="en-US" sz="2400" i="1" dirty="0"/>
              <a:t> </a:t>
            </a:r>
            <a:r>
              <a:rPr lang="en-US" sz="2400" dirty="0"/>
              <a:t>has been decremented, the caller knows where the return value is, relative to the current value of </a:t>
            </a:r>
            <a:r>
              <a:rPr lang="en-US" sz="2400" i="1" dirty="0" err="1"/>
              <a:t>top_sp</a:t>
            </a:r>
            <a:r>
              <a:rPr lang="en-US" sz="2400" i="1" dirty="0"/>
              <a:t> </a:t>
            </a:r>
            <a:r>
              <a:rPr lang="en-US" sz="2400" dirty="0"/>
              <a:t>; the caller therefore may use that value.</a:t>
            </a:r>
          </a:p>
          <a:p>
            <a:endParaRPr lang="en-US" dirty="0"/>
          </a:p>
        </p:txBody>
      </p:sp>
      <p:graphicFrame>
        <p:nvGraphicFramePr>
          <p:cNvPr id="4" name="Table 3">
            <a:extLst>
              <a:ext uri="{FF2B5EF4-FFF2-40B4-BE49-F238E27FC236}">
                <a16:creationId xmlns:a16="http://schemas.microsoft.com/office/drawing/2014/main" id="{9FE5E2C2-D880-50F0-2B0F-8B4B853D2928}"/>
              </a:ext>
            </a:extLst>
          </p:cNvPr>
          <p:cNvGraphicFramePr>
            <a:graphicFrameLocks noGrp="1"/>
          </p:cNvGraphicFramePr>
          <p:nvPr/>
        </p:nvGraphicFramePr>
        <p:xfrm>
          <a:off x="3193960" y="3566294"/>
          <a:ext cx="3429000" cy="3003625"/>
        </p:xfrm>
        <a:graphic>
          <a:graphicData uri="http://schemas.openxmlformats.org/drawingml/2006/table">
            <a:tbl>
              <a:tblPr firstRow="1" bandRow="1">
                <a:tableStyleId>{D7AC3CCA-C797-4891-BE02-D94E43425B78}</a:tableStyleId>
              </a:tblPr>
              <a:tblGrid>
                <a:gridCol w="3429000">
                  <a:extLst>
                    <a:ext uri="{9D8B030D-6E8A-4147-A177-3AD203B41FA5}">
                      <a16:colId xmlns:a16="http://schemas.microsoft.com/office/drawing/2014/main" val="20000"/>
                    </a:ext>
                  </a:extLst>
                </a:gridCol>
              </a:tblGrid>
              <a:tr h="365761">
                <a:tc>
                  <a:txBody>
                    <a:bodyPr/>
                    <a:lstStyle/>
                    <a:p>
                      <a:pPr algn="ctr"/>
                      <a:r>
                        <a:rPr lang="en-US" b="0" dirty="0"/>
                        <a:t>Parameter and return value</a:t>
                      </a:r>
                    </a:p>
                  </a:txBody>
                  <a:tcPr>
                    <a:noFill/>
                  </a:tcPr>
                </a:tc>
                <a:extLst>
                  <a:ext uri="{0D108BD9-81ED-4DB2-BD59-A6C34878D82A}">
                    <a16:rowId xmlns:a16="http://schemas.microsoft.com/office/drawing/2014/main" val="10000"/>
                  </a:ext>
                </a:extLst>
              </a:tr>
              <a:tr h="569966">
                <a:tc>
                  <a:txBody>
                    <a:bodyPr/>
                    <a:lstStyle/>
                    <a:p>
                      <a:pPr algn="ctr"/>
                      <a:r>
                        <a:rPr lang="en-US" dirty="0"/>
                        <a:t>Control link</a:t>
                      </a:r>
                    </a:p>
                    <a:p>
                      <a:pPr algn="ctr"/>
                      <a:r>
                        <a:rPr lang="en-US" dirty="0"/>
                        <a:t>Links and saved status</a:t>
                      </a:r>
                    </a:p>
                  </a:txBody>
                  <a:tcPr>
                    <a:noFill/>
                  </a:tcPr>
                </a:tc>
                <a:extLst>
                  <a:ext uri="{0D108BD9-81ED-4DB2-BD59-A6C34878D82A}">
                    <a16:rowId xmlns:a16="http://schemas.microsoft.com/office/drawing/2014/main" val="10001"/>
                  </a:ext>
                </a:extLst>
              </a:tr>
              <a:tr h="325695">
                <a:tc>
                  <a:txBody>
                    <a:bodyPr/>
                    <a:lstStyle/>
                    <a:p>
                      <a:pPr algn="ctr"/>
                      <a:r>
                        <a:rPr lang="en-US" dirty="0"/>
                        <a:t>Temporaries and local data</a:t>
                      </a:r>
                    </a:p>
                  </a:txBody>
                  <a:tcPr>
                    <a:noFill/>
                  </a:tcPr>
                </a:tc>
                <a:extLst>
                  <a:ext uri="{0D108BD9-81ED-4DB2-BD59-A6C34878D82A}">
                    <a16:rowId xmlns:a16="http://schemas.microsoft.com/office/drawing/2014/main" val="10002"/>
                  </a:ext>
                </a:extLst>
              </a:tr>
              <a:tr h="325695">
                <a:tc>
                  <a:txBody>
                    <a:bodyPr/>
                    <a:lstStyle/>
                    <a:p>
                      <a:pPr algn="ctr"/>
                      <a:r>
                        <a:rPr lang="en-US" dirty="0"/>
                        <a:t>Parameter and returned value</a:t>
                      </a:r>
                    </a:p>
                  </a:txBody>
                  <a:tcPr>
                    <a:noFill/>
                  </a:tcPr>
                </a:tc>
                <a:extLst>
                  <a:ext uri="{0D108BD9-81ED-4DB2-BD59-A6C34878D82A}">
                    <a16:rowId xmlns:a16="http://schemas.microsoft.com/office/drawing/2014/main" val="10003"/>
                  </a:ext>
                </a:extLst>
              </a:tr>
              <a:tr h="569966">
                <a:tc>
                  <a:txBody>
                    <a:bodyPr/>
                    <a:lstStyle/>
                    <a:p>
                      <a:pPr algn="ctr"/>
                      <a:r>
                        <a:rPr lang="en-US" dirty="0"/>
                        <a:t>Control link</a:t>
                      </a:r>
                    </a:p>
                    <a:p>
                      <a:pPr algn="ctr"/>
                      <a:r>
                        <a:rPr lang="en-US" dirty="0"/>
                        <a:t>Links</a:t>
                      </a:r>
                      <a:r>
                        <a:rPr lang="en-US" baseline="0" dirty="0"/>
                        <a:t> and saved status</a:t>
                      </a:r>
                      <a:endParaRPr lang="en-US" dirty="0"/>
                    </a:p>
                  </a:txBody>
                  <a:tcPr>
                    <a:noFill/>
                  </a:tcPr>
                </a:tc>
                <a:extLst>
                  <a:ext uri="{0D108BD9-81ED-4DB2-BD59-A6C34878D82A}">
                    <a16:rowId xmlns:a16="http://schemas.microsoft.com/office/drawing/2014/main" val="10004"/>
                  </a:ext>
                </a:extLst>
              </a:tr>
              <a:tr h="626184">
                <a:tc>
                  <a:txBody>
                    <a:bodyPr/>
                    <a:lstStyle/>
                    <a:p>
                      <a:pPr algn="ctr"/>
                      <a:r>
                        <a:rPr lang="en-US" dirty="0"/>
                        <a:t>Temporaries and local data</a:t>
                      </a:r>
                    </a:p>
                  </a:txBody>
                  <a:tcPr>
                    <a:noFill/>
                  </a:tcPr>
                </a:tc>
                <a:extLst>
                  <a:ext uri="{0D108BD9-81ED-4DB2-BD59-A6C34878D82A}">
                    <a16:rowId xmlns:a16="http://schemas.microsoft.com/office/drawing/2014/main" val="10005"/>
                  </a:ext>
                </a:extLst>
              </a:tr>
            </a:tbl>
          </a:graphicData>
        </a:graphic>
      </p:graphicFrame>
      <p:cxnSp>
        <p:nvCxnSpPr>
          <p:cNvPr id="5" name="Straight Arrow Connector 4">
            <a:extLst>
              <a:ext uri="{FF2B5EF4-FFF2-40B4-BE49-F238E27FC236}">
                <a16:creationId xmlns:a16="http://schemas.microsoft.com/office/drawing/2014/main" id="{E03165D3-E1EA-FD24-7F4A-9AE4A7820B7D}"/>
              </a:ext>
            </a:extLst>
          </p:cNvPr>
          <p:cNvCxnSpPr/>
          <p:nvPr/>
        </p:nvCxnSpPr>
        <p:spPr>
          <a:xfrm>
            <a:off x="2736760" y="5960319"/>
            <a:ext cx="457200" cy="0"/>
          </a:xfrm>
          <a:prstGeom prst="straightConnector1">
            <a:avLst/>
          </a:prstGeom>
          <a:ln w="22225">
            <a:solidFill>
              <a:srgbClr val="0E47A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FB6FC3EF-EB3E-2869-78C2-C673032219B7}"/>
              </a:ext>
            </a:extLst>
          </p:cNvPr>
          <p:cNvSpPr/>
          <p:nvPr/>
        </p:nvSpPr>
        <p:spPr>
          <a:xfrm>
            <a:off x="1784260" y="5684097"/>
            <a:ext cx="9906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solidFill>
                  <a:schemeClr val="tx1"/>
                </a:solidFill>
              </a:rPr>
              <a:t>top_sp</a:t>
            </a:r>
            <a:endParaRPr lang="en-US" i="1" dirty="0">
              <a:solidFill>
                <a:schemeClr val="tx1"/>
              </a:solidFill>
            </a:endParaRPr>
          </a:p>
        </p:txBody>
      </p:sp>
      <p:sp>
        <p:nvSpPr>
          <p:cNvPr id="7" name="Rectangle 6">
            <a:extLst>
              <a:ext uri="{FF2B5EF4-FFF2-40B4-BE49-F238E27FC236}">
                <a16:creationId xmlns:a16="http://schemas.microsoft.com/office/drawing/2014/main" id="{BDE50F3C-3D76-8094-5ED2-1033120FF0E8}"/>
              </a:ext>
            </a:extLst>
          </p:cNvPr>
          <p:cNvSpPr/>
          <p:nvPr/>
        </p:nvSpPr>
        <p:spPr>
          <a:xfrm>
            <a:off x="6775360" y="4818887"/>
            <a:ext cx="14859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Caller’s responsibility</a:t>
            </a:r>
          </a:p>
        </p:txBody>
      </p:sp>
      <p:sp>
        <p:nvSpPr>
          <p:cNvPr id="8" name="Rectangle 7">
            <a:extLst>
              <a:ext uri="{FF2B5EF4-FFF2-40B4-BE49-F238E27FC236}">
                <a16:creationId xmlns:a16="http://schemas.microsoft.com/office/drawing/2014/main" id="{DE11BE82-EB82-D5A2-88CA-1E8BE7A91816}"/>
              </a:ext>
            </a:extLst>
          </p:cNvPr>
          <p:cNvSpPr/>
          <p:nvPr/>
        </p:nvSpPr>
        <p:spPr>
          <a:xfrm>
            <a:off x="6775360" y="6141297"/>
            <a:ext cx="14859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solidFill>
                  <a:schemeClr val="tx1"/>
                </a:solidFill>
              </a:rPr>
              <a:t>Callee’s</a:t>
            </a:r>
            <a:r>
              <a:rPr lang="en-US" i="1" dirty="0">
                <a:solidFill>
                  <a:schemeClr val="tx1"/>
                </a:solidFill>
              </a:rPr>
              <a:t> responsibility</a:t>
            </a:r>
          </a:p>
        </p:txBody>
      </p:sp>
      <p:sp>
        <p:nvSpPr>
          <p:cNvPr id="9" name="Rectangle 8">
            <a:extLst>
              <a:ext uri="{FF2B5EF4-FFF2-40B4-BE49-F238E27FC236}">
                <a16:creationId xmlns:a16="http://schemas.microsoft.com/office/drawing/2014/main" id="{E90A246F-366A-DBA5-36E0-477287845A43}"/>
              </a:ext>
            </a:extLst>
          </p:cNvPr>
          <p:cNvSpPr/>
          <p:nvPr/>
        </p:nvSpPr>
        <p:spPr>
          <a:xfrm>
            <a:off x="8061235" y="3892548"/>
            <a:ext cx="14859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Caller’s activation</a:t>
            </a:r>
          </a:p>
          <a:p>
            <a:pPr algn="ctr"/>
            <a:r>
              <a:rPr lang="en-US" i="1" dirty="0">
                <a:solidFill>
                  <a:schemeClr val="tx1"/>
                </a:solidFill>
              </a:rPr>
              <a:t>record</a:t>
            </a:r>
          </a:p>
        </p:txBody>
      </p:sp>
      <p:sp>
        <p:nvSpPr>
          <p:cNvPr id="10" name="Rectangle 9">
            <a:extLst>
              <a:ext uri="{FF2B5EF4-FFF2-40B4-BE49-F238E27FC236}">
                <a16:creationId xmlns:a16="http://schemas.microsoft.com/office/drawing/2014/main" id="{D1784599-4804-D9BE-D369-5B0EA151813D}"/>
              </a:ext>
            </a:extLst>
          </p:cNvPr>
          <p:cNvSpPr/>
          <p:nvPr/>
        </p:nvSpPr>
        <p:spPr>
          <a:xfrm>
            <a:off x="8108860" y="5788873"/>
            <a:ext cx="14859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solidFill>
                  <a:schemeClr val="tx1"/>
                </a:solidFill>
              </a:rPr>
              <a:t>Callee’s</a:t>
            </a:r>
            <a:r>
              <a:rPr lang="en-US" i="1" dirty="0">
                <a:solidFill>
                  <a:schemeClr val="tx1"/>
                </a:solidFill>
              </a:rPr>
              <a:t> activation</a:t>
            </a:r>
          </a:p>
          <a:p>
            <a:pPr algn="ctr"/>
            <a:r>
              <a:rPr lang="en-US" i="1" dirty="0">
                <a:solidFill>
                  <a:schemeClr val="tx1"/>
                </a:solidFill>
              </a:rPr>
              <a:t>record</a:t>
            </a:r>
          </a:p>
        </p:txBody>
      </p:sp>
      <p:sp>
        <p:nvSpPr>
          <p:cNvPr id="11" name="Right Brace 10">
            <a:extLst>
              <a:ext uri="{FF2B5EF4-FFF2-40B4-BE49-F238E27FC236}">
                <a16:creationId xmlns:a16="http://schemas.microsoft.com/office/drawing/2014/main" id="{E2849B20-5E79-8E78-7872-E790433A525B}"/>
              </a:ext>
            </a:extLst>
          </p:cNvPr>
          <p:cNvSpPr/>
          <p:nvPr/>
        </p:nvSpPr>
        <p:spPr>
          <a:xfrm>
            <a:off x="9204235" y="3445718"/>
            <a:ext cx="200025" cy="1489036"/>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Right Brace 11">
            <a:extLst>
              <a:ext uri="{FF2B5EF4-FFF2-40B4-BE49-F238E27FC236}">
                <a16:creationId xmlns:a16="http://schemas.microsoft.com/office/drawing/2014/main" id="{1D1693A1-7DA4-98DA-BB01-938FEFD10037}"/>
              </a:ext>
            </a:extLst>
          </p:cNvPr>
          <p:cNvSpPr/>
          <p:nvPr/>
        </p:nvSpPr>
        <p:spPr>
          <a:xfrm>
            <a:off x="9218521" y="5019338"/>
            <a:ext cx="200025" cy="1489036"/>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Right Brace 12">
            <a:extLst>
              <a:ext uri="{FF2B5EF4-FFF2-40B4-BE49-F238E27FC236}">
                <a16:creationId xmlns:a16="http://schemas.microsoft.com/office/drawing/2014/main" id="{49C41095-0118-1702-B86A-2CAB0BEBF3C8}"/>
              </a:ext>
            </a:extLst>
          </p:cNvPr>
          <p:cNvSpPr/>
          <p:nvPr/>
        </p:nvSpPr>
        <p:spPr>
          <a:xfrm>
            <a:off x="8142197" y="4042032"/>
            <a:ext cx="200025" cy="1489036"/>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Brace 13">
            <a:extLst>
              <a:ext uri="{FF2B5EF4-FFF2-40B4-BE49-F238E27FC236}">
                <a16:creationId xmlns:a16="http://schemas.microsoft.com/office/drawing/2014/main" id="{E7714200-5774-AC5D-D2B5-79C31A624086}"/>
              </a:ext>
            </a:extLst>
          </p:cNvPr>
          <p:cNvSpPr/>
          <p:nvPr/>
        </p:nvSpPr>
        <p:spPr>
          <a:xfrm>
            <a:off x="8142197" y="5680552"/>
            <a:ext cx="200025" cy="889367"/>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Curved Down Arrow 14">
            <a:extLst>
              <a:ext uri="{FF2B5EF4-FFF2-40B4-BE49-F238E27FC236}">
                <a16:creationId xmlns:a16="http://schemas.microsoft.com/office/drawing/2014/main" id="{D7E73C36-B708-3442-17D9-A601C623FF02}"/>
              </a:ext>
            </a:extLst>
          </p:cNvPr>
          <p:cNvSpPr/>
          <p:nvPr/>
        </p:nvSpPr>
        <p:spPr>
          <a:xfrm rot="16200000">
            <a:off x="2582793" y="4754207"/>
            <a:ext cx="993737" cy="228602"/>
          </a:xfrm>
          <a:prstGeom prst="curvedDownArrow">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Curved Down Arrow 15">
            <a:extLst>
              <a:ext uri="{FF2B5EF4-FFF2-40B4-BE49-F238E27FC236}">
                <a16:creationId xmlns:a16="http://schemas.microsoft.com/office/drawing/2014/main" id="{028F5832-C4F0-83FF-E86B-429E34EA4CFC}"/>
              </a:ext>
            </a:extLst>
          </p:cNvPr>
          <p:cNvSpPr/>
          <p:nvPr/>
        </p:nvSpPr>
        <p:spPr>
          <a:xfrm rot="16200000">
            <a:off x="2754242" y="3669985"/>
            <a:ext cx="638177" cy="212688"/>
          </a:xfrm>
          <a:prstGeom prst="curvedDownArrow">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Rectangle 16">
            <a:extLst>
              <a:ext uri="{FF2B5EF4-FFF2-40B4-BE49-F238E27FC236}">
                <a16:creationId xmlns:a16="http://schemas.microsoft.com/office/drawing/2014/main" id="{C1A34474-BB76-EADB-DD68-00C6A3778879}"/>
              </a:ext>
            </a:extLst>
          </p:cNvPr>
          <p:cNvSpPr/>
          <p:nvPr/>
        </p:nvSpPr>
        <p:spPr>
          <a:xfrm>
            <a:off x="6911611" y="4437192"/>
            <a:ext cx="1257300" cy="3370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F0000"/>
                </a:solidFill>
              </a:rPr>
              <a:t>Calling procedure</a:t>
            </a:r>
          </a:p>
        </p:txBody>
      </p:sp>
      <p:sp>
        <p:nvSpPr>
          <p:cNvPr id="18" name="Rectangle 17">
            <a:extLst>
              <a:ext uri="{FF2B5EF4-FFF2-40B4-BE49-F238E27FC236}">
                <a16:creationId xmlns:a16="http://schemas.microsoft.com/office/drawing/2014/main" id="{C147C893-E418-61A5-8DA4-E380DA0EB43E}"/>
              </a:ext>
            </a:extLst>
          </p:cNvPr>
          <p:cNvSpPr/>
          <p:nvPr/>
        </p:nvSpPr>
        <p:spPr>
          <a:xfrm>
            <a:off x="6911611" y="5769919"/>
            <a:ext cx="1257300" cy="3370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FF0000"/>
                </a:solidFill>
              </a:rPr>
              <a:t>Called procedure</a:t>
            </a:r>
          </a:p>
        </p:txBody>
      </p:sp>
    </p:spTree>
    <p:extLst>
      <p:ext uri="{BB962C8B-B14F-4D97-AF65-F5344CB8AC3E}">
        <p14:creationId xmlns:p14="http://schemas.microsoft.com/office/powerpoint/2010/main" val="4108641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55C3E-E9B8-9BB5-B9B7-773334EC6C30}"/>
              </a:ext>
            </a:extLst>
          </p:cNvPr>
          <p:cNvSpPr>
            <a:spLocks noGrp="1"/>
          </p:cNvSpPr>
          <p:nvPr>
            <p:ph type="title"/>
          </p:nvPr>
        </p:nvSpPr>
        <p:spPr/>
        <p:txBody>
          <a:bodyPr/>
          <a:lstStyle/>
          <a:p>
            <a:r>
              <a:rPr lang="en-US" dirty="0"/>
              <a:t>Stack allocation: Variable length data on stack</a:t>
            </a:r>
            <a:endParaRPr lang="en-IN" dirty="0"/>
          </a:p>
        </p:txBody>
      </p:sp>
      <p:sp>
        <p:nvSpPr>
          <p:cNvPr id="3" name="Content Placeholder 2">
            <a:extLst>
              <a:ext uri="{FF2B5EF4-FFF2-40B4-BE49-F238E27FC236}">
                <a16:creationId xmlns:a16="http://schemas.microsoft.com/office/drawing/2014/main" id="{99F90EB8-6EBC-E2D8-C535-E169DDAF9DAC}"/>
              </a:ext>
            </a:extLst>
          </p:cNvPr>
          <p:cNvSpPr>
            <a:spLocks noGrp="1"/>
          </p:cNvSpPr>
          <p:nvPr>
            <p:ph idx="1"/>
          </p:nvPr>
        </p:nvSpPr>
        <p:spPr>
          <a:xfrm>
            <a:off x="131180" y="863444"/>
            <a:ext cx="11929641" cy="5590565"/>
          </a:xfrm>
        </p:spPr>
        <p:txBody>
          <a:bodyPr/>
          <a:lstStyle/>
          <a:p>
            <a:pPr lvl="0"/>
            <a:r>
              <a:rPr lang="en-US" dirty="0"/>
              <a:t>The run time memory management system must deal frequently with the allocation of objects, the sizes of which are not known at the compile time, but which are local to a procedure and thus may be allocated on the stack.</a:t>
            </a:r>
          </a:p>
          <a:p>
            <a:pPr lvl="0"/>
            <a:r>
              <a:rPr lang="en-US" dirty="0"/>
              <a:t>The same scheme works for objects of any type if they are local to the procedure called have a size that depends on the parameter of the call.</a:t>
            </a:r>
          </a:p>
          <a:p>
            <a:endParaRPr lang="en-US" dirty="0"/>
          </a:p>
        </p:txBody>
      </p:sp>
      <p:graphicFrame>
        <p:nvGraphicFramePr>
          <p:cNvPr id="4" name="Table 3">
            <a:extLst>
              <a:ext uri="{FF2B5EF4-FFF2-40B4-BE49-F238E27FC236}">
                <a16:creationId xmlns:a16="http://schemas.microsoft.com/office/drawing/2014/main" id="{4ED214C2-4323-F54B-2C37-22950AC99795}"/>
              </a:ext>
            </a:extLst>
          </p:cNvPr>
          <p:cNvGraphicFramePr>
            <a:graphicFrameLocks noGrp="1"/>
          </p:cNvGraphicFramePr>
          <p:nvPr/>
        </p:nvGraphicFramePr>
        <p:xfrm>
          <a:off x="2477267" y="2840701"/>
          <a:ext cx="2590800" cy="3708400"/>
        </p:xfrm>
        <a:graphic>
          <a:graphicData uri="http://schemas.openxmlformats.org/drawingml/2006/table">
            <a:tbl>
              <a:tblPr firstRow="1" bandRow="1">
                <a:tableStyleId>{D7AC3CCA-C797-4891-BE02-D94E43425B78}</a:tableStyleId>
              </a:tblPr>
              <a:tblGrid>
                <a:gridCol w="2590800">
                  <a:extLst>
                    <a:ext uri="{9D8B030D-6E8A-4147-A177-3AD203B41FA5}">
                      <a16:colId xmlns:a16="http://schemas.microsoft.com/office/drawing/2014/main" val="20000"/>
                    </a:ext>
                  </a:extLst>
                </a:gridCol>
              </a:tblGrid>
              <a:tr h="370840">
                <a:tc>
                  <a:txBody>
                    <a:bodyPr/>
                    <a:lstStyle/>
                    <a:p>
                      <a:r>
                        <a:rPr lang="en-US" b="0" i="1" dirty="0"/>
                        <a:t>Control link</a:t>
                      </a:r>
                    </a:p>
                  </a:txBody>
                  <a:tcPr>
                    <a:noFill/>
                  </a:tcPr>
                </a:tc>
                <a:extLst>
                  <a:ext uri="{0D108BD9-81ED-4DB2-BD59-A6C34878D82A}">
                    <a16:rowId xmlns:a16="http://schemas.microsoft.com/office/drawing/2014/main" val="10000"/>
                  </a:ext>
                </a:extLst>
              </a:tr>
              <a:tr h="370840">
                <a:tc>
                  <a:txBody>
                    <a:bodyPr/>
                    <a:lstStyle/>
                    <a:p>
                      <a:pPr algn="ctr"/>
                      <a:r>
                        <a:rPr lang="en-US" b="0" dirty="0"/>
                        <a:t>Pointer to A</a:t>
                      </a:r>
                    </a:p>
                  </a:txBody>
                  <a:tcPr>
                    <a:noFill/>
                  </a:tcPr>
                </a:tc>
                <a:extLst>
                  <a:ext uri="{0D108BD9-81ED-4DB2-BD59-A6C34878D82A}">
                    <a16:rowId xmlns:a16="http://schemas.microsoft.com/office/drawing/2014/main" val="10001"/>
                  </a:ext>
                </a:extLst>
              </a:tr>
              <a:tr h="370840">
                <a:tc>
                  <a:txBody>
                    <a:bodyPr/>
                    <a:lstStyle/>
                    <a:p>
                      <a:pPr algn="ctr"/>
                      <a:r>
                        <a:rPr lang="en-US" b="0" dirty="0"/>
                        <a:t>Pointer to B</a:t>
                      </a:r>
                      <a:endParaRPr lang="en-US" dirty="0"/>
                    </a:p>
                  </a:txBody>
                  <a:tcPr>
                    <a:noFill/>
                  </a:tcPr>
                </a:tc>
                <a:extLst>
                  <a:ext uri="{0D108BD9-81ED-4DB2-BD59-A6C34878D82A}">
                    <a16:rowId xmlns:a16="http://schemas.microsoft.com/office/drawing/2014/main" val="10002"/>
                  </a:ext>
                </a:extLst>
              </a:tr>
              <a:tr h="370840">
                <a:tc>
                  <a:txBody>
                    <a:bodyPr/>
                    <a:lstStyle/>
                    <a:p>
                      <a:pPr algn="ctr"/>
                      <a:r>
                        <a:rPr lang="en-US" b="0" dirty="0"/>
                        <a:t>Pointer to C</a:t>
                      </a:r>
                      <a:endParaRPr lang="en-US" dirty="0"/>
                    </a:p>
                  </a:txBody>
                  <a:tcPr>
                    <a:noFill/>
                  </a:tcPr>
                </a:tc>
                <a:extLst>
                  <a:ext uri="{0D108BD9-81ED-4DB2-BD59-A6C34878D82A}">
                    <a16:rowId xmlns:a16="http://schemas.microsoft.com/office/drawing/2014/main" val="10003"/>
                  </a:ext>
                </a:extLst>
              </a:tr>
              <a:tr h="370840">
                <a:tc>
                  <a:txBody>
                    <a:bodyPr/>
                    <a:lstStyle/>
                    <a:p>
                      <a:endParaRPr lang="en-US"/>
                    </a:p>
                  </a:txBody>
                  <a:tcPr>
                    <a:noFill/>
                  </a:tcPr>
                </a:tc>
                <a:extLst>
                  <a:ext uri="{0D108BD9-81ED-4DB2-BD59-A6C34878D82A}">
                    <a16:rowId xmlns:a16="http://schemas.microsoft.com/office/drawing/2014/main" val="10004"/>
                  </a:ext>
                </a:extLst>
              </a:tr>
              <a:tr h="370840">
                <a:tc>
                  <a:txBody>
                    <a:bodyPr/>
                    <a:lstStyle/>
                    <a:p>
                      <a:pPr algn="ctr"/>
                      <a:r>
                        <a:rPr lang="en-US" dirty="0"/>
                        <a:t>Array A</a:t>
                      </a:r>
                    </a:p>
                  </a:txBody>
                  <a:tcPr>
                    <a:noFill/>
                  </a:tcPr>
                </a:tc>
                <a:extLst>
                  <a:ext uri="{0D108BD9-81ED-4DB2-BD59-A6C34878D82A}">
                    <a16:rowId xmlns:a16="http://schemas.microsoft.com/office/drawing/2014/main" val="10005"/>
                  </a:ext>
                </a:extLst>
              </a:tr>
              <a:tr h="370840">
                <a:tc>
                  <a:txBody>
                    <a:bodyPr/>
                    <a:lstStyle/>
                    <a:p>
                      <a:pPr algn="ctr"/>
                      <a:r>
                        <a:rPr lang="en-US" dirty="0"/>
                        <a:t>Array B</a:t>
                      </a:r>
                    </a:p>
                  </a:txBody>
                  <a:tcPr>
                    <a:noFill/>
                  </a:tcPr>
                </a:tc>
                <a:extLst>
                  <a:ext uri="{0D108BD9-81ED-4DB2-BD59-A6C34878D82A}">
                    <a16:rowId xmlns:a16="http://schemas.microsoft.com/office/drawing/2014/main" val="10006"/>
                  </a:ext>
                </a:extLst>
              </a:tr>
              <a:tr h="370840">
                <a:tc>
                  <a:txBody>
                    <a:bodyPr/>
                    <a:lstStyle/>
                    <a:p>
                      <a:pPr algn="ctr"/>
                      <a:r>
                        <a:rPr lang="en-US" dirty="0"/>
                        <a:t>Array C</a:t>
                      </a:r>
                    </a:p>
                  </a:txBody>
                  <a:tcPr>
                    <a:noFill/>
                  </a:tcPr>
                </a:tc>
                <a:extLst>
                  <a:ext uri="{0D108BD9-81ED-4DB2-BD59-A6C34878D82A}">
                    <a16:rowId xmlns:a16="http://schemas.microsoft.com/office/drawing/2014/main" val="10007"/>
                  </a:ext>
                </a:extLst>
              </a:tr>
              <a:tr h="370840">
                <a:tc>
                  <a:txBody>
                    <a:bodyPr/>
                    <a:lstStyle/>
                    <a:p>
                      <a:r>
                        <a:rPr lang="en-US" i="1" dirty="0"/>
                        <a:t>Control link</a:t>
                      </a:r>
                    </a:p>
                  </a:txBody>
                  <a:tcPr>
                    <a:noFill/>
                  </a:tcPr>
                </a:tc>
                <a:extLst>
                  <a:ext uri="{0D108BD9-81ED-4DB2-BD59-A6C34878D82A}">
                    <a16:rowId xmlns:a16="http://schemas.microsoft.com/office/drawing/2014/main" val="10008"/>
                  </a:ext>
                </a:extLst>
              </a:tr>
              <a:tr h="370840">
                <a:tc>
                  <a:txBody>
                    <a:bodyPr/>
                    <a:lstStyle/>
                    <a:p>
                      <a:endParaRPr lang="en-US" dirty="0"/>
                    </a:p>
                  </a:txBody>
                  <a:tcPr>
                    <a:noFill/>
                  </a:tcPr>
                </a:tc>
                <a:extLst>
                  <a:ext uri="{0D108BD9-81ED-4DB2-BD59-A6C34878D82A}">
                    <a16:rowId xmlns:a16="http://schemas.microsoft.com/office/drawing/2014/main" val="10009"/>
                  </a:ext>
                </a:extLst>
              </a:tr>
            </a:tbl>
          </a:graphicData>
        </a:graphic>
      </p:graphicFrame>
      <p:sp>
        <p:nvSpPr>
          <p:cNvPr id="5" name="Rectangle 4">
            <a:extLst>
              <a:ext uri="{FF2B5EF4-FFF2-40B4-BE49-F238E27FC236}">
                <a16:creationId xmlns:a16="http://schemas.microsoft.com/office/drawing/2014/main" id="{8212DE9E-0A7B-DC09-C2C8-825AE2D86734}"/>
              </a:ext>
            </a:extLst>
          </p:cNvPr>
          <p:cNvSpPr/>
          <p:nvPr/>
        </p:nvSpPr>
        <p:spPr>
          <a:xfrm>
            <a:off x="1143777" y="5563263"/>
            <a:ext cx="9906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solidFill>
                  <a:schemeClr val="tx1"/>
                </a:solidFill>
              </a:rPr>
              <a:t>top_sp</a:t>
            </a:r>
            <a:endParaRPr lang="en-US" i="1" dirty="0">
              <a:solidFill>
                <a:schemeClr val="tx1"/>
              </a:solidFill>
            </a:endParaRPr>
          </a:p>
        </p:txBody>
      </p:sp>
      <p:cxnSp>
        <p:nvCxnSpPr>
          <p:cNvPr id="6" name="Straight Arrow Connector 5">
            <a:extLst>
              <a:ext uri="{FF2B5EF4-FFF2-40B4-BE49-F238E27FC236}">
                <a16:creationId xmlns:a16="http://schemas.microsoft.com/office/drawing/2014/main" id="{36501053-F18A-DC1D-97C6-F595CA7FF954}"/>
              </a:ext>
            </a:extLst>
          </p:cNvPr>
          <p:cNvCxnSpPr/>
          <p:nvPr/>
        </p:nvCxnSpPr>
        <p:spPr>
          <a:xfrm>
            <a:off x="2020067" y="5834719"/>
            <a:ext cx="457200" cy="0"/>
          </a:xfrm>
          <a:prstGeom prst="straightConnector1">
            <a:avLst/>
          </a:prstGeom>
          <a:ln w="22225">
            <a:solidFill>
              <a:srgbClr val="0E47A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A78C2193-898A-5EA4-EB1C-34D53F1F1521}"/>
              </a:ext>
            </a:extLst>
          </p:cNvPr>
          <p:cNvSpPr/>
          <p:nvPr/>
        </p:nvSpPr>
        <p:spPr>
          <a:xfrm>
            <a:off x="1319996" y="6225252"/>
            <a:ext cx="9906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top</a:t>
            </a:r>
          </a:p>
        </p:txBody>
      </p:sp>
      <p:cxnSp>
        <p:nvCxnSpPr>
          <p:cNvPr id="8" name="Straight Arrow Connector 7">
            <a:extLst>
              <a:ext uri="{FF2B5EF4-FFF2-40B4-BE49-F238E27FC236}">
                <a16:creationId xmlns:a16="http://schemas.microsoft.com/office/drawing/2014/main" id="{57C2A991-B778-B8F4-2692-37C1C69DA807}"/>
              </a:ext>
            </a:extLst>
          </p:cNvPr>
          <p:cNvCxnSpPr/>
          <p:nvPr/>
        </p:nvCxnSpPr>
        <p:spPr>
          <a:xfrm>
            <a:off x="2005790" y="6491943"/>
            <a:ext cx="457200" cy="0"/>
          </a:xfrm>
          <a:prstGeom prst="straightConnector1">
            <a:avLst/>
          </a:prstGeom>
          <a:ln w="22225">
            <a:solidFill>
              <a:srgbClr val="0E47A1"/>
            </a:solidFill>
            <a:tailEnd type="triangle"/>
          </a:ln>
        </p:spPr>
        <p:style>
          <a:lnRef idx="1">
            <a:schemeClr val="accent1"/>
          </a:lnRef>
          <a:fillRef idx="0">
            <a:schemeClr val="accent1"/>
          </a:fillRef>
          <a:effectRef idx="0">
            <a:schemeClr val="accent1"/>
          </a:effectRef>
          <a:fontRef idx="minor">
            <a:schemeClr val="tx1"/>
          </a:fontRef>
        </p:style>
      </p:cxnSp>
      <p:sp>
        <p:nvSpPr>
          <p:cNvPr id="9" name="Curved Left Arrow 8">
            <a:extLst>
              <a:ext uri="{FF2B5EF4-FFF2-40B4-BE49-F238E27FC236}">
                <a16:creationId xmlns:a16="http://schemas.microsoft.com/office/drawing/2014/main" id="{54C1CC5E-5581-F41B-4997-7E2B347D945A}"/>
              </a:ext>
            </a:extLst>
          </p:cNvPr>
          <p:cNvSpPr/>
          <p:nvPr/>
        </p:nvSpPr>
        <p:spPr>
          <a:xfrm>
            <a:off x="5091879" y="3348701"/>
            <a:ext cx="304790" cy="1524000"/>
          </a:xfrm>
          <a:prstGeom prst="curvedLeftArrow">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urved Left Arrow 9">
            <a:extLst>
              <a:ext uri="{FF2B5EF4-FFF2-40B4-BE49-F238E27FC236}">
                <a16:creationId xmlns:a16="http://schemas.microsoft.com/office/drawing/2014/main" id="{3D317F32-061A-7EB1-8137-BE884EFE19E1}"/>
              </a:ext>
            </a:extLst>
          </p:cNvPr>
          <p:cNvSpPr/>
          <p:nvPr/>
        </p:nvSpPr>
        <p:spPr>
          <a:xfrm>
            <a:off x="5072828" y="3748750"/>
            <a:ext cx="304790" cy="1524000"/>
          </a:xfrm>
          <a:prstGeom prst="curvedLeftArrow">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Curved Left Arrow 10">
            <a:extLst>
              <a:ext uri="{FF2B5EF4-FFF2-40B4-BE49-F238E27FC236}">
                <a16:creationId xmlns:a16="http://schemas.microsoft.com/office/drawing/2014/main" id="{2678D159-8206-B296-FB81-A8BD65890F2B}"/>
              </a:ext>
            </a:extLst>
          </p:cNvPr>
          <p:cNvSpPr/>
          <p:nvPr/>
        </p:nvSpPr>
        <p:spPr>
          <a:xfrm>
            <a:off x="5082344" y="4120222"/>
            <a:ext cx="304790" cy="1524000"/>
          </a:xfrm>
          <a:prstGeom prst="curvedLeftArrow">
            <a:avLst/>
          </a:prstGeom>
          <a:solidFill>
            <a:srgbClr val="0E47A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29FACC7C-3C8D-E2F5-8BDC-44CDB80B712C}"/>
              </a:ext>
            </a:extLst>
          </p:cNvPr>
          <p:cNvSpPr/>
          <p:nvPr/>
        </p:nvSpPr>
        <p:spPr>
          <a:xfrm>
            <a:off x="5873334" y="3575939"/>
            <a:ext cx="1485900" cy="3743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Activation record for p</a:t>
            </a:r>
          </a:p>
        </p:txBody>
      </p:sp>
      <p:sp>
        <p:nvSpPr>
          <p:cNvPr id="13" name="Right Brace 12">
            <a:extLst>
              <a:ext uri="{FF2B5EF4-FFF2-40B4-BE49-F238E27FC236}">
                <a16:creationId xmlns:a16="http://schemas.microsoft.com/office/drawing/2014/main" id="{34CF751D-F57C-C77F-49A3-2928183DAB42}"/>
              </a:ext>
            </a:extLst>
          </p:cNvPr>
          <p:cNvSpPr/>
          <p:nvPr/>
        </p:nvSpPr>
        <p:spPr>
          <a:xfrm>
            <a:off x="5663380" y="2840701"/>
            <a:ext cx="329206" cy="1844793"/>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ectangle 13">
            <a:extLst>
              <a:ext uri="{FF2B5EF4-FFF2-40B4-BE49-F238E27FC236}">
                <a16:creationId xmlns:a16="http://schemas.microsoft.com/office/drawing/2014/main" id="{E84D2890-2B07-033C-2385-2C08906113EE}"/>
              </a:ext>
            </a:extLst>
          </p:cNvPr>
          <p:cNvSpPr/>
          <p:nvPr/>
        </p:nvSpPr>
        <p:spPr>
          <a:xfrm>
            <a:off x="5873334" y="5053035"/>
            <a:ext cx="1485900" cy="3743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Arrays of p</a:t>
            </a:r>
          </a:p>
        </p:txBody>
      </p:sp>
      <p:sp>
        <p:nvSpPr>
          <p:cNvPr id="15" name="Right Brace 14">
            <a:extLst>
              <a:ext uri="{FF2B5EF4-FFF2-40B4-BE49-F238E27FC236}">
                <a16:creationId xmlns:a16="http://schemas.microsoft.com/office/drawing/2014/main" id="{CD5CAC1B-E937-AA74-6E7D-664D4475C54E}"/>
              </a:ext>
            </a:extLst>
          </p:cNvPr>
          <p:cNvSpPr/>
          <p:nvPr/>
        </p:nvSpPr>
        <p:spPr>
          <a:xfrm>
            <a:off x="5678444" y="4674688"/>
            <a:ext cx="294487" cy="1120204"/>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Rectangle 15">
            <a:extLst>
              <a:ext uri="{FF2B5EF4-FFF2-40B4-BE49-F238E27FC236}">
                <a16:creationId xmlns:a16="http://schemas.microsoft.com/office/drawing/2014/main" id="{5FD07701-622A-5A34-BDE9-D1A122684AFE}"/>
              </a:ext>
            </a:extLst>
          </p:cNvPr>
          <p:cNvSpPr/>
          <p:nvPr/>
        </p:nvSpPr>
        <p:spPr>
          <a:xfrm>
            <a:off x="5923133" y="5750135"/>
            <a:ext cx="1485900" cy="3743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Activation record for q</a:t>
            </a:r>
          </a:p>
        </p:txBody>
      </p:sp>
      <p:sp>
        <p:nvSpPr>
          <p:cNvPr id="17" name="Right Brace 16">
            <a:extLst>
              <a:ext uri="{FF2B5EF4-FFF2-40B4-BE49-F238E27FC236}">
                <a16:creationId xmlns:a16="http://schemas.microsoft.com/office/drawing/2014/main" id="{D2B8F1C7-FEC4-2841-92B0-F4D61382576B}"/>
              </a:ext>
            </a:extLst>
          </p:cNvPr>
          <p:cNvSpPr/>
          <p:nvPr/>
        </p:nvSpPr>
        <p:spPr>
          <a:xfrm>
            <a:off x="5703920" y="5796439"/>
            <a:ext cx="284076" cy="378347"/>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Right Brace 17">
            <a:extLst>
              <a:ext uri="{FF2B5EF4-FFF2-40B4-BE49-F238E27FC236}">
                <a16:creationId xmlns:a16="http://schemas.microsoft.com/office/drawing/2014/main" id="{6DBC9A8D-1033-1FD4-99D6-CB5579053477}"/>
              </a:ext>
            </a:extLst>
          </p:cNvPr>
          <p:cNvSpPr/>
          <p:nvPr/>
        </p:nvSpPr>
        <p:spPr>
          <a:xfrm>
            <a:off x="5714967" y="6193920"/>
            <a:ext cx="284076" cy="378347"/>
          </a:xfrm>
          <a:prstGeom prst="rightBrace">
            <a:avLst/>
          </a:prstGeom>
          <a:ln w="22225">
            <a:solidFill>
              <a:srgbClr val="0E47A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ectangle 18">
            <a:extLst>
              <a:ext uri="{FF2B5EF4-FFF2-40B4-BE49-F238E27FC236}">
                <a16:creationId xmlns:a16="http://schemas.microsoft.com/office/drawing/2014/main" id="{A0D4F4C4-A9D0-C61E-7CAB-16A65DF77E12}"/>
              </a:ext>
            </a:extLst>
          </p:cNvPr>
          <p:cNvSpPr/>
          <p:nvPr/>
        </p:nvSpPr>
        <p:spPr>
          <a:xfrm>
            <a:off x="5901888" y="6336165"/>
            <a:ext cx="1528390" cy="1591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Arrays of q</a:t>
            </a:r>
          </a:p>
        </p:txBody>
      </p:sp>
      <p:sp>
        <p:nvSpPr>
          <p:cNvPr id="20" name="Rectangle 19">
            <a:extLst>
              <a:ext uri="{FF2B5EF4-FFF2-40B4-BE49-F238E27FC236}">
                <a16:creationId xmlns:a16="http://schemas.microsoft.com/office/drawing/2014/main" id="{5A80EE54-3E39-8755-19C9-ADF5CE36E9FB}"/>
              </a:ext>
            </a:extLst>
          </p:cNvPr>
          <p:cNvSpPr/>
          <p:nvPr/>
        </p:nvSpPr>
        <p:spPr>
          <a:xfrm>
            <a:off x="7911758" y="4164885"/>
            <a:ext cx="2669155" cy="2764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err="1">
                <a:solidFill>
                  <a:schemeClr val="tx1"/>
                </a:solidFill>
              </a:rPr>
              <a:t>top_sp</a:t>
            </a:r>
            <a:r>
              <a:rPr lang="en-US" i="1" dirty="0">
                <a:solidFill>
                  <a:schemeClr val="tx1"/>
                </a:solidFill>
              </a:rPr>
              <a:t>: find the local data</a:t>
            </a:r>
          </a:p>
        </p:txBody>
      </p:sp>
      <p:sp>
        <p:nvSpPr>
          <p:cNvPr id="21" name="Rectangle 20">
            <a:extLst>
              <a:ext uri="{FF2B5EF4-FFF2-40B4-BE49-F238E27FC236}">
                <a16:creationId xmlns:a16="http://schemas.microsoft.com/office/drawing/2014/main" id="{D6AC9CAE-C16C-B77C-B024-38F966BE77C0}"/>
              </a:ext>
            </a:extLst>
          </p:cNvPr>
          <p:cNvSpPr/>
          <p:nvPr/>
        </p:nvSpPr>
        <p:spPr>
          <a:xfrm>
            <a:off x="7829028" y="3826074"/>
            <a:ext cx="4231793" cy="2205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rPr>
              <a:t>top: position of the next activation record</a:t>
            </a:r>
          </a:p>
        </p:txBody>
      </p:sp>
    </p:spTree>
    <p:extLst>
      <p:ext uri="{BB962C8B-B14F-4D97-AF65-F5344CB8AC3E}">
        <p14:creationId xmlns:p14="http://schemas.microsoft.com/office/powerpoint/2010/main" val="1227460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par>
                                <p:cTn id="26" presetID="22" presetClass="entr" presetSubtype="8"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left)">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up)">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up)">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up)">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down)">
                                      <p:cBhvr>
                                        <p:cTn id="48" dur="500"/>
                                        <p:tgtEl>
                                          <p:spTgt spid="13"/>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down)">
                                      <p:cBhvr>
                                        <p:cTn id="51" dur="500"/>
                                        <p:tgtEl>
                                          <p:spTgt spid="12"/>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down)">
                                      <p:cBhvr>
                                        <p:cTn id="54" dur="500"/>
                                        <p:tgtEl>
                                          <p:spTgt spid="15"/>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down)">
                                      <p:cBhvr>
                                        <p:cTn id="57" dur="500"/>
                                        <p:tgtEl>
                                          <p:spTgt spid="14"/>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wipe(down)">
                                      <p:cBhvr>
                                        <p:cTn id="60" dur="500"/>
                                        <p:tgtEl>
                                          <p:spTgt spid="17"/>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wipe(down)">
                                      <p:cBhvr>
                                        <p:cTn id="63" dur="500"/>
                                        <p:tgtEl>
                                          <p:spTgt spid="16"/>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wipe(down)">
                                      <p:cBhvr>
                                        <p:cTn id="66" dur="500"/>
                                        <p:tgtEl>
                                          <p:spTgt spid="18"/>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wipe(down)">
                                      <p:cBhvr>
                                        <p:cTn id="69" dur="500"/>
                                        <p:tgtEl>
                                          <p:spTgt spid="19"/>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wipe(left)">
                                      <p:cBhvr>
                                        <p:cTn id="74" dur="500"/>
                                        <p:tgtEl>
                                          <p:spTgt spid="20"/>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wipe(left)">
                                      <p:cBhvr>
                                        <p:cTn id="7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animBg="1"/>
      <p:bldP spid="10" grpId="0" animBg="1"/>
      <p:bldP spid="11" grpId="0" animBg="1"/>
      <p:bldP spid="12" grpId="0"/>
      <p:bldP spid="13" grpId="0" animBg="1"/>
      <p:bldP spid="14" grpId="0"/>
      <p:bldP spid="15" grpId="0" animBg="1"/>
      <p:bldP spid="16" grpId="0"/>
      <p:bldP spid="17" grpId="0" animBg="1"/>
      <p:bldP spid="18" grpId="0" animBg="1"/>
      <p:bldP spid="19" grpId="0"/>
      <p:bldP spid="20" grpId="0"/>
      <p:bldP spid="2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55C3E-E9B8-9BB5-B9B7-773334EC6C30}"/>
              </a:ext>
            </a:extLst>
          </p:cNvPr>
          <p:cNvSpPr>
            <a:spLocks noGrp="1"/>
          </p:cNvSpPr>
          <p:nvPr>
            <p:ph type="title"/>
          </p:nvPr>
        </p:nvSpPr>
        <p:spPr/>
        <p:txBody>
          <a:bodyPr/>
          <a:lstStyle/>
          <a:p>
            <a:r>
              <a:rPr lang="en-US" dirty="0"/>
              <a:t>Stack allocation: Dangling Reference</a:t>
            </a:r>
            <a:endParaRPr lang="en-IN" dirty="0"/>
          </a:p>
        </p:txBody>
      </p:sp>
      <p:sp>
        <p:nvSpPr>
          <p:cNvPr id="3" name="Content Placeholder 2">
            <a:extLst>
              <a:ext uri="{FF2B5EF4-FFF2-40B4-BE49-F238E27FC236}">
                <a16:creationId xmlns:a16="http://schemas.microsoft.com/office/drawing/2014/main" id="{CACD73B9-A027-DFEE-EBF0-AD213FA33937}"/>
              </a:ext>
            </a:extLst>
          </p:cNvPr>
          <p:cNvSpPr>
            <a:spLocks noGrp="1"/>
          </p:cNvSpPr>
          <p:nvPr>
            <p:ph idx="1"/>
          </p:nvPr>
        </p:nvSpPr>
        <p:spPr>
          <a:xfrm>
            <a:off x="131180" y="863444"/>
            <a:ext cx="11929641" cy="1210285"/>
          </a:xfrm>
        </p:spPr>
        <p:txBody>
          <a:bodyPr/>
          <a:lstStyle/>
          <a:p>
            <a:pPr lvl="0"/>
            <a:r>
              <a:rPr lang="en-US" dirty="0"/>
              <a:t>When there is a reference to storage that has been </a:t>
            </a:r>
            <a:r>
              <a:rPr lang="en-US" dirty="0" err="1"/>
              <a:t>deallocated</a:t>
            </a:r>
            <a:r>
              <a:rPr lang="en-US" dirty="0"/>
              <a:t>.</a:t>
            </a:r>
          </a:p>
          <a:p>
            <a:pPr lvl="0"/>
            <a:r>
              <a:rPr lang="en-US" dirty="0"/>
              <a:t>It is a logical error to use dangling reference, since, the value of de-allocated storage is undefined according to the semantics of most languages.</a:t>
            </a:r>
          </a:p>
          <a:p>
            <a:endParaRPr lang="en-US" dirty="0"/>
          </a:p>
        </p:txBody>
      </p:sp>
      <p:sp>
        <p:nvSpPr>
          <p:cNvPr id="4" name="Content Placeholder 2">
            <a:extLst>
              <a:ext uri="{FF2B5EF4-FFF2-40B4-BE49-F238E27FC236}">
                <a16:creationId xmlns:a16="http://schemas.microsoft.com/office/drawing/2014/main" id="{36D9DF3C-56A3-BA13-27AA-7679D5F4E3D9}"/>
              </a:ext>
            </a:extLst>
          </p:cNvPr>
          <p:cNvSpPr txBox="1">
            <a:spLocks/>
          </p:cNvSpPr>
          <p:nvPr/>
        </p:nvSpPr>
        <p:spPr>
          <a:xfrm>
            <a:off x="408765" y="2225972"/>
            <a:ext cx="11929641" cy="121028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main()</a:t>
            </a:r>
          </a:p>
          <a:p>
            <a:pPr marL="0" indent="0">
              <a:buNone/>
            </a:pPr>
            <a:r>
              <a:rPr lang="en-US" sz="1800" dirty="0"/>
              <a:t>{</a:t>
            </a:r>
          </a:p>
          <a:p>
            <a:pPr marL="0" indent="0">
              <a:buNone/>
            </a:pPr>
            <a:r>
              <a:rPr lang="en-US" sz="1800" dirty="0"/>
              <a:t>	</a:t>
            </a:r>
            <a:r>
              <a:rPr lang="en-US" sz="1800" dirty="0" err="1"/>
              <a:t>int</a:t>
            </a:r>
            <a:r>
              <a:rPr lang="en-US" sz="1800" dirty="0"/>
              <a:t> *p;</a:t>
            </a:r>
          </a:p>
          <a:p>
            <a:pPr marL="0" indent="0">
              <a:buNone/>
            </a:pPr>
            <a:r>
              <a:rPr lang="en-US" sz="1800" dirty="0"/>
              <a:t>	p=</a:t>
            </a:r>
            <a:r>
              <a:rPr lang="en-US" sz="1800" dirty="0" err="1"/>
              <a:t>dengle</a:t>
            </a:r>
            <a:r>
              <a:rPr lang="en-US" sz="1800" dirty="0"/>
              <a:t>();</a:t>
            </a:r>
          </a:p>
          <a:p>
            <a:pPr marL="0" indent="0">
              <a:buNone/>
            </a:pPr>
            <a:r>
              <a:rPr lang="en-US" sz="1800" dirty="0"/>
              <a:t>}</a:t>
            </a:r>
          </a:p>
          <a:p>
            <a:pPr marL="0" indent="0">
              <a:buNone/>
            </a:pPr>
            <a:r>
              <a:rPr lang="en-US" sz="1800" dirty="0" err="1"/>
              <a:t>int</a:t>
            </a:r>
            <a:r>
              <a:rPr lang="en-US" sz="1800" dirty="0"/>
              <a:t> *</a:t>
            </a:r>
            <a:r>
              <a:rPr lang="en-US" sz="1800" dirty="0" err="1"/>
              <a:t>dengle</a:t>
            </a:r>
            <a:r>
              <a:rPr lang="en-US" sz="1800" dirty="0"/>
              <a:t>()</a:t>
            </a:r>
          </a:p>
          <a:p>
            <a:pPr marL="0" indent="0">
              <a:buNone/>
            </a:pPr>
            <a:r>
              <a:rPr lang="en-US" sz="1800" dirty="0"/>
              <a:t>{</a:t>
            </a:r>
          </a:p>
          <a:p>
            <a:pPr marL="0" indent="0">
              <a:buNone/>
            </a:pPr>
            <a:r>
              <a:rPr lang="en-US" sz="1800" dirty="0"/>
              <a:t>	</a:t>
            </a:r>
            <a:r>
              <a:rPr lang="en-US" sz="1800" dirty="0" err="1"/>
              <a:t>int</a:t>
            </a:r>
            <a:r>
              <a:rPr lang="en-US" sz="1800" dirty="0"/>
              <a:t> </a:t>
            </a:r>
            <a:r>
              <a:rPr lang="en-US" sz="1800" dirty="0" err="1"/>
              <a:t>i</a:t>
            </a:r>
            <a:r>
              <a:rPr lang="en-US" sz="1800" dirty="0"/>
              <a:t>=10;</a:t>
            </a:r>
          </a:p>
          <a:p>
            <a:pPr marL="0" indent="0">
              <a:buNone/>
            </a:pPr>
            <a:r>
              <a:rPr lang="en-US" sz="1800" dirty="0"/>
              <a:t>	return &amp;</a:t>
            </a:r>
            <a:r>
              <a:rPr lang="en-US" sz="1800" dirty="0" err="1"/>
              <a:t>i</a:t>
            </a:r>
            <a:r>
              <a:rPr lang="en-US" sz="1800" dirty="0"/>
              <a:t>;</a:t>
            </a:r>
          </a:p>
          <a:p>
            <a:pPr marL="0" indent="0">
              <a:buNone/>
            </a:pPr>
            <a:r>
              <a:rPr lang="en-US" sz="1800" dirty="0"/>
              <a:t>} </a:t>
            </a:r>
          </a:p>
        </p:txBody>
      </p:sp>
    </p:spTree>
    <p:extLst>
      <p:ext uri="{BB962C8B-B14F-4D97-AF65-F5344CB8AC3E}">
        <p14:creationId xmlns:p14="http://schemas.microsoft.com/office/powerpoint/2010/main" val="4217528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55C3E-E9B8-9BB5-B9B7-773334EC6C30}"/>
              </a:ext>
            </a:extLst>
          </p:cNvPr>
          <p:cNvSpPr>
            <a:spLocks noGrp="1"/>
          </p:cNvSpPr>
          <p:nvPr>
            <p:ph type="title"/>
          </p:nvPr>
        </p:nvSpPr>
        <p:spPr/>
        <p:txBody>
          <a:bodyPr/>
          <a:lstStyle/>
          <a:p>
            <a:r>
              <a:rPr lang="en-US" dirty="0"/>
              <a:t>Heap Allocation</a:t>
            </a:r>
            <a:endParaRPr lang="en-IN" dirty="0"/>
          </a:p>
        </p:txBody>
      </p:sp>
      <p:sp>
        <p:nvSpPr>
          <p:cNvPr id="3" name="Content Placeholder 2">
            <a:extLst>
              <a:ext uri="{FF2B5EF4-FFF2-40B4-BE49-F238E27FC236}">
                <a16:creationId xmlns:a16="http://schemas.microsoft.com/office/drawing/2014/main" id="{45C8B18D-6D6B-1EC9-9F52-6ADF52A76EA5}"/>
              </a:ext>
            </a:extLst>
          </p:cNvPr>
          <p:cNvSpPr>
            <a:spLocks noGrp="1"/>
          </p:cNvSpPr>
          <p:nvPr>
            <p:ph idx="1"/>
          </p:nvPr>
        </p:nvSpPr>
        <p:spPr>
          <a:xfrm>
            <a:off x="131180" y="863444"/>
            <a:ext cx="11929641" cy="5590565"/>
          </a:xfrm>
        </p:spPr>
        <p:txBody>
          <a:bodyPr/>
          <a:lstStyle/>
          <a:p>
            <a:pPr marL="0" indent="0">
              <a:buNone/>
            </a:pPr>
            <a:r>
              <a:rPr lang="en-US" dirty="0"/>
              <a:t>The stack allocation strategy can not be used for following condition:</a:t>
            </a:r>
          </a:p>
          <a:p>
            <a:pPr marL="457200" indent="-457200">
              <a:buFont typeface="+mj-lt"/>
              <a:buAutoNum type="arabicPeriod"/>
            </a:pPr>
            <a:r>
              <a:rPr lang="en-US" dirty="0"/>
              <a:t>The values of the local names must be retained when an activation ends.</a:t>
            </a:r>
          </a:p>
          <a:p>
            <a:pPr marL="457200" indent="-457200">
              <a:buFont typeface="+mj-lt"/>
              <a:buAutoNum type="arabicPeriod"/>
            </a:pPr>
            <a:r>
              <a:rPr lang="en-US" dirty="0"/>
              <a:t>A called activation outlives the called.</a:t>
            </a:r>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0" indent="0">
              <a:buNone/>
            </a:pPr>
            <a:endParaRPr lang="en-US" dirty="0"/>
          </a:p>
          <a:p>
            <a:r>
              <a:rPr lang="en-US" dirty="0"/>
              <a:t>Records for the live activations need not be adjacent in a heap.</a:t>
            </a:r>
          </a:p>
        </p:txBody>
      </p:sp>
      <p:graphicFrame>
        <p:nvGraphicFramePr>
          <p:cNvPr id="4" name="Table 3">
            <a:extLst>
              <a:ext uri="{FF2B5EF4-FFF2-40B4-BE49-F238E27FC236}">
                <a16:creationId xmlns:a16="http://schemas.microsoft.com/office/drawing/2014/main" id="{12DC86A9-AF13-9A63-B839-E2068C47BC64}"/>
              </a:ext>
            </a:extLst>
          </p:cNvPr>
          <p:cNvGraphicFramePr>
            <a:graphicFrameLocks noGrp="1"/>
          </p:cNvGraphicFramePr>
          <p:nvPr/>
        </p:nvGraphicFramePr>
        <p:xfrm>
          <a:off x="777291" y="2299938"/>
          <a:ext cx="7659466" cy="3474720"/>
        </p:xfrm>
        <a:graphic>
          <a:graphicData uri="http://schemas.openxmlformats.org/drawingml/2006/table">
            <a:tbl>
              <a:tblPr firstRow="1" bandRow="1">
                <a:tableStyleId>{D7AC3CCA-C797-4891-BE02-D94E43425B78}</a:tableStyleId>
              </a:tblPr>
              <a:tblGrid>
                <a:gridCol w="2632910">
                  <a:extLst>
                    <a:ext uri="{9D8B030D-6E8A-4147-A177-3AD203B41FA5}">
                      <a16:colId xmlns:a16="http://schemas.microsoft.com/office/drawing/2014/main" val="20000"/>
                    </a:ext>
                  </a:extLst>
                </a:gridCol>
                <a:gridCol w="2473401">
                  <a:extLst>
                    <a:ext uri="{9D8B030D-6E8A-4147-A177-3AD203B41FA5}">
                      <a16:colId xmlns:a16="http://schemas.microsoft.com/office/drawing/2014/main" val="20001"/>
                    </a:ext>
                  </a:extLst>
                </a:gridCol>
                <a:gridCol w="2553155">
                  <a:extLst>
                    <a:ext uri="{9D8B030D-6E8A-4147-A177-3AD203B41FA5}">
                      <a16:colId xmlns:a16="http://schemas.microsoft.com/office/drawing/2014/main" val="20002"/>
                    </a:ext>
                  </a:extLst>
                </a:gridCol>
              </a:tblGrid>
              <a:tr h="370272">
                <a:tc>
                  <a:txBody>
                    <a:bodyPr/>
                    <a:lstStyle/>
                    <a:p>
                      <a:pPr algn="ctr"/>
                      <a:r>
                        <a:rPr lang="en-US" dirty="0"/>
                        <a:t>Position in activation tree</a:t>
                      </a:r>
                    </a:p>
                  </a:txBody>
                  <a:tcPr>
                    <a:noFill/>
                  </a:tcPr>
                </a:tc>
                <a:tc>
                  <a:txBody>
                    <a:bodyPr/>
                    <a:lstStyle/>
                    <a:p>
                      <a:pPr algn="ctr"/>
                      <a:r>
                        <a:rPr lang="en-US" dirty="0"/>
                        <a:t>Activation record on the heap</a:t>
                      </a:r>
                    </a:p>
                  </a:txBody>
                  <a:tcPr>
                    <a:noFill/>
                  </a:tcPr>
                </a:tc>
                <a:tc>
                  <a:txBody>
                    <a:bodyPr/>
                    <a:lstStyle/>
                    <a:p>
                      <a:pPr algn="ctr"/>
                      <a:r>
                        <a:rPr lang="en-US" dirty="0"/>
                        <a:t>Remarks</a:t>
                      </a:r>
                      <a:r>
                        <a:rPr lang="en-US" baseline="0" dirty="0"/>
                        <a:t> </a:t>
                      </a:r>
                      <a:endParaRPr lang="en-US" dirty="0"/>
                    </a:p>
                  </a:txBody>
                  <a:tcPr>
                    <a:noFill/>
                  </a:tcPr>
                </a:tc>
                <a:extLst>
                  <a:ext uri="{0D108BD9-81ED-4DB2-BD59-A6C34878D82A}">
                    <a16:rowId xmlns:a16="http://schemas.microsoft.com/office/drawing/2014/main" val="10000"/>
                  </a:ext>
                </a:extLst>
              </a:tr>
              <a:tr h="1842198">
                <a:tc>
                  <a:txBody>
                    <a:bodyPr/>
                    <a:lstStyle/>
                    <a:p>
                      <a:pPr algn="ctr"/>
                      <a:endParaRPr lang="en-US" dirty="0"/>
                    </a:p>
                  </a:txBody>
                  <a:tcPr>
                    <a:noFill/>
                  </a:tcPr>
                </a:tc>
                <a:tc>
                  <a:txBody>
                    <a:bodyPr/>
                    <a:lstStyle/>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txBody>
                  <a:tcPr>
                    <a:noFill/>
                  </a:tcPr>
                </a:tc>
                <a:tc>
                  <a:txBody>
                    <a:bodyPr/>
                    <a:lstStyle/>
                    <a:p>
                      <a:pPr algn="ctr"/>
                      <a:r>
                        <a:rPr lang="en-US" dirty="0"/>
                        <a:t>Retains activation record for </a:t>
                      </a:r>
                      <a:r>
                        <a:rPr lang="en-US" dirty="0" err="1"/>
                        <a:t>ra</a:t>
                      </a:r>
                      <a:endParaRPr lang="en-US" dirty="0"/>
                    </a:p>
                  </a:txBody>
                  <a:tcPr>
                    <a:noFill/>
                  </a:tcPr>
                </a:tc>
                <a:extLst>
                  <a:ext uri="{0D108BD9-81ED-4DB2-BD59-A6C34878D82A}">
                    <a16:rowId xmlns:a16="http://schemas.microsoft.com/office/drawing/2014/main" val="10001"/>
                  </a:ext>
                </a:extLst>
              </a:tr>
            </a:tbl>
          </a:graphicData>
        </a:graphic>
      </p:graphicFrame>
      <p:sp>
        <p:nvSpPr>
          <p:cNvPr id="5" name="Rectangle 4">
            <a:extLst>
              <a:ext uri="{FF2B5EF4-FFF2-40B4-BE49-F238E27FC236}">
                <a16:creationId xmlns:a16="http://schemas.microsoft.com/office/drawing/2014/main" id="{E5F8EA85-E6CC-E033-4E09-4BE96D270E71}"/>
              </a:ext>
            </a:extLst>
          </p:cNvPr>
          <p:cNvSpPr/>
          <p:nvPr/>
        </p:nvSpPr>
        <p:spPr>
          <a:xfrm>
            <a:off x="1513023" y="3254754"/>
            <a:ext cx="1331141" cy="355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E47A1"/>
                </a:solidFill>
              </a:rPr>
              <a:t>main</a:t>
            </a:r>
          </a:p>
        </p:txBody>
      </p:sp>
      <p:cxnSp>
        <p:nvCxnSpPr>
          <p:cNvPr id="6" name="Straight Connector 5">
            <a:extLst>
              <a:ext uri="{FF2B5EF4-FFF2-40B4-BE49-F238E27FC236}">
                <a16:creationId xmlns:a16="http://schemas.microsoft.com/office/drawing/2014/main" id="{8AC385CC-DC14-A613-E0BD-C5A096B71C11}"/>
              </a:ext>
            </a:extLst>
          </p:cNvPr>
          <p:cNvCxnSpPr>
            <a:stCxn id="5" idx="2"/>
          </p:cNvCxnSpPr>
          <p:nvPr/>
        </p:nvCxnSpPr>
        <p:spPr>
          <a:xfrm flipH="1">
            <a:off x="1559014" y="3610160"/>
            <a:ext cx="619580" cy="203551"/>
          </a:xfrm>
          <a:prstGeom prst="line">
            <a:avLst/>
          </a:prstGeom>
          <a:ln>
            <a:solidFill>
              <a:srgbClr val="0E47A1"/>
            </a:solidFill>
            <a:prstDash val="sys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F5CCC01-A8E9-9BA1-DE53-2E38320D5B38}"/>
              </a:ext>
            </a:extLst>
          </p:cNvPr>
          <p:cNvCxnSpPr>
            <a:stCxn id="5" idx="2"/>
          </p:cNvCxnSpPr>
          <p:nvPr/>
        </p:nvCxnSpPr>
        <p:spPr>
          <a:xfrm>
            <a:off x="2178594" y="3610160"/>
            <a:ext cx="580217" cy="203551"/>
          </a:xfrm>
          <a:prstGeom prst="line">
            <a:avLst/>
          </a:prstGeom>
          <a:ln>
            <a:solidFill>
              <a:srgbClr val="0E47A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7CF21017-4BD0-3F96-904C-4459B31BE61B}"/>
              </a:ext>
            </a:extLst>
          </p:cNvPr>
          <p:cNvSpPr/>
          <p:nvPr/>
        </p:nvSpPr>
        <p:spPr>
          <a:xfrm>
            <a:off x="759933" y="3813711"/>
            <a:ext cx="1331141" cy="355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0E47A1"/>
                </a:solidFill>
              </a:rPr>
              <a:t>ra</a:t>
            </a:r>
            <a:r>
              <a:rPr lang="en-US" dirty="0">
                <a:solidFill>
                  <a:srgbClr val="0E47A1"/>
                </a:solidFill>
              </a:rPr>
              <a:t>()</a:t>
            </a:r>
          </a:p>
        </p:txBody>
      </p:sp>
      <p:sp>
        <p:nvSpPr>
          <p:cNvPr id="9" name="Rectangle 8">
            <a:extLst>
              <a:ext uri="{FF2B5EF4-FFF2-40B4-BE49-F238E27FC236}">
                <a16:creationId xmlns:a16="http://schemas.microsoft.com/office/drawing/2014/main" id="{F23C8D32-8702-1075-3842-FE70EF20E952}"/>
              </a:ext>
            </a:extLst>
          </p:cNvPr>
          <p:cNvSpPr/>
          <p:nvPr/>
        </p:nvSpPr>
        <p:spPr>
          <a:xfrm>
            <a:off x="2124550" y="3864456"/>
            <a:ext cx="1563917" cy="355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0E47A1"/>
                </a:solidFill>
              </a:rPr>
              <a:t>qs</a:t>
            </a:r>
            <a:r>
              <a:rPr lang="en-US" dirty="0">
                <a:solidFill>
                  <a:srgbClr val="0E47A1"/>
                </a:solidFill>
              </a:rPr>
              <a:t>(1,10)</a:t>
            </a:r>
          </a:p>
        </p:txBody>
      </p:sp>
      <p:sp>
        <p:nvSpPr>
          <p:cNvPr id="10" name="Rectangle 9">
            <a:extLst>
              <a:ext uri="{FF2B5EF4-FFF2-40B4-BE49-F238E27FC236}">
                <a16:creationId xmlns:a16="http://schemas.microsoft.com/office/drawing/2014/main" id="{15BFCC07-4310-D5AD-C97A-C4D8F18C53E6}"/>
              </a:ext>
            </a:extLst>
          </p:cNvPr>
          <p:cNvSpPr/>
          <p:nvPr/>
        </p:nvSpPr>
        <p:spPr>
          <a:xfrm>
            <a:off x="4224927" y="3351570"/>
            <a:ext cx="992681"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s</a:t>
            </a:r>
          </a:p>
        </p:txBody>
      </p:sp>
      <p:sp>
        <p:nvSpPr>
          <p:cNvPr id="11" name="Rectangle 10">
            <a:extLst>
              <a:ext uri="{FF2B5EF4-FFF2-40B4-BE49-F238E27FC236}">
                <a16:creationId xmlns:a16="http://schemas.microsoft.com/office/drawing/2014/main" id="{CA02B873-1061-2C0D-500E-A2D9EF8CA500}"/>
              </a:ext>
            </a:extLst>
          </p:cNvPr>
          <p:cNvSpPr/>
          <p:nvPr/>
        </p:nvSpPr>
        <p:spPr>
          <a:xfrm>
            <a:off x="4224929" y="3610160"/>
            <a:ext cx="992680" cy="246767"/>
          </a:xfrm>
          <a:prstGeom prst="rect">
            <a:avLst/>
          </a:prstGeom>
          <a:noFill/>
          <a:ln>
            <a:solidFill>
              <a:srgbClr val="0E47A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rPr>
              <a:t>Control link</a:t>
            </a:r>
          </a:p>
        </p:txBody>
      </p:sp>
      <p:sp>
        <p:nvSpPr>
          <p:cNvPr id="12" name="Rectangle 11">
            <a:extLst>
              <a:ext uri="{FF2B5EF4-FFF2-40B4-BE49-F238E27FC236}">
                <a16:creationId xmlns:a16="http://schemas.microsoft.com/office/drawing/2014/main" id="{AB1C6D35-1D3B-FD99-AC7C-C2DFF8112FE5}"/>
              </a:ext>
            </a:extLst>
          </p:cNvPr>
          <p:cNvSpPr/>
          <p:nvPr/>
        </p:nvSpPr>
        <p:spPr>
          <a:xfrm>
            <a:off x="4224927" y="3861056"/>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
        <p:nvSpPr>
          <p:cNvPr id="13" name="Rectangle 12">
            <a:extLst>
              <a:ext uri="{FF2B5EF4-FFF2-40B4-BE49-F238E27FC236}">
                <a16:creationId xmlns:a16="http://schemas.microsoft.com/office/drawing/2014/main" id="{21E0E5D5-7F98-E109-20D0-DEA060F420DF}"/>
              </a:ext>
            </a:extLst>
          </p:cNvPr>
          <p:cNvSpPr/>
          <p:nvPr/>
        </p:nvSpPr>
        <p:spPr>
          <a:xfrm>
            <a:off x="4224926" y="4114407"/>
            <a:ext cx="992681"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C00000"/>
                </a:solidFill>
              </a:rPr>
              <a:t>rs</a:t>
            </a:r>
            <a:endParaRPr lang="en-US" dirty="0">
              <a:solidFill>
                <a:srgbClr val="C00000"/>
              </a:solidFill>
            </a:endParaRPr>
          </a:p>
        </p:txBody>
      </p:sp>
      <p:sp>
        <p:nvSpPr>
          <p:cNvPr id="14" name="Rectangle 13">
            <a:extLst>
              <a:ext uri="{FF2B5EF4-FFF2-40B4-BE49-F238E27FC236}">
                <a16:creationId xmlns:a16="http://schemas.microsoft.com/office/drawing/2014/main" id="{0A811BF6-9464-0421-08A1-1C639AA6C4CE}"/>
              </a:ext>
            </a:extLst>
          </p:cNvPr>
          <p:cNvSpPr/>
          <p:nvPr/>
        </p:nvSpPr>
        <p:spPr>
          <a:xfrm>
            <a:off x="4224928" y="4355068"/>
            <a:ext cx="992680" cy="246767"/>
          </a:xfrm>
          <a:prstGeom prst="rect">
            <a:avLst/>
          </a:prstGeom>
          <a:noFill/>
          <a:ln>
            <a:solidFill>
              <a:srgbClr val="0E47A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rPr>
              <a:t>Control link</a:t>
            </a:r>
          </a:p>
        </p:txBody>
      </p:sp>
      <p:sp>
        <p:nvSpPr>
          <p:cNvPr id="15" name="Rectangle 14">
            <a:extLst>
              <a:ext uri="{FF2B5EF4-FFF2-40B4-BE49-F238E27FC236}">
                <a16:creationId xmlns:a16="http://schemas.microsoft.com/office/drawing/2014/main" id="{D4B1B56E-5282-F853-ED66-8217C03FA011}"/>
              </a:ext>
            </a:extLst>
          </p:cNvPr>
          <p:cNvSpPr/>
          <p:nvPr/>
        </p:nvSpPr>
        <p:spPr>
          <a:xfrm>
            <a:off x="4224926" y="4605964"/>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
        <p:nvSpPr>
          <p:cNvPr id="16" name="Rectangle 15">
            <a:extLst>
              <a:ext uri="{FF2B5EF4-FFF2-40B4-BE49-F238E27FC236}">
                <a16:creationId xmlns:a16="http://schemas.microsoft.com/office/drawing/2014/main" id="{522674D0-8BC6-FB03-4820-E20BB5093459}"/>
              </a:ext>
            </a:extLst>
          </p:cNvPr>
          <p:cNvSpPr/>
          <p:nvPr/>
        </p:nvSpPr>
        <p:spPr>
          <a:xfrm>
            <a:off x="4232268" y="4846789"/>
            <a:ext cx="992681"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rgbClr val="C00000"/>
                </a:solidFill>
              </a:rPr>
              <a:t>qs</a:t>
            </a:r>
            <a:r>
              <a:rPr lang="en-US" dirty="0">
                <a:solidFill>
                  <a:srgbClr val="C00000"/>
                </a:solidFill>
              </a:rPr>
              <a:t>(1,10)</a:t>
            </a:r>
          </a:p>
        </p:txBody>
      </p:sp>
      <p:sp>
        <p:nvSpPr>
          <p:cNvPr id="17" name="Rectangle 16">
            <a:extLst>
              <a:ext uri="{FF2B5EF4-FFF2-40B4-BE49-F238E27FC236}">
                <a16:creationId xmlns:a16="http://schemas.microsoft.com/office/drawing/2014/main" id="{4CB04E37-0015-D928-7F3D-0E4D8CAE41F1}"/>
              </a:ext>
            </a:extLst>
          </p:cNvPr>
          <p:cNvSpPr/>
          <p:nvPr/>
        </p:nvSpPr>
        <p:spPr>
          <a:xfrm>
            <a:off x="4232270" y="5087450"/>
            <a:ext cx="992680" cy="246767"/>
          </a:xfrm>
          <a:prstGeom prst="rect">
            <a:avLst/>
          </a:prstGeom>
          <a:noFill/>
          <a:ln>
            <a:solidFill>
              <a:srgbClr val="0E47A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C00000"/>
                </a:solidFill>
              </a:rPr>
              <a:t>Control link</a:t>
            </a:r>
          </a:p>
        </p:txBody>
      </p:sp>
      <p:sp>
        <p:nvSpPr>
          <p:cNvPr id="18" name="Rectangle 17">
            <a:extLst>
              <a:ext uri="{FF2B5EF4-FFF2-40B4-BE49-F238E27FC236}">
                <a16:creationId xmlns:a16="http://schemas.microsoft.com/office/drawing/2014/main" id="{4622D547-318E-3B62-C608-F76F338E09FD}"/>
              </a:ext>
            </a:extLst>
          </p:cNvPr>
          <p:cNvSpPr/>
          <p:nvPr/>
        </p:nvSpPr>
        <p:spPr>
          <a:xfrm>
            <a:off x="4232268" y="5338346"/>
            <a:ext cx="992680" cy="246767"/>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cxnSp>
        <p:nvCxnSpPr>
          <p:cNvPr id="19" name="Curved Connector 28">
            <a:extLst>
              <a:ext uri="{FF2B5EF4-FFF2-40B4-BE49-F238E27FC236}">
                <a16:creationId xmlns:a16="http://schemas.microsoft.com/office/drawing/2014/main" id="{61B1EC7B-E91A-6934-81FD-B8FC3C1C2F76}"/>
              </a:ext>
            </a:extLst>
          </p:cNvPr>
          <p:cNvCxnSpPr/>
          <p:nvPr/>
        </p:nvCxnSpPr>
        <p:spPr>
          <a:xfrm rot="10800000">
            <a:off x="4242334" y="3424567"/>
            <a:ext cx="1" cy="1003498"/>
          </a:xfrm>
          <a:prstGeom prst="curvedConnector3">
            <a:avLst>
              <a:gd name="adj1" fmla="val 22860100000"/>
            </a:avLst>
          </a:prstGeom>
          <a:ln w="15875">
            <a:solidFill>
              <a:srgbClr val="0E47A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urved Connector 29">
            <a:extLst>
              <a:ext uri="{FF2B5EF4-FFF2-40B4-BE49-F238E27FC236}">
                <a16:creationId xmlns:a16="http://schemas.microsoft.com/office/drawing/2014/main" id="{FF77C668-FB4C-3A8A-32C6-5B28D2FFD004}"/>
              </a:ext>
            </a:extLst>
          </p:cNvPr>
          <p:cNvCxnSpPr/>
          <p:nvPr/>
        </p:nvCxnSpPr>
        <p:spPr>
          <a:xfrm rot="10800000" flipH="1">
            <a:off x="4232269" y="3360545"/>
            <a:ext cx="27469" cy="1816380"/>
          </a:xfrm>
          <a:prstGeom prst="curvedConnector4">
            <a:avLst>
              <a:gd name="adj1" fmla="val -2007095"/>
              <a:gd name="adj2" fmla="val 98802"/>
            </a:avLst>
          </a:prstGeom>
          <a:ln w="15875">
            <a:solidFill>
              <a:srgbClr val="0E47A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6441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up)">
                                      <p:cBhvr>
                                        <p:cTn id="19" dur="500"/>
                                        <p:tgtEl>
                                          <p:spTgt spid="4"/>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par>
                                <p:cTn id="23" presetID="22" presetClass="entr" presetSubtype="1"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up)">
                                      <p:cBhvr>
                                        <p:cTn id="25" dur="500"/>
                                        <p:tgtEl>
                                          <p:spTgt spid="6"/>
                                        </p:tgtEl>
                                      </p:cBhvr>
                                    </p:animEffect>
                                  </p:childTnLst>
                                </p:cTn>
                              </p:par>
                              <p:par>
                                <p:cTn id="26" presetID="22" presetClass="entr" presetSubtype="1"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up)">
                                      <p:cBhvr>
                                        <p:cTn id="28" dur="500"/>
                                        <p:tgtEl>
                                          <p:spTgt spid="7"/>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up)">
                                      <p:cBhvr>
                                        <p:cTn id="31" dur="500"/>
                                        <p:tgtEl>
                                          <p:spTgt spid="8"/>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up)">
                                      <p:cBhvr>
                                        <p:cTn id="34" dur="500"/>
                                        <p:tgtEl>
                                          <p:spTgt spid="9"/>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up)">
                                      <p:cBhvr>
                                        <p:cTn id="37" dur="500"/>
                                        <p:tgtEl>
                                          <p:spTgt spid="10"/>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up)">
                                      <p:cBhvr>
                                        <p:cTn id="40" dur="500"/>
                                        <p:tgtEl>
                                          <p:spTgt spid="11"/>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up)">
                                      <p:cBhvr>
                                        <p:cTn id="43" dur="500"/>
                                        <p:tgtEl>
                                          <p:spTgt spid="12"/>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up)">
                                      <p:cBhvr>
                                        <p:cTn id="46" dur="500"/>
                                        <p:tgtEl>
                                          <p:spTgt spid="13"/>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up)">
                                      <p:cBhvr>
                                        <p:cTn id="49" dur="500"/>
                                        <p:tgtEl>
                                          <p:spTgt spid="14"/>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up)">
                                      <p:cBhvr>
                                        <p:cTn id="52" dur="500"/>
                                        <p:tgtEl>
                                          <p:spTgt spid="15"/>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wipe(up)">
                                      <p:cBhvr>
                                        <p:cTn id="55" dur="500"/>
                                        <p:tgtEl>
                                          <p:spTgt spid="16"/>
                                        </p:tgtEl>
                                      </p:cBhvr>
                                    </p:animEffect>
                                  </p:childTnLst>
                                </p:cTn>
                              </p:par>
                              <p:par>
                                <p:cTn id="56" presetID="22" presetClass="entr" presetSubtype="1"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up)">
                                      <p:cBhvr>
                                        <p:cTn id="58" dur="500"/>
                                        <p:tgtEl>
                                          <p:spTgt spid="17"/>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up)">
                                      <p:cBhvr>
                                        <p:cTn id="61" dur="500"/>
                                        <p:tgtEl>
                                          <p:spTgt spid="18"/>
                                        </p:tgtEl>
                                      </p:cBhvr>
                                    </p:animEffect>
                                  </p:childTnLst>
                                </p:cTn>
                              </p:par>
                              <p:par>
                                <p:cTn id="62" presetID="22" presetClass="entr" presetSubtype="1" fill="hold" nodeType="with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wipe(up)">
                                      <p:cBhvr>
                                        <p:cTn id="64" dur="500"/>
                                        <p:tgtEl>
                                          <p:spTgt spid="19"/>
                                        </p:tgtEl>
                                      </p:cBhvr>
                                    </p:animEffect>
                                  </p:childTnLst>
                                </p:cTn>
                              </p:par>
                              <p:par>
                                <p:cTn id="65" presetID="22" presetClass="entr" presetSubtype="1"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up)">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A7929F3-1234-338C-775F-7B9304B5E0CA}"/>
              </a:ext>
            </a:extLst>
          </p:cNvPr>
          <p:cNvSpPr>
            <a:spLocks noGrp="1"/>
          </p:cNvSpPr>
          <p:nvPr>
            <p:ph type="body" idx="1"/>
          </p:nvPr>
        </p:nvSpPr>
        <p:spPr/>
        <p:txBody>
          <a:bodyPr/>
          <a:lstStyle/>
          <a:p>
            <a:endParaRPr lang="en-IN"/>
          </a:p>
        </p:txBody>
      </p:sp>
      <p:sp>
        <p:nvSpPr>
          <p:cNvPr id="3" name="Title 2">
            <a:extLst>
              <a:ext uri="{FF2B5EF4-FFF2-40B4-BE49-F238E27FC236}">
                <a16:creationId xmlns:a16="http://schemas.microsoft.com/office/drawing/2014/main" id="{C5721B01-5788-9FF9-75BE-6AE7247616FA}"/>
              </a:ext>
            </a:extLst>
          </p:cNvPr>
          <p:cNvSpPr>
            <a:spLocks noGrp="1"/>
          </p:cNvSpPr>
          <p:nvPr>
            <p:ph type="title"/>
          </p:nvPr>
        </p:nvSpPr>
        <p:spPr/>
        <p:txBody>
          <a:bodyPr/>
          <a:lstStyle/>
          <a:p>
            <a:r>
              <a:rPr lang="en-US" dirty="0"/>
              <a:t>Issues in the design of a code generator</a:t>
            </a:r>
            <a:endParaRPr lang="en-IN" dirty="0"/>
          </a:p>
        </p:txBody>
      </p:sp>
    </p:spTree>
    <p:extLst>
      <p:ext uri="{BB962C8B-B14F-4D97-AF65-F5344CB8AC3E}">
        <p14:creationId xmlns:p14="http://schemas.microsoft.com/office/powerpoint/2010/main" val="2024714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Issues in the design of a code generator</a:t>
            </a:r>
            <a:endParaRPr lang="en-IN" dirty="0"/>
          </a:p>
        </p:txBody>
      </p:sp>
      <p:sp>
        <p:nvSpPr>
          <p:cNvPr id="3" name="Content Placeholder 2">
            <a:extLst>
              <a:ext uri="{FF2B5EF4-FFF2-40B4-BE49-F238E27FC236}">
                <a16:creationId xmlns:a16="http://schemas.microsoft.com/office/drawing/2014/main" id="{39C3FF5B-B53F-8ADC-67F7-66BBDFB71547}"/>
              </a:ext>
            </a:extLst>
          </p:cNvPr>
          <p:cNvSpPr>
            <a:spLocks noGrp="1"/>
          </p:cNvSpPr>
          <p:nvPr>
            <p:ph idx="1"/>
          </p:nvPr>
        </p:nvSpPr>
        <p:spPr>
          <a:xfrm>
            <a:off x="131180" y="863444"/>
            <a:ext cx="11929641" cy="5590565"/>
          </a:xfrm>
        </p:spPr>
        <p:txBody>
          <a:bodyPr/>
          <a:lstStyle/>
          <a:p>
            <a:r>
              <a:rPr lang="en-US" b="1" dirty="0"/>
              <a:t>Issues in Code Generation are:</a:t>
            </a:r>
          </a:p>
          <a:p>
            <a:pPr marL="1001712" lvl="1" indent="-457200">
              <a:buFont typeface="+mj-lt"/>
              <a:buAutoNum type="arabicPeriod"/>
            </a:pPr>
            <a:r>
              <a:rPr lang="en-US" sz="2400" dirty="0"/>
              <a:t>Input to code generator</a:t>
            </a:r>
          </a:p>
          <a:p>
            <a:pPr marL="1001712" lvl="1" indent="-457200">
              <a:buFont typeface="+mj-lt"/>
              <a:buAutoNum type="arabicPeriod"/>
            </a:pPr>
            <a:r>
              <a:rPr lang="en-US" sz="2400" dirty="0"/>
              <a:t>Target program</a:t>
            </a:r>
          </a:p>
          <a:p>
            <a:pPr marL="1001712" lvl="1" indent="-457200">
              <a:buFont typeface="+mj-lt"/>
              <a:buAutoNum type="arabicPeriod"/>
            </a:pPr>
            <a:r>
              <a:rPr lang="en-US" sz="2400" dirty="0"/>
              <a:t>Memory management</a:t>
            </a:r>
          </a:p>
          <a:p>
            <a:pPr marL="1001712" lvl="1" indent="-457200">
              <a:buFont typeface="+mj-lt"/>
              <a:buAutoNum type="arabicPeriod"/>
            </a:pPr>
            <a:r>
              <a:rPr lang="en-US" sz="2400" dirty="0"/>
              <a:t>Instruction selection</a:t>
            </a:r>
          </a:p>
          <a:p>
            <a:pPr marL="1001712" lvl="1" indent="-457200">
              <a:buFont typeface="+mj-lt"/>
              <a:buAutoNum type="arabicPeriod"/>
            </a:pPr>
            <a:r>
              <a:rPr lang="en-US" sz="2400" dirty="0"/>
              <a:t>Register allocation</a:t>
            </a:r>
          </a:p>
          <a:p>
            <a:pPr marL="1001712" lvl="1" indent="-457200">
              <a:buFont typeface="+mj-lt"/>
              <a:buAutoNum type="arabicPeriod"/>
            </a:pPr>
            <a:r>
              <a:rPr lang="en-US" sz="2400" dirty="0"/>
              <a:t>Choice of evaluation</a:t>
            </a:r>
          </a:p>
          <a:p>
            <a:pPr marL="1001712" lvl="1" indent="-457200">
              <a:buFont typeface="+mj-lt"/>
              <a:buAutoNum type="arabicPeriod"/>
            </a:pPr>
            <a:r>
              <a:rPr lang="en-US" sz="2400" dirty="0"/>
              <a:t>Approaches to code generation </a:t>
            </a:r>
          </a:p>
          <a:p>
            <a:pPr marL="1001712" lvl="1" indent="-457200">
              <a:buFont typeface="+mj-lt"/>
              <a:buAutoNum type="arabicPeriod"/>
            </a:pPr>
            <a:endParaRPr lang="en-US" sz="2400"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p:txBody>
      </p:sp>
    </p:spTree>
    <p:extLst>
      <p:ext uri="{BB962C8B-B14F-4D97-AF65-F5344CB8AC3E}">
        <p14:creationId xmlns:p14="http://schemas.microsoft.com/office/powerpoint/2010/main" val="1078016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Input to code generator</a:t>
            </a:r>
            <a:endParaRPr lang="en-IN" dirty="0"/>
          </a:p>
        </p:txBody>
      </p:sp>
      <p:sp>
        <p:nvSpPr>
          <p:cNvPr id="3" name="Content Placeholder 2">
            <a:extLst>
              <a:ext uri="{FF2B5EF4-FFF2-40B4-BE49-F238E27FC236}">
                <a16:creationId xmlns:a16="http://schemas.microsoft.com/office/drawing/2014/main" id="{7B1DD1E2-D307-84F2-FB22-9B6D3D96EFEB}"/>
              </a:ext>
            </a:extLst>
          </p:cNvPr>
          <p:cNvSpPr>
            <a:spLocks noGrp="1"/>
          </p:cNvSpPr>
          <p:nvPr>
            <p:ph idx="1"/>
          </p:nvPr>
        </p:nvSpPr>
        <p:spPr>
          <a:xfrm>
            <a:off x="131180" y="863444"/>
            <a:ext cx="11929641" cy="5590565"/>
          </a:xfrm>
        </p:spPr>
        <p:txBody>
          <a:bodyPr/>
          <a:lstStyle/>
          <a:p>
            <a:pPr lvl="0"/>
            <a:r>
              <a:rPr lang="en-GB" dirty="0"/>
              <a:t>Input to the code generator consists of the intermediate representation of the source program.</a:t>
            </a:r>
            <a:endParaRPr lang="en-US" dirty="0"/>
          </a:p>
          <a:p>
            <a:pPr lvl="0"/>
            <a:r>
              <a:rPr lang="en-GB" dirty="0"/>
              <a:t>Types of intermediate language are:</a:t>
            </a:r>
          </a:p>
          <a:p>
            <a:pPr marL="857250" lvl="1" indent="-457200">
              <a:buFont typeface="+mj-lt"/>
              <a:buAutoNum type="arabicPeriod"/>
            </a:pPr>
            <a:r>
              <a:rPr lang="en-GB" sz="2400" dirty="0">
                <a:solidFill>
                  <a:srgbClr val="0E47A1"/>
                </a:solidFill>
              </a:rPr>
              <a:t>Postfix notation</a:t>
            </a:r>
          </a:p>
          <a:p>
            <a:pPr marL="857250" lvl="1" indent="-457200">
              <a:buFont typeface="+mj-lt"/>
              <a:buAutoNum type="arabicPeriod"/>
            </a:pPr>
            <a:r>
              <a:rPr lang="en-GB" sz="2400" dirty="0">
                <a:solidFill>
                  <a:srgbClr val="0E47A1"/>
                </a:solidFill>
              </a:rPr>
              <a:t>Three address code</a:t>
            </a:r>
          </a:p>
          <a:p>
            <a:pPr marL="857250" lvl="1" indent="-457200">
              <a:buFont typeface="+mj-lt"/>
              <a:buAutoNum type="arabicPeriod"/>
            </a:pPr>
            <a:r>
              <a:rPr lang="en-GB" sz="2400" dirty="0">
                <a:solidFill>
                  <a:srgbClr val="0E47A1"/>
                </a:solidFill>
              </a:rPr>
              <a:t>Syntax trees or DAGs</a:t>
            </a:r>
            <a:endParaRPr lang="en-US" sz="2400" dirty="0">
              <a:solidFill>
                <a:srgbClr val="0E47A1"/>
              </a:solidFill>
            </a:endParaRPr>
          </a:p>
          <a:p>
            <a:pPr lvl="0"/>
            <a:r>
              <a:rPr lang="en-GB" dirty="0"/>
              <a:t>The detection of semantic error should be done before submitting the input to the code generator.</a:t>
            </a:r>
            <a:endParaRPr lang="en-US" dirty="0"/>
          </a:p>
          <a:p>
            <a:pPr lvl="0"/>
            <a:r>
              <a:rPr lang="en-GB" dirty="0"/>
              <a:t>The code generation phase requires complete error free intermediate code as an input.</a:t>
            </a:r>
            <a:endParaRPr lang="en-US" dirty="0"/>
          </a:p>
          <a:p>
            <a:endParaRPr lang="en-US" dirty="0"/>
          </a:p>
        </p:txBody>
      </p:sp>
    </p:spTree>
    <p:extLst>
      <p:ext uri="{BB962C8B-B14F-4D97-AF65-F5344CB8AC3E}">
        <p14:creationId xmlns:p14="http://schemas.microsoft.com/office/powerpoint/2010/main" val="4294336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Target program</a:t>
            </a:r>
            <a:endParaRPr lang="en-IN" dirty="0"/>
          </a:p>
        </p:txBody>
      </p:sp>
      <p:sp>
        <p:nvSpPr>
          <p:cNvPr id="3" name="Content Placeholder 2">
            <a:extLst>
              <a:ext uri="{FF2B5EF4-FFF2-40B4-BE49-F238E27FC236}">
                <a16:creationId xmlns:a16="http://schemas.microsoft.com/office/drawing/2014/main" id="{C6A65127-957B-9293-954F-F9F1A56ABE47}"/>
              </a:ext>
            </a:extLst>
          </p:cNvPr>
          <p:cNvSpPr>
            <a:spLocks noGrp="1"/>
          </p:cNvSpPr>
          <p:nvPr>
            <p:ph idx="1"/>
          </p:nvPr>
        </p:nvSpPr>
        <p:spPr>
          <a:xfrm>
            <a:off x="131180" y="863444"/>
            <a:ext cx="11929641" cy="5590565"/>
          </a:xfrm>
        </p:spPr>
        <p:txBody>
          <a:bodyPr/>
          <a:lstStyle/>
          <a:p>
            <a:r>
              <a:rPr lang="en-GB" dirty="0"/>
              <a:t>The output may be in form of:</a:t>
            </a:r>
          </a:p>
          <a:p>
            <a:pPr marL="914400" lvl="0" indent="-457200">
              <a:buFont typeface="+mj-lt"/>
              <a:buAutoNum type="arabicPeriod"/>
            </a:pPr>
            <a:r>
              <a:rPr lang="en-GB" dirty="0">
                <a:solidFill>
                  <a:srgbClr val="0E47A1"/>
                </a:solidFill>
              </a:rPr>
              <a:t>Absolute machine language: </a:t>
            </a:r>
            <a:r>
              <a:rPr lang="en-GB" dirty="0"/>
              <a:t>Absolute machine language program can be placed in a memory location and immediately execute.</a:t>
            </a:r>
            <a:endParaRPr lang="en-US" dirty="0"/>
          </a:p>
          <a:p>
            <a:pPr marL="914400" lvl="0" indent="-457200">
              <a:buFont typeface="+mj-lt"/>
              <a:buAutoNum type="arabicPeriod"/>
            </a:pPr>
            <a:r>
              <a:rPr lang="en-GB" dirty="0" err="1">
                <a:solidFill>
                  <a:srgbClr val="0E47A1"/>
                </a:solidFill>
              </a:rPr>
              <a:t>Relocatable</a:t>
            </a:r>
            <a:r>
              <a:rPr lang="en-GB" dirty="0">
                <a:solidFill>
                  <a:srgbClr val="0E47A1"/>
                </a:solidFill>
              </a:rPr>
              <a:t> machine language: </a:t>
            </a:r>
            <a:r>
              <a:rPr lang="en-GB" dirty="0"/>
              <a:t>The subroutine can be compiled separately. A set of </a:t>
            </a:r>
            <a:r>
              <a:rPr lang="en-GB" dirty="0" err="1"/>
              <a:t>relocatable</a:t>
            </a:r>
            <a:r>
              <a:rPr lang="en-GB" dirty="0"/>
              <a:t> object modules can be linked together and loaded for execution. </a:t>
            </a:r>
            <a:endParaRPr lang="en-US" dirty="0"/>
          </a:p>
          <a:p>
            <a:pPr marL="914400" indent="-457200">
              <a:buFont typeface="+mj-lt"/>
              <a:buAutoNum type="arabicPeriod"/>
            </a:pPr>
            <a:r>
              <a:rPr lang="en-GB" dirty="0">
                <a:solidFill>
                  <a:srgbClr val="0E47A1"/>
                </a:solidFill>
              </a:rPr>
              <a:t>Assembly language: </a:t>
            </a:r>
            <a:r>
              <a:rPr lang="en-GB" dirty="0"/>
              <a:t>Producing an assembly language program as output makes the process of code generation easier, then assembler is require to convert code in binary form.</a:t>
            </a:r>
            <a:endParaRPr lang="en-US" dirty="0"/>
          </a:p>
          <a:p>
            <a:endParaRPr lang="en-US" dirty="0"/>
          </a:p>
        </p:txBody>
      </p:sp>
    </p:spTree>
    <p:extLst>
      <p:ext uri="{BB962C8B-B14F-4D97-AF65-F5344CB8AC3E}">
        <p14:creationId xmlns:p14="http://schemas.microsoft.com/office/powerpoint/2010/main" val="993651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Memory management</a:t>
            </a:r>
            <a:endParaRPr lang="en-IN" dirty="0"/>
          </a:p>
        </p:txBody>
      </p:sp>
      <p:sp>
        <p:nvSpPr>
          <p:cNvPr id="3" name="Content Placeholder 2">
            <a:extLst>
              <a:ext uri="{FF2B5EF4-FFF2-40B4-BE49-F238E27FC236}">
                <a16:creationId xmlns:a16="http://schemas.microsoft.com/office/drawing/2014/main" id="{E1A26C2A-A484-79DB-15B1-BBEF38FC71FD}"/>
              </a:ext>
            </a:extLst>
          </p:cNvPr>
          <p:cNvSpPr>
            <a:spLocks noGrp="1"/>
          </p:cNvSpPr>
          <p:nvPr>
            <p:ph idx="1"/>
          </p:nvPr>
        </p:nvSpPr>
        <p:spPr>
          <a:xfrm>
            <a:off x="131180" y="863444"/>
            <a:ext cx="11929641" cy="5590565"/>
          </a:xfrm>
        </p:spPr>
        <p:txBody>
          <a:bodyPr/>
          <a:lstStyle/>
          <a:p>
            <a:pPr lvl="0"/>
            <a:r>
              <a:rPr lang="en-GB" dirty="0">
                <a:solidFill>
                  <a:srgbClr val="C00000"/>
                </a:solidFill>
              </a:rPr>
              <a:t>Mapping names </a:t>
            </a:r>
            <a:r>
              <a:rPr lang="en-GB" dirty="0"/>
              <a:t>in the source program </a:t>
            </a:r>
            <a:r>
              <a:rPr lang="en-GB" dirty="0">
                <a:solidFill>
                  <a:srgbClr val="C00000"/>
                </a:solidFill>
              </a:rPr>
              <a:t>to addresses of data objects</a:t>
            </a:r>
            <a:r>
              <a:rPr lang="en-GB" dirty="0"/>
              <a:t> in run time memory is done cooperatively by the front end and the code generator. </a:t>
            </a:r>
            <a:endParaRPr lang="en-US" dirty="0"/>
          </a:p>
          <a:p>
            <a:pPr lvl="0"/>
            <a:r>
              <a:rPr lang="en-GB" dirty="0"/>
              <a:t>We assume that a name in a three-address statement refers to a symbol table entry for the name.</a:t>
            </a:r>
            <a:endParaRPr lang="en-US" dirty="0"/>
          </a:p>
          <a:p>
            <a:pPr lvl="0"/>
            <a:r>
              <a:rPr lang="en-GB" dirty="0"/>
              <a:t>From the symbol table information, a relative address can be determined for the name in a data area.</a:t>
            </a:r>
            <a:endParaRPr lang="en-US" dirty="0"/>
          </a:p>
          <a:p>
            <a:endParaRPr lang="en-US" dirty="0"/>
          </a:p>
        </p:txBody>
      </p:sp>
    </p:spTree>
    <p:extLst>
      <p:ext uri="{BB962C8B-B14F-4D97-AF65-F5344CB8AC3E}">
        <p14:creationId xmlns:p14="http://schemas.microsoft.com/office/powerpoint/2010/main" val="1859106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Instruction selection</a:t>
            </a:r>
            <a:endParaRPr lang="en-IN" dirty="0"/>
          </a:p>
        </p:txBody>
      </p:sp>
      <p:sp>
        <p:nvSpPr>
          <p:cNvPr id="3" name="Content Placeholder 2">
            <a:extLst>
              <a:ext uri="{FF2B5EF4-FFF2-40B4-BE49-F238E27FC236}">
                <a16:creationId xmlns:a16="http://schemas.microsoft.com/office/drawing/2014/main" id="{32E2DE4C-077E-3C56-1C64-55C3DC71B2D4}"/>
              </a:ext>
            </a:extLst>
          </p:cNvPr>
          <p:cNvSpPr>
            <a:spLocks noGrp="1"/>
          </p:cNvSpPr>
          <p:nvPr>
            <p:ph idx="1"/>
          </p:nvPr>
        </p:nvSpPr>
        <p:spPr>
          <a:xfrm>
            <a:off x="131180" y="863444"/>
            <a:ext cx="11929641" cy="5590565"/>
          </a:xfrm>
        </p:spPr>
        <p:txBody>
          <a:bodyPr/>
          <a:lstStyle/>
          <a:p>
            <a:pPr lvl="0"/>
            <a:r>
              <a:rPr lang="en-GB" dirty="0"/>
              <a:t>Example: the sequence of statements</a:t>
            </a:r>
            <a:endParaRPr lang="en-US" dirty="0"/>
          </a:p>
          <a:p>
            <a:pPr marL="0" indent="685800">
              <a:buNone/>
            </a:pPr>
            <a:r>
              <a:rPr lang="en-GB" dirty="0">
                <a:solidFill>
                  <a:srgbClr val="0E47A1"/>
                </a:solidFill>
              </a:rPr>
              <a:t>a := b + c</a:t>
            </a:r>
            <a:endParaRPr lang="en-US" dirty="0">
              <a:solidFill>
                <a:srgbClr val="0E47A1"/>
              </a:solidFill>
            </a:endParaRPr>
          </a:p>
          <a:p>
            <a:pPr marL="0" indent="685800">
              <a:buNone/>
            </a:pPr>
            <a:r>
              <a:rPr lang="en-GB" dirty="0">
                <a:solidFill>
                  <a:srgbClr val="0E47A1"/>
                </a:solidFill>
              </a:rPr>
              <a:t>d := a + e</a:t>
            </a:r>
            <a:endParaRPr lang="en-US" dirty="0">
              <a:solidFill>
                <a:srgbClr val="0E47A1"/>
              </a:solidFill>
            </a:endParaRPr>
          </a:p>
          <a:p>
            <a:r>
              <a:rPr lang="en-GB" dirty="0"/>
              <a:t>would be translated into</a:t>
            </a:r>
            <a:endParaRPr lang="en-US" dirty="0"/>
          </a:p>
          <a:p>
            <a:pPr marL="0" indent="685800">
              <a:buNone/>
            </a:pPr>
            <a:r>
              <a:rPr lang="en-GB" dirty="0"/>
              <a:t>MOV   b, R0</a:t>
            </a:r>
            <a:endParaRPr lang="en-US" dirty="0"/>
          </a:p>
          <a:p>
            <a:pPr marL="0" indent="685800">
              <a:buNone/>
            </a:pPr>
            <a:r>
              <a:rPr lang="en-GB" dirty="0"/>
              <a:t>ADD   c, R0</a:t>
            </a:r>
            <a:endParaRPr lang="en-US" dirty="0"/>
          </a:p>
          <a:p>
            <a:pPr marL="0" indent="685800">
              <a:buNone/>
            </a:pPr>
            <a:r>
              <a:rPr lang="en-GB" dirty="0"/>
              <a:t>MOV   R0, a</a:t>
            </a:r>
            <a:endParaRPr lang="en-US" dirty="0"/>
          </a:p>
          <a:p>
            <a:pPr marL="0" indent="685800">
              <a:buNone/>
            </a:pPr>
            <a:r>
              <a:rPr lang="en-GB" dirty="0">
                <a:solidFill>
                  <a:srgbClr val="C00000"/>
                </a:solidFill>
              </a:rPr>
              <a:t>MOV   a, R0</a:t>
            </a:r>
            <a:endParaRPr lang="en-US" dirty="0">
              <a:solidFill>
                <a:srgbClr val="C00000"/>
              </a:solidFill>
            </a:endParaRPr>
          </a:p>
          <a:p>
            <a:pPr marL="0" indent="685800">
              <a:buNone/>
            </a:pPr>
            <a:r>
              <a:rPr lang="en-GB" dirty="0"/>
              <a:t>ADD   e, R0</a:t>
            </a:r>
            <a:endParaRPr lang="en-US" dirty="0"/>
          </a:p>
          <a:p>
            <a:pPr marL="0" indent="685800">
              <a:buNone/>
            </a:pPr>
            <a:r>
              <a:rPr lang="en-GB" dirty="0"/>
              <a:t>MOV   R0, d</a:t>
            </a:r>
            <a:endParaRPr lang="en-US" dirty="0"/>
          </a:p>
          <a:p>
            <a:pPr lvl="0"/>
            <a:r>
              <a:rPr lang="en-GB" dirty="0"/>
              <a:t>So, we can eliminate redundant statements.</a:t>
            </a:r>
            <a:endParaRPr lang="en-US" dirty="0"/>
          </a:p>
          <a:p>
            <a:endParaRPr lang="en-US" dirty="0"/>
          </a:p>
        </p:txBody>
      </p:sp>
    </p:spTree>
    <p:extLst>
      <p:ext uri="{BB962C8B-B14F-4D97-AF65-F5344CB8AC3E}">
        <p14:creationId xmlns:p14="http://schemas.microsoft.com/office/powerpoint/2010/main" val="3444700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Register allocation</a:t>
            </a:r>
            <a:endParaRPr lang="en-IN" dirty="0"/>
          </a:p>
        </p:txBody>
      </p:sp>
      <p:sp>
        <p:nvSpPr>
          <p:cNvPr id="3" name="Content Placeholder 2">
            <a:extLst>
              <a:ext uri="{FF2B5EF4-FFF2-40B4-BE49-F238E27FC236}">
                <a16:creationId xmlns:a16="http://schemas.microsoft.com/office/drawing/2014/main" id="{E08CF105-98A5-997C-1C90-8F1E3FE0BB20}"/>
              </a:ext>
            </a:extLst>
          </p:cNvPr>
          <p:cNvSpPr>
            <a:spLocks noGrp="1"/>
          </p:cNvSpPr>
          <p:nvPr>
            <p:ph idx="1"/>
          </p:nvPr>
        </p:nvSpPr>
        <p:spPr>
          <a:xfrm>
            <a:off x="131180" y="863444"/>
            <a:ext cx="11929641" cy="5590565"/>
          </a:xfrm>
        </p:spPr>
        <p:txBody>
          <a:bodyPr/>
          <a:lstStyle/>
          <a:p>
            <a:pPr lvl="0"/>
            <a:r>
              <a:rPr lang="en-GB" dirty="0"/>
              <a:t>The use of registers is often subdivided into two sub problems:</a:t>
            </a:r>
            <a:endParaRPr lang="en-US" dirty="0"/>
          </a:p>
          <a:p>
            <a:pPr lvl="0"/>
            <a:r>
              <a:rPr lang="en-GB" dirty="0"/>
              <a:t>During </a:t>
            </a:r>
            <a:r>
              <a:rPr lang="en-GB" dirty="0">
                <a:solidFill>
                  <a:srgbClr val="C00000"/>
                </a:solidFill>
              </a:rPr>
              <a:t>register allocation</a:t>
            </a:r>
            <a:r>
              <a:rPr lang="en-GB" dirty="0"/>
              <a:t>, we select the </a:t>
            </a:r>
            <a:r>
              <a:rPr lang="en-GB" dirty="0">
                <a:solidFill>
                  <a:srgbClr val="C00000"/>
                </a:solidFill>
              </a:rPr>
              <a:t>set of variables </a:t>
            </a:r>
            <a:r>
              <a:rPr lang="en-GB" dirty="0"/>
              <a:t>that will reside in registers at a point in the program.</a:t>
            </a:r>
            <a:endParaRPr lang="en-US" dirty="0"/>
          </a:p>
          <a:p>
            <a:pPr lvl="0"/>
            <a:r>
              <a:rPr lang="en-GB" dirty="0"/>
              <a:t>During a subsequent </a:t>
            </a:r>
            <a:r>
              <a:rPr lang="en-GB" dirty="0">
                <a:solidFill>
                  <a:srgbClr val="C00000"/>
                </a:solidFill>
              </a:rPr>
              <a:t>register assignment </a:t>
            </a:r>
            <a:r>
              <a:rPr lang="en-GB" dirty="0"/>
              <a:t>phase, we pick the </a:t>
            </a:r>
            <a:r>
              <a:rPr lang="en-GB" dirty="0">
                <a:solidFill>
                  <a:srgbClr val="C00000"/>
                </a:solidFill>
              </a:rPr>
              <a:t>specific register </a:t>
            </a:r>
            <a:r>
              <a:rPr lang="en-GB" dirty="0"/>
              <a:t>that a variable will reside in.</a:t>
            </a:r>
            <a:endParaRPr lang="en-US" dirty="0"/>
          </a:p>
          <a:p>
            <a:pPr lvl="0"/>
            <a:r>
              <a:rPr lang="en-GB" dirty="0"/>
              <a:t>Finding an optimal assignment of registers to variables is difficult, even with single register value.</a:t>
            </a:r>
            <a:endParaRPr lang="en-US" dirty="0"/>
          </a:p>
          <a:p>
            <a:pPr lvl="0"/>
            <a:r>
              <a:rPr lang="en-GB" dirty="0"/>
              <a:t>Mathematically the problem is </a:t>
            </a:r>
            <a:r>
              <a:rPr lang="en-GB" dirty="0">
                <a:solidFill>
                  <a:srgbClr val="C00000"/>
                </a:solidFill>
              </a:rPr>
              <a:t>NP-complete</a:t>
            </a:r>
            <a:r>
              <a:rPr lang="en-GB" dirty="0"/>
              <a:t>.</a:t>
            </a:r>
            <a:endParaRPr lang="en-US" dirty="0"/>
          </a:p>
          <a:p>
            <a:endParaRPr lang="en-US" dirty="0"/>
          </a:p>
        </p:txBody>
      </p:sp>
    </p:spTree>
    <p:extLst>
      <p:ext uri="{BB962C8B-B14F-4D97-AF65-F5344CB8AC3E}">
        <p14:creationId xmlns:p14="http://schemas.microsoft.com/office/powerpoint/2010/main" val="216010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Choice of evaluation</a:t>
            </a:r>
            <a:endParaRPr lang="en-IN" dirty="0"/>
          </a:p>
        </p:txBody>
      </p:sp>
      <p:sp>
        <p:nvSpPr>
          <p:cNvPr id="3" name="Content Placeholder 2">
            <a:extLst>
              <a:ext uri="{FF2B5EF4-FFF2-40B4-BE49-F238E27FC236}">
                <a16:creationId xmlns:a16="http://schemas.microsoft.com/office/drawing/2014/main" id="{400C8CF3-4071-2278-4A04-0F8B17E1566B}"/>
              </a:ext>
            </a:extLst>
          </p:cNvPr>
          <p:cNvSpPr>
            <a:spLocks noGrp="1"/>
          </p:cNvSpPr>
          <p:nvPr>
            <p:ph idx="1"/>
          </p:nvPr>
        </p:nvSpPr>
        <p:spPr>
          <a:xfrm>
            <a:off x="131180" y="863444"/>
            <a:ext cx="11929641" cy="5590565"/>
          </a:xfrm>
        </p:spPr>
        <p:txBody>
          <a:bodyPr/>
          <a:lstStyle/>
          <a:p>
            <a:pPr lvl="0"/>
            <a:r>
              <a:rPr lang="en-US" dirty="0"/>
              <a:t>The </a:t>
            </a:r>
            <a:r>
              <a:rPr lang="en-US" dirty="0">
                <a:solidFill>
                  <a:srgbClr val="C00000"/>
                </a:solidFill>
              </a:rPr>
              <a:t>order in which computations are performed </a:t>
            </a:r>
            <a:r>
              <a:rPr lang="en-US" dirty="0"/>
              <a:t>can affect the efficiency of the target code. </a:t>
            </a:r>
          </a:p>
          <a:p>
            <a:pPr lvl="0"/>
            <a:r>
              <a:rPr lang="en-US" dirty="0"/>
              <a:t>Some computation orders require fewer registers to hold intermediate results than others. </a:t>
            </a:r>
          </a:p>
          <a:p>
            <a:pPr lvl="0"/>
            <a:r>
              <a:rPr lang="en-US" dirty="0"/>
              <a:t>Picking a best order is another difficult, </a:t>
            </a:r>
            <a:r>
              <a:rPr lang="en-US" dirty="0">
                <a:solidFill>
                  <a:srgbClr val="C00000"/>
                </a:solidFill>
              </a:rPr>
              <a:t>NP-complete problem</a:t>
            </a:r>
            <a:r>
              <a:rPr lang="en-US" dirty="0"/>
              <a:t>.</a:t>
            </a:r>
          </a:p>
          <a:p>
            <a:endParaRPr lang="en-US" dirty="0"/>
          </a:p>
        </p:txBody>
      </p:sp>
    </p:spTree>
    <p:extLst>
      <p:ext uri="{BB962C8B-B14F-4D97-AF65-F5344CB8AC3E}">
        <p14:creationId xmlns:p14="http://schemas.microsoft.com/office/powerpoint/2010/main" val="661331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Approaches to code generation </a:t>
            </a:r>
            <a:endParaRPr lang="en-IN" dirty="0"/>
          </a:p>
        </p:txBody>
      </p:sp>
      <p:sp>
        <p:nvSpPr>
          <p:cNvPr id="3" name="Content Placeholder 2">
            <a:extLst>
              <a:ext uri="{FF2B5EF4-FFF2-40B4-BE49-F238E27FC236}">
                <a16:creationId xmlns:a16="http://schemas.microsoft.com/office/drawing/2014/main" id="{97E49C01-3166-6970-67EB-2869BED0AF51}"/>
              </a:ext>
            </a:extLst>
          </p:cNvPr>
          <p:cNvSpPr>
            <a:spLocks noGrp="1"/>
          </p:cNvSpPr>
          <p:nvPr>
            <p:ph idx="1"/>
          </p:nvPr>
        </p:nvSpPr>
        <p:spPr>
          <a:xfrm>
            <a:off x="131180" y="863444"/>
            <a:ext cx="11929641" cy="5590565"/>
          </a:xfrm>
        </p:spPr>
        <p:txBody>
          <a:bodyPr/>
          <a:lstStyle/>
          <a:p>
            <a:pPr lvl="0"/>
            <a:r>
              <a:rPr lang="en-GB" dirty="0"/>
              <a:t>The most important criterion for a code generator is that it produces correct code. </a:t>
            </a:r>
            <a:endParaRPr lang="en-US" dirty="0"/>
          </a:p>
          <a:p>
            <a:pPr lvl="0"/>
            <a:r>
              <a:rPr lang="en-GB" dirty="0"/>
              <a:t>The design of code generator should be in such a way so it can be implemented, tested, and maintained easily.</a:t>
            </a:r>
            <a:endParaRPr lang="en-US" dirty="0"/>
          </a:p>
          <a:p>
            <a:endParaRPr lang="en-US" dirty="0"/>
          </a:p>
        </p:txBody>
      </p:sp>
    </p:spTree>
    <p:extLst>
      <p:ext uri="{BB962C8B-B14F-4D97-AF65-F5344CB8AC3E}">
        <p14:creationId xmlns:p14="http://schemas.microsoft.com/office/powerpoint/2010/main" val="1374265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ABF6F7D-1FE9-3B04-812A-3DC21A048138}"/>
              </a:ext>
            </a:extLst>
          </p:cNvPr>
          <p:cNvSpPr>
            <a:spLocks noGrp="1"/>
          </p:cNvSpPr>
          <p:nvPr>
            <p:ph type="body" idx="1"/>
          </p:nvPr>
        </p:nvSpPr>
        <p:spPr/>
        <p:txBody>
          <a:bodyPr/>
          <a:lstStyle/>
          <a:p>
            <a:endParaRPr lang="en-IN" dirty="0"/>
          </a:p>
        </p:txBody>
      </p:sp>
      <p:sp>
        <p:nvSpPr>
          <p:cNvPr id="3" name="Title 2">
            <a:extLst>
              <a:ext uri="{FF2B5EF4-FFF2-40B4-BE49-F238E27FC236}">
                <a16:creationId xmlns:a16="http://schemas.microsoft.com/office/drawing/2014/main" id="{FFDB6605-E646-D4AE-5DDE-184675023F1C}"/>
              </a:ext>
            </a:extLst>
          </p:cNvPr>
          <p:cNvSpPr>
            <a:spLocks noGrp="1"/>
          </p:cNvSpPr>
          <p:nvPr>
            <p:ph type="title"/>
          </p:nvPr>
        </p:nvSpPr>
        <p:spPr/>
        <p:txBody>
          <a:bodyPr/>
          <a:lstStyle/>
          <a:p>
            <a:r>
              <a:rPr lang="en-US" dirty="0"/>
              <a:t>Basic blocks and Flow Graph</a:t>
            </a:r>
            <a:endParaRPr lang="en-IN" dirty="0"/>
          </a:p>
        </p:txBody>
      </p:sp>
    </p:spTree>
    <p:extLst>
      <p:ext uri="{BB962C8B-B14F-4D97-AF65-F5344CB8AC3E}">
        <p14:creationId xmlns:p14="http://schemas.microsoft.com/office/powerpoint/2010/main" val="17072696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Basic Blocks</a:t>
            </a:r>
            <a:endParaRPr lang="en-IN" dirty="0"/>
          </a:p>
        </p:txBody>
      </p:sp>
      <p:sp>
        <p:nvSpPr>
          <p:cNvPr id="3" name="Content Placeholder 2">
            <a:extLst>
              <a:ext uri="{FF2B5EF4-FFF2-40B4-BE49-F238E27FC236}">
                <a16:creationId xmlns:a16="http://schemas.microsoft.com/office/drawing/2014/main" id="{91A98004-C23B-BB73-3DC4-981FA66507B7}"/>
              </a:ext>
            </a:extLst>
          </p:cNvPr>
          <p:cNvSpPr>
            <a:spLocks noGrp="1"/>
          </p:cNvSpPr>
          <p:nvPr>
            <p:ph idx="1"/>
          </p:nvPr>
        </p:nvSpPr>
        <p:spPr>
          <a:xfrm>
            <a:off x="131180" y="863444"/>
            <a:ext cx="11929641" cy="5590565"/>
          </a:xfrm>
        </p:spPr>
        <p:txBody>
          <a:bodyPr/>
          <a:lstStyle/>
          <a:p>
            <a:r>
              <a:rPr lang="en-US" dirty="0"/>
              <a:t>A basic block is a </a:t>
            </a:r>
            <a:r>
              <a:rPr lang="en-US" dirty="0">
                <a:solidFill>
                  <a:srgbClr val="C00000"/>
                </a:solidFill>
              </a:rPr>
              <a:t>sequence of consecutive statements in which flow of control enters at the beginning and leaves at the end </a:t>
            </a:r>
            <a:r>
              <a:rPr lang="en-US" dirty="0"/>
              <a:t>without halt or possibility of branching except at the end. </a:t>
            </a:r>
          </a:p>
          <a:p>
            <a:r>
              <a:rPr lang="en-US" dirty="0"/>
              <a:t>The following sequence of three-address statements forms a basic block:</a:t>
            </a:r>
          </a:p>
          <a:p>
            <a:pPr marL="0" indent="0">
              <a:buNone/>
            </a:pPr>
            <a:r>
              <a:rPr lang="en-US" dirty="0"/>
              <a:t>		t1 := a*a</a:t>
            </a:r>
          </a:p>
          <a:p>
            <a:pPr marL="0" indent="0">
              <a:buNone/>
            </a:pPr>
            <a:r>
              <a:rPr lang="en-US" dirty="0"/>
              <a:t>		t2 := a*b</a:t>
            </a:r>
          </a:p>
          <a:p>
            <a:pPr marL="0" indent="0">
              <a:buNone/>
            </a:pPr>
            <a:r>
              <a:rPr lang="en-US" dirty="0"/>
              <a:t>		t3 := 2*t2</a:t>
            </a:r>
          </a:p>
          <a:p>
            <a:pPr marL="0" indent="0">
              <a:buNone/>
            </a:pPr>
            <a:r>
              <a:rPr lang="en-US" dirty="0"/>
              <a:t>		t4 := t1+t3</a:t>
            </a:r>
          </a:p>
          <a:p>
            <a:pPr marL="0" indent="0">
              <a:buNone/>
            </a:pPr>
            <a:r>
              <a:rPr lang="en-US" dirty="0"/>
              <a:t>		t5 := b*b</a:t>
            </a:r>
          </a:p>
          <a:p>
            <a:pPr marL="0" indent="0">
              <a:buNone/>
            </a:pPr>
            <a:r>
              <a:rPr lang="en-US" dirty="0"/>
              <a:t>		t6 := t4+t5</a:t>
            </a:r>
          </a:p>
          <a:p>
            <a:pPr lvl="0"/>
            <a:endParaRPr lang="en-US" dirty="0"/>
          </a:p>
        </p:txBody>
      </p:sp>
    </p:spTree>
    <p:extLst>
      <p:ext uri="{BB962C8B-B14F-4D97-AF65-F5344CB8AC3E}">
        <p14:creationId xmlns:p14="http://schemas.microsoft.com/office/powerpoint/2010/main" val="651870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Algorithm: Partition into basic blocks</a:t>
            </a:r>
            <a:endParaRPr lang="en-IN" dirty="0"/>
          </a:p>
        </p:txBody>
      </p:sp>
      <p:sp>
        <p:nvSpPr>
          <p:cNvPr id="3" name="Content Placeholder 2">
            <a:extLst>
              <a:ext uri="{FF2B5EF4-FFF2-40B4-BE49-F238E27FC236}">
                <a16:creationId xmlns:a16="http://schemas.microsoft.com/office/drawing/2014/main" id="{20884910-A48B-11FF-1749-2FD67A5ACF3D}"/>
              </a:ext>
            </a:extLst>
          </p:cNvPr>
          <p:cNvSpPr>
            <a:spLocks noGrp="1"/>
          </p:cNvSpPr>
          <p:nvPr>
            <p:ph idx="1"/>
          </p:nvPr>
        </p:nvSpPr>
        <p:spPr>
          <a:xfrm>
            <a:off x="131180" y="863444"/>
            <a:ext cx="11929641" cy="5590565"/>
          </a:xfrm>
        </p:spPr>
        <p:txBody>
          <a:bodyPr/>
          <a:lstStyle/>
          <a:p>
            <a:pPr marL="0" indent="0">
              <a:buNone/>
            </a:pPr>
            <a:r>
              <a:rPr lang="en-US" dirty="0">
                <a:solidFill>
                  <a:srgbClr val="0E47A1"/>
                </a:solidFill>
              </a:rPr>
              <a:t>Input:</a:t>
            </a:r>
            <a:r>
              <a:rPr lang="en-US" dirty="0"/>
              <a:t> A sequence of three-address statements.</a:t>
            </a:r>
            <a:endParaRPr lang="en-US" sz="2000" dirty="0"/>
          </a:p>
          <a:p>
            <a:pPr marL="0" indent="0">
              <a:buNone/>
            </a:pPr>
            <a:r>
              <a:rPr lang="en-US" dirty="0">
                <a:solidFill>
                  <a:srgbClr val="0E47A1"/>
                </a:solidFill>
              </a:rPr>
              <a:t>Output:</a:t>
            </a:r>
            <a:r>
              <a:rPr lang="en-US" dirty="0"/>
              <a:t> A list of basic blocks with each three-address statement in exactly one block.</a:t>
            </a:r>
            <a:endParaRPr lang="en-US" sz="2000" dirty="0"/>
          </a:p>
          <a:p>
            <a:pPr marL="0" indent="0">
              <a:buNone/>
            </a:pPr>
            <a:r>
              <a:rPr lang="en-US" dirty="0">
                <a:solidFill>
                  <a:srgbClr val="0E47A1"/>
                </a:solidFill>
              </a:rPr>
              <a:t>Method:</a:t>
            </a:r>
            <a:endParaRPr lang="en-US" sz="2000" dirty="0">
              <a:solidFill>
                <a:srgbClr val="0E47A1"/>
              </a:solidFill>
            </a:endParaRPr>
          </a:p>
          <a:p>
            <a:pPr marL="457200" lvl="0" indent="-457200">
              <a:buClrTx/>
              <a:buFont typeface="+mj-lt"/>
              <a:buAutoNum type="arabicPeriod"/>
            </a:pPr>
            <a:r>
              <a:rPr lang="en-US" dirty="0"/>
              <a:t>We first determine the set of </a:t>
            </a:r>
            <a:r>
              <a:rPr lang="en-US" b="1" dirty="0"/>
              <a:t>leaders</a:t>
            </a:r>
            <a:r>
              <a:rPr lang="en-US" dirty="0"/>
              <a:t>, for that we use the following rules:</a:t>
            </a:r>
            <a:endParaRPr lang="en-US" sz="2000" dirty="0"/>
          </a:p>
          <a:p>
            <a:pPr marL="1314450" lvl="2" indent="-400050">
              <a:buClrTx/>
              <a:buFont typeface="+mj-lt"/>
              <a:buAutoNum type="romanUcPeriod"/>
            </a:pPr>
            <a:r>
              <a:rPr lang="en-US" sz="2200" dirty="0"/>
              <a:t>The first statement is a leader.</a:t>
            </a:r>
          </a:p>
          <a:p>
            <a:pPr marL="1314450" lvl="2" indent="-400050">
              <a:buClrTx/>
              <a:buFont typeface="+mj-lt"/>
              <a:buAutoNum type="romanUcPeriod"/>
            </a:pPr>
            <a:r>
              <a:rPr lang="en-US" sz="2200" dirty="0"/>
              <a:t>Any statement that is the target of a conditional or unconditional </a:t>
            </a:r>
            <a:r>
              <a:rPr lang="en-US" sz="2200" dirty="0" err="1"/>
              <a:t>goto</a:t>
            </a:r>
            <a:r>
              <a:rPr lang="en-US" sz="2200" dirty="0"/>
              <a:t> is a leader.</a:t>
            </a:r>
          </a:p>
          <a:p>
            <a:pPr marL="1314450" lvl="2" indent="-400050">
              <a:buClrTx/>
              <a:buFont typeface="+mj-lt"/>
              <a:buAutoNum type="romanUcPeriod"/>
            </a:pPr>
            <a:r>
              <a:rPr lang="en-US" sz="2200" dirty="0"/>
              <a:t>Any statement that immediately follows a </a:t>
            </a:r>
            <a:r>
              <a:rPr lang="en-US" sz="2200" dirty="0" err="1"/>
              <a:t>goto</a:t>
            </a:r>
            <a:r>
              <a:rPr lang="en-US" sz="2200" dirty="0"/>
              <a:t> or conditional </a:t>
            </a:r>
            <a:r>
              <a:rPr lang="en-US" sz="2200" dirty="0" err="1"/>
              <a:t>goto</a:t>
            </a:r>
            <a:r>
              <a:rPr lang="en-US" sz="2200" dirty="0"/>
              <a:t> statement is a leader</a:t>
            </a:r>
            <a:r>
              <a:rPr lang="en-US" sz="1900" dirty="0"/>
              <a:t>. </a:t>
            </a:r>
          </a:p>
          <a:p>
            <a:pPr marL="457200" indent="-400050">
              <a:buNone/>
            </a:pPr>
            <a:r>
              <a:rPr lang="en-US" dirty="0"/>
              <a:t>2. For each leader, its basic block consists of the leader and all statements up to but not including the next leader or the end of the program.</a:t>
            </a:r>
            <a:endParaRPr lang="en-US" sz="2000" dirty="0"/>
          </a:p>
          <a:p>
            <a:endParaRPr lang="en-US" dirty="0"/>
          </a:p>
        </p:txBody>
      </p:sp>
    </p:spTree>
    <p:extLst>
      <p:ext uri="{BB962C8B-B14F-4D97-AF65-F5344CB8AC3E}">
        <p14:creationId xmlns:p14="http://schemas.microsoft.com/office/powerpoint/2010/main" val="210747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Example: Partition into basic blocks</a:t>
            </a:r>
            <a:endParaRPr lang="en-IN" dirty="0"/>
          </a:p>
        </p:txBody>
      </p:sp>
      <p:sp>
        <p:nvSpPr>
          <p:cNvPr id="3" name="Content Placeholder 2">
            <a:extLst>
              <a:ext uri="{FF2B5EF4-FFF2-40B4-BE49-F238E27FC236}">
                <a16:creationId xmlns:a16="http://schemas.microsoft.com/office/drawing/2014/main" id="{A3D9E321-11D8-4D3A-26BE-F4E7ECA07518}"/>
              </a:ext>
            </a:extLst>
          </p:cNvPr>
          <p:cNvSpPr>
            <a:spLocks noGrp="1"/>
          </p:cNvSpPr>
          <p:nvPr>
            <p:ph idx="1"/>
          </p:nvPr>
        </p:nvSpPr>
        <p:spPr>
          <a:xfrm>
            <a:off x="131180" y="863444"/>
            <a:ext cx="5612797" cy="5590565"/>
          </a:xfrm>
        </p:spPr>
        <p:txBody>
          <a:bodyPr/>
          <a:lstStyle/>
          <a:p>
            <a:pPr marL="0" indent="0">
              <a:buNone/>
            </a:pPr>
            <a:r>
              <a:rPr lang="en-US" sz="2000" dirty="0"/>
              <a:t>begin	</a:t>
            </a:r>
          </a:p>
          <a:p>
            <a:pPr marL="0" indent="0">
              <a:buNone/>
            </a:pPr>
            <a:r>
              <a:rPr lang="en-US" sz="2000" dirty="0"/>
              <a:t>	prod := 0;</a:t>
            </a:r>
          </a:p>
          <a:p>
            <a:pPr marL="0" indent="0">
              <a:buNone/>
            </a:pPr>
            <a:r>
              <a:rPr lang="en-US" sz="2000" dirty="0"/>
              <a:t>                 	</a:t>
            </a:r>
            <a:r>
              <a:rPr lang="en-US" sz="2000" dirty="0" err="1"/>
              <a:t>i</a:t>
            </a:r>
            <a:r>
              <a:rPr lang="en-US" sz="2000" dirty="0"/>
              <a:t> := 1;</a:t>
            </a:r>
          </a:p>
          <a:p>
            <a:pPr marL="0" indent="0">
              <a:buNone/>
            </a:pPr>
            <a:r>
              <a:rPr lang="en-US" sz="2000" dirty="0"/>
              <a:t>                 do </a:t>
            </a:r>
          </a:p>
          <a:p>
            <a:pPr marL="0" indent="0">
              <a:buNone/>
            </a:pPr>
            <a:r>
              <a:rPr lang="en-US" sz="2000" dirty="0"/>
              <a:t>                             prod := prod + a[t1] * b[t2];</a:t>
            </a:r>
          </a:p>
          <a:p>
            <a:pPr marL="0" indent="0">
              <a:buNone/>
            </a:pPr>
            <a:r>
              <a:rPr lang="en-US" sz="2000" dirty="0"/>
              <a:t>                             </a:t>
            </a:r>
            <a:r>
              <a:rPr lang="en-US" sz="2000" dirty="0" err="1"/>
              <a:t>i</a:t>
            </a:r>
            <a:r>
              <a:rPr lang="en-US" sz="2000" dirty="0"/>
              <a:t> := i+1;</a:t>
            </a:r>
          </a:p>
          <a:p>
            <a:pPr marL="0" indent="0">
              <a:buNone/>
            </a:pPr>
            <a:r>
              <a:rPr lang="en-US" sz="2000" dirty="0"/>
              <a:t>                  while  </a:t>
            </a:r>
            <a:r>
              <a:rPr lang="en-US" sz="2000" dirty="0" err="1"/>
              <a:t>i</a:t>
            </a:r>
            <a:r>
              <a:rPr lang="en-US" sz="2000" dirty="0"/>
              <a:t>&lt;= 20</a:t>
            </a:r>
          </a:p>
          <a:p>
            <a:pPr marL="0" indent="0">
              <a:buNone/>
            </a:pPr>
            <a:r>
              <a:rPr lang="en-US" sz="2000" dirty="0"/>
              <a:t>end</a:t>
            </a:r>
          </a:p>
          <a:p>
            <a:endParaRPr lang="en-US" sz="2000" dirty="0"/>
          </a:p>
        </p:txBody>
      </p:sp>
      <p:sp>
        <p:nvSpPr>
          <p:cNvPr id="4" name="Rectangle 3">
            <a:extLst>
              <a:ext uri="{FF2B5EF4-FFF2-40B4-BE49-F238E27FC236}">
                <a16:creationId xmlns:a16="http://schemas.microsoft.com/office/drawing/2014/main" id="{1A49562C-152D-4BB0-2C78-6CC9F6CF59D5}"/>
              </a:ext>
            </a:extLst>
          </p:cNvPr>
          <p:cNvSpPr/>
          <p:nvPr/>
        </p:nvSpPr>
        <p:spPr>
          <a:xfrm>
            <a:off x="8046477" y="1297546"/>
            <a:ext cx="2667000" cy="3657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prod := 0</a:t>
            </a:r>
          </a:p>
          <a:p>
            <a:r>
              <a:rPr lang="en-US" dirty="0">
                <a:solidFill>
                  <a:schemeClr val="tx1"/>
                </a:solidFill>
              </a:rPr>
              <a:t>(2)    </a:t>
            </a:r>
            <a:r>
              <a:rPr lang="en-US" dirty="0" err="1">
                <a:solidFill>
                  <a:schemeClr val="tx1"/>
                </a:solidFill>
              </a:rPr>
              <a:t>i</a:t>
            </a:r>
            <a:r>
              <a:rPr lang="en-US" dirty="0">
                <a:solidFill>
                  <a:schemeClr val="tx1"/>
                </a:solidFill>
              </a:rPr>
              <a:t> := 1</a:t>
            </a:r>
          </a:p>
          <a:p>
            <a:r>
              <a:rPr lang="en-US" dirty="0">
                <a:solidFill>
                  <a:schemeClr val="tx1"/>
                </a:solidFill>
              </a:rPr>
              <a:t>(3)    t1 := 4*</a:t>
            </a:r>
            <a:r>
              <a:rPr lang="en-US" dirty="0" err="1">
                <a:solidFill>
                  <a:schemeClr val="tx1"/>
                </a:solidFill>
              </a:rPr>
              <a:t>i</a:t>
            </a:r>
            <a:endParaRPr lang="en-US" dirty="0">
              <a:solidFill>
                <a:schemeClr val="tx1"/>
              </a:solidFill>
            </a:endParaRPr>
          </a:p>
          <a:p>
            <a:r>
              <a:rPr lang="en-US" dirty="0">
                <a:solidFill>
                  <a:schemeClr val="tx1"/>
                </a:solidFill>
              </a:rPr>
              <a:t>(4)    t2 := a [t1]</a:t>
            </a:r>
          </a:p>
          <a:p>
            <a:r>
              <a:rPr lang="en-US" dirty="0">
                <a:solidFill>
                  <a:schemeClr val="tx1"/>
                </a:solidFill>
              </a:rPr>
              <a:t>(5)    t3 := 4*</a:t>
            </a:r>
            <a:r>
              <a:rPr lang="en-US" dirty="0" err="1">
                <a:solidFill>
                  <a:schemeClr val="tx1"/>
                </a:solidFill>
              </a:rPr>
              <a:t>i</a:t>
            </a:r>
            <a:endParaRPr lang="en-US" dirty="0">
              <a:solidFill>
                <a:schemeClr val="tx1"/>
              </a:solidFill>
            </a:endParaRPr>
          </a:p>
          <a:p>
            <a:r>
              <a:rPr lang="en-US" dirty="0">
                <a:solidFill>
                  <a:schemeClr val="tx1"/>
                </a:solidFill>
              </a:rPr>
              <a:t>(6)    t4 :=b [t3]</a:t>
            </a:r>
          </a:p>
          <a:p>
            <a:r>
              <a:rPr lang="en-US" dirty="0">
                <a:solidFill>
                  <a:schemeClr val="tx1"/>
                </a:solidFill>
              </a:rPr>
              <a:t>(7)    t5 := t2*t4</a:t>
            </a:r>
          </a:p>
          <a:p>
            <a:r>
              <a:rPr lang="en-US" dirty="0">
                <a:solidFill>
                  <a:schemeClr val="tx1"/>
                </a:solidFill>
              </a:rPr>
              <a:t>(8)    t6 := prod +t5</a:t>
            </a:r>
          </a:p>
          <a:p>
            <a:r>
              <a:rPr lang="en-US" dirty="0">
                <a:solidFill>
                  <a:schemeClr val="tx1"/>
                </a:solidFill>
              </a:rPr>
              <a:t>(9)    prod := t6</a:t>
            </a:r>
          </a:p>
          <a:p>
            <a:r>
              <a:rPr lang="en-US" dirty="0">
                <a:solidFill>
                  <a:schemeClr val="tx1"/>
                </a:solidFill>
              </a:rPr>
              <a:t>(10)  t7 := i+1</a:t>
            </a:r>
          </a:p>
          <a:p>
            <a:r>
              <a:rPr lang="en-US" dirty="0">
                <a:solidFill>
                  <a:schemeClr val="tx1"/>
                </a:solidFill>
              </a:rPr>
              <a:t>(11)  </a:t>
            </a:r>
            <a:r>
              <a:rPr lang="en-US" dirty="0" err="1">
                <a:solidFill>
                  <a:schemeClr val="tx1"/>
                </a:solidFill>
              </a:rPr>
              <a:t>i</a:t>
            </a:r>
            <a:r>
              <a:rPr lang="en-US" dirty="0">
                <a:solidFill>
                  <a:schemeClr val="tx1"/>
                </a:solidFill>
              </a:rPr>
              <a:t> := t7</a:t>
            </a:r>
          </a:p>
          <a:p>
            <a:r>
              <a:rPr lang="en-US" dirty="0">
                <a:solidFill>
                  <a:schemeClr val="tx1"/>
                </a:solidFill>
              </a:rPr>
              <a:t>(12)  if  </a:t>
            </a:r>
            <a:r>
              <a:rPr lang="en-US" dirty="0" err="1">
                <a:solidFill>
                  <a:schemeClr val="tx1"/>
                </a:solidFill>
              </a:rPr>
              <a:t>i</a:t>
            </a:r>
            <a:r>
              <a:rPr lang="en-US" dirty="0">
                <a:solidFill>
                  <a:schemeClr val="tx1"/>
                </a:solidFill>
              </a:rPr>
              <a:t>&lt;=20 </a:t>
            </a:r>
            <a:r>
              <a:rPr lang="en-US" dirty="0" err="1">
                <a:solidFill>
                  <a:schemeClr val="tx1"/>
                </a:solidFill>
              </a:rPr>
              <a:t>goto</a:t>
            </a:r>
            <a:r>
              <a:rPr lang="en-US" dirty="0">
                <a:solidFill>
                  <a:schemeClr val="tx1"/>
                </a:solidFill>
              </a:rPr>
              <a:t> (3)</a:t>
            </a:r>
          </a:p>
          <a:p>
            <a:endParaRPr lang="en-US" dirty="0">
              <a:solidFill>
                <a:schemeClr val="tx1"/>
              </a:solidFill>
            </a:endParaRPr>
          </a:p>
        </p:txBody>
      </p:sp>
      <p:sp>
        <p:nvSpPr>
          <p:cNvPr id="5" name="Rectangle 4">
            <a:extLst>
              <a:ext uri="{FF2B5EF4-FFF2-40B4-BE49-F238E27FC236}">
                <a16:creationId xmlns:a16="http://schemas.microsoft.com/office/drawing/2014/main" id="{4DDF4B1C-901E-F093-FF70-35E0AE6B6E8B}"/>
              </a:ext>
            </a:extLst>
          </p:cNvPr>
          <p:cNvSpPr/>
          <p:nvPr/>
        </p:nvSpPr>
        <p:spPr>
          <a:xfrm>
            <a:off x="10056252" y="1297546"/>
            <a:ext cx="1462087"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Leader</a:t>
            </a:r>
          </a:p>
        </p:txBody>
      </p:sp>
      <p:cxnSp>
        <p:nvCxnSpPr>
          <p:cNvPr id="6" name="Straight Arrow Connector 5">
            <a:extLst>
              <a:ext uri="{FF2B5EF4-FFF2-40B4-BE49-F238E27FC236}">
                <a16:creationId xmlns:a16="http://schemas.microsoft.com/office/drawing/2014/main" id="{83170D87-2F17-C8F8-F416-4F8DF9413131}"/>
              </a:ext>
            </a:extLst>
          </p:cNvPr>
          <p:cNvCxnSpPr/>
          <p:nvPr/>
        </p:nvCxnSpPr>
        <p:spPr>
          <a:xfrm flipH="1">
            <a:off x="9522857" y="1464234"/>
            <a:ext cx="814388" cy="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8DD74EB6-A204-40E6-CC8E-DCAE138C5393}"/>
              </a:ext>
            </a:extLst>
          </p:cNvPr>
          <p:cNvGrpSpPr/>
          <p:nvPr/>
        </p:nvGrpSpPr>
        <p:grpSpPr>
          <a:xfrm>
            <a:off x="7730629" y="2059546"/>
            <a:ext cx="352424" cy="2514600"/>
            <a:chOff x="5105400" y="1905000"/>
            <a:chExt cx="352424" cy="2514600"/>
          </a:xfrm>
        </p:grpSpPr>
        <p:cxnSp>
          <p:nvCxnSpPr>
            <p:cNvPr id="8" name="Straight Connector 7">
              <a:extLst>
                <a:ext uri="{FF2B5EF4-FFF2-40B4-BE49-F238E27FC236}">
                  <a16:creationId xmlns:a16="http://schemas.microsoft.com/office/drawing/2014/main" id="{AA2D18D9-371E-C83B-B05D-090797526513}"/>
                </a:ext>
              </a:extLst>
            </p:cNvPr>
            <p:cNvCxnSpPr/>
            <p:nvPr/>
          </p:nvCxnSpPr>
          <p:spPr>
            <a:xfrm flipH="1">
              <a:off x="5105400" y="4419600"/>
              <a:ext cx="352424" cy="0"/>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B829EF6-096E-EEC0-C9E6-8E6B6175FC3D}"/>
                </a:ext>
              </a:extLst>
            </p:cNvPr>
            <p:cNvCxnSpPr/>
            <p:nvPr/>
          </p:nvCxnSpPr>
          <p:spPr>
            <a:xfrm flipH="1">
              <a:off x="5105400" y="1905000"/>
              <a:ext cx="352424" cy="0"/>
            </a:xfrm>
            <a:prstGeom prst="line">
              <a:avLst/>
            </a:prstGeom>
            <a:ln w="25400">
              <a:solidFill>
                <a:srgbClr val="0E47A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505CE7F-F2AD-4301-BDAB-260E2531F139}"/>
                </a:ext>
              </a:extLst>
            </p:cNvPr>
            <p:cNvCxnSpPr/>
            <p:nvPr/>
          </p:nvCxnSpPr>
          <p:spPr>
            <a:xfrm>
              <a:off x="5119688" y="1905000"/>
              <a:ext cx="0" cy="2514600"/>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grpSp>
      <p:sp>
        <p:nvSpPr>
          <p:cNvPr id="11" name="Rectangle 10">
            <a:extLst>
              <a:ext uri="{FF2B5EF4-FFF2-40B4-BE49-F238E27FC236}">
                <a16:creationId xmlns:a16="http://schemas.microsoft.com/office/drawing/2014/main" id="{06101AFE-133C-C575-6F43-2BC209043678}"/>
              </a:ext>
            </a:extLst>
          </p:cNvPr>
          <p:cNvSpPr/>
          <p:nvPr/>
        </p:nvSpPr>
        <p:spPr>
          <a:xfrm>
            <a:off x="10039585" y="1864282"/>
            <a:ext cx="1462087"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Leader</a:t>
            </a:r>
          </a:p>
        </p:txBody>
      </p:sp>
      <p:cxnSp>
        <p:nvCxnSpPr>
          <p:cNvPr id="12" name="Straight Arrow Connector 11">
            <a:extLst>
              <a:ext uri="{FF2B5EF4-FFF2-40B4-BE49-F238E27FC236}">
                <a16:creationId xmlns:a16="http://schemas.microsoft.com/office/drawing/2014/main" id="{A4946679-D9E0-FA0C-FC68-92C8A71DEA0B}"/>
              </a:ext>
            </a:extLst>
          </p:cNvPr>
          <p:cNvCxnSpPr/>
          <p:nvPr/>
        </p:nvCxnSpPr>
        <p:spPr>
          <a:xfrm flipH="1">
            <a:off x="9506190" y="2030970"/>
            <a:ext cx="814388" cy="0"/>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3EDDEDAD-5977-3D65-3B13-0E6C83D84BE6}"/>
              </a:ext>
            </a:extLst>
          </p:cNvPr>
          <p:cNvSpPr/>
          <p:nvPr/>
        </p:nvSpPr>
        <p:spPr>
          <a:xfrm>
            <a:off x="8075053" y="1297546"/>
            <a:ext cx="2174084" cy="566736"/>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E39368D-C80D-F463-075E-38E345768A64}"/>
              </a:ext>
            </a:extLst>
          </p:cNvPr>
          <p:cNvSpPr/>
          <p:nvPr/>
        </p:nvSpPr>
        <p:spPr>
          <a:xfrm>
            <a:off x="8083818" y="1907254"/>
            <a:ext cx="2183607" cy="2786064"/>
          </a:xfrm>
          <a:prstGeom prst="rect">
            <a:avLst/>
          </a:prstGeom>
          <a:noFill/>
          <a:ln>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FB8659A-9C26-736B-B4A0-9D72DC848F36}"/>
              </a:ext>
            </a:extLst>
          </p:cNvPr>
          <p:cNvSpPr/>
          <p:nvPr/>
        </p:nvSpPr>
        <p:spPr>
          <a:xfrm>
            <a:off x="6848709" y="1407083"/>
            <a:ext cx="1462087"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Block B1</a:t>
            </a:r>
          </a:p>
        </p:txBody>
      </p:sp>
      <p:sp>
        <p:nvSpPr>
          <p:cNvPr id="16" name="Rectangle 15">
            <a:extLst>
              <a:ext uri="{FF2B5EF4-FFF2-40B4-BE49-F238E27FC236}">
                <a16:creationId xmlns:a16="http://schemas.microsoft.com/office/drawing/2014/main" id="{DEE5D29A-F3E0-03DA-3C58-147A1277CD1D}"/>
              </a:ext>
            </a:extLst>
          </p:cNvPr>
          <p:cNvSpPr/>
          <p:nvPr/>
        </p:nvSpPr>
        <p:spPr>
          <a:xfrm>
            <a:off x="10056251" y="3364469"/>
            <a:ext cx="1462087"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C00000"/>
                </a:solidFill>
              </a:rPr>
              <a:t>Block B2</a:t>
            </a:r>
          </a:p>
        </p:txBody>
      </p:sp>
      <p:sp>
        <p:nvSpPr>
          <p:cNvPr id="17" name="Rectangle 16">
            <a:extLst>
              <a:ext uri="{FF2B5EF4-FFF2-40B4-BE49-F238E27FC236}">
                <a16:creationId xmlns:a16="http://schemas.microsoft.com/office/drawing/2014/main" id="{1DB0D8F0-4055-E871-86E3-26692CE0408A}"/>
              </a:ext>
            </a:extLst>
          </p:cNvPr>
          <p:cNvSpPr/>
          <p:nvPr/>
        </p:nvSpPr>
        <p:spPr>
          <a:xfrm>
            <a:off x="8082197" y="4912283"/>
            <a:ext cx="21336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0E47A1"/>
                </a:solidFill>
              </a:rPr>
              <a:t>Three Address Code</a:t>
            </a:r>
          </a:p>
        </p:txBody>
      </p:sp>
      <p:cxnSp>
        <p:nvCxnSpPr>
          <p:cNvPr id="18" name="Straight Connector 17">
            <a:extLst>
              <a:ext uri="{FF2B5EF4-FFF2-40B4-BE49-F238E27FC236}">
                <a16:creationId xmlns:a16="http://schemas.microsoft.com/office/drawing/2014/main" id="{82BB5013-FBB2-5AB8-6BBE-8B00232B4E00}"/>
              </a:ext>
            </a:extLst>
          </p:cNvPr>
          <p:cNvCxnSpPr/>
          <p:nvPr/>
        </p:nvCxnSpPr>
        <p:spPr>
          <a:xfrm>
            <a:off x="6106318" y="967609"/>
            <a:ext cx="6120" cy="5486400"/>
          </a:xfrm>
          <a:prstGeom prst="line">
            <a:avLst/>
          </a:prstGeom>
          <a:ln>
            <a:solidFill>
              <a:srgbClr val="0E47A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6179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right)">
                                      <p:cBhvr>
                                        <p:cTn id="14" dur="500"/>
                                        <p:tgtEl>
                                          <p:spTgt spid="5"/>
                                        </p:tgtEl>
                                      </p:cBhvr>
                                    </p:animEffect>
                                  </p:childTnLst>
                                </p:cTn>
                              </p:par>
                              <p:par>
                                <p:cTn id="15" presetID="22" presetClass="entr" presetSubtype="2"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righ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right)">
                                      <p:cBhvr>
                                        <p:cTn id="27" dur="500"/>
                                        <p:tgtEl>
                                          <p:spTgt spid="11"/>
                                        </p:tgtEl>
                                      </p:cBhvr>
                                    </p:animEffect>
                                  </p:childTnLst>
                                </p:cTn>
                              </p:par>
                              <p:par>
                                <p:cTn id="28" presetID="22" presetClass="entr" presetSubtype="2"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right)">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down)">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down)">
                                      <p:cBhvr>
                                        <p:cTn id="44" dur="500"/>
                                        <p:tgtEl>
                                          <p:spTgt spid="14"/>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1" grpId="0"/>
      <p:bldP spid="13" grpId="0" animBg="1"/>
      <p:bldP spid="14" grpId="0" animBg="1"/>
      <p:bldP spid="15" grpId="0"/>
      <p:bldP spid="16" grpId="0"/>
      <p:bldP spid="1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F747C78-F820-8737-8E23-D5A34ACAABF9}"/>
              </a:ext>
            </a:extLst>
          </p:cNvPr>
          <p:cNvSpPr>
            <a:spLocks noGrp="1"/>
          </p:cNvSpPr>
          <p:nvPr>
            <p:ph type="body" idx="1"/>
          </p:nvPr>
        </p:nvSpPr>
        <p:spPr/>
        <p:txBody>
          <a:bodyPr/>
          <a:lstStyle/>
          <a:p>
            <a:endParaRPr lang="en-IN"/>
          </a:p>
        </p:txBody>
      </p:sp>
      <p:sp>
        <p:nvSpPr>
          <p:cNvPr id="3" name="Title 2">
            <a:extLst>
              <a:ext uri="{FF2B5EF4-FFF2-40B4-BE49-F238E27FC236}">
                <a16:creationId xmlns:a16="http://schemas.microsoft.com/office/drawing/2014/main" id="{E7FA0CB4-4755-A2E9-370A-4571799C13BE}"/>
              </a:ext>
            </a:extLst>
          </p:cNvPr>
          <p:cNvSpPr>
            <a:spLocks noGrp="1"/>
          </p:cNvSpPr>
          <p:nvPr>
            <p:ph type="title"/>
          </p:nvPr>
        </p:nvSpPr>
        <p:spPr/>
        <p:txBody>
          <a:bodyPr/>
          <a:lstStyle/>
          <a:p>
            <a:r>
              <a:rPr lang="en-US" dirty="0"/>
              <a:t>Data Flow Analysis- Liveness analysis</a:t>
            </a:r>
            <a:endParaRPr lang="en-IN" dirty="0"/>
          </a:p>
        </p:txBody>
      </p:sp>
    </p:spTree>
    <p:extLst>
      <p:ext uri="{BB962C8B-B14F-4D97-AF65-F5344CB8AC3E}">
        <p14:creationId xmlns:p14="http://schemas.microsoft.com/office/powerpoint/2010/main" val="29015574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CF028-16D9-B6D5-B8C0-C68E827F6B1B}"/>
              </a:ext>
            </a:extLst>
          </p:cNvPr>
          <p:cNvSpPr>
            <a:spLocks noGrp="1"/>
          </p:cNvSpPr>
          <p:nvPr>
            <p:ph type="title"/>
          </p:nvPr>
        </p:nvSpPr>
        <p:spPr/>
        <p:txBody>
          <a:bodyPr/>
          <a:lstStyle/>
          <a:p>
            <a:r>
              <a:rPr lang="en-US" dirty="0"/>
              <a:t>Data Flow Properties</a:t>
            </a:r>
            <a:endParaRPr lang="en-IN" dirty="0"/>
          </a:p>
        </p:txBody>
      </p:sp>
      <p:sp>
        <p:nvSpPr>
          <p:cNvPr id="3" name="Content Placeholder 2">
            <a:extLst>
              <a:ext uri="{FF2B5EF4-FFF2-40B4-BE49-F238E27FC236}">
                <a16:creationId xmlns:a16="http://schemas.microsoft.com/office/drawing/2014/main" id="{3E111278-6A14-F7C3-2B9A-B70A33B00CB7}"/>
              </a:ext>
            </a:extLst>
          </p:cNvPr>
          <p:cNvSpPr>
            <a:spLocks noGrp="1"/>
          </p:cNvSpPr>
          <p:nvPr>
            <p:ph idx="1"/>
          </p:nvPr>
        </p:nvSpPr>
        <p:spPr/>
        <p:txBody>
          <a:bodyPr/>
          <a:lstStyle/>
          <a:p>
            <a:r>
              <a:rPr lang="en-US" dirty="0"/>
              <a:t>A program point containing the definition is called </a:t>
            </a:r>
            <a:r>
              <a:rPr lang="en-US" dirty="0">
                <a:solidFill>
                  <a:srgbClr val="0972C6"/>
                </a:solidFill>
              </a:rPr>
              <a:t>Definition point</a:t>
            </a:r>
            <a:r>
              <a:rPr lang="en-US" dirty="0"/>
              <a:t>.</a:t>
            </a:r>
          </a:p>
          <a:p>
            <a:r>
              <a:rPr lang="en-US" dirty="0"/>
              <a:t>A program point at which a reference to a data item is made is called </a:t>
            </a:r>
            <a:r>
              <a:rPr lang="en-US" dirty="0">
                <a:solidFill>
                  <a:srgbClr val="0972C6"/>
                </a:solidFill>
              </a:rPr>
              <a:t>Reference point</a:t>
            </a:r>
            <a:r>
              <a:rPr lang="en-US" dirty="0"/>
              <a:t>.</a:t>
            </a:r>
          </a:p>
          <a:p>
            <a:r>
              <a:rPr lang="en-US" dirty="0"/>
              <a:t>A program point at which some evaluating expression is given is called </a:t>
            </a:r>
            <a:r>
              <a:rPr lang="en-US" dirty="0">
                <a:solidFill>
                  <a:srgbClr val="0972C6"/>
                </a:solidFill>
              </a:rPr>
              <a:t>Evaluation point</a:t>
            </a:r>
            <a:r>
              <a:rPr lang="en-US" dirty="0"/>
              <a:t>.</a:t>
            </a:r>
          </a:p>
          <a:p>
            <a:endParaRPr lang="en-IN" dirty="0"/>
          </a:p>
        </p:txBody>
      </p:sp>
      <p:sp>
        <p:nvSpPr>
          <p:cNvPr id="4" name="Rectangle 3">
            <a:extLst>
              <a:ext uri="{FF2B5EF4-FFF2-40B4-BE49-F238E27FC236}">
                <a16:creationId xmlns:a16="http://schemas.microsoft.com/office/drawing/2014/main" id="{027DC248-40E0-354E-27C6-A7DCFFC7F875}"/>
              </a:ext>
            </a:extLst>
          </p:cNvPr>
          <p:cNvSpPr>
            <a:spLocks noChangeArrowheads="1"/>
          </p:cNvSpPr>
          <p:nvPr/>
        </p:nvSpPr>
        <p:spPr bwMode="auto">
          <a:xfrm>
            <a:off x="4273127" y="2990850"/>
            <a:ext cx="1676400" cy="438150"/>
          </a:xfrm>
          <a:prstGeom prst="rect">
            <a:avLst/>
          </a:prstGeom>
          <a:solidFill>
            <a:srgbClr val="FFFFFF"/>
          </a:solidFill>
          <a:ln w="22225">
            <a:solidFill>
              <a:schemeClr val="tx2">
                <a:lumMod val="75000"/>
              </a:schemeClr>
            </a:solidFill>
            <a:miter lim="800000"/>
            <a:headEnd/>
            <a:tailEnd/>
          </a:ln>
        </p:spPr>
        <p:txBody>
          <a:bodyPr rot="0" vert="horz" wrap="square" lIns="91440" tIns="45720" rIns="91440" bIns="45720" anchor="t" anchorCtr="0" upright="1">
            <a:noAutofit/>
          </a:bodyPr>
          <a:lstStyle/>
          <a:p>
            <a:pPr algn="ctr"/>
            <a:r>
              <a:rPr lang="en-US" dirty="0"/>
              <a:t>W1:x=3</a:t>
            </a:r>
          </a:p>
        </p:txBody>
      </p:sp>
      <p:sp>
        <p:nvSpPr>
          <p:cNvPr id="5" name="Rectangle 4">
            <a:extLst>
              <a:ext uri="{FF2B5EF4-FFF2-40B4-BE49-F238E27FC236}">
                <a16:creationId xmlns:a16="http://schemas.microsoft.com/office/drawing/2014/main" id="{9855244F-93A0-2C37-1AB9-A9305F13DD8A}"/>
              </a:ext>
            </a:extLst>
          </p:cNvPr>
          <p:cNvSpPr>
            <a:spLocks noChangeArrowheads="1"/>
          </p:cNvSpPr>
          <p:nvPr/>
        </p:nvSpPr>
        <p:spPr bwMode="auto">
          <a:xfrm>
            <a:off x="4273128" y="3677917"/>
            <a:ext cx="1676400" cy="403225"/>
          </a:xfrm>
          <a:prstGeom prst="rect">
            <a:avLst/>
          </a:prstGeom>
          <a:solidFill>
            <a:srgbClr val="FFFFFF"/>
          </a:solidFill>
          <a:ln w="22225">
            <a:solidFill>
              <a:schemeClr val="tx2">
                <a:lumMod val="75000"/>
              </a:schemeClr>
            </a:solidFill>
            <a:miter lim="800000"/>
            <a:headEnd/>
            <a:tailEnd/>
          </a:ln>
        </p:spPr>
        <p:txBody>
          <a:bodyPr rot="0" vert="horz" wrap="square" lIns="91440" tIns="45720" rIns="91440" bIns="45720" anchor="t" anchorCtr="0" upright="1">
            <a:noAutofit/>
          </a:bodyPr>
          <a:lstStyle/>
          <a:p>
            <a:pPr algn="ctr"/>
            <a:r>
              <a:rPr lang="en-US" dirty="0"/>
              <a:t>W2: y=x</a:t>
            </a:r>
          </a:p>
        </p:txBody>
      </p:sp>
      <p:sp>
        <p:nvSpPr>
          <p:cNvPr id="6" name="Rectangle 5">
            <a:extLst>
              <a:ext uri="{FF2B5EF4-FFF2-40B4-BE49-F238E27FC236}">
                <a16:creationId xmlns:a16="http://schemas.microsoft.com/office/drawing/2014/main" id="{19500C4C-7FD5-0E4D-861D-3F4445F8CA9A}"/>
              </a:ext>
            </a:extLst>
          </p:cNvPr>
          <p:cNvSpPr>
            <a:spLocks noChangeArrowheads="1"/>
          </p:cNvSpPr>
          <p:nvPr/>
        </p:nvSpPr>
        <p:spPr bwMode="auto">
          <a:xfrm>
            <a:off x="4258840" y="4321809"/>
            <a:ext cx="1704976" cy="379730"/>
          </a:xfrm>
          <a:prstGeom prst="rect">
            <a:avLst/>
          </a:prstGeom>
          <a:solidFill>
            <a:srgbClr val="FFFFFF"/>
          </a:solidFill>
          <a:ln w="22225">
            <a:solidFill>
              <a:schemeClr val="tx2">
                <a:lumMod val="75000"/>
              </a:schemeClr>
            </a:solidFill>
            <a:miter lim="800000"/>
            <a:headEnd/>
            <a:tailEnd/>
          </a:ln>
        </p:spPr>
        <p:txBody>
          <a:bodyPr rot="0" vert="horz" wrap="square" lIns="91440" tIns="45720" rIns="91440" bIns="45720" anchor="t" anchorCtr="0" upright="1">
            <a:noAutofit/>
          </a:bodyPr>
          <a:lstStyle/>
          <a:p>
            <a:pPr algn="ctr"/>
            <a:r>
              <a:rPr lang="en-US" dirty="0"/>
              <a:t>W3: z=a*b</a:t>
            </a:r>
          </a:p>
        </p:txBody>
      </p:sp>
      <p:cxnSp>
        <p:nvCxnSpPr>
          <p:cNvPr id="7" name="AutoShape 7">
            <a:extLst>
              <a:ext uri="{FF2B5EF4-FFF2-40B4-BE49-F238E27FC236}">
                <a16:creationId xmlns:a16="http://schemas.microsoft.com/office/drawing/2014/main" id="{07E4739D-31CC-6239-F6EC-0A608430ABDD}"/>
              </a:ext>
            </a:extLst>
          </p:cNvPr>
          <p:cNvCxnSpPr>
            <a:cxnSpLocks noChangeShapeType="1"/>
            <a:stCxn id="4" idx="2"/>
            <a:endCxn id="5" idx="0"/>
          </p:cNvCxnSpPr>
          <p:nvPr/>
        </p:nvCxnSpPr>
        <p:spPr bwMode="auto">
          <a:xfrm>
            <a:off x="5111327" y="3429000"/>
            <a:ext cx="1" cy="248917"/>
          </a:xfrm>
          <a:prstGeom prst="straightConnector1">
            <a:avLst/>
          </a:prstGeom>
          <a:noFill/>
          <a:ln w="22225">
            <a:solidFill>
              <a:schemeClr val="tx2">
                <a:lumMod val="75000"/>
              </a:schemeClr>
            </a:solidFill>
            <a:round/>
            <a:headEnd/>
            <a:tailEnd type="triangle" w="med" len="med"/>
          </a:ln>
          <a:extLst>
            <a:ext uri="{909E8E84-426E-40DD-AFC4-6F175D3DCCD1}">
              <a14:hiddenFill xmlns:a14="http://schemas.microsoft.com/office/drawing/2010/main">
                <a:noFill/>
              </a14:hiddenFill>
            </a:ext>
          </a:extLst>
        </p:spPr>
      </p:cxnSp>
      <p:cxnSp>
        <p:nvCxnSpPr>
          <p:cNvPr id="8" name="AutoShape 7">
            <a:extLst>
              <a:ext uri="{FF2B5EF4-FFF2-40B4-BE49-F238E27FC236}">
                <a16:creationId xmlns:a16="http://schemas.microsoft.com/office/drawing/2014/main" id="{A5938820-9F5B-9B56-6149-EFF264D5CE60}"/>
              </a:ext>
            </a:extLst>
          </p:cNvPr>
          <p:cNvCxnSpPr>
            <a:cxnSpLocks noChangeShapeType="1"/>
            <a:stCxn id="5" idx="2"/>
            <a:endCxn id="6" idx="0"/>
          </p:cNvCxnSpPr>
          <p:nvPr/>
        </p:nvCxnSpPr>
        <p:spPr bwMode="auto">
          <a:xfrm>
            <a:off x="5111328" y="4081142"/>
            <a:ext cx="0" cy="240667"/>
          </a:xfrm>
          <a:prstGeom prst="straightConnector1">
            <a:avLst/>
          </a:prstGeom>
          <a:noFill/>
          <a:ln w="22225">
            <a:solidFill>
              <a:schemeClr val="tx2">
                <a:lumMod val="75000"/>
              </a:schemeClr>
            </a:solidFill>
            <a:round/>
            <a:headEnd/>
            <a:tailEnd type="triangle" w="med" len="med"/>
          </a:ln>
          <a:extLst>
            <a:ext uri="{909E8E84-426E-40DD-AFC4-6F175D3DCCD1}">
              <a14:hiddenFill xmlns:a14="http://schemas.microsoft.com/office/drawing/2010/main">
                <a:noFill/>
              </a14:hiddenFill>
            </a:ext>
          </a:extLst>
        </p:spPr>
      </p:cxnSp>
      <p:sp>
        <p:nvSpPr>
          <p:cNvPr id="9" name="Rectangle 8">
            <a:extLst>
              <a:ext uri="{FF2B5EF4-FFF2-40B4-BE49-F238E27FC236}">
                <a16:creationId xmlns:a16="http://schemas.microsoft.com/office/drawing/2014/main" id="{997A26DA-0524-EFF7-F211-2E89E71E8CFF}"/>
              </a:ext>
            </a:extLst>
          </p:cNvPr>
          <p:cNvSpPr>
            <a:spLocks noChangeArrowheads="1"/>
          </p:cNvSpPr>
          <p:nvPr/>
        </p:nvSpPr>
        <p:spPr bwMode="auto">
          <a:xfrm>
            <a:off x="5982864" y="3000375"/>
            <a:ext cx="2695467" cy="438150"/>
          </a:xfrm>
          <a:prstGeom prst="rect">
            <a:avLst/>
          </a:prstGeom>
          <a:solidFill>
            <a:srgbClr val="FFFFFF"/>
          </a:solidFill>
          <a:ln w="22225">
            <a:noFill/>
            <a:miter lim="800000"/>
            <a:headEnd/>
            <a:tailEnd/>
          </a:ln>
        </p:spPr>
        <p:txBody>
          <a:bodyPr rot="0" vert="horz" wrap="square" lIns="91440" tIns="45720" rIns="91440" bIns="45720" anchor="t" anchorCtr="0" upright="1">
            <a:noAutofit/>
          </a:bodyPr>
          <a:lstStyle/>
          <a:p>
            <a:pPr marL="0" marR="0" algn="ctr">
              <a:lnSpc>
                <a:spcPct val="107000"/>
              </a:lnSpc>
              <a:spcBef>
                <a:spcPts val="0"/>
              </a:spcBef>
              <a:spcAft>
                <a:spcPts val="800"/>
              </a:spcAft>
            </a:pPr>
            <a:r>
              <a:rPr lang="en-US" sz="2400" dirty="0"/>
              <a:t>Definition point</a:t>
            </a:r>
          </a:p>
        </p:txBody>
      </p:sp>
      <p:sp>
        <p:nvSpPr>
          <p:cNvPr id="10" name="Rectangle 9">
            <a:extLst>
              <a:ext uri="{FF2B5EF4-FFF2-40B4-BE49-F238E27FC236}">
                <a16:creationId xmlns:a16="http://schemas.microsoft.com/office/drawing/2014/main" id="{A62C483F-B130-F7F8-2A0A-CE1D49B28E7C}"/>
              </a:ext>
            </a:extLst>
          </p:cNvPr>
          <p:cNvSpPr>
            <a:spLocks noChangeArrowheads="1"/>
          </p:cNvSpPr>
          <p:nvPr/>
        </p:nvSpPr>
        <p:spPr bwMode="auto">
          <a:xfrm>
            <a:off x="5982865" y="3687442"/>
            <a:ext cx="2695466" cy="403225"/>
          </a:xfrm>
          <a:prstGeom prst="rect">
            <a:avLst/>
          </a:prstGeom>
          <a:solidFill>
            <a:srgbClr val="FFFFFF"/>
          </a:solidFill>
          <a:ln w="22225">
            <a:noFill/>
            <a:miter lim="800000"/>
            <a:headEnd/>
            <a:tailEnd/>
          </a:ln>
        </p:spPr>
        <p:txBody>
          <a:bodyPr rot="0" vert="horz" wrap="square" lIns="91440" tIns="45720" rIns="91440" bIns="45720" anchor="t" anchorCtr="0" upright="1">
            <a:noAutofit/>
          </a:bodyPr>
          <a:lstStyle/>
          <a:p>
            <a:pPr algn="ctr">
              <a:lnSpc>
                <a:spcPct val="107000"/>
              </a:lnSpc>
              <a:spcAft>
                <a:spcPts val="800"/>
              </a:spcAft>
            </a:pPr>
            <a:r>
              <a:rPr lang="en-US" sz="2400" dirty="0"/>
              <a:t>Reference point</a:t>
            </a:r>
          </a:p>
        </p:txBody>
      </p:sp>
      <p:sp>
        <p:nvSpPr>
          <p:cNvPr id="11" name="Rectangle 10">
            <a:extLst>
              <a:ext uri="{FF2B5EF4-FFF2-40B4-BE49-F238E27FC236}">
                <a16:creationId xmlns:a16="http://schemas.microsoft.com/office/drawing/2014/main" id="{F46DD2B4-8517-F1A8-96FF-C8D82296001B}"/>
              </a:ext>
            </a:extLst>
          </p:cNvPr>
          <p:cNvSpPr>
            <a:spLocks noChangeArrowheads="1"/>
          </p:cNvSpPr>
          <p:nvPr/>
        </p:nvSpPr>
        <p:spPr bwMode="auto">
          <a:xfrm>
            <a:off x="6096000" y="4334168"/>
            <a:ext cx="2695466" cy="379730"/>
          </a:xfrm>
          <a:prstGeom prst="rect">
            <a:avLst/>
          </a:prstGeom>
          <a:solidFill>
            <a:srgbClr val="FFFFFF"/>
          </a:solidFill>
          <a:ln w="22225">
            <a:noFill/>
            <a:miter lim="800000"/>
            <a:headEnd/>
            <a:tailEnd/>
          </a:ln>
        </p:spPr>
        <p:txBody>
          <a:bodyPr rot="0" vert="horz" wrap="square" lIns="91440" tIns="45720" rIns="91440" bIns="45720" anchor="t" anchorCtr="0" upright="1">
            <a:noAutofit/>
          </a:bodyPr>
          <a:lstStyle/>
          <a:p>
            <a:pPr algn="ctr">
              <a:lnSpc>
                <a:spcPct val="107000"/>
              </a:lnSpc>
              <a:spcAft>
                <a:spcPts val="800"/>
              </a:spcAft>
            </a:pPr>
            <a:r>
              <a:rPr lang="en-US" sz="2400" dirty="0"/>
              <a:t>Evaluation point</a:t>
            </a:r>
          </a:p>
        </p:txBody>
      </p:sp>
    </p:spTree>
    <p:extLst>
      <p:ext uri="{BB962C8B-B14F-4D97-AF65-F5344CB8AC3E}">
        <p14:creationId xmlns:p14="http://schemas.microsoft.com/office/powerpoint/2010/main" val="3131754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up)">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up)">
                                      <p:cBhvr>
                                        <p:cTn id="15" dur="500"/>
                                        <p:tgtEl>
                                          <p:spTgt spid="7"/>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up)">
                                      <p:cBhvr>
                                        <p:cTn id="18" dur="500"/>
                                        <p:tgtEl>
                                          <p:spTgt spid="5"/>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up)">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up)">
                                      <p:cBhvr>
                                        <p:cTn id="29" dur="500"/>
                                        <p:tgtEl>
                                          <p:spTgt spid="6"/>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up)">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0" grpId="0" animBg="1"/>
      <p:bldP spid="11"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C478C-B5FF-6514-1D70-3E5A80AD4C34}"/>
              </a:ext>
            </a:extLst>
          </p:cNvPr>
          <p:cNvSpPr>
            <a:spLocks noGrp="1"/>
          </p:cNvSpPr>
          <p:nvPr>
            <p:ph type="title"/>
          </p:nvPr>
        </p:nvSpPr>
        <p:spPr/>
        <p:txBody>
          <a:bodyPr/>
          <a:lstStyle/>
          <a:p>
            <a:r>
              <a:rPr lang="en-US" dirty="0"/>
              <a:t>Available Expression</a:t>
            </a:r>
            <a:endParaRPr lang="en-IN" dirty="0"/>
          </a:p>
        </p:txBody>
      </p:sp>
      <p:sp>
        <p:nvSpPr>
          <p:cNvPr id="3" name="Content Placeholder 2">
            <a:extLst>
              <a:ext uri="{FF2B5EF4-FFF2-40B4-BE49-F238E27FC236}">
                <a16:creationId xmlns:a16="http://schemas.microsoft.com/office/drawing/2014/main" id="{D0570B01-21DD-F6A5-4D3E-065B2DDE56A0}"/>
              </a:ext>
            </a:extLst>
          </p:cNvPr>
          <p:cNvSpPr>
            <a:spLocks noGrp="1"/>
          </p:cNvSpPr>
          <p:nvPr>
            <p:ph idx="1"/>
          </p:nvPr>
        </p:nvSpPr>
        <p:spPr/>
        <p:txBody>
          <a:bodyPr/>
          <a:lstStyle/>
          <a:p>
            <a:r>
              <a:rPr lang="en-US" dirty="0"/>
              <a:t>An expression </a:t>
            </a:r>
            <a:r>
              <a:rPr lang="en-US" dirty="0" err="1"/>
              <a:t>x+y</a:t>
            </a:r>
            <a:r>
              <a:rPr lang="en-US" dirty="0"/>
              <a:t> is available at a program point w if and only if along all paths are reaching to w.</a:t>
            </a:r>
          </a:p>
          <a:p>
            <a:r>
              <a:rPr lang="en-US" dirty="0"/>
              <a:t>The expression </a:t>
            </a:r>
            <a:r>
              <a:rPr lang="en-US" dirty="0" err="1"/>
              <a:t>x+y</a:t>
            </a:r>
            <a:r>
              <a:rPr lang="en-US" dirty="0"/>
              <a:t> is said to be available at its evaluation point.</a:t>
            </a:r>
          </a:p>
          <a:p>
            <a:r>
              <a:rPr lang="en-US" dirty="0"/>
              <a:t>Neither of the two operands get modified before their use.</a:t>
            </a:r>
          </a:p>
          <a:p>
            <a:endParaRPr lang="en-US" dirty="0"/>
          </a:p>
          <a:p>
            <a:endParaRPr lang="en-US" dirty="0"/>
          </a:p>
          <a:p>
            <a:endParaRPr lang="en-US" dirty="0"/>
          </a:p>
          <a:p>
            <a:endParaRPr lang="en-US" dirty="0"/>
          </a:p>
          <a:p>
            <a:endParaRPr lang="en-US" dirty="0"/>
          </a:p>
          <a:p>
            <a:endParaRPr lang="en-US" dirty="0"/>
          </a:p>
          <a:p>
            <a:endParaRPr lang="en-US" dirty="0"/>
          </a:p>
          <a:p>
            <a:r>
              <a:rPr lang="en-US" dirty="0"/>
              <a:t>Expression 4 * </a:t>
            </a:r>
            <a:r>
              <a:rPr lang="en-US" dirty="0" err="1"/>
              <a:t>i</a:t>
            </a:r>
            <a:r>
              <a:rPr lang="en-US" dirty="0"/>
              <a:t> is the available expression for B</a:t>
            </a:r>
            <a:r>
              <a:rPr lang="en-US" baseline="-25000" dirty="0"/>
              <a:t>2</a:t>
            </a:r>
            <a:r>
              <a:rPr lang="en-US" dirty="0"/>
              <a:t>, B</a:t>
            </a:r>
            <a:r>
              <a:rPr lang="en-US" baseline="-25000" dirty="0"/>
              <a:t>3</a:t>
            </a:r>
            <a:r>
              <a:rPr lang="en-US" dirty="0"/>
              <a:t> and B</a:t>
            </a:r>
            <a:r>
              <a:rPr lang="en-US" baseline="-25000" dirty="0"/>
              <a:t>4</a:t>
            </a:r>
            <a:r>
              <a:rPr lang="en-US" dirty="0"/>
              <a:t> because this expression has not been changed by any of the block before appearing in B</a:t>
            </a:r>
            <a:r>
              <a:rPr lang="en-US" baseline="-25000" dirty="0"/>
              <a:t>4.</a:t>
            </a:r>
            <a:endParaRPr lang="en-US" dirty="0"/>
          </a:p>
          <a:p>
            <a:endParaRPr lang="en-US" dirty="0"/>
          </a:p>
          <a:p>
            <a:endParaRPr lang="en-IN" dirty="0"/>
          </a:p>
        </p:txBody>
      </p:sp>
      <p:sp>
        <p:nvSpPr>
          <p:cNvPr id="4" name="Rectangle 3">
            <a:extLst>
              <a:ext uri="{FF2B5EF4-FFF2-40B4-BE49-F238E27FC236}">
                <a16:creationId xmlns:a16="http://schemas.microsoft.com/office/drawing/2014/main" id="{2C58AB11-3AF0-59DA-90F5-3B8AB96A5555}"/>
              </a:ext>
            </a:extLst>
          </p:cNvPr>
          <p:cNvSpPr>
            <a:spLocks noChangeArrowheads="1"/>
          </p:cNvSpPr>
          <p:nvPr/>
        </p:nvSpPr>
        <p:spPr bwMode="auto">
          <a:xfrm>
            <a:off x="5058103" y="2662238"/>
            <a:ext cx="1676400" cy="438150"/>
          </a:xfrm>
          <a:prstGeom prst="rect">
            <a:avLst/>
          </a:prstGeom>
          <a:solidFill>
            <a:srgbClr val="FFFFFF"/>
          </a:solidFill>
          <a:ln w="22225">
            <a:solidFill>
              <a:schemeClr val="tx2"/>
            </a:solidFill>
            <a:miter lim="800000"/>
            <a:headEnd/>
            <a:tailEnd/>
          </a:ln>
        </p:spPr>
        <p:txBody>
          <a:bodyPr rot="0" vert="horz" wrap="square" lIns="91440" tIns="45720" rIns="91440" bIns="45720" anchor="t" anchorCtr="0" upright="1">
            <a:noAutofit/>
          </a:bodyPr>
          <a:lstStyle/>
          <a:p>
            <a:pPr algn="ctr"/>
            <a:r>
              <a:rPr lang="en-US" dirty="0"/>
              <a:t>B1: t1=4*</a:t>
            </a:r>
            <a:r>
              <a:rPr lang="en-US" dirty="0" err="1"/>
              <a:t>i</a:t>
            </a:r>
            <a:endParaRPr lang="en-US" dirty="0"/>
          </a:p>
          <a:p>
            <a:pPr algn="ctr"/>
            <a:endParaRPr lang="en-US" dirty="0"/>
          </a:p>
        </p:txBody>
      </p:sp>
      <p:sp>
        <p:nvSpPr>
          <p:cNvPr id="5" name="Rectangle 4">
            <a:extLst>
              <a:ext uri="{FF2B5EF4-FFF2-40B4-BE49-F238E27FC236}">
                <a16:creationId xmlns:a16="http://schemas.microsoft.com/office/drawing/2014/main" id="{AB10F1BD-ABFD-E05C-2E89-5E6B2E257A0C}"/>
              </a:ext>
            </a:extLst>
          </p:cNvPr>
          <p:cNvSpPr>
            <a:spLocks noChangeArrowheads="1"/>
          </p:cNvSpPr>
          <p:nvPr/>
        </p:nvSpPr>
        <p:spPr bwMode="auto">
          <a:xfrm>
            <a:off x="2791153" y="3733800"/>
            <a:ext cx="1676400" cy="438150"/>
          </a:xfrm>
          <a:prstGeom prst="rect">
            <a:avLst/>
          </a:prstGeom>
          <a:solidFill>
            <a:srgbClr val="FFFFFF"/>
          </a:solidFill>
          <a:ln w="22225">
            <a:solidFill>
              <a:schemeClr val="tx2"/>
            </a:solidFill>
            <a:miter lim="800000"/>
            <a:headEnd/>
            <a:tailEnd/>
          </a:ln>
        </p:spPr>
        <p:txBody>
          <a:bodyPr rot="0" vert="horz" wrap="square" lIns="91440" tIns="45720" rIns="91440" bIns="45720" anchor="t" anchorCtr="0" upright="1">
            <a:noAutofit/>
          </a:bodyPr>
          <a:lstStyle/>
          <a:p>
            <a:pPr algn="ctr"/>
            <a:r>
              <a:rPr lang="en-US" dirty="0"/>
              <a:t>B2</a:t>
            </a:r>
            <a:r>
              <a:rPr lang="en-US" b="1" dirty="0"/>
              <a:t>:</a:t>
            </a:r>
            <a:r>
              <a:rPr lang="en-US" dirty="0"/>
              <a:t> t2:c+d[t1]</a:t>
            </a:r>
          </a:p>
          <a:p>
            <a:pPr algn="ctr"/>
            <a:endParaRPr lang="en-US" dirty="0"/>
          </a:p>
        </p:txBody>
      </p:sp>
      <p:sp>
        <p:nvSpPr>
          <p:cNvPr id="6" name="Rectangle 5">
            <a:extLst>
              <a:ext uri="{FF2B5EF4-FFF2-40B4-BE49-F238E27FC236}">
                <a16:creationId xmlns:a16="http://schemas.microsoft.com/office/drawing/2014/main" id="{7A68A645-4EB8-41A6-1855-7BF5A1D46B0D}"/>
              </a:ext>
            </a:extLst>
          </p:cNvPr>
          <p:cNvSpPr>
            <a:spLocks noChangeArrowheads="1"/>
          </p:cNvSpPr>
          <p:nvPr/>
        </p:nvSpPr>
        <p:spPr bwMode="auto">
          <a:xfrm>
            <a:off x="7420303" y="3733800"/>
            <a:ext cx="1676400" cy="438150"/>
          </a:xfrm>
          <a:prstGeom prst="rect">
            <a:avLst/>
          </a:prstGeom>
          <a:solidFill>
            <a:srgbClr val="FFFFFF"/>
          </a:solidFill>
          <a:ln w="22225">
            <a:solidFill>
              <a:schemeClr val="tx2"/>
            </a:solidFill>
            <a:miter lim="800000"/>
            <a:headEnd/>
            <a:tailEnd/>
          </a:ln>
        </p:spPr>
        <p:txBody>
          <a:bodyPr rot="0" vert="horz" wrap="square" lIns="91440" tIns="45720" rIns="91440" bIns="45720" anchor="t" anchorCtr="0" upright="1">
            <a:noAutofit/>
          </a:bodyPr>
          <a:lstStyle/>
          <a:p>
            <a:pPr algn="ctr"/>
            <a:r>
              <a:rPr lang="en-US" dirty="0"/>
              <a:t>B3: t3=4*</a:t>
            </a:r>
            <a:r>
              <a:rPr lang="en-US" dirty="0" err="1"/>
              <a:t>i</a:t>
            </a:r>
            <a:endParaRPr lang="en-US" dirty="0"/>
          </a:p>
        </p:txBody>
      </p:sp>
      <p:sp>
        <p:nvSpPr>
          <p:cNvPr id="7" name="Rectangle 6">
            <a:extLst>
              <a:ext uri="{FF2B5EF4-FFF2-40B4-BE49-F238E27FC236}">
                <a16:creationId xmlns:a16="http://schemas.microsoft.com/office/drawing/2014/main" id="{FCE38DE6-5BF9-E447-E49D-DD37B8755985}"/>
              </a:ext>
            </a:extLst>
          </p:cNvPr>
          <p:cNvSpPr>
            <a:spLocks noChangeArrowheads="1"/>
          </p:cNvSpPr>
          <p:nvPr/>
        </p:nvSpPr>
        <p:spPr bwMode="auto">
          <a:xfrm>
            <a:off x="5058103" y="4967288"/>
            <a:ext cx="1676400" cy="438150"/>
          </a:xfrm>
          <a:prstGeom prst="rect">
            <a:avLst/>
          </a:prstGeom>
          <a:solidFill>
            <a:srgbClr val="FFFFFF"/>
          </a:solidFill>
          <a:ln w="22225">
            <a:solidFill>
              <a:schemeClr val="tx2"/>
            </a:solidFill>
            <a:miter lim="800000"/>
            <a:headEnd/>
            <a:tailEnd/>
          </a:ln>
        </p:spPr>
        <p:txBody>
          <a:bodyPr rot="0" vert="horz" wrap="square" lIns="91440" tIns="45720" rIns="91440" bIns="45720" anchor="t" anchorCtr="0" upright="1">
            <a:noAutofit/>
          </a:bodyPr>
          <a:lstStyle/>
          <a:p>
            <a:pPr algn="ctr"/>
            <a:r>
              <a:rPr lang="en-US" dirty="0"/>
              <a:t>B4: t4=a[t2]</a:t>
            </a:r>
          </a:p>
          <a:p>
            <a:pPr algn="ctr"/>
            <a:endParaRPr lang="en-US" dirty="0"/>
          </a:p>
        </p:txBody>
      </p:sp>
      <p:cxnSp>
        <p:nvCxnSpPr>
          <p:cNvPr id="8" name="Straight Arrow Connector 7">
            <a:extLst>
              <a:ext uri="{FF2B5EF4-FFF2-40B4-BE49-F238E27FC236}">
                <a16:creationId xmlns:a16="http://schemas.microsoft.com/office/drawing/2014/main" id="{7D22B7AE-B1A8-25EC-7471-283069EEC546}"/>
              </a:ext>
            </a:extLst>
          </p:cNvPr>
          <p:cNvCxnSpPr>
            <a:stCxn id="4" idx="2"/>
            <a:endCxn id="5" idx="0"/>
          </p:cNvCxnSpPr>
          <p:nvPr/>
        </p:nvCxnSpPr>
        <p:spPr>
          <a:xfrm flipH="1">
            <a:off x="3629353" y="3100388"/>
            <a:ext cx="2266950" cy="633412"/>
          </a:xfrm>
          <a:prstGeom prst="straightConnector1">
            <a:avLst/>
          </a:prstGeom>
          <a:ln w="2222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A1806F3-7001-951A-5417-9009EE67971F}"/>
              </a:ext>
            </a:extLst>
          </p:cNvPr>
          <p:cNvCxnSpPr>
            <a:stCxn id="4" idx="2"/>
            <a:endCxn id="6" idx="0"/>
          </p:cNvCxnSpPr>
          <p:nvPr/>
        </p:nvCxnSpPr>
        <p:spPr>
          <a:xfrm>
            <a:off x="5896303" y="3100388"/>
            <a:ext cx="2362200" cy="633412"/>
          </a:xfrm>
          <a:prstGeom prst="straightConnector1">
            <a:avLst/>
          </a:prstGeom>
          <a:ln w="2222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0EF32B9-0DE6-7303-EAA7-CCFAC660C216}"/>
              </a:ext>
            </a:extLst>
          </p:cNvPr>
          <p:cNvCxnSpPr>
            <a:stCxn id="5" idx="2"/>
            <a:endCxn id="7" idx="0"/>
          </p:cNvCxnSpPr>
          <p:nvPr/>
        </p:nvCxnSpPr>
        <p:spPr>
          <a:xfrm>
            <a:off x="3629353" y="4171950"/>
            <a:ext cx="2266950" cy="795338"/>
          </a:xfrm>
          <a:prstGeom prst="straightConnector1">
            <a:avLst/>
          </a:prstGeom>
          <a:ln w="22225">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3F8EAC3-E788-B631-4595-B502193CF894}"/>
              </a:ext>
            </a:extLst>
          </p:cNvPr>
          <p:cNvCxnSpPr>
            <a:stCxn id="6" idx="2"/>
            <a:endCxn id="7" idx="0"/>
          </p:cNvCxnSpPr>
          <p:nvPr/>
        </p:nvCxnSpPr>
        <p:spPr>
          <a:xfrm flipH="1">
            <a:off x="5896303" y="4171950"/>
            <a:ext cx="2362200" cy="795338"/>
          </a:xfrm>
          <a:prstGeom prst="straightConnector1">
            <a:avLst/>
          </a:prstGeom>
          <a:ln w="22225">
            <a:solidFill>
              <a:schemeClr val="tx2"/>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1045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par>
                                <p:cTn id="17" presetID="22" presetClass="entr" presetSubtype="1"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par>
                                <p:cTn id="20" presetID="22" presetClass="entr" presetSubtype="4"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par>
                                <p:cTn id="23" presetID="22" presetClass="entr" presetSubtype="1"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up)">
                                      <p:cBhvr>
                                        <p:cTn id="25" dur="500"/>
                                        <p:tgtEl>
                                          <p:spTgt spid="11"/>
                                        </p:tgtEl>
                                      </p:cBhvr>
                                    </p:animEffect>
                                  </p:childTnLst>
                                </p:cTn>
                              </p:par>
                              <p:par>
                                <p:cTn id="26" presetID="22" presetClass="entr" presetSubtype="1"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up)">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A2EA2-9B5B-EEFF-240A-BB3CE4E148F9}"/>
              </a:ext>
            </a:extLst>
          </p:cNvPr>
          <p:cNvSpPr>
            <a:spLocks noGrp="1"/>
          </p:cNvSpPr>
          <p:nvPr>
            <p:ph type="title"/>
          </p:nvPr>
        </p:nvSpPr>
        <p:spPr/>
        <p:txBody>
          <a:bodyPr/>
          <a:lstStyle/>
          <a:p>
            <a:r>
              <a:rPr lang="en-US" dirty="0"/>
              <a:t>Reaching Definition</a:t>
            </a:r>
            <a:endParaRPr lang="en-IN" dirty="0"/>
          </a:p>
        </p:txBody>
      </p:sp>
      <p:sp>
        <p:nvSpPr>
          <p:cNvPr id="3" name="Content Placeholder 2">
            <a:extLst>
              <a:ext uri="{FF2B5EF4-FFF2-40B4-BE49-F238E27FC236}">
                <a16:creationId xmlns:a16="http://schemas.microsoft.com/office/drawing/2014/main" id="{D3C19788-1D65-B886-ACB5-0C57C94C78BD}"/>
              </a:ext>
            </a:extLst>
          </p:cNvPr>
          <p:cNvSpPr>
            <a:spLocks noGrp="1"/>
          </p:cNvSpPr>
          <p:nvPr>
            <p:ph idx="1"/>
          </p:nvPr>
        </p:nvSpPr>
        <p:spPr/>
        <p:txBody>
          <a:bodyPr/>
          <a:lstStyle/>
          <a:p>
            <a:r>
              <a:rPr lang="en-US" dirty="0"/>
              <a:t>A definition D reaches at the point P if there is a path from D to P along which D is not killed.</a:t>
            </a:r>
          </a:p>
          <a:p>
            <a:r>
              <a:rPr lang="en-US" dirty="0"/>
              <a:t>A definition D of variable x is killed when there is a redefinition of x.</a:t>
            </a:r>
          </a:p>
          <a:p>
            <a:endParaRPr lang="en-US" dirty="0"/>
          </a:p>
          <a:p>
            <a:endParaRPr lang="en-US" dirty="0"/>
          </a:p>
          <a:p>
            <a:endParaRPr lang="en-US" dirty="0"/>
          </a:p>
          <a:p>
            <a:endParaRPr lang="en-US" dirty="0"/>
          </a:p>
          <a:p>
            <a:endParaRPr lang="en-US" dirty="0"/>
          </a:p>
          <a:p>
            <a:endParaRPr lang="en-US" dirty="0"/>
          </a:p>
          <a:p>
            <a:endParaRPr lang="en-US" dirty="0"/>
          </a:p>
          <a:p>
            <a:r>
              <a:rPr lang="en-US" dirty="0"/>
              <a:t>The definition D1 is reaching definition for block B2, but the definition D1 is not reaching definition for block B3, because it is killed by definition D2 in block B2.</a:t>
            </a:r>
          </a:p>
          <a:p>
            <a:endParaRPr lang="en-US" dirty="0"/>
          </a:p>
          <a:p>
            <a:endParaRPr lang="en-IN" dirty="0"/>
          </a:p>
        </p:txBody>
      </p:sp>
      <p:sp>
        <p:nvSpPr>
          <p:cNvPr id="4" name="Rectangle 3">
            <a:extLst>
              <a:ext uri="{FF2B5EF4-FFF2-40B4-BE49-F238E27FC236}">
                <a16:creationId xmlns:a16="http://schemas.microsoft.com/office/drawing/2014/main" id="{56C0F3D7-BA1A-718F-DB25-B3C838BDCD00}"/>
              </a:ext>
            </a:extLst>
          </p:cNvPr>
          <p:cNvSpPr>
            <a:spLocks noChangeArrowheads="1"/>
          </p:cNvSpPr>
          <p:nvPr/>
        </p:nvSpPr>
        <p:spPr bwMode="auto">
          <a:xfrm>
            <a:off x="4666593" y="2239191"/>
            <a:ext cx="1676400" cy="438150"/>
          </a:xfrm>
          <a:prstGeom prst="rect">
            <a:avLst/>
          </a:prstGeom>
          <a:solidFill>
            <a:srgbClr val="FFFFFF"/>
          </a:solidFill>
          <a:ln w="22225">
            <a:solidFill>
              <a:schemeClr val="tx2"/>
            </a:solidFill>
            <a:miter lim="800000"/>
            <a:headEnd/>
            <a:tailEnd/>
          </a:ln>
        </p:spPr>
        <p:txBody>
          <a:bodyPr rot="0" vert="horz" wrap="square" lIns="91440" tIns="45720" rIns="91440" bIns="45720" anchor="t" anchorCtr="0" upright="1">
            <a:noAutofit/>
          </a:bodyPr>
          <a:lstStyle/>
          <a:p>
            <a:pPr algn="ctr"/>
            <a:r>
              <a:rPr lang="en-US" dirty="0"/>
              <a:t>D1: y=2</a:t>
            </a:r>
          </a:p>
        </p:txBody>
      </p:sp>
      <p:sp>
        <p:nvSpPr>
          <p:cNvPr id="5" name="Rectangle 4">
            <a:extLst>
              <a:ext uri="{FF2B5EF4-FFF2-40B4-BE49-F238E27FC236}">
                <a16:creationId xmlns:a16="http://schemas.microsoft.com/office/drawing/2014/main" id="{F55B0BC4-58A2-6F7B-8865-106B8FFD9C30}"/>
              </a:ext>
            </a:extLst>
          </p:cNvPr>
          <p:cNvSpPr>
            <a:spLocks noChangeArrowheads="1"/>
          </p:cNvSpPr>
          <p:nvPr/>
        </p:nvSpPr>
        <p:spPr bwMode="auto">
          <a:xfrm>
            <a:off x="4666594" y="2926258"/>
            <a:ext cx="1676400" cy="403225"/>
          </a:xfrm>
          <a:prstGeom prst="rect">
            <a:avLst/>
          </a:prstGeom>
          <a:solidFill>
            <a:srgbClr val="FFFFFF"/>
          </a:solidFill>
          <a:ln w="22225">
            <a:solidFill>
              <a:schemeClr val="tx2"/>
            </a:solidFill>
            <a:miter lim="800000"/>
            <a:headEnd/>
            <a:tailEnd/>
          </a:ln>
        </p:spPr>
        <p:txBody>
          <a:bodyPr rot="0" vert="horz" wrap="square" lIns="91440" tIns="45720" rIns="91440" bIns="45720" anchor="t" anchorCtr="0" upright="1">
            <a:noAutofit/>
          </a:bodyPr>
          <a:lstStyle/>
          <a:p>
            <a:pPr algn="ctr"/>
            <a:r>
              <a:rPr lang="en-US" dirty="0"/>
              <a:t>D2: y=y+2</a:t>
            </a:r>
          </a:p>
        </p:txBody>
      </p:sp>
      <p:sp>
        <p:nvSpPr>
          <p:cNvPr id="6" name="Rectangle 5">
            <a:extLst>
              <a:ext uri="{FF2B5EF4-FFF2-40B4-BE49-F238E27FC236}">
                <a16:creationId xmlns:a16="http://schemas.microsoft.com/office/drawing/2014/main" id="{1E0CBF0F-0540-8136-C44E-C65DD4182BA4}"/>
              </a:ext>
            </a:extLst>
          </p:cNvPr>
          <p:cNvSpPr>
            <a:spLocks noChangeArrowheads="1"/>
          </p:cNvSpPr>
          <p:nvPr/>
        </p:nvSpPr>
        <p:spPr bwMode="auto">
          <a:xfrm>
            <a:off x="4652306" y="3570150"/>
            <a:ext cx="1704976" cy="379730"/>
          </a:xfrm>
          <a:prstGeom prst="rect">
            <a:avLst/>
          </a:prstGeom>
          <a:solidFill>
            <a:srgbClr val="FFFFFF"/>
          </a:solidFill>
          <a:ln w="22225">
            <a:solidFill>
              <a:schemeClr val="tx2"/>
            </a:solidFill>
            <a:miter lim="800000"/>
            <a:headEnd/>
            <a:tailEnd/>
          </a:ln>
        </p:spPr>
        <p:txBody>
          <a:bodyPr rot="0" vert="horz" wrap="square" lIns="91440" tIns="45720" rIns="91440" bIns="45720" anchor="t" anchorCtr="0" upright="1">
            <a:noAutofit/>
          </a:bodyPr>
          <a:lstStyle/>
          <a:p>
            <a:pPr algn="ctr"/>
            <a:r>
              <a:rPr lang="en-US" dirty="0"/>
              <a:t>D3: x=y+2</a:t>
            </a:r>
          </a:p>
        </p:txBody>
      </p:sp>
      <p:cxnSp>
        <p:nvCxnSpPr>
          <p:cNvPr id="7" name="AutoShape 7">
            <a:extLst>
              <a:ext uri="{FF2B5EF4-FFF2-40B4-BE49-F238E27FC236}">
                <a16:creationId xmlns:a16="http://schemas.microsoft.com/office/drawing/2014/main" id="{9B86E248-2528-95F4-8C90-BD2B9B99D22C}"/>
              </a:ext>
            </a:extLst>
          </p:cNvPr>
          <p:cNvCxnSpPr>
            <a:cxnSpLocks noChangeShapeType="1"/>
            <a:stCxn id="4" idx="2"/>
            <a:endCxn id="5" idx="0"/>
          </p:cNvCxnSpPr>
          <p:nvPr/>
        </p:nvCxnSpPr>
        <p:spPr bwMode="auto">
          <a:xfrm>
            <a:off x="5504793" y="2677341"/>
            <a:ext cx="1" cy="248917"/>
          </a:xfrm>
          <a:prstGeom prst="straightConnector1">
            <a:avLst/>
          </a:prstGeom>
          <a:noFill/>
          <a:ln w="22225">
            <a:solidFill>
              <a:schemeClr val="tx2"/>
            </a:solidFill>
            <a:round/>
            <a:headEnd/>
            <a:tailEnd type="triangle" w="med" len="med"/>
          </a:ln>
          <a:extLst>
            <a:ext uri="{909E8E84-426E-40DD-AFC4-6F175D3DCCD1}">
              <a14:hiddenFill xmlns:a14="http://schemas.microsoft.com/office/drawing/2010/main">
                <a:noFill/>
              </a14:hiddenFill>
            </a:ext>
          </a:extLst>
        </p:spPr>
      </p:cxnSp>
      <p:cxnSp>
        <p:nvCxnSpPr>
          <p:cNvPr id="8" name="AutoShape 7">
            <a:extLst>
              <a:ext uri="{FF2B5EF4-FFF2-40B4-BE49-F238E27FC236}">
                <a16:creationId xmlns:a16="http://schemas.microsoft.com/office/drawing/2014/main" id="{D8026F70-B21D-76D7-6735-3F8B1465F61E}"/>
              </a:ext>
            </a:extLst>
          </p:cNvPr>
          <p:cNvCxnSpPr>
            <a:cxnSpLocks noChangeShapeType="1"/>
            <a:stCxn id="5" idx="2"/>
            <a:endCxn id="6" idx="0"/>
          </p:cNvCxnSpPr>
          <p:nvPr/>
        </p:nvCxnSpPr>
        <p:spPr bwMode="auto">
          <a:xfrm>
            <a:off x="5504794" y="3329483"/>
            <a:ext cx="0" cy="240667"/>
          </a:xfrm>
          <a:prstGeom prst="straightConnector1">
            <a:avLst/>
          </a:prstGeom>
          <a:noFill/>
          <a:ln w="22225">
            <a:solidFill>
              <a:schemeClr val="tx2"/>
            </a:solidFill>
            <a:round/>
            <a:headEnd/>
            <a:tailEnd type="triangle" w="med" len="med"/>
          </a:ln>
          <a:extLst>
            <a:ext uri="{909E8E84-426E-40DD-AFC4-6F175D3DCCD1}">
              <a14:hiddenFill xmlns:a14="http://schemas.microsoft.com/office/drawing/2010/main">
                <a:noFill/>
              </a14:hiddenFill>
            </a:ext>
          </a:extLst>
        </p:spPr>
      </p:cxnSp>
      <p:sp>
        <p:nvSpPr>
          <p:cNvPr id="9" name="Rectangle 8">
            <a:extLst>
              <a:ext uri="{FF2B5EF4-FFF2-40B4-BE49-F238E27FC236}">
                <a16:creationId xmlns:a16="http://schemas.microsoft.com/office/drawing/2014/main" id="{4382D7E1-7A78-642C-307B-BF1E314446B3}"/>
              </a:ext>
            </a:extLst>
          </p:cNvPr>
          <p:cNvSpPr>
            <a:spLocks noChangeArrowheads="1"/>
          </p:cNvSpPr>
          <p:nvPr/>
        </p:nvSpPr>
        <p:spPr bwMode="auto">
          <a:xfrm>
            <a:off x="6376331" y="2248716"/>
            <a:ext cx="1823402" cy="438150"/>
          </a:xfrm>
          <a:prstGeom prst="rect">
            <a:avLst/>
          </a:prstGeom>
          <a:solidFill>
            <a:srgbClr val="FFFFFF"/>
          </a:solidFill>
          <a:ln w="22225">
            <a:noFill/>
            <a:miter lim="800000"/>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B1</a:t>
            </a:r>
          </a:p>
        </p:txBody>
      </p:sp>
      <p:sp>
        <p:nvSpPr>
          <p:cNvPr id="10" name="Rectangle 9">
            <a:extLst>
              <a:ext uri="{FF2B5EF4-FFF2-40B4-BE49-F238E27FC236}">
                <a16:creationId xmlns:a16="http://schemas.microsoft.com/office/drawing/2014/main" id="{162151C1-0392-C030-725D-9B66A9137504}"/>
              </a:ext>
            </a:extLst>
          </p:cNvPr>
          <p:cNvSpPr>
            <a:spLocks noChangeArrowheads="1"/>
          </p:cNvSpPr>
          <p:nvPr/>
        </p:nvSpPr>
        <p:spPr bwMode="auto">
          <a:xfrm>
            <a:off x="6376331" y="2935783"/>
            <a:ext cx="1823401" cy="403225"/>
          </a:xfrm>
          <a:prstGeom prst="rect">
            <a:avLst/>
          </a:prstGeom>
          <a:solidFill>
            <a:srgbClr val="FFFFFF"/>
          </a:solidFill>
          <a:ln w="22225">
            <a:noFill/>
            <a:miter lim="800000"/>
            <a:headEnd/>
            <a:tailEnd/>
          </a:ln>
        </p:spPr>
        <p:txBody>
          <a:bodyPr rot="0" vert="horz" wrap="square" lIns="91440" tIns="45720" rIns="91440" bIns="45720" anchor="t" anchorCtr="0" upright="1">
            <a:noAutofit/>
          </a:bodyPr>
          <a:lstStyle/>
          <a:p>
            <a:pPr>
              <a:lnSpc>
                <a:spcPct val="107000"/>
              </a:lnSpc>
              <a:spcAft>
                <a:spcPts val="800"/>
              </a:spcAft>
            </a:pPr>
            <a:r>
              <a:rPr lang="en-US" dirty="0">
                <a:effectLst/>
                <a:latin typeface="Calibri" panose="020F0502020204030204" pitchFamily="34" charset="0"/>
                <a:ea typeface="Calibri" panose="020F0502020204030204" pitchFamily="34" charset="0"/>
                <a:cs typeface="Times New Roman" panose="02020603050405020304" pitchFamily="18" charset="0"/>
              </a:rPr>
              <a:t>B2</a:t>
            </a:r>
          </a:p>
        </p:txBody>
      </p:sp>
      <p:sp>
        <p:nvSpPr>
          <p:cNvPr id="11" name="Rectangle 10">
            <a:extLst>
              <a:ext uri="{FF2B5EF4-FFF2-40B4-BE49-F238E27FC236}">
                <a16:creationId xmlns:a16="http://schemas.microsoft.com/office/drawing/2014/main" id="{7B1F6CC9-B22F-518B-EB0B-8889D16A7673}"/>
              </a:ext>
            </a:extLst>
          </p:cNvPr>
          <p:cNvSpPr>
            <a:spLocks noChangeArrowheads="1"/>
          </p:cNvSpPr>
          <p:nvPr/>
        </p:nvSpPr>
        <p:spPr bwMode="auto">
          <a:xfrm>
            <a:off x="6376331" y="3587925"/>
            <a:ext cx="1990089" cy="379730"/>
          </a:xfrm>
          <a:prstGeom prst="rect">
            <a:avLst/>
          </a:prstGeom>
          <a:solidFill>
            <a:srgbClr val="FFFFFF"/>
          </a:solidFill>
          <a:ln w="22225">
            <a:noFill/>
            <a:miter lim="800000"/>
            <a:headEnd/>
            <a:tailEnd/>
          </a:ln>
        </p:spPr>
        <p:txBody>
          <a:bodyPr rot="0" vert="horz" wrap="square" lIns="91440" tIns="45720" rIns="91440" bIns="45720" anchor="t" anchorCtr="0" upright="1">
            <a:noAutofit/>
          </a:bodyPr>
          <a:lstStyle/>
          <a:p>
            <a:pPr>
              <a:lnSpc>
                <a:spcPct val="107000"/>
              </a:lnSpc>
              <a:spcAft>
                <a:spcPts val="800"/>
              </a:spcAft>
            </a:pPr>
            <a:r>
              <a:rPr lang="en-US" dirty="0"/>
              <a:t>B3</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26316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500"/>
                                        <p:tgtEl>
                                          <p:spTgt spid="5"/>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up)">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up)">
                                      <p:cBhvr>
                                        <p:cTn id="28" dur="500"/>
                                        <p:tgtEl>
                                          <p:spTgt spid="8"/>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up)">
                                      <p:cBhvr>
                                        <p:cTn id="31" dur="500"/>
                                        <p:tgtEl>
                                          <p:spTgt spid="6"/>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up)">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0" grpId="0" animBg="1"/>
      <p:bldP spid="1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A563B-A091-80EC-F7A0-0EB1B2FF9C1F}"/>
              </a:ext>
            </a:extLst>
          </p:cNvPr>
          <p:cNvSpPr>
            <a:spLocks noGrp="1"/>
          </p:cNvSpPr>
          <p:nvPr>
            <p:ph type="title"/>
          </p:nvPr>
        </p:nvSpPr>
        <p:spPr/>
        <p:txBody>
          <a:bodyPr/>
          <a:lstStyle/>
          <a:p>
            <a:r>
              <a:rPr lang="en-US" dirty="0"/>
              <a:t>Live variable</a:t>
            </a:r>
            <a:endParaRPr lang="en-IN" dirty="0"/>
          </a:p>
        </p:txBody>
      </p:sp>
      <p:sp>
        <p:nvSpPr>
          <p:cNvPr id="3" name="Content Placeholder 2">
            <a:extLst>
              <a:ext uri="{FF2B5EF4-FFF2-40B4-BE49-F238E27FC236}">
                <a16:creationId xmlns:a16="http://schemas.microsoft.com/office/drawing/2014/main" id="{0990FD7D-7807-16FA-6D2E-CD246755CE56}"/>
              </a:ext>
            </a:extLst>
          </p:cNvPr>
          <p:cNvSpPr>
            <a:spLocks noGrp="1"/>
          </p:cNvSpPr>
          <p:nvPr>
            <p:ph idx="1"/>
          </p:nvPr>
        </p:nvSpPr>
        <p:spPr/>
        <p:txBody>
          <a:bodyPr/>
          <a:lstStyle/>
          <a:p>
            <a:r>
              <a:rPr lang="en-US" dirty="0"/>
              <a:t>A live variable x is live at point p if there is a path from p to the exit, along which the value of x is used before it is redefined.</a:t>
            </a:r>
          </a:p>
          <a:p>
            <a:r>
              <a:rPr lang="en-US" dirty="0"/>
              <a:t>Otherwise, the variable is said to be dead at the point.</a:t>
            </a:r>
          </a:p>
          <a:p>
            <a:r>
              <a:rPr lang="en-US"/>
              <a:t>Example,</a:t>
            </a:r>
            <a:endParaRPr lang="en-US" dirty="0"/>
          </a:p>
          <a:p>
            <a:pPr marL="544512" lvl="1" indent="0">
              <a:buNone/>
            </a:pPr>
            <a:r>
              <a:rPr lang="en-IN" dirty="0"/>
              <a:t>1  a = 5</a:t>
            </a:r>
          </a:p>
          <a:p>
            <a:pPr marL="544512" lvl="1" indent="0">
              <a:buNone/>
            </a:pPr>
            <a:r>
              <a:rPr lang="en-IN" dirty="0"/>
              <a:t>2  b = a + 3</a:t>
            </a:r>
          </a:p>
          <a:p>
            <a:pPr marL="544512" lvl="1" indent="0">
              <a:buNone/>
            </a:pPr>
            <a:r>
              <a:rPr lang="en-IN" dirty="0"/>
              <a:t>3  c = b * 2</a:t>
            </a:r>
          </a:p>
          <a:p>
            <a:pPr marL="1001712" lvl="1" indent="-457200">
              <a:buAutoNum type="arabicPlain" startAt="4"/>
            </a:pPr>
            <a:r>
              <a:rPr lang="en-IN" dirty="0"/>
              <a:t>print(c)</a:t>
            </a:r>
          </a:p>
          <a:p>
            <a:pPr marL="544512" lvl="1" indent="0">
              <a:buNone/>
            </a:pPr>
            <a:endParaRPr lang="en-IN" dirty="0"/>
          </a:p>
          <a:p>
            <a:pPr marL="544512" lvl="1" indent="0">
              <a:buNone/>
            </a:pPr>
            <a:r>
              <a:rPr lang="en-US" dirty="0"/>
              <a:t>a is </a:t>
            </a:r>
            <a:r>
              <a:rPr lang="en-US" b="1" dirty="0"/>
              <a:t>live</a:t>
            </a:r>
            <a:r>
              <a:rPr lang="en-US" dirty="0"/>
              <a:t> because it is used in line 2. </a:t>
            </a:r>
          </a:p>
          <a:p>
            <a:pPr marL="544512" lvl="1" indent="0">
              <a:buNone/>
            </a:pPr>
            <a:r>
              <a:rPr lang="en-US" dirty="0"/>
              <a:t>a was used but after line 3, it becomes dead.</a:t>
            </a:r>
          </a:p>
          <a:p>
            <a:pPr marL="544512" lvl="1" indent="0">
              <a:buNone/>
            </a:pPr>
            <a:r>
              <a:rPr lang="en-US" dirty="0"/>
              <a:t>b becomes live because it is used in line 3. </a:t>
            </a:r>
          </a:p>
          <a:p>
            <a:pPr marL="544512" lvl="1" indent="0">
              <a:buNone/>
            </a:pPr>
            <a:r>
              <a:rPr lang="en-US" dirty="0"/>
              <a:t>b becomes dead after use.</a:t>
            </a:r>
          </a:p>
          <a:p>
            <a:pPr marL="544512" lvl="1" indent="0">
              <a:buNone/>
            </a:pPr>
            <a:r>
              <a:rPr lang="en-US" dirty="0"/>
              <a:t>c becomes live because it is used in line 4. </a:t>
            </a:r>
          </a:p>
          <a:p>
            <a:pPr marL="544512" lvl="1" indent="0">
              <a:buNone/>
            </a:pPr>
            <a:r>
              <a:rPr lang="en-US" dirty="0"/>
              <a:t>After printing, c becomes dead.</a:t>
            </a:r>
          </a:p>
          <a:p>
            <a:pPr marL="544512" lvl="1" indent="0">
              <a:buNone/>
            </a:pPr>
            <a:endParaRPr lang="en-US" dirty="0"/>
          </a:p>
          <a:p>
            <a:pPr marL="544512" lvl="1" indent="0">
              <a:buNone/>
            </a:pPr>
            <a:endParaRPr lang="en-US" dirty="0"/>
          </a:p>
          <a:p>
            <a:pPr marL="544512" lvl="1" indent="0">
              <a:buNone/>
            </a:pPr>
            <a:endParaRPr lang="en-IN" dirty="0"/>
          </a:p>
          <a:p>
            <a:endParaRPr lang="en-IN" dirty="0"/>
          </a:p>
        </p:txBody>
      </p:sp>
    </p:spTree>
    <p:extLst>
      <p:ext uri="{BB962C8B-B14F-4D97-AF65-F5344CB8AC3E}">
        <p14:creationId xmlns:p14="http://schemas.microsoft.com/office/powerpoint/2010/main" val="3076652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2BDC862-F22F-CDEB-DA3D-D9D4B523EB51}"/>
              </a:ext>
            </a:extLst>
          </p:cNvPr>
          <p:cNvSpPr>
            <a:spLocks noGrp="1"/>
          </p:cNvSpPr>
          <p:nvPr>
            <p:ph type="body" idx="1"/>
          </p:nvPr>
        </p:nvSpPr>
        <p:spPr/>
        <p:txBody>
          <a:bodyPr/>
          <a:lstStyle/>
          <a:p>
            <a:endParaRPr lang="en-IN"/>
          </a:p>
        </p:txBody>
      </p:sp>
      <p:sp>
        <p:nvSpPr>
          <p:cNvPr id="3" name="Title 2">
            <a:extLst>
              <a:ext uri="{FF2B5EF4-FFF2-40B4-BE49-F238E27FC236}">
                <a16:creationId xmlns:a16="http://schemas.microsoft.com/office/drawing/2014/main" id="{082A47D7-08C8-C8AE-0736-5E289E034CCC}"/>
              </a:ext>
            </a:extLst>
          </p:cNvPr>
          <p:cNvSpPr>
            <a:spLocks noGrp="1"/>
          </p:cNvSpPr>
          <p:nvPr>
            <p:ph type="title"/>
          </p:nvPr>
        </p:nvSpPr>
        <p:spPr/>
        <p:txBody>
          <a:bodyPr/>
          <a:lstStyle/>
          <a:p>
            <a:r>
              <a:rPr lang="en-US" dirty="0"/>
              <a:t>A simple code generator</a:t>
            </a:r>
            <a:endParaRPr lang="en-IN" dirty="0"/>
          </a:p>
        </p:txBody>
      </p:sp>
    </p:spTree>
    <p:extLst>
      <p:ext uri="{BB962C8B-B14F-4D97-AF65-F5344CB8AC3E}">
        <p14:creationId xmlns:p14="http://schemas.microsoft.com/office/powerpoint/2010/main" val="3152643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A simple code generator</a:t>
            </a:r>
            <a:endParaRPr lang="en-IN" dirty="0"/>
          </a:p>
        </p:txBody>
      </p:sp>
      <p:sp>
        <p:nvSpPr>
          <p:cNvPr id="3" name="Content Placeholder 2">
            <a:extLst>
              <a:ext uri="{FF2B5EF4-FFF2-40B4-BE49-F238E27FC236}">
                <a16:creationId xmlns:a16="http://schemas.microsoft.com/office/drawing/2014/main" id="{039FB120-2DA0-3237-DD27-7B574969D8A5}"/>
              </a:ext>
            </a:extLst>
          </p:cNvPr>
          <p:cNvSpPr>
            <a:spLocks noGrp="1"/>
          </p:cNvSpPr>
          <p:nvPr>
            <p:ph idx="1"/>
          </p:nvPr>
        </p:nvSpPr>
        <p:spPr>
          <a:xfrm>
            <a:off x="103044" y="821240"/>
            <a:ext cx="11929641" cy="5590565"/>
          </a:xfrm>
        </p:spPr>
        <p:txBody>
          <a:bodyPr/>
          <a:lstStyle/>
          <a:p>
            <a:r>
              <a:rPr lang="en-US" dirty="0"/>
              <a:t>The code generation strategy generates target code for a sequence of three address statement.</a:t>
            </a:r>
          </a:p>
          <a:p>
            <a:r>
              <a:rPr lang="en-US" dirty="0"/>
              <a:t>It uses function </a:t>
            </a:r>
            <a:r>
              <a:rPr lang="en-US" dirty="0" err="1">
                <a:solidFill>
                  <a:srgbClr val="C00000"/>
                </a:solidFill>
              </a:rPr>
              <a:t>getReg</a:t>
            </a:r>
            <a:r>
              <a:rPr lang="en-US" dirty="0">
                <a:solidFill>
                  <a:srgbClr val="C00000"/>
                </a:solidFill>
              </a:rPr>
              <a:t>() </a:t>
            </a:r>
            <a:r>
              <a:rPr lang="en-US" dirty="0"/>
              <a:t>to assign register to variable.</a:t>
            </a:r>
          </a:p>
          <a:p>
            <a:pPr lvl="0"/>
            <a:r>
              <a:rPr lang="en-US" dirty="0"/>
              <a:t>The code generator algorithm uses descriptors to keep track of register contents and addresses for names.</a:t>
            </a:r>
          </a:p>
          <a:p>
            <a:pPr lvl="0"/>
            <a:r>
              <a:rPr lang="en-US" b="1" dirty="0">
                <a:solidFill>
                  <a:srgbClr val="0E47A1"/>
                </a:solidFill>
              </a:rPr>
              <a:t>Address descriptor</a:t>
            </a:r>
            <a:r>
              <a:rPr lang="en-US" dirty="0">
                <a:solidFill>
                  <a:srgbClr val="0E47A1"/>
                </a:solidFill>
              </a:rPr>
              <a:t> </a:t>
            </a:r>
            <a:r>
              <a:rPr lang="en-US" dirty="0">
                <a:solidFill>
                  <a:srgbClr val="C00000"/>
                </a:solidFill>
              </a:rPr>
              <a:t>stores the location where the current value of the name </a:t>
            </a:r>
            <a:r>
              <a:rPr lang="en-US" dirty="0"/>
              <a:t>can be found at run time. The information about locations can be stored in the symbol table and is used to access the variables.</a:t>
            </a:r>
          </a:p>
          <a:p>
            <a:pPr lvl="0"/>
            <a:r>
              <a:rPr lang="en-US" b="1" dirty="0">
                <a:solidFill>
                  <a:srgbClr val="0E47A1"/>
                </a:solidFill>
              </a:rPr>
              <a:t>Register descriptor</a:t>
            </a:r>
            <a:r>
              <a:rPr lang="en-US" dirty="0">
                <a:solidFill>
                  <a:schemeClr val="accent1">
                    <a:lumMod val="75000"/>
                  </a:schemeClr>
                </a:solidFill>
              </a:rPr>
              <a:t> </a:t>
            </a:r>
            <a:r>
              <a:rPr lang="en-US" dirty="0"/>
              <a:t>is used to keep track of </a:t>
            </a:r>
            <a:r>
              <a:rPr lang="en-US" dirty="0">
                <a:solidFill>
                  <a:srgbClr val="C00000"/>
                </a:solidFill>
              </a:rPr>
              <a:t>what is currently in each register. </a:t>
            </a:r>
            <a:r>
              <a:rPr lang="en-US" dirty="0"/>
              <a:t>The register descriptor shows that initially all the registers are empty. As the generation for the block progresses the registers will hold the values of computation.</a:t>
            </a:r>
          </a:p>
          <a:p>
            <a:endParaRPr lang="en-US" dirty="0"/>
          </a:p>
        </p:txBody>
      </p:sp>
    </p:spTree>
    <p:extLst>
      <p:ext uri="{BB962C8B-B14F-4D97-AF65-F5344CB8AC3E}">
        <p14:creationId xmlns:p14="http://schemas.microsoft.com/office/powerpoint/2010/main" val="4284470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A Code Generation Algorithm</a:t>
            </a:r>
            <a:endParaRPr lang="en-IN" dirty="0"/>
          </a:p>
        </p:txBody>
      </p:sp>
      <p:sp>
        <p:nvSpPr>
          <p:cNvPr id="3" name="Content Placeholder 2">
            <a:extLst>
              <a:ext uri="{FF2B5EF4-FFF2-40B4-BE49-F238E27FC236}">
                <a16:creationId xmlns:a16="http://schemas.microsoft.com/office/drawing/2014/main" id="{A013B09C-B057-D237-2EE9-7C35E535B0BF}"/>
              </a:ext>
            </a:extLst>
          </p:cNvPr>
          <p:cNvSpPr>
            <a:spLocks noGrp="1"/>
          </p:cNvSpPr>
          <p:nvPr>
            <p:ph idx="1"/>
          </p:nvPr>
        </p:nvSpPr>
        <p:spPr>
          <a:xfrm>
            <a:off x="131180" y="863444"/>
            <a:ext cx="11929641" cy="5590565"/>
          </a:xfrm>
        </p:spPr>
        <p:txBody>
          <a:bodyPr/>
          <a:lstStyle/>
          <a:p>
            <a:r>
              <a:rPr lang="en-US" dirty="0"/>
              <a:t>The algorithm takes a sequence of three-address statements as input. For each three address statement of the form x:= y op z perform the various actions. Assume L is the location where the output of operation y op z is stored.</a:t>
            </a:r>
          </a:p>
          <a:p>
            <a:pPr marL="457200" indent="-457200">
              <a:buFont typeface="+mj-lt"/>
              <a:buAutoNum type="arabicPeriod"/>
            </a:pPr>
            <a:r>
              <a:rPr lang="en-US" dirty="0"/>
              <a:t>Invoke a function </a:t>
            </a:r>
            <a:r>
              <a:rPr lang="en-US" dirty="0" err="1"/>
              <a:t>getReg</a:t>
            </a:r>
            <a:r>
              <a:rPr lang="en-US" dirty="0"/>
              <a:t>() to find out the location L where the result of computation y op z should be stored.</a:t>
            </a:r>
          </a:p>
          <a:p>
            <a:pPr marL="457200" indent="-457200">
              <a:buFont typeface="+mj-lt"/>
              <a:buAutoNum type="arabicPeriod"/>
            </a:pPr>
            <a:r>
              <a:rPr lang="en-US" dirty="0"/>
              <a:t>Determine the present location of ‘y’ by consulting address description for y if y is not present in location L then generate the instruction </a:t>
            </a:r>
            <a:r>
              <a:rPr lang="en-US" b="1" dirty="0"/>
              <a:t>MOV y' , L</a:t>
            </a:r>
            <a:r>
              <a:rPr lang="en-US" dirty="0"/>
              <a:t> to place a copy of y in L</a:t>
            </a:r>
          </a:p>
          <a:p>
            <a:pPr marL="457200" indent="-457200">
              <a:buFont typeface="+mj-lt"/>
              <a:buAutoNum type="arabicPeriod"/>
            </a:pPr>
            <a:r>
              <a:rPr lang="en-US" dirty="0"/>
              <a:t>Present location of z is determined using step 2 and the instruction is generated as </a:t>
            </a:r>
            <a:r>
              <a:rPr lang="en-US" b="1" dirty="0"/>
              <a:t>OP z' , L</a:t>
            </a:r>
            <a:r>
              <a:rPr lang="en-US" dirty="0"/>
              <a:t> </a:t>
            </a:r>
          </a:p>
          <a:p>
            <a:pPr marL="457200" indent="-457200">
              <a:buFont typeface="+mj-lt"/>
              <a:buAutoNum type="arabicPeriod"/>
            </a:pPr>
            <a:r>
              <a:rPr lang="en-US" dirty="0"/>
              <a:t>If L is a register then update it’s descriptor that it contains value of x. update the address descriptor of x to indicate that it is in L.</a:t>
            </a:r>
          </a:p>
          <a:p>
            <a:pPr marL="457200" indent="-457200">
              <a:buFont typeface="+mj-lt"/>
              <a:buAutoNum type="arabicPeriod"/>
            </a:pPr>
            <a:r>
              <a:rPr lang="en-US" dirty="0"/>
              <a:t>If the current value of y or z have no next uses or not live on exit from the block or in register then alter the register descriptor to indicate that after execution of x : = y op z those register will no longer contain y or z.</a:t>
            </a:r>
          </a:p>
          <a:p>
            <a:endParaRPr lang="en-US" dirty="0"/>
          </a:p>
        </p:txBody>
      </p:sp>
    </p:spTree>
    <p:extLst>
      <p:ext uri="{BB962C8B-B14F-4D97-AF65-F5344CB8AC3E}">
        <p14:creationId xmlns:p14="http://schemas.microsoft.com/office/powerpoint/2010/main" val="3287624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A3D62-99E4-1C74-361B-E302EE4329EE}"/>
              </a:ext>
            </a:extLst>
          </p:cNvPr>
          <p:cNvSpPr>
            <a:spLocks noGrp="1"/>
          </p:cNvSpPr>
          <p:nvPr>
            <p:ph type="title"/>
          </p:nvPr>
        </p:nvSpPr>
        <p:spPr/>
        <p:txBody>
          <a:bodyPr/>
          <a:lstStyle/>
          <a:p>
            <a:r>
              <a:rPr lang="en-US" dirty="0"/>
              <a:t>Generating a code for assignment statement</a:t>
            </a:r>
            <a:endParaRPr lang="en-IN" dirty="0"/>
          </a:p>
        </p:txBody>
      </p:sp>
      <p:sp>
        <p:nvSpPr>
          <p:cNvPr id="3" name="Content Placeholder 2">
            <a:extLst>
              <a:ext uri="{FF2B5EF4-FFF2-40B4-BE49-F238E27FC236}">
                <a16:creationId xmlns:a16="http://schemas.microsoft.com/office/drawing/2014/main" id="{4F3206DB-562A-DFC3-BEB4-C23A4D066209}"/>
              </a:ext>
            </a:extLst>
          </p:cNvPr>
          <p:cNvSpPr>
            <a:spLocks noGrp="1"/>
          </p:cNvSpPr>
          <p:nvPr>
            <p:ph idx="1"/>
          </p:nvPr>
        </p:nvSpPr>
        <p:spPr>
          <a:xfrm>
            <a:off x="131180" y="863444"/>
            <a:ext cx="11929641" cy="5590565"/>
          </a:xfrm>
        </p:spPr>
        <p:txBody>
          <a:bodyPr/>
          <a:lstStyle/>
          <a:p>
            <a:r>
              <a:rPr lang="en-US" dirty="0"/>
              <a:t>The assignment statement d:= (a-b) + (a-c) + (a-c) can be translated into the following sequence of three address code:</a:t>
            </a:r>
          </a:p>
          <a:p>
            <a:endParaRPr lang="en-US" dirty="0"/>
          </a:p>
        </p:txBody>
      </p:sp>
      <p:graphicFrame>
        <p:nvGraphicFramePr>
          <p:cNvPr id="4" name="Table 3">
            <a:extLst>
              <a:ext uri="{FF2B5EF4-FFF2-40B4-BE49-F238E27FC236}">
                <a16:creationId xmlns:a16="http://schemas.microsoft.com/office/drawing/2014/main" id="{9EF0E71A-16F0-FBB9-6CF9-C1A8B5F4C1D7}"/>
              </a:ext>
            </a:extLst>
          </p:cNvPr>
          <p:cNvGraphicFramePr>
            <a:graphicFrameLocks noGrp="1"/>
          </p:cNvGraphicFramePr>
          <p:nvPr/>
        </p:nvGraphicFramePr>
        <p:xfrm>
          <a:off x="1806916" y="1868026"/>
          <a:ext cx="7319963" cy="1203960"/>
        </p:xfrm>
        <a:graphic>
          <a:graphicData uri="http://schemas.openxmlformats.org/drawingml/2006/table">
            <a:tbl>
              <a:tblPr firstRow="1" bandRow="1">
                <a:tableStyleId>{69CF1AB2-1976-4502-BF36-3FF5EA218861}</a:tableStyleId>
              </a:tblPr>
              <a:tblGrid>
                <a:gridCol w="1223963">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40">
                <a:tc>
                  <a:txBody>
                    <a:bodyPr/>
                    <a:lstStyle/>
                    <a:p>
                      <a:pPr algn="l" fontAlgn="t"/>
                      <a:r>
                        <a:rPr lang="en-US" dirty="0">
                          <a:effectLst/>
                        </a:rPr>
                        <a:t>Statement</a:t>
                      </a:r>
                      <a:endParaRPr lang="en-US" dirty="0">
                        <a:solidFill>
                          <a:srgbClr val="000000"/>
                        </a:solidFill>
                        <a:effectLst/>
                        <a:latin typeface="+mj-lt"/>
                      </a:endParaRPr>
                    </a:p>
                  </a:txBody>
                  <a:tcPr marL="114300" marR="114300" marT="114300" marB="114300">
                    <a:noFill/>
                  </a:tcPr>
                </a:tc>
                <a:tc>
                  <a:txBody>
                    <a:bodyPr/>
                    <a:lstStyle/>
                    <a:p>
                      <a:pPr algn="l" fontAlgn="t"/>
                      <a:r>
                        <a:rPr lang="en-US">
                          <a:effectLst/>
                        </a:rPr>
                        <a:t>Code Generated</a:t>
                      </a:r>
                      <a:endParaRPr lang="en-US">
                        <a:solidFill>
                          <a:srgbClr val="000000"/>
                        </a:solidFill>
                        <a:effectLst/>
                        <a:latin typeface="+mj-lt"/>
                      </a:endParaRPr>
                    </a:p>
                  </a:txBody>
                  <a:tcPr marL="114300" marR="114300" marT="114300" marB="114300">
                    <a:noFill/>
                  </a:tcPr>
                </a:tc>
                <a:tc>
                  <a:txBody>
                    <a:bodyPr/>
                    <a:lstStyle/>
                    <a:p>
                      <a:pPr algn="l" fontAlgn="t"/>
                      <a:r>
                        <a:rPr lang="en-US" dirty="0">
                          <a:effectLst/>
                        </a:rPr>
                        <a:t>Register descriptor</a:t>
                      </a:r>
                      <a:endParaRPr lang="en-US" dirty="0">
                        <a:solidFill>
                          <a:srgbClr val="000000"/>
                        </a:solidFill>
                        <a:effectLst/>
                        <a:latin typeface="+mj-lt"/>
                      </a:endParaRPr>
                    </a:p>
                  </a:txBody>
                  <a:tcPr marL="114300" marR="114300" marT="114300" marB="114300">
                    <a:noFill/>
                  </a:tcPr>
                </a:tc>
                <a:tc>
                  <a:txBody>
                    <a:bodyPr/>
                    <a:lstStyle/>
                    <a:p>
                      <a:pPr algn="l" fontAlgn="t"/>
                      <a:r>
                        <a:rPr lang="en-US" dirty="0">
                          <a:effectLst/>
                        </a:rPr>
                        <a:t>Address descriptor</a:t>
                      </a:r>
                      <a:endParaRPr lang="en-US" dirty="0">
                        <a:solidFill>
                          <a:srgbClr val="000000"/>
                        </a:solidFill>
                        <a:effectLst/>
                        <a:latin typeface="+mj-lt"/>
                      </a:endParaRPr>
                    </a:p>
                  </a:txBody>
                  <a:tcPr marL="114300" marR="114300" marT="114300" marB="114300">
                    <a:noFill/>
                  </a:tcPr>
                </a:tc>
                <a:extLst>
                  <a:ext uri="{0D108BD9-81ED-4DB2-BD59-A6C34878D82A}">
                    <a16:rowId xmlns:a16="http://schemas.microsoft.com/office/drawing/2014/main" val="10000"/>
                  </a:ext>
                </a:extLst>
              </a:tr>
              <a:tr h="370840">
                <a:tc>
                  <a:txBody>
                    <a:bodyPr/>
                    <a:lstStyle/>
                    <a:p>
                      <a:pPr algn="just" fontAlgn="t"/>
                      <a:r>
                        <a:rPr lang="en-US" dirty="0">
                          <a:effectLst/>
                        </a:rPr>
                        <a:t>t:= a - b</a:t>
                      </a:r>
                      <a:endParaRPr lang="en-US" dirty="0">
                        <a:solidFill>
                          <a:srgbClr val="333333"/>
                        </a:solidFill>
                        <a:effectLst/>
                        <a:latin typeface="+mj-lt"/>
                      </a:endParaRPr>
                    </a:p>
                  </a:txBody>
                  <a:tcPr marL="76200" marR="76200" marT="76200" marB="76200">
                    <a:noFill/>
                  </a:tcPr>
                </a:tc>
                <a:tc>
                  <a:txBody>
                    <a:bodyPr/>
                    <a:lstStyle/>
                    <a:p>
                      <a:pPr algn="ctr" fontAlgn="t"/>
                      <a:r>
                        <a:rPr lang="pt-BR" dirty="0">
                          <a:effectLst/>
                        </a:rPr>
                        <a:t>MOV a,R0</a:t>
                      </a:r>
                      <a:br>
                        <a:rPr lang="pt-BR" dirty="0">
                          <a:effectLst/>
                        </a:rPr>
                      </a:br>
                      <a:r>
                        <a:rPr lang="pt-BR" dirty="0">
                          <a:effectLst/>
                        </a:rPr>
                        <a:t>SUB b, R0</a:t>
                      </a:r>
                      <a:endParaRPr lang="pt-BR" dirty="0">
                        <a:solidFill>
                          <a:srgbClr val="333333"/>
                        </a:solidFill>
                        <a:effectLst/>
                        <a:latin typeface="+mj-lt"/>
                      </a:endParaRPr>
                    </a:p>
                  </a:txBody>
                  <a:tcPr marL="76200" marR="76200" marT="76200" marB="76200">
                    <a:noFill/>
                  </a:tcPr>
                </a:tc>
                <a:tc>
                  <a:txBody>
                    <a:bodyPr/>
                    <a:lstStyle/>
                    <a:p>
                      <a:pPr algn="ctr" fontAlgn="t"/>
                      <a:r>
                        <a:rPr lang="en-US" dirty="0">
                          <a:effectLst/>
                        </a:rPr>
                        <a:t>R0 contains t</a:t>
                      </a:r>
                      <a:endParaRPr lang="en-US" dirty="0">
                        <a:solidFill>
                          <a:srgbClr val="333333"/>
                        </a:solidFill>
                        <a:effectLst/>
                        <a:latin typeface="+mj-lt"/>
                      </a:endParaRPr>
                    </a:p>
                  </a:txBody>
                  <a:tcPr marL="76200" marR="76200" marT="76200" marB="76200">
                    <a:noFill/>
                  </a:tcPr>
                </a:tc>
                <a:tc>
                  <a:txBody>
                    <a:bodyPr/>
                    <a:lstStyle/>
                    <a:p>
                      <a:pPr algn="ctr" fontAlgn="t"/>
                      <a:r>
                        <a:rPr lang="en-US" dirty="0">
                          <a:effectLst/>
                        </a:rPr>
                        <a:t>t in R0</a:t>
                      </a:r>
                      <a:endParaRPr lang="en-US" dirty="0">
                        <a:solidFill>
                          <a:srgbClr val="333333"/>
                        </a:solidFill>
                        <a:effectLst/>
                        <a:latin typeface="+mj-lt"/>
                      </a:endParaRPr>
                    </a:p>
                  </a:txBody>
                  <a:tcPr marL="76200" marR="76200" marT="76200" marB="76200">
                    <a:noFill/>
                  </a:tcPr>
                </a:tc>
                <a:extLst>
                  <a:ext uri="{0D108BD9-81ED-4DB2-BD59-A6C34878D82A}">
                    <a16:rowId xmlns:a16="http://schemas.microsoft.com/office/drawing/2014/main" val="10001"/>
                  </a:ext>
                </a:extLst>
              </a:tr>
            </a:tbl>
          </a:graphicData>
        </a:graphic>
      </p:graphicFrame>
      <p:sp>
        <p:nvSpPr>
          <p:cNvPr id="5" name="Content Placeholder 2">
            <a:extLst>
              <a:ext uri="{FF2B5EF4-FFF2-40B4-BE49-F238E27FC236}">
                <a16:creationId xmlns:a16="http://schemas.microsoft.com/office/drawing/2014/main" id="{9D36C7E5-8A53-6FC7-3663-93F416E04A21}"/>
              </a:ext>
            </a:extLst>
          </p:cNvPr>
          <p:cNvSpPr txBox="1">
            <a:spLocks/>
          </p:cNvSpPr>
          <p:nvPr/>
        </p:nvSpPr>
        <p:spPr>
          <a:xfrm>
            <a:off x="10655945" y="1464384"/>
            <a:ext cx="1404876" cy="1813390"/>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rgbClr val="0E47A1"/>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rgbClr val="0E47A1"/>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rgbClr val="0E47A1"/>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rgbClr val="0E47A1"/>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3" panose="05040102010807070707" pitchFamily="18" charset="2"/>
              <a:buNone/>
            </a:pPr>
            <a:r>
              <a:rPr lang="pl-PL" dirty="0">
                <a:solidFill>
                  <a:srgbClr val="0E47A1"/>
                </a:solidFill>
              </a:rPr>
              <a:t>t:= a-b  </a:t>
            </a:r>
          </a:p>
          <a:p>
            <a:pPr marL="0" indent="0">
              <a:buFont typeface="Wingdings 3" panose="05040102010807070707" pitchFamily="18" charset="2"/>
              <a:buNone/>
            </a:pPr>
            <a:r>
              <a:rPr lang="pl-PL" dirty="0">
                <a:solidFill>
                  <a:srgbClr val="0E47A1"/>
                </a:solidFill>
              </a:rPr>
              <a:t>u:= a-c  </a:t>
            </a:r>
          </a:p>
          <a:p>
            <a:pPr marL="0" indent="0">
              <a:buFont typeface="Wingdings 3" panose="05040102010807070707" pitchFamily="18" charset="2"/>
              <a:buNone/>
            </a:pPr>
            <a:r>
              <a:rPr lang="pl-PL" dirty="0">
                <a:solidFill>
                  <a:srgbClr val="0E47A1"/>
                </a:solidFill>
              </a:rPr>
              <a:t>v:= t +u   </a:t>
            </a:r>
          </a:p>
          <a:p>
            <a:pPr marL="0" indent="0">
              <a:buFont typeface="Wingdings 3" panose="05040102010807070707" pitchFamily="18" charset="2"/>
              <a:buNone/>
            </a:pPr>
            <a:r>
              <a:rPr lang="pl-PL" dirty="0">
                <a:solidFill>
                  <a:srgbClr val="0E47A1"/>
                </a:solidFill>
              </a:rPr>
              <a:t>d:= v+u  </a:t>
            </a:r>
          </a:p>
          <a:p>
            <a:endParaRPr lang="en-US" dirty="0">
              <a:solidFill>
                <a:srgbClr val="0E47A1"/>
              </a:solidFill>
            </a:endParaRPr>
          </a:p>
        </p:txBody>
      </p:sp>
      <p:graphicFrame>
        <p:nvGraphicFramePr>
          <p:cNvPr id="6" name="Table 5">
            <a:extLst>
              <a:ext uri="{FF2B5EF4-FFF2-40B4-BE49-F238E27FC236}">
                <a16:creationId xmlns:a16="http://schemas.microsoft.com/office/drawing/2014/main" id="{6811E932-746F-A03D-A77A-9E9F2278F4A5}"/>
              </a:ext>
            </a:extLst>
          </p:cNvPr>
          <p:cNvGraphicFramePr>
            <a:graphicFrameLocks noGrp="1"/>
          </p:cNvGraphicFramePr>
          <p:nvPr/>
        </p:nvGraphicFramePr>
        <p:xfrm>
          <a:off x="1806916" y="3075847"/>
          <a:ext cx="7319963" cy="701040"/>
        </p:xfrm>
        <a:graphic>
          <a:graphicData uri="http://schemas.openxmlformats.org/drawingml/2006/table">
            <a:tbl>
              <a:tblPr firstRow="1" bandRow="1">
                <a:tableStyleId>{69CF1AB2-1976-4502-BF36-3FF5EA218861}</a:tableStyleId>
              </a:tblPr>
              <a:tblGrid>
                <a:gridCol w="1223963">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40">
                <a:tc>
                  <a:txBody>
                    <a:bodyPr/>
                    <a:lstStyle/>
                    <a:p>
                      <a:pPr algn="just" fontAlgn="t"/>
                      <a:r>
                        <a:rPr lang="en-US" b="0" dirty="0">
                          <a:effectLst/>
                        </a:rPr>
                        <a:t>u:= a - c</a:t>
                      </a:r>
                      <a:endParaRPr lang="en-US" b="0" dirty="0">
                        <a:solidFill>
                          <a:srgbClr val="333333"/>
                        </a:solidFill>
                        <a:effectLst/>
                        <a:latin typeface="+mj-lt"/>
                      </a:endParaRPr>
                    </a:p>
                  </a:txBody>
                  <a:tcPr marL="76200" marR="76200" marT="76200" marB="76200">
                    <a:noFill/>
                  </a:tcPr>
                </a:tc>
                <a:tc>
                  <a:txBody>
                    <a:bodyPr/>
                    <a:lstStyle/>
                    <a:p>
                      <a:pPr algn="ctr" fontAlgn="t"/>
                      <a:r>
                        <a:rPr lang="pt-BR" b="0" dirty="0">
                          <a:effectLst/>
                        </a:rPr>
                        <a:t>MOV a,R1</a:t>
                      </a:r>
                      <a:br>
                        <a:rPr lang="pt-BR" b="0" dirty="0">
                          <a:effectLst/>
                        </a:rPr>
                      </a:br>
                      <a:r>
                        <a:rPr lang="pt-BR" b="0" dirty="0">
                          <a:effectLst/>
                        </a:rPr>
                        <a:t>SUB c, R1</a:t>
                      </a:r>
                      <a:endParaRPr lang="pt-BR" b="0" dirty="0">
                        <a:solidFill>
                          <a:srgbClr val="333333"/>
                        </a:solidFill>
                        <a:effectLst/>
                        <a:latin typeface="+mj-lt"/>
                      </a:endParaRPr>
                    </a:p>
                  </a:txBody>
                  <a:tcPr marL="76200" marR="76200" marT="76200" marB="76200">
                    <a:noFill/>
                  </a:tcPr>
                </a:tc>
                <a:tc>
                  <a:txBody>
                    <a:bodyPr/>
                    <a:lstStyle/>
                    <a:p>
                      <a:pPr algn="ctr" fontAlgn="t"/>
                      <a:r>
                        <a:rPr lang="fr-FR" b="0" dirty="0">
                          <a:effectLst/>
                        </a:rPr>
                        <a:t>R0 </a:t>
                      </a:r>
                      <a:r>
                        <a:rPr lang="en-US" b="0" dirty="0">
                          <a:effectLst/>
                        </a:rPr>
                        <a:t>contains</a:t>
                      </a:r>
                      <a:r>
                        <a:rPr lang="fr-FR" b="0" dirty="0">
                          <a:effectLst/>
                        </a:rPr>
                        <a:t> t</a:t>
                      </a:r>
                      <a:br>
                        <a:rPr lang="fr-FR" b="0" dirty="0">
                          <a:effectLst/>
                        </a:rPr>
                      </a:br>
                      <a:r>
                        <a:rPr lang="fr-FR" b="0" dirty="0">
                          <a:effectLst/>
                        </a:rPr>
                        <a:t>R1 </a:t>
                      </a:r>
                      <a:r>
                        <a:rPr lang="en-US" b="0" dirty="0">
                          <a:effectLst/>
                        </a:rPr>
                        <a:t>contains</a:t>
                      </a:r>
                      <a:r>
                        <a:rPr lang="fr-FR" b="0" dirty="0">
                          <a:effectLst/>
                        </a:rPr>
                        <a:t> u</a:t>
                      </a:r>
                      <a:endParaRPr lang="fr-FR" b="0" dirty="0">
                        <a:solidFill>
                          <a:srgbClr val="333333"/>
                        </a:solidFill>
                        <a:effectLst/>
                        <a:latin typeface="+mj-lt"/>
                      </a:endParaRPr>
                    </a:p>
                  </a:txBody>
                  <a:tcPr marL="76200" marR="76200" marT="76200" marB="76200">
                    <a:noFill/>
                  </a:tcPr>
                </a:tc>
                <a:tc>
                  <a:txBody>
                    <a:bodyPr/>
                    <a:lstStyle/>
                    <a:p>
                      <a:pPr algn="ctr" fontAlgn="t"/>
                      <a:r>
                        <a:rPr lang="de-DE" b="0" dirty="0">
                          <a:effectLst/>
                        </a:rPr>
                        <a:t>t in R0</a:t>
                      </a:r>
                      <a:br>
                        <a:rPr lang="de-DE" b="0" dirty="0">
                          <a:effectLst/>
                        </a:rPr>
                      </a:br>
                      <a:r>
                        <a:rPr lang="de-DE" b="0" dirty="0">
                          <a:effectLst/>
                        </a:rPr>
                        <a:t>u in R1</a:t>
                      </a:r>
                      <a:endParaRPr lang="de-DE" b="0" dirty="0">
                        <a:solidFill>
                          <a:srgbClr val="333333"/>
                        </a:solidFill>
                        <a:effectLst/>
                        <a:latin typeface="+mj-lt"/>
                      </a:endParaRPr>
                    </a:p>
                  </a:txBody>
                  <a:tcPr marL="76200" marR="76200" marT="76200" marB="76200">
                    <a:noFill/>
                  </a:tcPr>
                </a:tc>
                <a:extLst>
                  <a:ext uri="{0D108BD9-81ED-4DB2-BD59-A6C34878D82A}">
                    <a16:rowId xmlns:a16="http://schemas.microsoft.com/office/drawing/2014/main" val="10000"/>
                  </a:ext>
                </a:extLst>
              </a:tr>
            </a:tbl>
          </a:graphicData>
        </a:graphic>
      </p:graphicFrame>
      <p:graphicFrame>
        <p:nvGraphicFramePr>
          <p:cNvPr id="7" name="Table 6">
            <a:extLst>
              <a:ext uri="{FF2B5EF4-FFF2-40B4-BE49-F238E27FC236}">
                <a16:creationId xmlns:a16="http://schemas.microsoft.com/office/drawing/2014/main" id="{71E7E486-FB52-286C-8888-659B39214DCA}"/>
              </a:ext>
            </a:extLst>
          </p:cNvPr>
          <p:cNvGraphicFramePr>
            <a:graphicFrameLocks noGrp="1"/>
          </p:cNvGraphicFramePr>
          <p:nvPr/>
        </p:nvGraphicFramePr>
        <p:xfrm>
          <a:off x="1806915" y="3776887"/>
          <a:ext cx="7319963" cy="701040"/>
        </p:xfrm>
        <a:graphic>
          <a:graphicData uri="http://schemas.openxmlformats.org/drawingml/2006/table">
            <a:tbl>
              <a:tblPr firstRow="1" bandRow="1">
                <a:tableStyleId>{69CF1AB2-1976-4502-BF36-3FF5EA218861}</a:tableStyleId>
              </a:tblPr>
              <a:tblGrid>
                <a:gridCol w="1223963">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40">
                <a:tc>
                  <a:txBody>
                    <a:bodyPr/>
                    <a:lstStyle/>
                    <a:p>
                      <a:pPr algn="just" fontAlgn="t"/>
                      <a:r>
                        <a:rPr lang="en-US" b="0" dirty="0">
                          <a:effectLst/>
                        </a:rPr>
                        <a:t>v:= t + u</a:t>
                      </a:r>
                      <a:endParaRPr lang="en-US" b="0" dirty="0">
                        <a:solidFill>
                          <a:srgbClr val="333333"/>
                        </a:solidFill>
                        <a:effectLst/>
                        <a:latin typeface="+mj-lt"/>
                      </a:endParaRPr>
                    </a:p>
                  </a:txBody>
                  <a:tcPr marL="76200" marR="76200" marT="76200" marB="76200">
                    <a:noFill/>
                  </a:tcPr>
                </a:tc>
                <a:tc>
                  <a:txBody>
                    <a:bodyPr/>
                    <a:lstStyle/>
                    <a:p>
                      <a:pPr algn="ctr" fontAlgn="t"/>
                      <a:r>
                        <a:rPr lang="en-US" b="0" dirty="0">
                          <a:effectLst/>
                        </a:rPr>
                        <a:t>ADD R1, R0</a:t>
                      </a:r>
                      <a:endParaRPr lang="en-US" b="0" dirty="0">
                        <a:solidFill>
                          <a:srgbClr val="333333"/>
                        </a:solidFill>
                        <a:effectLst/>
                        <a:latin typeface="+mj-lt"/>
                      </a:endParaRPr>
                    </a:p>
                  </a:txBody>
                  <a:tcPr marL="76200" marR="76200" marT="76200" marB="76200">
                    <a:noFill/>
                  </a:tcPr>
                </a:tc>
                <a:tc>
                  <a:txBody>
                    <a:bodyPr/>
                    <a:lstStyle/>
                    <a:p>
                      <a:pPr algn="ctr" fontAlgn="t"/>
                      <a:r>
                        <a:rPr lang="en-US" b="0" dirty="0">
                          <a:effectLst/>
                        </a:rPr>
                        <a:t>R0 contains v</a:t>
                      </a:r>
                      <a:br>
                        <a:rPr lang="en-US" b="0" dirty="0">
                          <a:effectLst/>
                        </a:rPr>
                      </a:br>
                      <a:r>
                        <a:rPr lang="en-US" b="0" dirty="0">
                          <a:effectLst/>
                        </a:rPr>
                        <a:t>R1 contains u</a:t>
                      </a:r>
                      <a:endParaRPr lang="en-US" b="0" dirty="0">
                        <a:solidFill>
                          <a:srgbClr val="333333"/>
                        </a:solidFill>
                        <a:effectLst/>
                        <a:latin typeface="+mj-lt"/>
                      </a:endParaRPr>
                    </a:p>
                  </a:txBody>
                  <a:tcPr marL="76200" marR="76200" marT="76200" marB="76200">
                    <a:noFill/>
                  </a:tcPr>
                </a:tc>
                <a:tc>
                  <a:txBody>
                    <a:bodyPr/>
                    <a:lstStyle/>
                    <a:p>
                      <a:pPr algn="ctr" fontAlgn="t"/>
                      <a:r>
                        <a:rPr lang="nl-NL" b="0" dirty="0">
                          <a:effectLst/>
                        </a:rPr>
                        <a:t>u in R1</a:t>
                      </a:r>
                      <a:br>
                        <a:rPr lang="nl-NL" b="0" dirty="0">
                          <a:effectLst/>
                        </a:rPr>
                      </a:br>
                      <a:r>
                        <a:rPr lang="nl-NL" b="0" dirty="0">
                          <a:effectLst/>
                        </a:rPr>
                        <a:t>v in R0</a:t>
                      </a:r>
                      <a:endParaRPr lang="nl-NL" b="0" dirty="0">
                        <a:solidFill>
                          <a:srgbClr val="333333"/>
                        </a:solidFill>
                        <a:effectLst/>
                        <a:latin typeface="+mj-lt"/>
                      </a:endParaRPr>
                    </a:p>
                  </a:txBody>
                  <a:tcPr marL="76200" marR="76200" marT="76200" marB="76200">
                    <a:noFill/>
                  </a:tcPr>
                </a:tc>
                <a:extLst>
                  <a:ext uri="{0D108BD9-81ED-4DB2-BD59-A6C34878D82A}">
                    <a16:rowId xmlns:a16="http://schemas.microsoft.com/office/drawing/2014/main" val="10000"/>
                  </a:ext>
                </a:extLst>
              </a:tr>
            </a:tbl>
          </a:graphicData>
        </a:graphic>
      </p:graphicFrame>
      <p:graphicFrame>
        <p:nvGraphicFramePr>
          <p:cNvPr id="8" name="Table 7">
            <a:extLst>
              <a:ext uri="{FF2B5EF4-FFF2-40B4-BE49-F238E27FC236}">
                <a16:creationId xmlns:a16="http://schemas.microsoft.com/office/drawing/2014/main" id="{B0DD7CFB-4CAC-5E61-D5F6-3E58794E2A97}"/>
              </a:ext>
            </a:extLst>
          </p:cNvPr>
          <p:cNvGraphicFramePr>
            <a:graphicFrameLocks noGrp="1"/>
          </p:cNvGraphicFramePr>
          <p:nvPr/>
        </p:nvGraphicFramePr>
        <p:xfrm>
          <a:off x="1806914" y="4477927"/>
          <a:ext cx="7319963" cy="701040"/>
        </p:xfrm>
        <a:graphic>
          <a:graphicData uri="http://schemas.openxmlformats.org/drawingml/2006/table">
            <a:tbl>
              <a:tblPr firstRow="1" bandRow="1">
                <a:tableStyleId>{69CF1AB2-1976-4502-BF36-3FF5EA218861}</a:tableStyleId>
              </a:tblPr>
              <a:tblGrid>
                <a:gridCol w="1223963">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40">
                <a:tc>
                  <a:txBody>
                    <a:bodyPr/>
                    <a:lstStyle/>
                    <a:p>
                      <a:pPr algn="just" fontAlgn="t"/>
                      <a:r>
                        <a:rPr lang="en-US" b="0" dirty="0">
                          <a:effectLst/>
                        </a:rPr>
                        <a:t>d:= v + u</a:t>
                      </a:r>
                      <a:endParaRPr lang="en-US" b="0" dirty="0">
                        <a:solidFill>
                          <a:srgbClr val="333333"/>
                        </a:solidFill>
                        <a:effectLst/>
                        <a:latin typeface="+mj-lt"/>
                      </a:endParaRPr>
                    </a:p>
                  </a:txBody>
                  <a:tcPr marL="76200" marR="76200" marT="76200" marB="76200">
                    <a:noFill/>
                  </a:tcPr>
                </a:tc>
                <a:tc>
                  <a:txBody>
                    <a:bodyPr/>
                    <a:lstStyle/>
                    <a:p>
                      <a:pPr algn="ctr" fontAlgn="t"/>
                      <a:r>
                        <a:rPr lang="pt-BR" b="0" dirty="0">
                          <a:effectLst/>
                        </a:rPr>
                        <a:t>ADD R1,R0</a:t>
                      </a:r>
                      <a:br>
                        <a:rPr lang="pt-BR" b="0" dirty="0">
                          <a:effectLst/>
                        </a:rPr>
                      </a:br>
                      <a:r>
                        <a:rPr lang="pt-BR" b="0" dirty="0">
                          <a:effectLst/>
                        </a:rPr>
                        <a:t>MOV R0, d</a:t>
                      </a:r>
                      <a:endParaRPr lang="pt-BR" b="0" dirty="0">
                        <a:solidFill>
                          <a:srgbClr val="333333"/>
                        </a:solidFill>
                        <a:effectLst/>
                        <a:latin typeface="+mj-lt"/>
                      </a:endParaRPr>
                    </a:p>
                  </a:txBody>
                  <a:tcPr marL="76200" marR="76200" marT="76200" marB="76200">
                    <a:noFill/>
                  </a:tcPr>
                </a:tc>
                <a:tc>
                  <a:txBody>
                    <a:bodyPr/>
                    <a:lstStyle/>
                    <a:p>
                      <a:pPr algn="ctr" fontAlgn="t"/>
                      <a:r>
                        <a:rPr lang="en-US" b="0" dirty="0">
                          <a:effectLst/>
                        </a:rPr>
                        <a:t>R0 contains d</a:t>
                      </a:r>
                      <a:endParaRPr lang="en-US" b="0" dirty="0">
                        <a:solidFill>
                          <a:srgbClr val="333333"/>
                        </a:solidFill>
                        <a:effectLst/>
                        <a:latin typeface="+mj-lt"/>
                      </a:endParaRPr>
                    </a:p>
                  </a:txBody>
                  <a:tcPr marL="76200" marR="76200" marT="76200" marB="76200">
                    <a:noFill/>
                  </a:tcPr>
                </a:tc>
                <a:tc>
                  <a:txBody>
                    <a:bodyPr/>
                    <a:lstStyle/>
                    <a:p>
                      <a:pPr algn="ctr" fontAlgn="t"/>
                      <a:r>
                        <a:rPr lang="en-US" b="0" dirty="0">
                          <a:effectLst/>
                        </a:rPr>
                        <a:t>d in R0</a:t>
                      </a:r>
                      <a:br>
                        <a:rPr lang="en-US" b="0" dirty="0">
                          <a:effectLst/>
                        </a:rPr>
                      </a:br>
                      <a:r>
                        <a:rPr lang="en-US" b="0" dirty="0">
                          <a:effectLst/>
                        </a:rPr>
                        <a:t>d in R0 and memory</a:t>
                      </a:r>
                      <a:endParaRPr lang="en-US" b="0" dirty="0">
                        <a:solidFill>
                          <a:srgbClr val="333333"/>
                        </a:solidFill>
                        <a:effectLst/>
                        <a:latin typeface="+mj-lt"/>
                      </a:endParaRPr>
                    </a:p>
                  </a:txBody>
                  <a:tcPr marL="76200" marR="76200" marT="76200" marB="76200">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687302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C8AE7-0B03-8897-DF73-846D0B9C5957}"/>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DB89106D-0A52-0273-F791-E5998C619366}"/>
              </a:ext>
            </a:extLst>
          </p:cNvPr>
          <p:cNvSpPr>
            <a:spLocks noGrp="1"/>
          </p:cNvSpPr>
          <p:nvPr>
            <p:ph idx="1"/>
          </p:nvPr>
        </p:nvSpPr>
        <p:spPr/>
        <p:txBody>
          <a:bodyPr/>
          <a:lstStyle/>
          <a:p>
            <a:pPr marL="0" indent="0">
              <a:buNone/>
            </a:pPr>
            <a:r>
              <a:rPr lang="en-US" sz="3000" b="1" dirty="0">
                <a:solidFill>
                  <a:srgbClr val="0E47A1"/>
                </a:solidFill>
              </a:rPr>
              <a:t>Books:</a:t>
            </a:r>
          </a:p>
          <a:p>
            <a:pPr marL="514350" indent="-514350">
              <a:buFont typeface="+mj-lt"/>
              <a:buAutoNum type="arabicPeriod"/>
            </a:pPr>
            <a:r>
              <a:rPr lang="en-US" sz="2800" b="1" dirty="0">
                <a:solidFill>
                  <a:srgbClr val="0E47A1"/>
                </a:solidFill>
              </a:rPr>
              <a:t>Compilers Principles, Techniques and Tools,</a:t>
            </a:r>
            <a:r>
              <a:rPr lang="en-US" sz="3000" b="1" dirty="0">
                <a:solidFill>
                  <a:srgbClr val="0E47A1"/>
                </a:solidFill>
              </a:rPr>
              <a:t> </a:t>
            </a:r>
            <a:r>
              <a:rPr lang="en-US" b="1">
                <a:solidFill>
                  <a:srgbClr val="0E47A1"/>
                </a:solidFill>
              </a:rPr>
              <a:t>PEARSON Education</a:t>
            </a:r>
            <a:endParaRPr lang="en-US" b="1" dirty="0">
              <a:solidFill>
                <a:srgbClr val="0E47A1"/>
              </a:solidFill>
            </a:endParaRPr>
          </a:p>
          <a:p>
            <a:pPr marL="0" indent="0">
              <a:buNone/>
            </a:pPr>
            <a:r>
              <a:rPr lang="en-US" dirty="0"/>
              <a:t>	Authors: Alfred V. </a:t>
            </a:r>
            <a:r>
              <a:rPr lang="en-US" dirty="0" err="1"/>
              <a:t>Aho</a:t>
            </a:r>
            <a:r>
              <a:rPr lang="en-US" dirty="0"/>
              <a:t>, Monica S. Lam, Ravi Sethi, Jeffrey D. Ullman</a:t>
            </a:r>
          </a:p>
          <a:p>
            <a:endParaRPr lang="en-IN" dirty="0"/>
          </a:p>
        </p:txBody>
      </p:sp>
    </p:spTree>
    <p:extLst>
      <p:ext uri="{BB962C8B-B14F-4D97-AF65-F5344CB8AC3E}">
        <p14:creationId xmlns:p14="http://schemas.microsoft.com/office/powerpoint/2010/main" val="26273977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lstStyle/>
          <a:p>
            <a:endParaRPr lang="en-US" dirty="0"/>
          </a:p>
        </p:txBody>
      </p:sp>
      <p:sp>
        <p:nvSpPr>
          <p:cNvPr id="4" name="Title 3"/>
          <p:cNvSpPr>
            <a:spLocks noGrp="1"/>
          </p:cNvSpPr>
          <p:nvPr>
            <p:ph type="title"/>
          </p:nvPr>
        </p:nvSpPr>
        <p:spPr/>
        <p:txBody>
          <a:bodyPr/>
          <a:lstStyle/>
          <a:p>
            <a:r>
              <a:rPr lang="en-US" dirty="0"/>
              <a:t>Thank You </a:t>
            </a:r>
          </a:p>
        </p:txBody>
      </p:sp>
    </p:spTree>
    <p:extLst>
      <p:ext uri="{BB962C8B-B14F-4D97-AF65-F5344CB8AC3E}">
        <p14:creationId xmlns:p14="http://schemas.microsoft.com/office/powerpoint/2010/main" val="1726425364"/>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11297</TotalTime>
  <Words>3168</Words>
  <Application>Microsoft Office PowerPoint</Application>
  <PresentationFormat>Widescreen</PresentationFormat>
  <Paragraphs>612</Paragraphs>
  <Slides>55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55</vt:i4>
      </vt:variant>
    </vt:vector>
  </HeadingPairs>
  <TitlesOfParts>
    <vt:vector size="66" baseType="lpstr">
      <vt:lpstr>Wingdings 2</vt:lpstr>
      <vt:lpstr>Roboto Condensed</vt:lpstr>
      <vt:lpstr>Calibri</vt:lpstr>
      <vt:lpstr>Wingdings</vt:lpstr>
      <vt:lpstr>Palatino Linotype</vt:lpstr>
      <vt:lpstr>Roboto Condensed Light</vt:lpstr>
      <vt:lpstr>Segoe UI Black</vt:lpstr>
      <vt:lpstr>Arial</vt:lpstr>
      <vt:lpstr>Times New Roman</vt:lpstr>
      <vt:lpstr>Wingdings 3</vt:lpstr>
      <vt:lpstr>Office Theme</vt:lpstr>
      <vt:lpstr>Unit – 4 Code Optimization,  Runtime Environments &amp; Code Generation </vt:lpstr>
      <vt:lpstr>PowerPoint Presentation</vt:lpstr>
      <vt:lpstr> Code optimization techniques</vt:lpstr>
      <vt:lpstr>Code Optimization</vt:lpstr>
      <vt:lpstr>Code Optimization</vt:lpstr>
      <vt:lpstr>Machine independent techniques</vt:lpstr>
      <vt:lpstr>Machine independent techniques</vt:lpstr>
      <vt:lpstr>Compile time evaluation</vt:lpstr>
      <vt:lpstr>Common sub expressions elimination</vt:lpstr>
      <vt:lpstr>Code Movement or Code Motion</vt:lpstr>
      <vt:lpstr>Reduction in Strength</vt:lpstr>
      <vt:lpstr>Dead code elimination</vt:lpstr>
      <vt:lpstr>Machine dependent techniques</vt:lpstr>
      <vt:lpstr>Machine dependent optimization</vt:lpstr>
      <vt:lpstr>Peephole optimization</vt:lpstr>
      <vt:lpstr>Redundant Loads &amp; Stores</vt:lpstr>
      <vt:lpstr>Flow of Control Optimization</vt:lpstr>
      <vt:lpstr>Algebraic simplification</vt:lpstr>
      <vt:lpstr>Reduction in strength</vt:lpstr>
      <vt:lpstr>Machine idioms</vt:lpstr>
      <vt:lpstr>Storage allocation strategies</vt:lpstr>
      <vt:lpstr>Storage allocation strategies</vt:lpstr>
      <vt:lpstr>Static allocation</vt:lpstr>
      <vt:lpstr>Stack allocation</vt:lpstr>
      <vt:lpstr>Stack allocation</vt:lpstr>
      <vt:lpstr>Stack allocation: Calling Sequences</vt:lpstr>
      <vt:lpstr>Stack allocation: Calling Sequences</vt:lpstr>
      <vt:lpstr>Stack allocation: Calling Sequences</vt:lpstr>
      <vt:lpstr>Stack allocation: Variable length data on stack</vt:lpstr>
      <vt:lpstr>Stack allocation: Dangling Reference</vt:lpstr>
      <vt:lpstr>Heap Allocation</vt:lpstr>
      <vt:lpstr>Issues in the design of a code generator</vt:lpstr>
      <vt:lpstr>Issues in the design of a code generator</vt:lpstr>
      <vt:lpstr>Input to code generator</vt:lpstr>
      <vt:lpstr>Target program</vt:lpstr>
      <vt:lpstr>Memory management</vt:lpstr>
      <vt:lpstr>Instruction selection</vt:lpstr>
      <vt:lpstr>Register allocation</vt:lpstr>
      <vt:lpstr>Choice of evaluation</vt:lpstr>
      <vt:lpstr>Approaches to code generation </vt:lpstr>
      <vt:lpstr>Basic blocks and Flow Graph</vt:lpstr>
      <vt:lpstr>Basic Blocks</vt:lpstr>
      <vt:lpstr>Algorithm: Partition into basic blocks</vt:lpstr>
      <vt:lpstr>Example: Partition into basic blocks</vt:lpstr>
      <vt:lpstr>Data Flow Analysis- Liveness analysis</vt:lpstr>
      <vt:lpstr>Data Flow Properties</vt:lpstr>
      <vt:lpstr>Available Expression</vt:lpstr>
      <vt:lpstr>Reaching Definition</vt:lpstr>
      <vt:lpstr>Live variable</vt:lpstr>
      <vt:lpstr>A simple code generator</vt:lpstr>
      <vt:lpstr>A simple code generator</vt:lpstr>
      <vt:lpstr>A Code Generation Algorithm</vt:lpstr>
      <vt:lpstr>Generating a code for assignment statement</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683</cp:revision>
  <dcterms:created xsi:type="dcterms:W3CDTF">2020-05-01T05:09:15Z</dcterms:created>
  <dcterms:modified xsi:type="dcterms:W3CDTF">2026-03-17T02:03:04Z</dcterms:modified>
</cp:coreProperties>
</file>