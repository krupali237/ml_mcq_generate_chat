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8"/>
  </p:notesMasterIdLst>
  <p:handoutMasterIdLst>
    <p:handoutMasterId r:id="rId49"/>
  </p:handoutMasterIdLst>
  <p:sldIdLst>
    <p:sldId id="330" r:id="rId2"/>
    <p:sldId id="267" r:id="rId3"/>
    <p:sldId id="671" r:id="rId4"/>
    <p:sldId id="376" r:id="rId5"/>
    <p:sldId id="724" r:id="rId6"/>
    <p:sldId id="558" r:id="rId7"/>
    <p:sldId id="723" r:id="rId8"/>
    <p:sldId id="580" r:id="rId9"/>
    <p:sldId id="378" r:id="rId10"/>
    <p:sldId id="355" r:id="rId11"/>
    <p:sldId id="356" r:id="rId12"/>
    <p:sldId id="369" r:id="rId13"/>
    <p:sldId id="357" r:id="rId14"/>
    <p:sldId id="359" r:id="rId15"/>
    <p:sldId id="361" r:id="rId16"/>
    <p:sldId id="362" r:id="rId17"/>
    <p:sldId id="363" r:id="rId18"/>
    <p:sldId id="364" r:id="rId19"/>
    <p:sldId id="365" r:id="rId20"/>
    <p:sldId id="367" r:id="rId21"/>
    <p:sldId id="368" r:id="rId22"/>
    <p:sldId id="727" r:id="rId23"/>
    <p:sldId id="346" r:id="rId24"/>
    <p:sldId id="347" r:id="rId25"/>
    <p:sldId id="351" r:id="rId26"/>
    <p:sldId id="349" r:id="rId27"/>
    <p:sldId id="352" r:id="rId28"/>
    <p:sldId id="745" r:id="rId29"/>
    <p:sldId id="728" r:id="rId30"/>
    <p:sldId id="729" r:id="rId31"/>
    <p:sldId id="752" r:id="rId32"/>
    <p:sldId id="753" r:id="rId33"/>
    <p:sldId id="750" r:id="rId34"/>
    <p:sldId id="735" r:id="rId35"/>
    <p:sldId id="736" r:id="rId36"/>
    <p:sldId id="754" r:id="rId37"/>
    <p:sldId id="731" r:id="rId38"/>
    <p:sldId id="732" r:id="rId39"/>
    <p:sldId id="741" r:id="rId40"/>
    <p:sldId id="733" r:id="rId41"/>
    <p:sldId id="743" r:id="rId42"/>
    <p:sldId id="751" r:id="rId43"/>
    <p:sldId id="748" r:id="rId44"/>
    <p:sldId id="734" r:id="rId45"/>
    <p:sldId id="749" r:id="rId46"/>
    <p:sldId id="344" r:id="rId47"/>
  </p:sldIdLst>
  <p:sldSz cx="12192000" cy="6858000"/>
  <p:notesSz cx="6858000" cy="9144000"/>
  <p:embeddedFontLst>
    <p:embeddedFont>
      <p:font typeface="Fira Sans Extra Condensed" panose="020B0503050000020004" pitchFamily="34" charset="0"/>
      <p:regular r:id="rId50"/>
      <p:bold r:id="rId51"/>
    </p:embeddedFont>
    <p:embeddedFont>
      <p:font typeface="Roboto Condensed" panose="02000000000000000000" pitchFamily="2" charset="0"/>
      <p:regular r:id="rId52"/>
      <p:bold r:id="rId53"/>
      <p:italic r:id="rId54"/>
      <p:boldItalic r:id="rId55"/>
    </p:embeddedFont>
    <p:embeddedFont>
      <p:font typeface="Roboto Condensed Light" panose="02000000000000000000" pitchFamily="2" charset="0"/>
      <p:regular r:id="rId56"/>
      <p:bold r:id="rId57"/>
      <p:italic r:id="rId58"/>
      <p:boldItalic r:id="rId59"/>
    </p:embeddedFont>
    <p:embeddedFont>
      <p:font typeface="Wingdings 2" panose="05020102010507070707" pitchFamily="18" charset="2"/>
      <p:regular r:id="rId60"/>
    </p:embeddedFont>
    <p:embeddedFont>
      <p:font typeface="Wingdings 3" panose="05040102010807070707" pitchFamily="18" charset="2"/>
      <p:regular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NOUyGKQaleNO8I9EO1+8iQ==" hashData="qR+2PnZ4/ylEG0bMiiUJOnjhT6csrnJwulbE1X0TCRguYfCs5poURH95UVwK1B+C2E53mP2gFIGhdGQYro1ZGg=="/>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2C32"/>
    <a:srgbClr val="5E3037"/>
    <a:srgbClr val="7B3E47"/>
    <a:srgbClr val="D10233"/>
    <a:srgbClr val="301B92"/>
    <a:srgbClr val="673BB7"/>
    <a:srgbClr val="607D8B"/>
    <a:srgbClr val="ED524F"/>
    <a:srgbClr val="B71B1C"/>
    <a:srgbClr val="F543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78" y="102"/>
      </p:cViewPr>
      <p:guideLst/>
    </p:cSldViewPr>
  </p:slideViewPr>
  <p:notesTextViewPr>
    <p:cViewPr>
      <p:scale>
        <a:sx n="1" d="1"/>
        <a:sy n="1" d="1"/>
      </p:scale>
      <p:origin x="0" y="0"/>
    </p:cViewPr>
  </p:notesTextViewPr>
  <p:notesViewPr>
    <p:cSldViewPr snapToGrid="0">
      <p:cViewPr varScale="1">
        <p:scale>
          <a:sx n="66" d="100"/>
          <a:sy n="66" d="100"/>
        </p:scale>
        <p:origin x="3330" y="6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7.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037C5D-26F8-4B39-A054-3638BFC89AD9}" type="doc">
      <dgm:prSet loTypeId="urn:microsoft.com/office/officeart/2005/8/layout/hierarchy1" loCatId="hierarchy" qsTypeId="urn:microsoft.com/office/officeart/2005/8/quickstyle/3d3" qsCatId="3D" csTypeId="urn:microsoft.com/office/officeart/2005/8/colors/colorful5" csCatId="colorful" phldr="1"/>
      <dgm:spPr/>
      <dgm:t>
        <a:bodyPr/>
        <a:lstStyle/>
        <a:p>
          <a:endParaRPr lang="en-US"/>
        </a:p>
      </dgm:t>
    </dgm:pt>
    <dgm:pt modelId="{2B8E5462-8FDF-45C2-9AE6-4C0F9236317D}">
      <dgm:prSet phldrT="[Text]"/>
      <dgm:spPr/>
      <dgm:t>
        <a:bodyPr/>
        <a:lstStyle/>
        <a:p>
          <a:r>
            <a:rPr lang="en-US" dirty="0"/>
            <a:t>Financial Statements</a:t>
          </a:r>
        </a:p>
      </dgm:t>
    </dgm:pt>
    <dgm:pt modelId="{A40E67B0-2B3C-4721-A6E0-0E2672749046}" type="parTrans" cxnId="{FB24F1DE-6369-4611-8BF6-E335972592A2}">
      <dgm:prSet/>
      <dgm:spPr/>
      <dgm:t>
        <a:bodyPr/>
        <a:lstStyle/>
        <a:p>
          <a:endParaRPr lang="en-US"/>
        </a:p>
      </dgm:t>
    </dgm:pt>
    <dgm:pt modelId="{3A750699-6531-417A-B7E6-09A00B9A35BB}" type="sibTrans" cxnId="{FB24F1DE-6369-4611-8BF6-E335972592A2}">
      <dgm:prSet/>
      <dgm:spPr/>
      <dgm:t>
        <a:bodyPr/>
        <a:lstStyle/>
        <a:p>
          <a:endParaRPr lang="en-US"/>
        </a:p>
      </dgm:t>
    </dgm:pt>
    <dgm:pt modelId="{D273D507-5DE0-4703-9584-10A4999215F9}">
      <dgm:prSet phldrT="[Text]"/>
      <dgm:spPr/>
      <dgm:t>
        <a:bodyPr/>
        <a:lstStyle/>
        <a:p>
          <a:r>
            <a:rPr lang="en-US" dirty="0"/>
            <a:t>Income Statements</a:t>
          </a:r>
        </a:p>
      </dgm:t>
    </dgm:pt>
    <dgm:pt modelId="{E7A7101E-9C86-4ADD-8467-5D9C109D2A0B}" type="parTrans" cxnId="{B76E15F8-55A6-4246-832B-2C4C15BDEA61}">
      <dgm:prSet/>
      <dgm:spPr/>
      <dgm:t>
        <a:bodyPr/>
        <a:lstStyle/>
        <a:p>
          <a:endParaRPr lang="en-US"/>
        </a:p>
      </dgm:t>
    </dgm:pt>
    <dgm:pt modelId="{7C7E0927-A89B-4B74-8A0F-5781168F88AC}" type="sibTrans" cxnId="{B76E15F8-55A6-4246-832B-2C4C15BDEA61}">
      <dgm:prSet/>
      <dgm:spPr/>
      <dgm:t>
        <a:bodyPr/>
        <a:lstStyle/>
        <a:p>
          <a:endParaRPr lang="en-US"/>
        </a:p>
      </dgm:t>
    </dgm:pt>
    <dgm:pt modelId="{1AD8EEC1-F924-43E0-9873-ABC6167DF972}">
      <dgm:prSet phldrT="[Text]"/>
      <dgm:spPr/>
      <dgm:t>
        <a:bodyPr/>
        <a:lstStyle/>
        <a:p>
          <a:r>
            <a:rPr lang="en-US" dirty="0"/>
            <a:t>Position Statements</a:t>
          </a:r>
        </a:p>
      </dgm:t>
    </dgm:pt>
    <dgm:pt modelId="{6FD6CD5C-776E-476B-A2BB-5C1EB024DA81}" type="parTrans" cxnId="{5D7C5291-EB99-4D46-B128-82A5F98332C1}">
      <dgm:prSet/>
      <dgm:spPr/>
      <dgm:t>
        <a:bodyPr/>
        <a:lstStyle/>
        <a:p>
          <a:endParaRPr lang="en-US"/>
        </a:p>
      </dgm:t>
    </dgm:pt>
    <dgm:pt modelId="{C43277BD-F261-422B-8D52-51A520D472EA}" type="sibTrans" cxnId="{5D7C5291-EB99-4D46-B128-82A5F98332C1}">
      <dgm:prSet/>
      <dgm:spPr/>
      <dgm:t>
        <a:bodyPr/>
        <a:lstStyle/>
        <a:p>
          <a:endParaRPr lang="en-US"/>
        </a:p>
      </dgm:t>
    </dgm:pt>
    <dgm:pt modelId="{F124FF7E-B932-405A-B090-0B0FA1E873F4}">
      <dgm:prSet/>
      <dgm:spPr/>
      <dgm:t>
        <a:bodyPr/>
        <a:lstStyle/>
        <a:p>
          <a:r>
            <a:rPr lang="en-US" dirty="0"/>
            <a:t>Trading Account</a:t>
          </a:r>
        </a:p>
      </dgm:t>
    </dgm:pt>
    <dgm:pt modelId="{D224DF02-74B4-483C-9397-A34329276B5D}" type="parTrans" cxnId="{398F0854-59D8-4AB1-B5F8-5D4C8190D9DF}">
      <dgm:prSet/>
      <dgm:spPr/>
      <dgm:t>
        <a:bodyPr/>
        <a:lstStyle/>
        <a:p>
          <a:endParaRPr lang="en-US"/>
        </a:p>
      </dgm:t>
    </dgm:pt>
    <dgm:pt modelId="{ABB3F6D2-ED8D-4AE4-BF40-A9B014426F42}" type="sibTrans" cxnId="{398F0854-59D8-4AB1-B5F8-5D4C8190D9DF}">
      <dgm:prSet/>
      <dgm:spPr/>
      <dgm:t>
        <a:bodyPr/>
        <a:lstStyle/>
        <a:p>
          <a:endParaRPr lang="en-US"/>
        </a:p>
      </dgm:t>
    </dgm:pt>
    <dgm:pt modelId="{866B965B-8E1A-4973-85C7-EF0B50E23E48}">
      <dgm:prSet/>
      <dgm:spPr/>
      <dgm:t>
        <a:bodyPr/>
        <a:lstStyle/>
        <a:p>
          <a:r>
            <a:rPr lang="en-US" dirty="0"/>
            <a:t>Profit &amp; Loss Account</a:t>
          </a:r>
        </a:p>
      </dgm:t>
    </dgm:pt>
    <dgm:pt modelId="{CF71A617-FECA-43BA-B00F-E1A6A1FE8B8A}" type="parTrans" cxnId="{8D60B014-F9F5-4C9E-8008-228F33618B2B}">
      <dgm:prSet/>
      <dgm:spPr/>
      <dgm:t>
        <a:bodyPr/>
        <a:lstStyle/>
        <a:p>
          <a:endParaRPr lang="en-US"/>
        </a:p>
      </dgm:t>
    </dgm:pt>
    <dgm:pt modelId="{95BF7925-494F-4C1B-86AF-443EF5C79CF7}" type="sibTrans" cxnId="{8D60B014-F9F5-4C9E-8008-228F33618B2B}">
      <dgm:prSet/>
      <dgm:spPr/>
      <dgm:t>
        <a:bodyPr/>
        <a:lstStyle/>
        <a:p>
          <a:endParaRPr lang="en-US"/>
        </a:p>
      </dgm:t>
    </dgm:pt>
    <dgm:pt modelId="{EE30BC6F-8F6E-49D6-A344-1B197F599667}">
      <dgm:prSet/>
      <dgm:spPr/>
      <dgm:t>
        <a:bodyPr/>
        <a:lstStyle/>
        <a:p>
          <a:r>
            <a:rPr lang="en-US" dirty="0"/>
            <a:t>Gross Profit or Gross Loss</a:t>
          </a:r>
        </a:p>
      </dgm:t>
    </dgm:pt>
    <dgm:pt modelId="{B1796726-AA2B-4F50-AC89-A967F4646763}" type="parTrans" cxnId="{7D6D9F18-3AAA-430E-BD0A-0F7C06D3D02F}">
      <dgm:prSet/>
      <dgm:spPr/>
      <dgm:t>
        <a:bodyPr/>
        <a:lstStyle/>
        <a:p>
          <a:endParaRPr lang="en-US"/>
        </a:p>
      </dgm:t>
    </dgm:pt>
    <dgm:pt modelId="{E1B0A09E-8D96-4709-93E4-C4B7D41EB31B}" type="sibTrans" cxnId="{7D6D9F18-3AAA-430E-BD0A-0F7C06D3D02F}">
      <dgm:prSet/>
      <dgm:spPr/>
      <dgm:t>
        <a:bodyPr/>
        <a:lstStyle/>
        <a:p>
          <a:endParaRPr lang="en-US"/>
        </a:p>
      </dgm:t>
    </dgm:pt>
    <dgm:pt modelId="{61469A24-E944-4BE6-9ACC-1C1098BA2D9D}">
      <dgm:prSet/>
      <dgm:spPr/>
      <dgm:t>
        <a:bodyPr/>
        <a:lstStyle/>
        <a:p>
          <a:r>
            <a:rPr lang="en-US" dirty="0"/>
            <a:t>Net Profit or Net Loss</a:t>
          </a:r>
        </a:p>
      </dgm:t>
    </dgm:pt>
    <dgm:pt modelId="{879539A8-875E-49AD-B7FE-AC0336DE961B}" type="parTrans" cxnId="{4D176A98-EC50-4F74-9492-7E138421922D}">
      <dgm:prSet/>
      <dgm:spPr/>
      <dgm:t>
        <a:bodyPr/>
        <a:lstStyle/>
        <a:p>
          <a:endParaRPr lang="en-US"/>
        </a:p>
      </dgm:t>
    </dgm:pt>
    <dgm:pt modelId="{4D8167D4-CAF4-49A2-B203-52BA4091A979}" type="sibTrans" cxnId="{4D176A98-EC50-4F74-9492-7E138421922D}">
      <dgm:prSet/>
      <dgm:spPr/>
      <dgm:t>
        <a:bodyPr/>
        <a:lstStyle/>
        <a:p>
          <a:endParaRPr lang="en-US"/>
        </a:p>
      </dgm:t>
    </dgm:pt>
    <dgm:pt modelId="{5E99AF93-28A4-4D9F-9FE7-E23607F23F72}">
      <dgm:prSet/>
      <dgm:spPr/>
      <dgm:t>
        <a:bodyPr/>
        <a:lstStyle/>
        <a:p>
          <a:r>
            <a:rPr lang="en-US" dirty="0"/>
            <a:t>Balance Sheet</a:t>
          </a:r>
        </a:p>
      </dgm:t>
    </dgm:pt>
    <dgm:pt modelId="{68241CD4-50CB-40ED-B875-40E6AD6A83D5}" type="parTrans" cxnId="{D19868BB-8A00-437A-9AB9-F762D5D45E2D}">
      <dgm:prSet/>
      <dgm:spPr/>
      <dgm:t>
        <a:bodyPr/>
        <a:lstStyle/>
        <a:p>
          <a:endParaRPr lang="en-US"/>
        </a:p>
      </dgm:t>
    </dgm:pt>
    <dgm:pt modelId="{BEFE86AA-9CD3-4E07-A091-DF75330F50E8}" type="sibTrans" cxnId="{D19868BB-8A00-437A-9AB9-F762D5D45E2D}">
      <dgm:prSet/>
      <dgm:spPr/>
      <dgm:t>
        <a:bodyPr/>
        <a:lstStyle/>
        <a:p>
          <a:endParaRPr lang="en-US"/>
        </a:p>
      </dgm:t>
    </dgm:pt>
    <dgm:pt modelId="{7BDB6669-D3B9-405E-B395-F65679A01764}">
      <dgm:prSet/>
      <dgm:spPr/>
      <dgm:t>
        <a:bodyPr/>
        <a:lstStyle/>
        <a:p>
          <a:r>
            <a:rPr lang="en-US" dirty="0"/>
            <a:t>Position of Assets &amp; Liabilities</a:t>
          </a:r>
        </a:p>
      </dgm:t>
    </dgm:pt>
    <dgm:pt modelId="{F191F922-43F5-4B14-8735-7F0A9B0736C1}" type="parTrans" cxnId="{64B11721-9C48-4C24-ADBE-DDCBB2101AA6}">
      <dgm:prSet/>
      <dgm:spPr/>
      <dgm:t>
        <a:bodyPr/>
        <a:lstStyle/>
        <a:p>
          <a:endParaRPr lang="en-US"/>
        </a:p>
      </dgm:t>
    </dgm:pt>
    <dgm:pt modelId="{C2FC2B84-311D-455B-BC2C-6681A20DC192}" type="sibTrans" cxnId="{64B11721-9C48-4C24-ADBE-DDCBB2101AA6}">
      <dgm:prSet/>
      <dgm:spPr/>
      <dgm:t>
        <a:bodyPr/>
        <a:lstStyle/>
        <a:p>
          <a:endParaRPr lang="en-US"/>
        </a:p>
      </dgm:t>
    </dgm:pt>
    <dgm:pt modelId="{65C267B2-378E-44CF-9894-AB8372DBD21A}" type="pres">
      <dgm:prSet presAssocID="{1B037C5D-26F8-4B39-A054-3638BFC89AD9}" presName="hierChild1" presStyleCnt="0">
        <dgm:presLayoutVars>
          <dgm:chPref val="1"/>
          <dgm:dir/>
          <dgm:animOne val="branch"/>
          <dgm:animLvl val="lvl"/>
          <dgm:resizeHandles/>
        </dgm:presLayoutVars>
      </dgm:prSet>
      <dgm:spPr/>
    </dgm:pt>
    <dgm:pt modelId="{4C84D9D6-A47A-4457-8A5A-6F71237BDD04}" type="pres">
      <dgm:prSet presAssocID="{2B8E5462-8FDF-45C2-9AE6-4C0F9236317D}" presName="hierRoot1" presStyleCnt="0"/>
      <dgm:spPr/>
    </dgm:pt>
    <dgm:pt modelId="{C1DD00D3-7106-402C-99FD-D536645F841B}" type="pres">
      <dgm:prSet presAssocID="{2B8E5462-8FDF-45C2-9AE6-4C0F9236317D}" presName="composite" presStyleCnt="0"/>
      <dgm:spPr/>
    </dgm:pt>
    <dgm:pt modelId="{D6621AA6-8077-4BFD-9CC4-33452DAEF784}" type="pres">
      <dgm:prSet presAssocID="{2B8E5462-8FDF-45C2-9AE6-4C0F9236317D}" presName="background" presStyleLbl="node0" presStyleIdx="0" presStyleCnt="1"/>
      <dgm:spPr/>
    </dgm:pt>
    <dgm:pt modelId="{8B799791-8F17-4216-BBD5-22064053DB1F}" type="pres">
      <dgm:prSet presAssocID="{2B8E5462-8FDF-45C2-9AE6-4C0F9236317D}" presName="text" presStyleLbl="fgAcc0" presStyleIdx="0" presStyleCnt="1" custScaleX="285311">
        <dgm:presLayoutVars>
          <dgm:chPref val="3"/>
        </dgm:presLayoutVars>
      </dgm:prSet>
      <dgm:spPr/>
    </dgm:pt>
    <dgm:pt modelId="{25D3C89F-40A0-431F-866C-E4106651F797}" type="pres">
      <dgm:prSet presAssocID="{2B8E5462-8FDF-45C2-9AE6-4C0F9236317D}" presName="hierChild2" presStyleCnt="0"/>
      <dgm:spPr/>
    </dgm:pt>
    <dgm:pt modelId="{D51840F5-C97F-4EFF-A46A-D64E15E0D890}" type="pres">
      <dgm:prSet presAssocID="{E7A7101E-9C86-4ADD-8467-5D9C109D2A0B}" presName="Name10" presStyleLbl="parChTrans1D2" presStyleIdx="0" presStyleCnt="2"/>
      <dgm:spPr/>
    </dgm:pt>
    <dgm:pt modelId="{74E08A22-5333-449E-A407-7F41792D583E}" type="pres">
      <dgm:prSet presAssocID="{D273D507-5DE0-4703-9584-10A4999215F9}" presName="hierRoot2" presStyleCnt="0"/>
      <dgm:spPr/>
    </dgm:pt>
    <dgm:pt modelId="{1260B3F5-497B-4697-BD17-2F2A38BBE841}" type="pres">
      <dgm:prSet presAssocID="{D273D507-5DE0-4703-9584-10A4999215F9}" presName="composite2" presStyleCnt="0"/>
      <dgm:spPr/>
    </dgm:pt>
    <dgm:pt modelId="{2ECBCE3B-2FEC-4635-AF8E-796674448BB9}" type="pres">
      <dgm:prSet presAssocID="{D273D507-5DE0-4703-9584-10A4999215F9}" presName="background2" presStyleLbl="node2" presStyleIdx="0" presStyleCnt="2"/>
      <dgm:spPr/>
    </dgm:pt>
    <dgm:pt modelId="{8332A3DE-E1AC-4033-89B1-FA0F56DC1AC6}" type="pres">
      <dgm:prSet presAssocID="{D273D507-5DE0-4703-9584-10A4999215F9}" presName="text2" presStyleLbl="fgAcc2" presStyleIdx="0" presStyleCnt="2" custScaleX="235795">
        <dgm:presLayoutVars>
          <dgm:chPref val="3"/>
        </dgm:presLayoutVars>
      </dgm:prSet>
      <dgm:spPr/>
    </dgm:pt>
    <dgm:pt modelId="{24F39BA4-D385-4E0D-A40E-668B4E88B83F}" type="pres">
      <dgm:prSet presAssocID="{D273D507-5DE0-4703-9584-10A4999215F9}" presName="hierChild3" presStyleCnt="0"/>
      <dgm:spPr/>
    </dgm:pt>
    <dgm:pt modelId="{BE67AA0F-3738-4FC8-B2B0-42ECCC7BC50C}" type="pres">
      <dgm:prSet presAssocID="{D224DF02-74B4-483C-9397-A34329276B5D}" presName="Name17" presStyleLbl="parChTrans1D3" presStyleIdx="0" presStyleCnt="3"/>
      <dgm:spPr/>
    </dgm:pt>
    <dgm:pt modelId="{337BE280-07F0-460D-AD37-9EA2E80C422B}" type="pres">
      <dgm:prSet presAssocID="{F124FF7E-B932-405A-B090-0B0FA1E873F4}" presName="hierRoot3" presStyleCnt="0"/>
      <dgm:spPr/>
    </dgm:pt>
    <dgm:pt modelId="{8F00C74C-A35B-442E-8330-DC75406BD671}" type="pres">
      <dgm:prSet presAssocID="{F124FF7E-B932-405A-B090-0B0FA1E873F4}" presName="composite3" presStyleCnt="0"/>
      <dgm:spPr/>
    </dgm:pt>
    <dgm:pt modelId="{0D13F150-C2C3-482C-917E-9B2997E956D7}" type="pres">
      <dgm:prSet presAssocID="{F124FF7E-B932-405A-B090-0B0FA1E873F4}" presName="background3" presStyleLbl="node3" presStyleIdx="0" presStyleCnt="3"/>
      <dgm:spPr/>
    </dgm:pt>
    <dgm:pt modelId="{2359B55E-B1DB-4D21-AD1A-3C19394A5D39}" type="pres">
      <dgm:prSet presAssocID="{F124FF7E-B932-405A-B090-0B0FA1E873F4}" presName="text3" presStyleLbl="fgAcc3" presStyleIdx="0" presStyleCnt="3" custScaleX="194872">
        <dgm:presLayoutVars>
          <dgm:chPref val="3"/>
        </dgm:presLayoutVars>
      </dgm:prSet>
      <dgm:spPr/>
    </dgm:pt>
    <dgm:pt modelId="{A87ABCC1-2413-4598-AF1C-F6D4D76F0FB4}" type="pres">
      <dgm:prSet presAssocID="{F124FF7E-B932-405A-B090-0B0FA1E873F4}" presName="hierChild4" presStyleCnt="0"/>
      <dgm:spPr/>
    </dgm:pt>
    <dgm:pt modelId="{29B8CA3D-084A-4113-A479-2324D319BA55}" type="pres">
      <dgm:prSet presAssocID="{B1796726-AA2B-4F50-AC89-A967F4646763}" presName="Name23" presStyleLbl="parChTrans1D4" presStyleIdx="0" presStyleCnt="3"/>
      <dgm:spPr/>
    </dgm:pt>
    <dgm:pt modelId="{D75729F1-A026-4FA7-B52C-0E988EF3F2F0}" type="pres">
      <dgm:prSet presAssocID="{EE30BC6F-8F6E-49D6-A344-1B197F599667}" presName="hierRoot4" presStyleCnt="0"/>
      <dgm:spPr/>
    </dgm:pt>
    <dgm:pt modelId="{A91FFF1C-1898-4C98-943A-FC948DA43D66}" type="pres">
      <dgm:prSet presAssocID="{EE30BC6F-8F6E-49D6-A344-1B197F599667}" presName="composite4" presStyleCnt="0"/>
      <dgm:spPr/>
    </dgm:pt>
    <dgm:pt modelId="{F7F687F2-E4A6-47A4-9ACB-C61266377A5A}" type="pres">
      <dgm:prSet presAssocID="{EE30BC6F-8F6E-49D6-A344-1B197F599667}" presName="background4" presStyleLbl="node4" presStyleIdx="0" presStyleCnt="3"/>
      <dgm:spPr/>
    </dgm:pt>
    <dgm:pt modelId="{8415EC4F-8887-4223-980A-C726B5B1A68D}" type="pres">
      <dgm:prSet presAssocID="{EE30BC6F-8F6E-49D6-A344-1B197F599667}" presName="text4" presStyleLbl="fgAcc4" presStyleIdx="0" presStyleCnt="3" custScaleX="194872">
        <dgm:presLayoutVars>
          <dgm:chPref val="3"/>
        </dgm:presLayoutVars>
      </dgm:prSet>
      <dgm:spPr/>
    </dgm:pt>
    <dgm:pt modelId="{47495CE5-B8F0-441D-8334-DFBECF0DF53E}" type="pres">
      <dgm:prSet presAssocID="{EE30BC6F-8F6E-49D6-A344-1B197F599667}" presName="hierChild5" presStyleCnt="0"/>
      <dgm:spPr/>
    </dgm:pt>
    <dgm:pt modelId="{54266E6A-30DC-4E30-8636-962D13AE6BDF}" type="pres">
      <dgm:prSet presAssocID="{CF71A617-FECA-43BA-B00F-E1A6A1FE8B8A}" presName="Name17" presStyleLbl="parChTrans1D3" presStyleIdx="1" presStyleCnt="3"/>
      <dgm:spPr/>
    </dgm:pt>
    <dgm:pt modelId="{03659392-6333-4008-ABEE-C1C1BDA217E3}" type="pres">
      <dgm:prSet presAssocID="{866B965B-8E1A-4973-85C7-EF0B50E23E48}" presName="hierRoot3" presStyleCnt="0"/>
      <dgm:spPr/>
    </dgm:pt>
    <dgm:pt modelId="{A2A17929-A90B-4279-9235-655BA8D0852D}" type="pres">
      <dgm:prSet presAssocID="{866B965B-8E1A-4973-85C7-EF0B50E23E48}" presName="composite3" presStyleCnt="0"/>
      <dgm:spPr/>
    </dgm:pt>
    <dgm:pt modelId="{83F52C2B-D94D-4E84-A6DA-754C54216A79}" type="pres">
      <dgm:prSet presAssocID="{866B965B-8E1A-4973-85C7-EF0B50E23E48}" presName="background3" presStyleLbl="node3" presStyleIdx="1" presStyleCnt="3"/>
      <dgm:spPr/>
    </dgm:pt>
    <dgm:pt modelId="{DAFC53C6-DC88-4A8B-A6C6-B42BB8769384}" type="pres">
      <dgm:prSet presAssocID="{866B965B-8E1A-4973-85C7-EF0B50E23E48}" presName="text3" presStyleLbl="fgAcc3" presStyleIdx="1" presStyleCnt="3" custScaleX="194872">
        <dgm:presLayoutVars>
          <dgm:chPref val="3"/>
        </dgm:presLayoutVars>
      </dgm:prSet>
      <dgm:spPr/>
    </dgm:pt>
    <dgm:pt modelId="{5EB80A58-FDDE-4E3E-AB2D-9239C1BFA1E2}" type="pres">
      <dgm:prSet presAssocID="{866B965B-8E1A-4973-85C7-EF0B50E23E48}" presName="hierChild4" presStyleCnt="0"/>
      <dgm:spPr/>
    </dgm:pt>
    <dgm:pt modelId="{F4F654EC-4B84-4728-B028-F3D33E5FD4DC}" type="pres">
      <dgm:prSet presAssocID="{879539A8-875E-49AD-B7FE-AC0336DE961B}" presName="Name23" presStyleLbl="parChTrans1D4" presStyleIdx="1" presStyleCnt="3"/>
      <dgm:spPr/>
    </dgm:pt>
    <dgm:pt modelId="{5B1FAC33-ED92-4E29-A61D-C8810EAA7050}" type="pres">
      <dgm:prSet presAssocID="{61469A24-E944-4BE6-9ACC-1C1098BA2D9D}" presName="hierRoot4" presStyleCnt="0"/>
      <dgm:spPr/>
    </dgm:pt>
    <dgm:pt modelId="{80B819D5-6D08-41C6-BCF1-614ECB5B1AA1}" type="pres">
      <dgm:prSet presAssocID="{61469A24-E944-4BE6-9ACC-1C1098BA2D9D}" presName="composite4" presStyleCnt="0"/>
      <dgm:spPr/>
    </dgm:pt>
    <dgm:pt modelId="{E35E325F-43C2-4DCD-A888-1332564A086E}" type="pres">
      <dgm:prSet presAssocID="{61469A24-E944-4BE6-9ACC-1C1098BA2D9D}" presName="background4" presStyleLbl="node4" presStyleIdx="1" presStyleCnt="3"/>
      <dgm:spPr/>
    </dgm:pt>
    <dgm:pt modelId="{2613E6EF-3FB9-42D3-962E-976E7FDEEC1A}" type="pres">
      <dgm:prSet presAssocID="{61469A24-E944-4BE6-9ACC-1C1098BA2D9D}" presName="text4" presStyleLbl="fgAcc4" presStyleIdx="1" presStyleCnt="3" custScaleX="194872">
        <dgm:presLayoutVars>
          <dgm:chPref val="3"/>
        </dgm:presLayoutVars>
      </dgm:prSet>
      <dgm:spPr/>
    </dgm:pt>
    <dgm:pt modelId="{94542666-B4C6-45B0-A377-9D4C81212DEE}" type="pres">
      <dgm:prSet presAssocID="{61469A24-E944-4BE6-9ACC-1C1098BA2D9D}" presName="hierChild5" presStyleCnt="0"/>
      <dgm:spPr/>
    </dgm:pt>
    <dgm:pt modelId="{54CADA92-6D47-4F67-BF45-9C25F3BFD038}" type="pres">
      <dgm:prSet presAssocID="{6FD6CD5C-776E-476B-A2BB-5C1EB024DA81}" presName="Name10" presStyleLbl="parChTrans1D2" presStyleIdx="1" presStyleCnt="2"/>
      <dgm:spPr/>
    </dgm:pt>
    <dgm:pt modelId="{63352FA0-EE61-4FE5-9A52-95CC933FBB89}" type="pres">
      <dgm:prSet presAssocID="{1AD8EEC1-F924-43E0-9873-ABC6167DF972}" presName="hierRoot2" presStyleCnt="0"/>
      <dgm:spPr/>
    </dgm:pt>
    <dgm:pt modelId="{AE021BCB-3D5D-472C-98BD-53B6FBCDC3EE}" type="pres">
      <dgm:prSet presAssocID="{1AD8EEC1-F924-43E0-9873-ABC6167DF972}" presName="composite2" presStyleCnt="0"/>
      <dgm:spPr/>
    </dgm:pt>
    <dgm:pt modelId="{25B17813-394E-48A3-9AB9-2E8C12663D74}" type="pres">
      <dgm:prSet presAssocID="{1AD8EEC1-F924-43E0-9873-ABC6167DF972}" presName="background2" presStyleLbl="node2" presStyleIdx="1" presStyleCnt="2"/>
      <dgm:spPr/>
    </dgm:pt>
    <dgm:pt modelId="{0D2DAD06-09FB-4695-9CDA-1143445EC185}" type="pres">
      <dgm:prSet presAssocID="{1AD8EEC1-F924-43E0-9873-ABC6167DF972}" presName="text2" presStyleLbl="fgAcc2" presStyleIdx="1" presStyleCnt="2" custScaleX="235795">
        <dgm:presLayoutVars>
          <dgm:chPref val="3"/>
        </dgm:presLayoutVars>
      </dgm:prSet>
      <dgm:spPr/>
    </dgm:pt>
    <dgm:pt modelId="{39B0F120-A24D-4679-B2D2-6BEA8227B0C5}" type="pres">
      <dgm:prSet presAssocID="{1AD8EEC1-F924-43E0-9873-ABC6167DF972}" presName="hierChild3" presStyleCnt="0"/>
      <dgm:spPr/>
    </dgm:pt>
    <dgm:pt modelId="{DE125802-CD78-41D8-B55B-F6AEF396BB6E}" type="pres">
      <dgm:prSet presAssocID="{68241CD4-50CB-40ED-B875-40E6AD6A83D5}" presName="Name17" presStyleLbl="parChTrans1D3" presStyleIdx="2" presStyleCnt="3"/>
      <dgm:spPr/>
    </dgm:pt>
    <dgm:pt modelId="{13098FD1-F8FB-4A85-BC2B-430D5C1A143A}" type="pres">
      <dgm:prSet presAssocID="{5E99AF93-28A4-4D9F-9FE7-E23607F23F72}" presName="hierRoot3" presStyleCnt="0"/>
      <dgm:spPr/>
    </dgm:pt>
    <dgm:pt modelId="{4EC41BAE-67B9-4F35-A726-319CF60F5E0F}" type="pres">
      <dgm:prSet presAssocID="{5E99AF93-28A4-4D9F-9FE7-E23607F23F72}" presName="composite3" presStyleCnt="0"/>
      <dgm:spPr/>
    </dgm:pt>
    <dgm:pt modelId="{5CF01508-F5AA-468E-9F01-0A7857C93095}" type="pres">
      <dgm:prSet presAssocID="{5E99AF93-28A4-4D9F-9FE7-E23607F23F72}" presName="background3" presStyleLbl="node3" presStyleIdx="2" presStyleCnt="3"/>
      <dgm:spPr/>
    </dgm:pt>
    <dgm:pt modelId="{EE002B3C-C29B-41C6-8C4D-30920414883C}" type="pres">
      <dgm:prSet presAssocID="{5E99AF93-28A4-4D9F-9FE7-E23607F23F72}" presName="text3" presStyleLbl="fgAcc3" presStyleIdx="2" presStyleCnt="3" custScaleX="235795">
        <dgm:presLayoutVars>
          <dgm:chPref val="3"/>
        </dgm:presLayoutVars>
      </dgm:prSet>
      <dgm:spPr/>
    </dgm:pt>
    <dgm:pt modelId="{51038DF8-867C-4B4A-B113-9E8D7DD76CAD}" type="pres">
      <dgm:prSet presAssocID="{5E99AF93-28A4-4D9F-9FE7-E23607F23F72}" presName="hierChild4" presStyleCnt="0"/>
      <dgm:spPr/>
    </dgm:pt>
    <dgm:pt modelId="{7E02BA0B-96F5-4312-AE9F-045077CDBF08}" type="pres">
      <dgm:prSet presAssocID="{F191F922-43F5-4B14-8735-7F0A9B0736C1}" presName="Name23" presStyleLbl="parChTrans1D4" presStyleIdx="2" presStyleCnt="3"/>
      <dgm:spPr/>
    </dgm:pt>
    <dgm:pt modelId="{92A82183-695F-4210-B414-0C4AFB400B90}" type="pres">
      <dgm:prSet presAssocID="{7BDB6669-D3B9-405E-B395-F65679A01764}" presName="hierRoot4" presStyleCnt="0"/>
      <dgm:spPr/>
    </dgm:pt>
    <dgm:pt modelId="{41D97043-E0A8-472B-BE2A-7824E632BC42}" type="pres">
      <dgm:prSet presAssocID="{7BDB6669-D3B9-405E-B395-F65679A01764}" presName="composite4" presStyleCnt="0"/>
      <dgm:spPr/>
    </dgm:pt>
    <dgm:pt modelId="{D2B7A6DC-05AF-43C4-8F3C-E57B40D4105D}" type="pres">
      <dgm:prSet presAssocID="{7BDB6669-D3B9-405E-B395-F65679A01764}" presName="background4" presStyleLbl="node4" presStyleIdx="2" presStyleCnt="3"/>
      <dgm:spPr/>
    </dgm:pt>
    <dgm:pt modelId="{4543C2BF-16F3-4764-8F6C-4115E00669B2}" type="pres">
      <dgm:prSet presAssocID="{7BDB6669-D3B9-405E-B395-F65679A01764}" presName="text4" presStyleLbl="fgAcc4" presStyleIdx="2" presStyleCnt="3" custScaleX="235795">
        <dgm:presLayoutVars>
          <dgm:chPref val="3"/>
        </dgm:presLayoutVars>
      </dgm:prSet>
      <dgm:spPr/>
    </dgm:pt>
    <dgm:pt modelId="{8340FCE0-9DCE-441D-ACF4-63F9DB980D93}" type="pres">
      <dgm:prSet presAssocID="{7BDB6669-D3B9-405E-B395-F65679A01764}" presName="hierChild5" presStyleCnt="0"/>
      <dgm:spPr/>
    </dgm:pt>
  </dgm:ptLst>
  <dgm:cxnLst>
    <dgm:cxn modelId="{8D60B014-F9F5-4C9E-8008-228F33618B2B}" srcId="{D273D507-5DE0-4703-9584-10A4999215F9}" destId="{866B965B-8E1A-4973-85C7-EF0B50E23E48}" srcOrd="1" destOrd="0" parTransId="{CF71A617-FECA-43BA-B00F-E1A6A1FE8B8A}" sibTransId="{95BF7925-494F-4C1B-86AF-443EF5C79CF7}"/>
    <dgm:cxn modelId="{81782B18-D659-4E56-8AB3-342376BF7A9C}" type="presOf" srcId="{1B037C5D-26F8-4B39-A054-3638BFC89AD9}" destId="{65C267B2-378E-44CF-9894-AB8372DBD21A}" srcOrd="0" destOrd="0" presId="urn:microsoft.com/office/officeart/2005/8/layout/hierarchy1"/>
    <dgm:cxn modelId="{7D6D9F18-3AAA-430E-BD0A-0F7C06D3D02F}" srcId="{F124FF7E-B932-405A-B090-0B0FA1E873F4}" destId="{EE30BC6F-8F6E-49D6-A344-1B197F599667}" srcOrd="0" destOrd="0" parTransId="{B1796726-AA2B-4F50-AC89-A967F4646763}" sibTransId="{E1B0A09E-8D96-4709-93E4-C4B7D41EB31B}"/>
    <dgm:cxn modelId="{045D0A1E-0E60-46EB-AB8F-7008C4DD078A}" type="presOf" srcId="{E7A7101E-9C86-4ADD-8467-5D9C109D2A0B}" destId="{D51840F5-C97F-4EFF-A46A-D64E15E0D890}" srcOrd="0" destOrd="0" presId="urn:microsoft.com/office/officeart/2005/8/layout/hierarchy1"/>
    <dgm:cxn modelId="{64B11721-9C48-4C24-ADBE-DDCBB2101AA6}" srcId="{5E99AF93-28A4-4D9F-9FE7-E23607F23F72}" destId="{7BDB6669-D3B9-405E-B395-F65679A01764}" srcOrd="0" destOrd="0" parTransId="{F191F922-43F5-4B14-8735-7F0A9B0736C1}" sibTransId="{C2FC2B84-311D-455B-BC2C-6681A20DC192}"/>
    <dgm:cxn modelId="{0DA89526-09AB-40C9-987C-D6310D992D87}" type="presOf" srcId="{68241CD4-50CB-40ED-B875-40E6AD6A83D5}" destId="{DE125802-CD78-41D8-B55B-F6AEF396BB6E}" srcOrd="0" destOrd="0" presId="urn:microsoft.com/office/officeart/2005/8/layout/hierarchy1"/>
    <dgm:cxn modelId="{BAE8903F-1424-4853-8474-1DB75F6B7BB2}" type="presOf" srcId="{866B965B-8E1A-4973-85C7-EF0B50E23E48}" destId="{DAFC53C6-DC88-4A8B-A6C6-B42BB8769384}" srcOrd="0" destOrd="0" presId="urn:microsoft.com/office/officeart/2005/8/layout/hierarchy1"/>
    <dgm:cxn modelId="{96F6575E-ED17-4D68-8A92-E132E11C6D64}" type="presOf" srcId="{D224DF02-74B4-483C-9397-A34329276B5D}" destId="{BE67AA0F-3738-4FC8-B2B0-42ECCC7BC50C}" srcOrd="0" destOrd="0" presId="urn:microsoft.com/office/officeart/2005/8/layout/hierarchy1"/>
    <dgm:cxn modelId="{1DCEB75E-0216-41FA-89CC-B93012D25B43}" type="presOf" srcId="{1AD8EEC1-F924-43E0-9873-ABC6167DF972}" destId="{0D2DAD06-09FB-4695-9CDA-1143445EC185}" srcOrd="0" destOrd="0" presId="urn:microsoft.com/office/officeart/2005/8/layout/hierarchy1"/>
    <dgm:cxn modelId="{706D5F65-758A-4937-A6F7-95425F49A9D8}" type="presOf" srcId="{F191F922-43F5-4B14-8735-7F0A9B0736C1}" destId="{7E02BA0B-96F5-4312-AE9F-045077CDBF08}" srcOrd="0" destOrd="0" presId="urn:microsoft.com/office/officeart/2005/8/layout/hierarchy1"/>
    <dgm:cxn modelId="{ABB40C46-8745-4BB0-A3CE-B9EB8A884A0D}" type="presOf" srcId="{2B8E5462-8FDF-45C2-9AE6-4C0F9236317D}" destId="{8B799791-8F17-4216-BBD5-22064053DB1F}" srcOrd="0" destOrd="0" presId="urn:microsoft.com/office/officeart/2005/8/layout/hierarchy1"/>
    <dgm:cxn modelId="{398F0854-59D8-4AB1-B5F8-5D4C8190D9DF}" srcId="{D273D507-5DE0-4703-9584-10A4999215F9}" destId="{F124FF7E-B932-405A-B090-0B0FA1E873F4}" srcOrd="0" destOrd="0" parTransId="{D224DF02-74B4-483C-9397-A34329276B5D}" sibTransId="{ABB3F6D2-ED8D-4AE4-BF40-A9B014426F42}"/>
    <dgm:cxn modelId="{794D0176-4417-43C8-B7ED-2D8A8127E915}" type="presOf" srcId="{D273D507-5DE0-4703-9584-10A4999215F9}" destId="{8332A3DE-E1AC-4033-89B1-FA0F56DC1AC6}" srcOrd="0" destOrd="0" presId="urn:microsoft.com/office/officeart/2005/8/layout/hierarchy1"/>
    <dgm:cxn modelId="{1F68C37D-4512-4BC6-B973-F1D92E77FB53}" type="presOf" srcId="{F124FF7E-B932-405A-B090-0B0FA1E873F4}" destId="{2359B55E-B1DB-4D21-AD1A-3C19394A5D39}" srcOrd="0" destOrd="0" presId="urn:microsoft.com/office/officeart/2005/8/layout/hierarchy1"/>
    <dgm:cxn modelId="{8BB01D82-2FCF-4B21-BA61-683254C108FA}" type="presOf" srcId="{6FD6CD5C-776E-476B-A2BB-5C1EB024DA81}" destId="{54CADA92-6D47-4F67-BF45-9C25F3BFD038}" srcOrd="0" destOrd="0" presId="urn:microsoft.com/office/officeart/2005/8/layout/hierarchy1"/>
    <dgm:cxn modelId="{5D7C5291-EB99-4D46-B128-82A5F98332C1}" srcId="{2B8E5462-8FDF-45C2-9AE6-4C0F9236317D}" destId="{1AD8EEC1-F924-43E0-9873-ABC6167DF972}" srcOrd="1" destOrd="0" parTransId="{6FD6CD5C-776E-476B-A2BB-5C1EB024DA81}" sibTransId="{C43277BD-F261-422B-8D52-51A520D472EA}"/>
    <dgm:cxn modelId="{C108E293-05A9-4413-9E94-4A1751F38A4D}" type="presOf" srcId="{5E99AF93-28A4-4D9F-9FE7-E23607F23F72}" destId="{EE002B3C-C29B-41C6-8C4D-30920414883C}" srcOrd="0" destOrd="0" presId="urn:microsoft.com/office/officeart/2005/8/layout/hierarchy1"/>
    <dgm:cxn modelId="{4D176A98-EC50-4F74-9492-7E138421922D}" srcId="{866B965B-8E1A-4973-85C7-EF0B50E23E48}" destId="{61469A24-E944-4BE6-9ACC-1C1098BA2D9D}" srcOrd="0" destOrd="0" parTransId="{879539A8-875E-49AD-B7FE-AC0336DE961B}" sibTransId="{4D8167D4-CAF4-49A2-B203-52BA4091A979}"/>
    <dgm:cxn modelId="{FD6508B5-A538-4E1D-943D-E002AD36782E}" type="presOf" srcId="{EE30BC6F-8F6E-49D6-A344-1B197F599667}" destId="{8415EC4F-8887-4223-980A-C726B5B1A68D}" srcOrd="0" destOrd="0" presId="urn:microsoft.com/office/officeart/2005/8/layout/hierarchy1"/>
    <dgm:cxn modelId="{AD1050B5-B79D-49B2-B649-2CAC5A8983FA}" type="presOf" srcId="{7BDB6669-D3B9-405E-B395-F65679A01764}" destId="{4543C2BF-16F3-4764-8F6C-4115E00669B2}" srcOrd="0" destOrd="0" presId="urn:microsoft.com/office/officeart/2005/8/layout/hierarchy1"/>
    <dgm:cxn modelId="{D19868BB-8A00-437A-9AB9-F762D5D45E2D}" srcId="{1AD8EEC1-F924-43E0-9873-ABC6167DF972}" destId="{5E99AF93-28A4-4D9F-9FE7-E23607F23F72}" srcOrd="0" destOrd="0" parTransId="{68241CD4-50CB-40ED-B875-40E6AD6A83D5}" sibTransId="{BEFE86AA-9CD3-4E07-A091-DF75330F50E8}"/>
    <dgm:cxn modelId="{C555B9D2-4D86-47CD-AE5D-6D2B5090903D}" type="presOf" srcId="{61469A24-E944-4BE6-9ACC-1C1098BA2D9D}" destId="{2613E6EF-3FB9-42D3-962E-976E7FDEEC1A}" srcOrd="0" destOrd="0" presId="urn:microsoft.com/office/officeart/2005/8/layout/hierarchy1"/>
    <dgm:cxn modelId="{BC3973D6-E89F-4D65-A274-DD7421852696}" type="presOf" srcId="{CF71A617-FECA-43BA-B00F-E1A6A1FE8B8A}" destId="{54266E6A-30DC-4E30-8636-962D13AE6BDF}" srcOrd="0" destOrd="0" presId="urn:microsoft.com/office/officeart/2005/8/layout/hierarchy1"/>
    <dgm:cxn modelId="{FB24F1DE-6369-4611-8BF6-E335972592A2}" srcId="{1B037C5D-26F8-4B39-A054-3638BFC89AD9}" destId="{2B8E5462-8FDF-45C2-9AE6-4C0F9236317D}" srcOrd="0" destOrd="0" parTransId="{A40E67B0-2B3C-4721-A6E0-0E2672749046}" sibTransId="{3A750699-6531-417A-B7E6-09A00B9A35BB}"/>
    <dgm:cxn modelId="{E28EF6E6-65D2-4998-A706-4195C3212DA4}" type="presOf" srcId="{879539A8-875E-49AD-B7FE-AC0336DE961B}" destId="{F4F654EC-4B84-4728-B028-F3D33E5FD4DC}" srcOrd="0" destOrd="0" presId="urn:microsoft.com/office/officeart/2005/8/layout/hierarchy1"/>
    <dgm:cxn modelId="{A184B8E8-C775-4415-8153-3D3F1315663F}" type="presOf" srcId="{B1796726-AA2B-4F50-AC89-A967F4646763}" destId="{29B8CA3D-084A-4113-A479-2324D319BA55}" srcOrd="0" destOrd="0" presId="urn:microsoft.com/office/officeart/2005/8/layout/hierarchy1"/>
    <dgm:cxn modelId="{B76E15F8-55A6-4246-832B-2C4C15BDEA61}" srcId="{2B8E5462-8FDF-45C2-9AE6-4C0F9236317D}" destId="{D273D507-5DE0-4703-9584-10A4999215F9}" srcOrd="0" destOrd="0" parTransId="{E7A7101E-9C86-4ADD-8467-5D9C109D2A0B}" sibTransId="{7C7E0927-A89B-4B74-8A0F-5781168F88AC}"/>
    <dgm:cxn modelId="{68032385-B2E6-4191-BDED-E6496C98890B}" type="presParOf" srcId="{65C267B2-378E-44CF-9894-AB8372DBD21A}" destId="{4C84D9D6-A47A-4457-8A5A-6F71237BDD04}" srcOrd="0" destOrd="0" presId="urn:microsoft.com/office/officeart/2005/8/layout/hierarchy1"/>
    <dgm:cxn modelId="{1AEDD68D-039F-49D4-A509-2FF9DE380EAC}" type="presParOf" srcId="{4C84D9D6-A47A-4457-8A5A-6F71237BDD04}" destId="{C1DD00D3-7106-402C-99FD-D536645F841B}" srcOrd="0" destOrd="0" presId="urn:microsoft.com/office/officeart/2005/8/layout/hierarchy1"/>
    <dgm:cxn modelId="{9DB89F0A-5939-4F00-A25E-79F1364F8283}" type="presParOf" srcId="{C1DD00D3-7106-402C-99FD-D536645F841B}" destId="{D6621AA6-8077-4BFD-9CC4-33452DAEF784}" srcOrd="0" destOrd="0" presId="urn:microsoft.com/office/officeart/2005/8/layout/hierarchy1"/>
    <dgm:cxn modelId="{A078AF2C-074A-452E-9E47-BB04435A723A}" type="presParOf" srcId="{C1DD00D3-7106-402C-99FD-D536645F841B}" destId="{8B799791-8F17-4216-BBD5-22064053DB1F}" srcOrd="1" destOrd="0" presId="urn:microsoft.com/office/officeart/2005/8/layout/hierarchy1"/>
    <dgm:cxn modelId="{001E9C10-4683-47C3-93D9-82953F8E5705}" type="presParOf" srcId="{4C84D9D6-A47A-4457-8A5A-6F71237BDD04}" destId="{25D3C89F-40A0-431F-866C-E4106651F797}" srcOrd="1" destOrd="0" presId="urn:microsoft.com/office/officeart/2005/8/layout/hierarchy1"/>
    <dgm:cxn modelId="{FB9D5129-06AF-482D-A7FF-667AF7DD6A33}" type="presParOf" srcId="{25D3C89F-40A0-431F-866C-E4106651F797}" destId="{D51840F5-C97F-4EFF-A46A-D64E15E0D890}" srcOrd="0" destOrd="0" presId="urn:microsoft.com/office/officeart/2005/8/layout/hierarchy1"/>
    <dgm:cxn modelId="{A00B6F7F-1C40-4559-AE18-6AD997986B2B}" type="presParOf" srcId="{25D3C89F-40A0-431F-866C-E4106651F797}" destId="{74E08A22-5333-449E-A407-7F41792D583E}" srcOrd="1" destOrd="0" presId="urn:microsoft.com/office/officeart/2005/8/layout/hierarchy1"/>
    <dgm:cxn modelId="{1F344969-68D5-483C-AAE2-A8180AB13CAA}" type="presParOf" srcId="{74E08A22-5333-449E-A407-7F41792D583E}" destId="{1260B3F5-497B-4697-BD17-2F2A38BBE841}" srcOrd="0" destOrd="0" presId="urn:microsoft.com/office/officeart/2005/8/layout/hierarchy1"/>
    <dgm:cxn modelId="{1764974A-1D6B-42B7-B348-D3C39EF5359F}" type="presParOf" srcId="{1260B3F5-497B-4697-BD17-2F2A38BBE841}" destId="{2ECBCE3B-2FEC-4635-AF8E-796674448BB9}" srcOrd="0" destOrd="0" presId="urn:microsoft.com/office/officeart/2005/8/layout/hierarchy1"/>
    <dgm:cxn modelId="{55ED7295-6F60-44C6-AC74-776A9D4CE1D3}" type="presParOf" srcId="{1260B3F5-497B-4697-BD17-2F2A38BBE841}" destId="{8332A3DE-E1AC-4033-89B1-FA0F56DC1AC6}" srcOrd="1" destOrd="0" presId="urn:microsoft.com/office/officeart/2005/8/layout/hierarchy1"/>
    <dgm:cxn modelId="{373A88B8-F39C-4B3D-B463-13C99E32A45E}" type="presParOf" srcId="{74E08A22-5333-449E-A407-7F41792D583E}" destId="{24F39BA4-D385-4E0D-A40E-668B4E88B83F}" srcOrd="1" destOrd="0" presId="urn:microsoft.com/office/officeart/2005/8/layout/hierarchy1"/>
    <dgm:cxn modelId="{CDE57620-A8E3-409A-8A21-48898263A5C6}" type="presParOf" srcId="{24F39BA4-D385-4E0D-A40E-668B4E88B83F}" destId="{BE67AA0F-3738-4FC8-B2B0-42ECCC7BC50C}" srcOrd="0" destOrd="0" presId="urn:microsoft.com/office/officeart/2005/8/layout/hierarchy1"/>
    <dgm:cxn modelId="{DE53AB8C-E114-404B-A16F-1ADAFA3C2397}" type="presParOf" srcId="{24F39BA4-D385-4E0D-A40E-668B4E88B83F}" destId="{337BE280-07F0-460D-AD37-9EA2E80C422B}" srcOrd="1" destOrd="0" presId="urn:microsoft.com/office/officeart/2005/8/layout/hierarchy1"/>
    <dgm:cxn modelId="{49539D08-776E-42F4-9124-A8534F29A528}" type="presParOf" srcId="{337BE280-07F0-460D-AD37-9EA2E80C422B}" destId="{8F00C74C-A35B-442E-8330-DC75406BD671}" srcOrd="0" destOrd="0" presId="urn:microsoft.com/office/officeart/2005/8/layout/hierarchy1"/>
    <dgm:cxn modelId="{DA5B01F9-7959-41F5-B7EC-B48B00F0445A}" type="presParOf" srcId="{8F00C74C-A35B-442E-8330-DC75406BD671}" destId="{0D13F150-C2C3-482C-917E-9B2997E956D7}" srcOrd="0" destOrd="0" presId="urn:microsoft.com/office/officeart/2005/8/layout/hierarchy1"/>
    <dgm:cxn modelId="{B7109942-1056-4256-B133-D5C1418D4927}" type="presParOf" srcId="{8F00C74C-A35B-442E-8330-DC75406BD671}" destId="{2359B55E-B1DB-4D21-AD1A-3C19394A5D39}" srcOrd="1" destOrd="0" presId="urn:microsoft.com/office/officeart/2005/8/layout/hierarchy1"/>
    <dgm:cxn modelId="{B87F865B-DA5F-4D34-BED2-9ED3144B99E2}" type="presParOf" srcId="{337BE280-07F0-460D-AD37-9EA2E80C422B}" destId="{A87ABCC1-2413-4598-AF1C-F6D4D76F0FB4}" srcOrd="1" destOrd="0" presId="urn:microsoft.com/office/officeart/2005/8/layout/hierarchy1"/>
    <dgm:cxn modelId="{A3CDF38D-7B2F-4952-81EE-F1682153D705}" type="presParOf" srcId="{A87ABCC1-2413-4598-AF1C-F6D4D76F0FB4}" destId="{29B8CA3D-084A-4113-A479-2324D319BA55}" srcOrd="0" destOrd="0" presId="urn:microsoft.com/office/officeart/2005/8/layout/hierarchy1"/>
    <dgm:cxn modelId="{A25A0242-D346-4838-8F3B-445E7BE56DA2}" type="presParOf" srcId="{A87ABCC1-2413-4598-AF1C-F6D4D76F0FB4}" destId="{D75729F1-A026-4FA7-B52C-0E988EF3F2F0}" srcOrd="1" destOrd="0" presId="urn:microsoft.com/office/officeart/2005/8/layout/hierarchy1"/>
    <dgm:cxn modelId="{9D6594C0-B86C-4B69-A3F5-D1CFEE956CC2}" type="presParOf" srcId="{D75729F1-A026-4FA7-B52C-0E988EF3F2F0}" destId="{A91FFF1C-1898-4C98-943A-FC948DA43D66}" srcOrd="0" destOrd="0" presId="urn:microsoft.com/office/officeart/2005/8/layout/hierarchy1"/>
    <dgm:cxn modelId="{362C1CAB-D1A5-4597-9E94-F97D9F1DD5AA}" type="presParOf" srcId="{A91FFF1C-1898-4C98-943A-FC948DA43D66}" destId="{F7F687F2-E4A6-47A4-9ACB-C61266377A5A}" srcOrd="0" destOrd="0" presId="urn:microsoft.com/office/officeart/2005/8/layout/hierarchy1"/>
    <dgm:cxn modelId="{634D5150-5799-4C81-89B5-882F54904712}" type="presParOf" srcId="{A91FFF1C-1898-4C98-943A-FC948DA43D66}" destId="{8415EC4F-8887-4223-980A-C726B5B1A68D}" srcOrd="1" destOrd="0" presId="urn:microsoft.com/office/officeart/2005/8/layout/hierarchy1"/>
    <dgm:cxn modelId="{AEF211FB-8CEF-4A9E-91C9-33F44F60F668}" type="presParOf" srcId="{D75729F1-A026-4FA7-B52C-0E988EF3F2F0}" destId="{47495CE5-B8F0-441D-8334-DFBECF0DF53E}" srcOrd="1" destOrd="0" presId="urn:microsoft.com/office/officeart/2005/8/layout/hierarchy1"/>
    <dgm:cxn modelId="{79A255AA-5AAA-441D-B749-E806BF94D7A8}" type="presParOf" srcId="{24F39BA4-D385-4E0D-A40E-668B4E88B83F}" destId="{54266E6A-30DC-4E30-8636-962D13AE6BDF}" srcOrd="2" destOrd="0" presId="urn:microsoft.com/office/officeart/2005/8/layout/hierarchy1"/>
    <dgm:cxn modelId="{35248B24-8125-4F11-A154-2346A7B348CD}" type="presParOf" srcId="{24F39BA4-D385-4E0D-A40E-668B4E88B83F}" destId="{03659392-6333-4008-ABEE-C1C1BDA217E3}" srcOrd="3" destOrd="0" presId="urn:microsoft.com/office/officeart/2005/8/layout/hierarchy1"/>
    <dgm:cxn modelId="{6BB97C57-F45C-4176-83E9-CF4E33F184A3}" type="presParOf" srcId="{03659392-6333-4008-ABEE-C1C1BDA217E3}" destId="{A2A17929-A90B-4279-9235-655BA8D0852D}" srcOrd="0" destOrd="0" presId="urn:microsoft.com/office/officeart/2005/8/layout/hierarchy1"/>
    <dgm:cxn modelId="{46D32963-E38C-44F6-BFC3-1299AAC3E343}" type="presParOf" srcId="{A2A17929-A90B-4279-9235-655BA8D0852D}" destId="{83F52C2B-D94D-4E84-A6DA-754C54216A79}" srcOrd="0" destOrd="0" presId="urn:microsoft.com/office/officeart/2005/8/layout/hierarchy1"/>
    <dgm:cxn modelId="{837EDCA5-DF14-4777-A822-830131655627}" type="presParOf" srcId="{A2A17929-A90B-4279-9235-655BA8D0852D}" destId="{DAFC53C6-DC88-4A8B-A6C6-B42BB8769384}" srcOrd="1" destOrd="0" presId="urn:microsoft.com/office/officeart/2005/8/layout/hierarchy1"/>
    <dgm:cxn modelId="{EFD46666-EFDE-4847-9A91-FCBF39FF9D96}" type="presParOf" srcId="{03659392-6333-4008-ABEE-C1C1BDA217E3}" destId="{5EB80A58-FDDE-4E3E-AB2D-9239C1BFA1E2}" srcOrd="1" destOrd="0" presId="urn:microsoft.com/office/officeart/2005/8/layout/hierarchy1"/>
    <dgm:cxn modelId="{1C7AECE9-839A-465B-84CD-B1265FA3D0E5}" type="presParOf" srcId="{5EB80A58-FDDE-4E3E-AB2D-9239C1BFA1E2}" destId="{F4F654EC-4B84-4728-B028-F3D33E5FD4DC}" srcOrd="0" destOrd="0" presId="urn:microsoft.com/office/officeart/2005/8/layout/hierarchy1"/>
    <dgm:cxn modelId="{A77A3CF6-7F7E-4250-A8B5-98F7EFE5AFA3}" type="presParOf" srcId="{5EB80A58-FDDE-4E3E-AB2D-9239C1BFA1E2}" destId="{5B1FAC33-ED92-4E29-A61D-C8810EAA7050}" srcOrd="1" destOrd="0" presId="urn:microsoft.com/office/officeart/2005/8/layout/hierarchy1"/>
    <dgm:cxn modelId="{D99626EC-3C25-4974-91C7-26A6C65D6477}" type="presParOf" srcId="{5B1FAC33-ED92-4E29-A61D-C8810EAA7050}" destId="{80B819D5-6D08-41C6-BCF1-614ECB5B1AA1}" srcOrd="0" destOrd="0" presId="urn:microsoft.com/office/officeart/2005/8/layout/hierarchy1"/>
    <dgm:cxn modelId="{89A04057-129F-4884-A4BD-AA3349C0A818}" type="presParOf" srcId="{80B819D5-6D08-41C6-BCF1-614ECB5B1AA1}" destId="{E35E325F-43C2-4DCD-A888-1332564A086E}" srcOrd="0" destOrd="0" presId="urn:microsoft.com/office/officeart/2005/8/layout/hierarchy1"/>
    <dgm:cxn modelId="{A6D741B2-2AFD-4A46-8A20-58AE54E925FC}" type="presParOf" srcId="{80B819D5-6D08-41C6-BCF1-614ECB5B1AA1}" destId="{2613E6EF-3FB9-42D3-962E-976E7FDEEC1A}" srcOrd="1" destOrd="0" presId="urn:microsoft.com/office/officeart/2005/8/layout/hierarchy1"/>
    <dgm:cxn modelId="{C355D79F-D220-40FE-B323-6EE1D38113E1}" type="presParOf" srcId="{5B1FAC33-ED92-4E29-A61D-C8810EAA7050}" destId="{94542666-B4C6-45B0-A377-9D4C81212DEE}" srcOrd="1" destOrd="0" presId="urn:microsoft.com/office/officeart/2005/8/layout/hierarchy1"/>
    <dgm:cxn modelId="{690EA449-1B34-4A8A-970D-F107D040E32C}" type="presParOf" srcId="{25D3C89F-40A0-431F-866C-E4106651F797}" destId="{54CADA92-6D47-4F67-BF45-9C25F3BFD038}" srcOrd="2" destOrd="0" presId="urn:microsoft.com/office/officeart/2005/8/layout/hierarchy1"/>
    <dgm:cxn modelId="{94F1C3B2-EF87-40BA-B0AC-8B766B6A7825}" type="presParOf" srcId="{25D3C89F-40A0-431F-866C-E4106651F797}" destId="{63352FA0-EE61-4FE5-9A52-95CC933FBB89}" srcOrd="3" destOrd="0" presId="urn:microsoft.com/office/officeart/2005/8/layout/hierarchy1"/>
    <dgm:cxn modelId="{196EC461-937C-4B7F-AF54-F9D3ACD321F5}" type="presParOf" srcId="{63352FA0-EE61-4FE5-9A52-95CC933FBB89}" destId="{AE021BCB-3D5D-472C-98BD-53B6FBCDC3EE}" srcOrd="0" destOrd="0" presId="urn:microsoft.com/office/officeart/2005/8/layout/hierarchy1"/>
    <dgm:cxn modelId="{CBAD922D-F05C-428D-A42A-CF0CB90B1922}" type="presParOf" srcId="{AE021BCB-3D5D-472C-98BD-53B6FBCDC3EE}" destId="{25B17813-394E-48A3-9AB9-2E8C12663D74}" srcOrd="0" destOrd="0" presId="urn:microsoft.com/office/officeart/2005/8/layout/hierarchy1"/>
    <dgm:cxn modelId="{1ABB97A8-BDA4-4663-B391-2B00653CDC47}" type="presParOf" srcId="{AE021BCB-3D5D-472C-98BD-53B6FBCDC3EE}" destId="{0D2DAD06-09FB-4695-9CDA-1143445EC185}" srcOrd="1" destOrd="0" presId="urn:microsoft.com/office/officeart/2005/8/layout/hierarchy1"/>
    <dgm:cxn modelId="{2889AA34-3A94-42AC-AC29-4192EC4F8257}" type="presParOf" srcId="{63352FA0-EE61-4FE5-9A52-95CC933FBB89}" destId="{39B0F120-A24D-4679-B2D2-6BEA8227B0C5}" srcOrd="1" destOrd="0" presId="urn:microsoft.com/office/officeart/2005/8/layout/hierarchy1"/>
    <dgm:cxn modelId="{F4547A2B-AFA6-43E9-BECC-FE4C58F5FD11}" type="presParOf" srcId="{39B0F120-A24D-4679-B2D2-6BEA8227B0C5}" destId="{DE125802-CD78-41D8-B55B-F6AEF396BB6E}" srcOrd="0" destOrd="0" presId="urn:microsoft.com/office/officeart/2005/8/layout/hierarchy1"/>
    <dgm:cxn modelId="{399B0F32-5588-48EA-AE52-0CD5C4AE1E97}" type="presParOf" srcId="{39B0F120-A24D-4679-B2D2-6BEA8227B0C5}" destId="{13098FD1-F8FB-4A85-BC2B-430D5C1A143A}" srcOrd="1" destOrd="0" presId="urn:microsoft.com/office/officeart/2005/8/layout/hierarchy1"/>
    <dgm:cxn modelId="{EFFD3078-C7CB-46B3-8DD4-3FE59EC2806A}" type="presParOf" srcId="{13098FD1-F8FB-4A85-BC2B-430D5C1A143A}" destId="{4EC41BAE-67B9-4F35-A726-319CF60F5E0F}" srcOrd="0" destOrd="0" presId="urn:microsoft.com/office/officeart/2005/8/layout/hierarchy1"/>
    <dgm:cxn modelId="{236BB6DB-0072-45FF-A91B-AB7B8DD50AA4}" type="presParOf" srcId="{4EC41BAE-67B9-4F35-A726-319CF60F5E0F}" destId="{5CF01508-F5AA-468E-9F01-0A7857C93095}" srcOrd="0" destOrd="0" presId="urn:microsoft.com/office/officeart/2005/8/layout/hierarchy1"/>
    <dgm:cxn modelId="{9CB7B75F-73AC-4AEC-A695-E385A9C6FCC3}" type="presParOf" srcId="{4EC41BAE-67B9-4F35-A726-319CF60F5E0F}" destId="{EE002B3C-C29B-41C6-8C4D-30920414883C}" srcOrd="1" destOrd="0" presId="urn:microsoft.com/office/officeart/2005/8/layout/hierarchy1"/>
    <dgm:cxn modelId="{E8EF559E-1471-4F59-9350-B15A30B7C448}" type="presParOf" srcId="{13098FD1-F8FB-4A85-BC2B-430D5C1A143A}" destId="{51038DF8-867C-4B4A-B113-9E8D7DD76CAD}" srcOrd="1" destOrd="0" presId="urn:microsoft.com/office/officeart/2005/8/layout/hierarchy1"/>
    <dgm:cxn modelId="{F830DF24-E7AF-4316-90EB-6905CD7C09D3}" type="presParOf" srcId="{51038DF8-867C-4B4A-B113-9E8D7DD76CAD}" destId="{7E02BA0B-96F5-4312-AE9F-045077CDBF08}" srcOrd="0" destOrd="0" presId="urn:microsoft.com/office/officeart/2005/8/layout/hierarchy1"/>
    <dgm:cxn modelId="{07B0148E-CB88-480A-A12B-D9C0D695E5D4}" type="presParOf" srcId="{51038DF8-867C-4B4A-B113-9E8D7DD76CAD}" destId="{92A82183-695F-4210-B414-0C4AFB400B90}" srcOrd="1" destOrd="0" presId="urn:microsoft.com/office/officeart/2005/8/layout/hierarchy1"/>
    <dgm:cxn modelId="{30CA1E65-6567-4D6F-B70E-83589EA749F3}" type="presParOf" srcId="{92A82183-695F-4210-B414-0C4AFB400B90}" destId="{41D97043-E0A8-472B-BE2A-7824E632BC42}" srcOrd="0" destOrd="0" presId="urn:microsoft.com/office/officeart/2005/8/layout/hierarchy1"/>
    <dgm:cxn modelId="{47B05C44-0AB6-49D5-A702-B54DA0E01108}" type="presParOf" srcId="{41D97043-E0A8-472B-BE2A-7824E632BC42}" destId="{D2B7A6DC-05AF-43C4-8F3C-E57B40D4105D}" srcOrd="0" destOrd="0" presId="urn:microsoft.com/office/officeart/2005/8/layout/hierarchy1"/>
    <dgm:cxn modelId="{93FB7AFC-ADF2-4CBD-8D7E-61D50AEFD217}" type="presParOf" srcId="{41D97043-E0A8-472B-BE2A-7824E632BC42}" destId="{4543C2BF-16F3-4764-8F6C-4115E00669B2}" srcOrd="1" destOrd="0" presId="urn:microsoft.com/office/officeart/2005/8/layout/hierarchy1"/>
    <dgm:cxn modelId="{D2579CD1-834D-4CCB-88BD-268D17FF74A7}" type="presParOf" srcId="{92A82183-695F-4210-B414-0C4AFB400B90}" destId="{8340FCE0-9DCE-441D-ACF4-63F9DB980D9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02BA0B-96F5-4312-AE9F-045077CDBF08}">
      <dsp:nvSpPr>
        <dsp:cNvPr id="0" name=""/>
        <dsp:cNvSpPr/>
      </dsp:nvSpPr>
      <dsp:spPr>
        <a:xfrm>
          <a:off x="9278444" y="3951316"/>
          <a:ext cx="91440" cy="461938"/>
        </a:xfrm>
        <a:custGeom>
          <a:avLst/>
          <a:gdLst/>
          <a:ahLst/>
          <a:cxnLst/>
          <a:rect l="0" t="0" r="0" b="0"/>
          <a:pathLst>
            <a:path>
              <a:moveTo>
                <a:pt x="45720" y="0"/>
              </a:moveTo>
              <a:lnTo>
                <a:pt x="45720" y="461938"/>
              </a:lnTo>
            </a:path>
          </a:pathLst>
        </a:custGeom>
        <a:noFill/>
        <a:ln w="12700" cap="flat" cmpd="sng" algn="ctr">
          <a:solidFill>
            <a:schemeClr val="accent2">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DE125802-CD78-41D8-B55B-F6AEF396BB6E}">
      <dsp:nvSpPr>
        <dsp:cNvPr id="0" name=""/>
        <dsp:cNvSpPr/>
      </dsp:nvSpPr>
      <dsp:spPr>
        <a:xfrm>
          <a:off x="9278444" y="2480789"/>
          <a:ext cx="91440" cy="461938"/>
        </a:xfrm>
        <a:custGeom>
          <a:avLst/>
          <a:gdLst/>
          <a:ahLst/>
          <a:cxnLst/>
          <a:rect l="0" t="0" r="0" b="0"/>
          <a:pathLst>
            <a:path>
              <a:moveTo>
                <a:pt x="45720" y="0"/>
              </a:moveTo>
              <a:lnTo>
                <a:pt x="45720" y="461938"/>
              </a:lnTo>
            </a:path>
          </a:pathLst>
        </a:custGeom>
        <a:noFill/>
        <a:ln w="12700" cap="flat" cmpd="sng" algn="ctr">
          <a:solidFill>
            <a:schemeClr val="accent1">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54CADA92-6D47-4F67-BF45-9C25F3BFD038}">
      <dsp:nvSpPr>
        <dsp:cNvPr id="0" name=""/>
        <dsp:cNvSpPr/>
      </dsp:nvSpPr>
      <dsp:spPr>
        <a:xfrm>
          <a:off x="6575541" y="1010263"/>
          <a:ext cx="2748623" cy="461938"/>
        </a:xfrm>
        <a:custGeom>
          <a:avLst/>
          <a:gdLst/>
          <a:ahLst/>
          <a:cxnLst/>
          <a:rect l="0" t="0" r="0" b="0"/>
          <a:pathLst>
            <a:path>
              <a:moveTo>
                <a:pt x="0" y="0"/>
              </a:moveTo>
              <a:lnTo>
                <a:pt x="0" y="314797"/>
              </a:lnTo>
              <a:lnTo>
                <a:pt x="2748623" y="314797"/>
              </a:lnTo>
              <a:lnTo>
                <a:pt x="2748623" y="461938"/>
              </a:lnTo>
            </a:path>
          </a:pathLst>
        </a:custGeom>
        <a:noFill/>
        <a:ln w="12700" cap="flat" cmpd="sng" algn="ctr">
          <a:solidFill>
            <a:schemeClr val="accent6">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F4F654EC-4B84-4728-B028-F3D33E5FD4DC}">
      <dsp:nvSpPr>
        <dsp:cNvPr id="0" name=""/>
        <dsp:cNvSpPr/>
      </dsp:nvSpPr>
      <dsp:spPr>
        <a:xfrm>
          <a:off x="5505281" y="3951316"/>
          <a:ext cx="91440" cy="461938"/>
        </a:xfrm>
        <a:custGeom>
          <a:avLst/>
          <a:gdLst/>
          <a:ahLst/>
          <a:cxnLst/>
          <a:rect l="0" t="0" r="0" b="0"/>
          <a:pathLst>
            <a:path>
              <a:moveTo>
                <a:pt x="45720" y="0"/>
              </a:moveTo>
              <a:lnTo>
                <a:pt x="45720" y="461938"/>
              </a:lnTo>
            </a:path>
          </a:pathLst>
        </a:custGeom>
        <a:noFill/>
        <a:ln w="12700" cap="flat" cmpd="sng" algn="ctr">
          <a:solidFill>
            <a:schemeClr val="accent2">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54266E6A-30DC-4E30-8636-962D13AE6BDF}">
      <dsp:nvSpPr>
        <dsp:cNvPr id="0" name=""/>
        <dsp:cNvSpPr/>
      </dsp:nvSpPr>
      <dsp:spPr>
        <a:xfrm>
          <a:off x="3826917" y="2480789"/>
          <a:ext cx="1724083" cy="461938"/>
        </a:xfrm>
        <a:custGeom>
          <a:avLst/>
          <a:gdLst/>
          <a:ahLst/>
          <a:cxnLst/>
          <a:rect l="0" t="0" r="0" b="0"/>
          <a:pathLst>
            <a:path>
              <a:moveTo>
                <a:pt x="0" y="0"/>
              </a:moveTo>
              <a:lnTo>
                <a:pt x="0" y="314797"/>
              </a:lnTo>
              <a:lnTo>
                <a:pt x="1724083" y="314797"/>
              </a:lnTo>
              <a:lnTo>
                <a:pt x="1724083" y="461938"/>
              </a:lnTo>
            </a:path>
          </a:pathLst>
        </a:custGeom>
        <a:noFill/>
        <a:ln w="12700" cap="flat" cmpd="sng" algn="ctr">
          <a:solidFill>
            <a:schemeClr val="accent1">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9B8CA3D-084A-4113-A479-2324D319BA55}">
      <dsp:nvSpPr>
        <dsp:cNvPr id="0" name=""/>
        <dsp:cNvSpPr/>
      </dsp:nvSpPr>
      <dsp:spPr>
        <a:xfrm>
          <a:off x="2057113" y="3951316"/>
          <a:ext cx="91440" cy="461938"/>
        </a:xfrm>
        <a:custGeom>
          <a:avLst/>
          <a:gdLst/>
          <a:ahLst/>
          <a:cxnLst/>
          <a:rect l="0" t="0" r="0" b="0"/>
          <a:pathLst>
            <a:path>
              <a:moveTo>
                <a:pt x="45720" y="0"/>
              </a:moveTo>
              <a:lnTo>
                <a:pt x="45720" y="461938"/>
              </a:lnTo>
            </a:path>
          </a:pathLst>
        </a:custGeom>
        <a:noFill/>
        <a:ln w="12700" cap="flat" cmpd="sng" algn="ctr">
          <a:solidFill>
            <a:schemeClr val="accent2">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BE67AA0F-3738-4FC8-B2B0-42ECCC7BC50C}">
      <dsp:nvSpPr>
        <dsp:cNvPr id="0" name=""/>
        <dsp:cNvSpPr/>
      </dsp:nvSpPr>
      <dsp:spPr>
        <a:xfrm>
          <a:off x="2102833" y="2480789"/>
          <a:ext cx="1724083" cy="461938"/>
        </a:xfrm>
        <a:custGeom>
          <a:avLst/>
          <a:gdLst/>
          <a:ahLst/>
          <a:cxnLst/>
          <a:rect l="0" t="0" r="0" b="0"/>
          <a:pathLst>
            <a:path>
              <a:moveTo>
                <a:pt x="1724083" y="0"/>
              </a:moveTo>
              <a:lnTo>
                <a:pt x="1724083" y="314797"/>
              </a:lnTo>
              <a:lnTo>
                <a:pt x="0" y="314797"/>
              </a:lnTo>
              <a:lnTo>
                <a:pt x="0" y="461938"/>
              </a:lnTo>
            </a:path>
          </a:pathLst>
        </a:custGeom>
        <a:noFill/>
        <a:ln w="12700" cap="flat" cmpd="sng" algn="ctr">
          <a:solidFill>
            <a:schemeClr val="accent1">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D51840F5-C97F-4EFF-A46A-D64E15E0D890}">
      <dsp:nvSpPr>
        <dsp:cNvPr id="0" name=""/>
        <dsp:cNvSpPr/>
      </dsp:nvSpPr>
      <dsp:spPr>
        <a:xfrm>
          <a:off x="3826917" y="1010263"/>
          <a:ext cx="2748623" cy="461938"/>
        </a:xfrm>
        <a:custGeom>
          <a:avLst/>
          <a:gdLst/>
          <a:ahLst/>
          <a:cxnLst/>
          <a:rect l="0" t="0" r="0" b="0"/>
          <a:pathLst>
            <a:path>
              <a:moveTo>
                <a:pt x="2748623" y="0"/>
              </a:moveTo>
              <a:lnTo>
                <a:pt x="2748623" y="314797"/>
              </a:lnTo>
              <a:lnTo>
                <a:pt x="0" y="314797"/>
              </a:lnTo>
              <a:lnTo>
                <a:pt x="0" y="461938"/>
              </a:lnTo>
            </a:path>
          </a:pathLst>
        </a:custGeom>
        <a:noFill/>
        <a:ln w="12700" cap="flat" cmpd="sng" algn="ctr">
          <a:solidFill>
            <a:schemeClr val="accent6">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D6621AA6-8077-4BFD-9CC4-33452DAEF784}">
      <dsp:nvSpPr>
        <dsp:cNvPr id="0" name=""/>
        <dsp:cNvSpPr/>
      </dsp:nvSpPr>
      <dsp:spPr>
        <a:xfrm>
          <a:off x="4309704" y="1674"/>
          <a:ext cx="4531673" cy="1008588"/>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8B799791-8F17-4216-BBD5-22064053DB1F}">
      <dsp:nvSpPr>
        <dsp:cNvPr id="0" name=""/>
        <dsp:cNvSpPr/>
      </dsp:nvSpPr>
      <dsp:spPr>
        <a:xfrm>
          <a:off x="4486185" y="169331"/>
          <a:ext cx="4531673" cy="1008588"/>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Financial Statements</a:t>
          </a:r>
        </a:p>
      </dsp:txBody>
      <dsp:txXfrm>
        <a:off x="4515726" y="198872"/>
        <a:ext cx="4472591" cy="949506"/>
      </dsp:txXfrm>
    </dsp:sp>
    <dsp:sp modelId="{2ECBCE3B-2FEC-4635-AF8E-796674448BB9}">
      <dsp:nvSpPr>
        <dsp:cNvPr id="0" name=""/>
        <dsp:cNvSpPr/>
      </dsp:nvSpPr>
      <dsp:spPr>
        <a:xfrm>
          <a:off x="1954318" y="1472201"/>
          <a:ext cx="3745197" cy="1008588"/>
        </a:xfrm>
        <a:prstGeom prst="roundRect">
          <a:avLst>
            <a:gd name="adj" fmla="val 10000"/>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8332A3DE-E1AC-4033-89B1-FA0F56DC1AC6}">
      <dsp:nvSpPr>
        <dsp:cNvPr id="0" name=""/>
        <dsp:cNvSpPr/>
      </dsp:nvSpPr>
      <dsp:spPr>
        <a:xfrm>
          <a:off x="2130799" y="1639858"/>
          <a:ext cx="3745197" cy="1008588"/>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Income Statements</a:t>
          </a:r>
        </a:p>
      </dsp:txBody>
      <dsp:txXfrm>
        <a:off x="2160340" y="1669399"/>
        <a:ext cx="3686115" cy="949506"/>
      </dsp:txXfrm>
    </dsp:sp>
    <dsp:sp modelId="{0D13F150-C2C3-482C-917E-9B2997E956D7}">
      <dsp:nvSpPr>
        <dsp:cNvPr id="0" name=""/>
        <dsp:cNvSpPr/>
      </dsp:nvSpPr>
      <dsp:spPr>
        <a:xfrm>
          <a:off x="555230" y="2942728"/>
          <a:ext cx="3095205" cy="1008588"/>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2359B55E-B1DB-4D21-AD1A-3C19394A5D39}">
      <dsp:nvSpPr>
        <dsp:cNvPr id="0" name=""/>
        <dsp:cNvSpPr/>
      </dsp:nvSpPr>
      <dsp:spPr>
        <a:xfrm>
          <a:off x="731711" y="3110385"/>
          <a:ext cx="3095205" cy="1008588"/>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Trading Account</a:t>
          </a:r>
        </a:p>
      </dsp:txBody>
      <dsp:txXfrm>
        <a:off x="761252" y="3139926"/>
        <a:ext cx="3036123" cy="949506"/>
      </dsp:txXfrm>
    </dsp:sp>
    <dsp:sp modelId="{F7F687F2-E4A6-47A4-9ACB-C61266377A5A}">
      <dsp:nvSpPr>
        <dsp:cNvPr id="0" name=""/>
        <dsp:cNvSpPr/>
      </dsp:nvSpPr>
      <dsp:spPr>
        <a:xfrm>
          <a:off x="555230" y="4413255"/>
          <a:ext cx="3095205" cy="1008588"/>
        </a:xfrm>
        <a:prstGeom prst="roundRect">
          <a:avLst>
            <a:gd name="adj" fmla="val 1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8415EC4F-8887-4223-980A-C726B5B1A68D}">
      <dsp:nvSpPr>
        <dsp:cNvPr id="0" name=""/>
        <dsp:cNvSpPr/>
      </dsp:nvSpPr>
      <dsp:spPr>
        <a:xfrm>
          <a:off x="731711" y="4580911"/>
          <a:ext cx="3095205" cy="1008588"/>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Gross Profit or Gross Loss</a:t>
          </a:r>
        </a:p>
      </dsp:txBody>
      <dsp:txXfrm>
        <a:off x="761252" y="4610452"/>
        <a:ext cx="3036123" cy="949506"/>
      </dsp:txXfrm>
    </dsp:sp>
    <dsp:sp modelId="{83F52C2B-D94D-4E84-A6DA-754C54216A79}">
      <dsp:nvSpPr>
        <dsp:cNvPr id="0" name=""/>
        <dsp:cNvSpPr/>
      </dsp:nvSpPr>
      <dsp:spPr>
        <a:xfrm>
          <a:off x="4003398" y="2942728"/>
          <a:ext cx="3095205" cy="1008588"/>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DAFC53C6-DC88-4A8B-A6C6-B42BB8769384}">
      <dsp:nvSpPr>
        <dsp:cNvPr id="0" name=""/>
        <dsp:cNvSpPr/>
      </dsp:nvSpPr>
      <dsp:spPr>
        <a:xfrm>
          <a:off x="4179879" y="3110385"/>
          <a:ext cx="3095205" cy="1008588"/>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Profit &amp; Loss Account</a:t>
          </a:r>
        </a:p>
      </dsp:txBody>
      <dsp:txXfrm>
        <a:off x="4209420" y="3139926"/>
        <a:ext cx="3036123" cy="949506"/>
      </dsp:txXfrm>
    </dsp:sp>
    <dsp:sp modelId="{E35E325F-43C2-4DCD-A888-1332564A086E}">
      <dsp:nvSpPr>
        <dsp:cNvPr id="0" name=""/>
        <dsp:cNvSpPr/>
      </dsp:nvSpPr>
      <dsp:spPr>
        <a:xfrm>
          <a:off x="4003398" y="4413255"/>
          <a:ext cx="3095205" cy="1008588"/>
        </a:xfrm>
        <a:prstGeom prst="roundRect">
          <a:avLst>
            <a:gd name="adj" fmla="val 1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2613E6EF-3FB9-42D3-962E-976E7FDEEC1A}">
      <dsp:nvSpPr>
        <dsp:cNvPr id="0" name=""/>
        <dsp:cNvSpPr/>
      </dsp:nvSpPr>
      <dsp:spPr>
        <a:xfrm>
          <a:off x="4179879" y="4580911"/>
          <a:ext cx="3095205" cy="1008588"/>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Net Profit or Net Loss</a:t>
          </a:r>
        </a:p>
      </dsp:txBody>
      <dsp:txXfrm>
        <a:off x="4209420" y="4610452"/>
        <a:ext cx="3036123" cy="949506"/>
      </dsp:txXfrm>
    </dsp:sp>
    <dsp:sp modelId="{25B17813-394E-48A3-9AB9-2E8C12663D74}">
      <dsp:nvSpPr>
        <dsp:cNvPr id="0" name=""/>
        <dsp:cNvSpPr/>
      </dsp:nvSpPr>
      <dsp:spPr>
        <a:xfrm>
          <a:off x="7451566" y="1472201"/>
          <a:ext cx="3745197" cy="1008588"/>
        </a:xfrm>
        <a:prstGeom prst="roundRect">
          <a:avLst>
            <a:gd name="adj" fmla="val 10000"/>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0D2DAD06-09FB-4695-9CDA-1143445EC185}">
      <dsp:nvSpPr>
        <dsp:cNvPr id="0" name=""/>
        <dsp:cNvSpPr/>
      </dsp:nvSpPr>
      <dsp:spPr>
        <a:xfrm>
          <a:off x="7628046" y="1639858"/>
          <a:ext cx="3745197" cy="1008588"/>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Position Statements</a:t>
          </a:r>
        </a:p>
      </dsp:txBody>
      <dsp:txXfrm>
        <a:off x="7657587" y="1669399"/>
        <a:ext cx="3686115" cy="949506"/>
      </dsp:txXfrm>
    </dsp:sp>
    <dsp:sp modelId="{5CF01508-F5AA-468E-9F01-0A7857C93095}">
      <dsp:nvSpPr>
        <dsp:cNvPr id="0" name=""/>
        <dsp:cNvSpPr/>
      </dsp:nvSpPr>
      <dsp:spPr>
        <a:xfrm>
          <a:off x="7451566" y="2942728"/>
          <a:ext cx="3745197" cy="1008588"/>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EE002B3C-C29B-41C6-8C4D-30920414883C}">
      <dsp:nvSpPr>
        <dsp:cNvPr id="0" name=""/>
        <dsp:cNvSpPr/>
      </dsp:nvSpPr>
      <dsp:spPr>
        <a:xfrm>
          <a:off x="7628046" y="3110385"/>
          <a:ext cx="3745197" cy="1008588"/>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Balance Sheet</a:t>
          </a:r>
        </a:p>
      </dsp:txBody>
      <dsp:txXfrm>
        <a:off x="7657587" y="3139926"/>
        <a:ext cx="3686115" cy="949506"/>
      </dsp:txXfrm>
    </dsp:sp>
    <dsp:sp modelId="{D2B7A6DC-05AF-43C4-8F3C-E57B40D4105D}">
      <dsp:nvSpPr>
        <dsp:cNvPr id="0" name=""/>
        <dsp:cNvSpPr/>
      </dsp:nvSpPr>
      <dsp:spPr>
        <a:xfrm>
          <a:off x="7451566" y="4413255"/>
          <a:ext cx="3745197" cy="1008588"/>
        </a:xfrm>
        <a:prstGeom prst="roundRect">
          <a:avLst>
            <a:gd name="adj" fmla="val 1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4543C2BF-16F3-4764-8F6C-4115E00669B2}">
      <dsp:nvSpPr>
        <dsp:cNvPr id="0" name=""/>
        <dsp:cNvSpPr/>
      </dsp:nvSpPr>
      <dsp:spPr>
        <a:xfrm>
          <a:off x="7628046" y="4580911"/>
          <a:ext cx="3745197" cy="1008588"/>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Position of Assets &amp; Liabilities</a:t>
          </a:r>
        </a:p>
      </dsp:txBody>
      <dsp:txXfrm>
        <a:off x="7657587" y="4610452"/>
        <a:ext cx="3686115" cy="94950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CA9DF4-B55D-AFD6-24AA-D296BA9EE8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BF4803BF-1623-DBEF-EB53-2599C2B78A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5E69B6-C6DE-4AD8-B054-CB0F8C49F4B9}" type="datetimeFigureOut">
              <a:rPr lang="en-IN" smtClean="0"/>
              <a:t>27-01-2026</a:t>
            </a:fld>
            <a:endParaRPr lang="en-IN"/>
          </a:p>
        </p:txBody>
      </p:sp>
      <p:sp>
        <p:nvSpPr>
          <p:cNvPr id="4" name="Footer Placeholder 3">
            <a:extLst>
              <a:ext uri="{FF2B5EF4-FFF2-40B4-BE49-F238E27FC236}">
                <a16:creationId xmlns:a16="http://schemas.microsoft.com/office/drawing/2014/main" id="{19C61505-3CDB-B9EB-202A-7C47C846BA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4E1C667-FCCF-A734-648B-B352F4F3980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391B52F-AE2F-405C-B4FD-F97278D91156}" type="slidenum">
              <a:rPr lang="en-IN" smtClean="0"/>
              <a:t>‹#›</a:t>
            </a:fld>
            <a:endParaRPr lang="en-IN"/>
          </a:p>
        </p:txBody>
      </p:sp>
    </p:spTree>
    <p:extLst>
      <p:ext uri="{BB962C8B-B14F-4D97-AF65-F5344CB8AC3E}">
        <p14:creationId xmlns:p14="http://schemas.microsoft.com/office/powerpoint/2010/main" val="5954623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990f92aca6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990f92aca6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38910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endParaRPr lang="en-US" dirty="0"/>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34" name="Picture 33">
            <a:extLst>
              <a:ext uri="{FF2B5EF4-FFF2-40B4-BE49-F238E27FC236}">
                <a16:creationId xmlns:a16="http://schemas.microsoft.com/office/drawing/2014/main" id="{356D7B7B-531F-408A-988D-AF8B227BBAEF}"/>
              </a:ext>
            </a:extLst>
          </p:cNvPr>
          <p:cNvPicPr>
            <a:picLocks noChangeAspect="1"/>
          </p:cNvPicPr>
          <p:nvPr userDrawn="1"/>
        </p:nvPicPr>
        <p:blipFill rotWithShape="1">
          <a:blip r:embed="rId10"/>
          <a:srcRect l="48200" t="56813" r="42065" b="21843"/>
          <a:stretch/>
        </p:blipFill>
        <p:spPr>
          <a:xfrm>
            <a:off x="12261755" y="20384"/>
            <a:ext cx="1485900" cy="1832587"/>
          </a:xfrm>
          <a:prstGeom prst="rect">
            <a:avLst/>
          </a:prstGeom>
        </p:spPr>
      </p:pic>
      <p:pic>
        <p:nvPicPr>
          <p:cNvPr id="35" name="Picture 2" descr="Best Courses after BBA: What to Do After BBA? [2021] - Leverage Edu">
            <a:extLst>
              <a:ext uri="{FF2B5EF4-FFF2-40B4-BE49-F238E27FC236}">
                <a16:creationId xmlns:a16="http://schemas.microsoft.com/office/drawing/2014/main" id="{C84296FC-27D3-4D0C-8F2A-19BD3B9C2C0A}"/>
              </a:ext>
            </a:extLst>
          </p:cNvPr>
          <p:cNvPicPr>
            <a:picLocks noChangeAspect="1" noChangeArrowheads="1"/>
          </p:cNvPicPr>
          <p:nvPr userDrawn="1"/>
        </p:nvPicPr>
        <p:blipFill>
          <a:blip r:embed="rId11"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129201" y="2183713"/>
            <a:ext cx="2741932" cy="17909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8352327-8573-44E4-BC8A-4B66E1AC2BFC}"/>
              </a:ext>
            </a:extLst>
          </p:cNvPr>
          <p:cNvSpPr txBox="1"/>
          <p:nvPr userDrawn="1"/>
        </p:nvSpPr>
        <p:spPr>
          <a:xfrm>
            <a:off x="1837677" y="5513531"/>
            <a:ext cx="3918060" cy="338554"/>
          </a:xfrm>
          <a:prstGeom prst="rect">
            <a:avLst/>
          </a:prstGeom>
          <a:noFill/>
        </p:spPr>
        <p:txBody>
          <a:bodyPr wrap="none" rtlCol="0">
            <a:spAutoFit/>
          </a:bodyPr>
          <a:lstStyle/>
          <a:p>
            <a:r>
              <a:rPr lang="en-US" sz="1600" kern="1200" dirty="0">
                <a:solidFill>
                  <a:schemeClr val="tx1"/>
                </a:solidFill>
                <a:latin typeface="+mn-lt"/>
                <a:ea typeface="+mn-ea"/>
                <a:cs typeface="+mn-cs"/>
              </a:rPr>
              <a:t>Darshan Institute of Engineering &amp; Technology</a:t>
            </a:r>
          </a:p>
        </p:txBody>
      </p:sp>
    </p:spTree>
    <p:extLst>
      <p:ext uri="{BB962C8B-B14F-4D97-AF65-F5344CB8AC3E}">
        <p14:creationId xmlns:p14="http://schemas.microsoft.com/office/powerpoint/2010/main" val="2731625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Javed S. Nathani</a:t>
            </a:r>
          </a:p>
        </p:txBody>
      </p:sp>
      <p:sp>
        <p:nvSpPr>
          <p:cNvPr id="17"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19"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70708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#2501MN601 (FOA)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Financial Statements of Sole Proprietorship</a:t>
            </a: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8356C418-17D6-4697-8856-5F7FEACD43D9}"/>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Javed S. Nathani</a:t>
            </a:r>
          </a:p>
        </p:txBody>
      </p:sp>
      <p:sp>
        <p:nvSpPr>
          <p:cNvPr id="12"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13"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520392"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#2501MN601 (FOA)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Financial Statements of Sole Proprietorship</a:t>
            </a:r>
          </a:p>
        </p:txBody>
      </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 Logo on BR">
    <p:spTree>
      <p:nvGrpSpPr>
        <p:cNvPr id="1" name=""/>
        <p:cNvGrpSpPr/>
        <p:nvPr/>
      </p:nvGrpSpPr>
      <p:grpSpPr>
        <a:xfrm>
          <a:off x="0" y="0"/>
          <a:ext cx="0" cy="0"/>
          <a:chOff x="0" y="0"/>
          <a:chExt cx="0" cy="0"/>
        </a:xfrm>
      </p:grpSpPr>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8356C418-17D6-4697-8856-5F7FEACD43D9}"/>
              </a:ext>
            </a:extLst>
          </p:cNvPr>
          <p:cNvSpPr>
            <a:spLocks noGrp="1"/>
          </p:cNvSpPr>
          <p:nvPr>
            <p:ph idx="1"/>
          </p:nvPr>
        </p:nvSpPr>
        <p:spPr>
          <a:xfrm>
            <a:off x="131180" y="863444"/>
            <a:ext cx="11938900"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Alpesh Gajera</a:t>
            </a:r>
          </a:p>
        </p:txBody>
      </p:sp>
      <p:sp>
        <p:nvSpPr>
          <p:cNvPr id="12"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13"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#2318MN303 (CF)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Cash &amp; Receivable Management</a:t>
            </a:r>
          </a:p>
        </p:txBody>
      </p:sp>
    </p:spTree>
    <p:extLst>
      <p:ext uri="{BB962C8B-B14F-4D97-AF65-F5344CB8AC3E}">
        <p14:creationId xmlns:p14="http://schemas.microsoft.com/office/powerpoint/2010/main" val="180431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687C7B7-5AC0-4DE5-8CD4-EF33EEB726F9}"/>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Javed S. Nathani</a:t>
            </a:r>
          </a:p>
        </p:txBody>
      </p:sp>
      <p:sp>
        <p:nvSpPr>
          <p:cNvPr id="12"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13"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#2501MN601 (FOA)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Introduction to Accounting</a:t>
            </a:r>
          </a:p>
        </p:txBody>
      </p: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3" name="Freeform 17">
            <a:extLst>
              <a:ext uri="{FF2B5EF4-FFF2-40B4-BE49-F238E27FC236}">
                <a16:creationId xmlns:a16="http://schemas.microsoft.com/office/drawing/2014/main" id="{3027D2AD-0E13-43EE-BAA8-1606FF4E22D8}"/>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9000">
                      <a:schemeClr val="accent6">
                        <a:lumMod val="50000"/>
                      </a:schemeClr>
                    </a:gs>
                    <a:gs pos="100000">
                      <a:schemeClr val="accent6"/>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0172331D-9941-4AAA-9E63-80BDD4CEBDAB}"/>
              </a:ext>
            </a:extLst>
          </p:cNvPr>
          <p:cNvGrpSpPr/>
          <p:nvPr userDrawn="1"/>
        </p:nvGrpSpPr>
        <p:grpSpPr>
          <a:xfrm>
            <a:off x="9874840" y="6078930"/>
            <a:ext cx="2078404" cy="631807"/>
            <a:chOff x="10721798" y="852808"/>
            <a:chExt cx="1339023" cy="407045"/>
          </a:xfrm>
        </p:grpSpPr>
        <p:pic>
          <p:nvPicPr>
            <p:cNvPr id="15" name="Picture 14">
              <a:extLst>
                <a:ext uri="{FF2B5EF4-FFF2-40B4-BE49-F238E27FC236}">
                  <a16:creationId xmlns:a16="http://schemas.microsoft.com/office/drawing/2014/main" id="{9B62E625-0FE4-4129-B936-172760D4BFCE}"/>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E733AEFD-AF8F-46BF-9E8E-F6573B757CF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Alpesh Gajera</a:t>
            </a:r>
          </a:p>
        </p:txBody>
      </p:sp>
      <p:sp>
        <p:nvSpPr>
          <p:cNvPr id="8"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#2318MN303 (CF)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Cash &amp; Receivable Management</a:t>
            </a:r>
          </a:p>
        </p:txBody>
      </p:sp>
    </p:spTree>
    <p:extLst>
      <p:ext uri="{BB962C8B-B14F-4D97-AF65-F5344CB8AC3E}">
        <p14:creationId xmlns:p14="http://schemas.microsoft.com/office/powerpoint/2010/main" val="297197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Javed S. Nathani</a:t>
            </a:r>
          </a:p>
        </p:txBody>
      </p:sp>
      <p:sp>
        <p:nvSpPr>
          <p:cNvPr id="8"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70708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#2501MN601 (FOA)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Financial Statements of Sole Proprietorship</a:t>
            </a:r>
          </a:p>
        </p:txBody>
      </p:sp>
    </p:spTree>
    <p:extLst>
      <p:ext uri="{BB962C8B-B14F-4D97-AF65-F5344CB8AC3E}">
        <p14:creationId xmlns:p14="http://schemas.microsoft.com/office/powerpoint/2010/main" val="32062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B770560A-7C36-4269-A8F2-0431E180EAD2}"/>
              </a:ext>
            </a:extLst>
          </p:cNvPr>
          <p:cNvGrpSpPr/>
          <p:nvPr userDrawn="1"/>
        </p:nvGrpSpPr>
        <p:grpSpPr>
          <a:xfrm>
            <a:off x="165802" y="5976558"/>
            <a:ext cx="1649043" cy="501287"/>
            <a:chOff x="10721798" y="852808"/>
            <a:chExt cx="1339023" cy="407045"/>
          </a:xfrm>
        </p:grpSpPr>
        <p:pic>
          <p:nvPicPr>
            <p:cNvPr id="15" name="Picture 14">
              <a:extLst>
                <a:ext uri="{FF2B5EF4-FFF2-40B4-BE49-F238E27FC236}">
                  <a16:creationId xmlns:a16="http://schemas.microsoft.com/office/drawing/2014/main" id="{BC0FB63F-CA11-4FFF-AE2F-90A20EC2490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37E217C-09B9-4F19-8BB8-BB4441141B5F}"/>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Alpesh Gajera</a:t>
            </a:r>
          </a:p>
        </p:txBody>
      </p:sp>
      <p:sp>
        <p:nvSpPr>
          <p:cNvPr id="8"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#2318MN303 (CF)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Cash &amp; Receivable Management</a:t>
            </a:r>
          </a:p>
        </p:txBody>
      </p:sp>
    </p:spTree>
    <p:extLst>
      <p:ext uri="{BB962C8B-B14F-4D97-AF65-F5344CB8AC3E}">
        <p14:creationId xmlns:p14="http://schemas.microsoft.com/office/powerpoint/2010/main" val="424331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7088783-A6E8-4593-A261-AA2E5B8C0B31}"/>
              </a:ext>
            </a:extLst>
          </p:cNvPr>
          <p:cNvSpPr/>
          <p:nvPr userDrawn="1"/>
        </p:nvSpPr>
        <p:spPr>
          <a:xfrm>
            <a:off x="0" y="6602874"/>
            <a:ext cx="12191998" cy="255126"/>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0000"/>
                  <a:lumOff val="10000"/>
                </a:schemeClr>
              </a:solidFill>
              <a:latin typeface="+mj-lt"/>
              <a:ea typeface="Roboto Condensed Light" panose="02000000000000000000" pitchFamily="2" charset="0"/>
            </a:endParaRPr>
          </a:p>
        </p:txBody>
      </p:sp>
      <p:sp>
        <p:nvSpPr>
          <p:cNvPr id="3" name="Date Placeholder 1">
            <a:extLst>
              <a:ext uri="{FF2B5EF4-FFF2-40B4-BE49-F238E27FC236}">
                <a16:creationId xmlns:a16="http://schemas.microsoft.com/office/drawing/2014/main" id="{8BE27DED-9DB1-499A-8FB8-BD4EB698EF13}"/>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Javed S. Nathani</a:t>
            </a:r>
          </a:p>
        </p:txBody>
      </p:sp>
      <p:sp>
        <p:nvSpPr>
          <p:cNvPr id="4" name="Slide Number Placeholder 3">
            <a:extLst>
              <a:ext uri="{FF2B5EF4-FFF2-40B4-BE49-F238E27FC236}">
                <a16:creationId xmlns:a16="http://schemas.microsoft.com/office/drawing/2014/main" id="{4C8C068D-898F-420B-A00C-9EB35BDEEADE}"/>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5" name="Footer Placeholder 2">
            <a:extLst>
              <a:ext uri="{FF2B5EF4-FFF2-40B4-BE49-F238E27FC236}">
                <a16:creationId xmlns:a16="http://schemas.microsoft.com/office/drawing/2014/main" id="{01B224E0-51BB-6652-2EC4-9FA729C8AB34}"/>
              </a:ext>
            </a:extLst>
          </p:cNvPr>
          <p:cNvSpPr txBox="1">
            <a:spLocks/>
          </p:cNvSpPr>
          <p:nvPr userDrawn="1"/>
        </p:nvSpPr>
        <p:spPr>
          <a:xfrm>
            <a:off x="3903518" y="6602874"/>
            <a:ext cx="4874722" cy="256252"/>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#2501MN601 (FOA)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Financial Statements of Sole Proprietorship</a:t>
            </a:r>
          </a:p>
        </p:txBody>
      </p:sp>
    </p:spTree>
    <p:extLst>
      <p:ext uri="{BB962C8B-B14F-4D97-AF65-F5344CB8AC3E}">
        <p14:creationId xmlns:p14="http://schemas.microsoft.com/office/powerpoint/2010/main" val="331231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20944A5-8A5C-4E4A-B8EF-52E45D382D17}"/>
              </a:ext>
            </a:extLst>
          </p:cNvPr>
          <p:cNvPicPr>
            <a:picLocks noChangeAspect="1"/>
          </p:cNvPicPr>
          <p:nvPr userDrawn="1"/>
        </p:nvPicPr>
        <p:blipFill>
          <a:blip r:embed="rId2"/>
          <a:stretch>
            <a:fillRect/>
          </a:stretch>
        </p:blipFill>
        <p:spPr>
          <a:xfrm>
            <a:off x="0" y="0"/>
            <a:ext cx="12192000" cy="6836401"/>
          </a:xfrm>
          <a:prstGeom prst="rect">
            <a:avLst/>
          </a:prstGeom>
        </p:spPr>
      </p:pic>
      <p:sp>
        <p:nvSpPr>
          <p:cNvPr id="10" name="Rectangle 9">
            <a:extLst>
              <a:ext uri="{FF2B5EF4-FFF2-40B4-BE49-F238E27FC236}">
                <a16:creationId xmlns:a16="http://schemas.microsoft.com/office/drawing/2014/main" id="{6AB14EB5-0C00-4B23-9657-6A7891E39B9E}"/>
              </a:ext>
            </a:extLst>
          </p:cNvPr>
          <p:cNvSpPr/>
          <p:nvPr userDrawn="1"/>
        </p:nvSpPr>
        <p:spPr>
          <a:xfrm>
            <a:off x="897729" y="312624"/>
            <a:ext cx="4211279" cy="923330"/>
          </a:xfrm>
          <a:prstGeom prst="rect">
            <a:avLst/>
          </a:prstGeom>
          <a:noFill/>
        </p:spPr>
        <p:txBody>
          <a:bodyPr wrap="square" lIns="91440" tIns="45720" rIns="91440" bIns="45720">
            <a:spAutoFit/>
          </a:bodyPr>
          <a:lstStyle/>
          <a:p>
            <a:pPr algn="ctr"/>
            <a:r>
              <a:rPr lang="en-US" sz="5400" b="1" cap="none" spc="0" dirty="0">
                <a:ln w="22225">
                  <a:solidFill>
                    <a:schemeClr val="tx1"/>
                  </a:solidFill>
                  <a:prstDash val="solid"/>
                </a:ln>
                <a:solidFill>
                  <a:schemeClr val="accent6">
                    <a:lumMod val="50000"/>
                  </a:schemeClr>
                </a:solidFill>
                <a:effectLst/>
              </a:rPr>
              <a:t>THANK YOU</a:t>
            </a:r>
          </a:p>
        </p:txBody>
      </p:sp>
      <p:sp>
        <p:nvSpPr>
          <p:cNvPr id="5" name="TextBox 4">
            <a:extLst>
              <a:ext uri="{FF2B5EF4-FFF2-40B4-BE49-F238E27FC236}">
                <a16:creationId xmlns:a16="http://schemas.microsoft.com/office/drawing/2014/main" id="{74B083DC-F5A7-4EBF-9147-E9831D9E7357}"/>
              </a:ext>
            </a:extLst>
          </p:cNvPr>
          <p:cNvSpPr txBox="1"/>
          <p:nvPr userDrawn="1"/>
        </p:nvSpPr>
        <p:spPr>
          <a:xfrm>
            <a:off x="102870" y="1548578"/>
            <a:ext cx="6309360" cy="1938992"/>
          </a:xfrm>
          <a:prstGeom prst="rect">
            <a:avLst/>
          </a:prstGeom>
          <a:noFill/>
        </p:spPr>
        <p:txBody>
          <a:bodyPr wrap="square">
            <a:spAutoFit/>
          </a:bodyPr>
          <a:lstStyle/>
          <a:p>
            <a:pPr algn="ctr"/>
            <a:r>
              <a:rPr lang="en-IN" sz="2400" dirty="0"/>
              <a:t>Prof. Javed S. Nathani</a:t>
            </a:r>
          </a:p>
          <a:p>
            <a:pPr algn="ctr"/>
            <a:r>
              <a:rPr lang="en-IN" sz="2400" dirty="0"/>
              <a:t>Assistant Professor</a:t>
            </a:r>
          </a:p>
          <a:p>
            <a:pPr algn="ctr"/>
            <a:r>
              <a:rPr lang="en-IN" sz="2400" dirty="0"/>
              <a:t>Darshan Institute of Engineering &amp; Technology</a:t>
            </a:r>
          </a:p>
          <a:p>
            <a:pPr algn="ctr"/>
            <a:r>
              <a:rPr lang="en-IN" sz="2400" dirty="0"/>
              <a:t>Darshan University, Rajkot</a:t>
            </a:r>
          </a:p>
          <a:p>
            <a:pPr algn="ctr"/>
            <a:r>
              <a:rPr lang="en-IN" sz="2400" dirty="0"/>
              <a:t>javed.nathani@darshan.ac.in</a:t>
            </a:r>
          </a:p>
        </p:txBody>
      </p:sp>
    </p:spTree>
    <p:extLst>
      <p:ext uri="{BB962C8B-B14F-4D97-AF65-F5344CB8AC3E}">
        <p14:creationId xmlns:p14="http://schemas.microsoft.com/office/powerpoint/2010/main" val="528164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 smtClean="0"/>
              <a:pPr/>
              <a:t>‹#›</a:t>
            </a:fld>
            <a:endParaRPr lang="es"/>
          </a:p>
        </p:txBody>
      </p:sp>
    </p:spTree>
    <p:extLst>
      <p:ext uri="{BB962C8B-B14F-4D97-AF65-F5344CB8AC3E}">
        <p14:creationId xmlns:p14="http://schemas.microsoft.com/office/powerpoint/2010/main" val="684398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1/27/2026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79" r:id="rId1"/>
    <p:sldLayoutId id="2147483670" r:id="rId2"/>
    <p:sldLayoutId id="2147483687" r:id="rId3"/>
    <p:sldLayoutId id="2147483692" r:id="rId4"/>
    <p:sldLayoutId id="2147483688" r:id="rId5"/>
    <p:sldLayoutId id="2147483671" r:id="rId6"/>
    <p:sldLayoutId id="2147483672" r:id="rId7"/>
    <p:sldLayoutId id="2147483689" r:id="rId8"/>
    <p:sldLayoutId id="2147483690" r:id="rId9"/>
    <p:sldLayoutId id="2147483673" r:id="rId10"/>
    <p:sldLayoutId id="2147483691" r:id="rId11"/>
    <p:sldLayoutId id="214748369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javed.nathani@darshan.ac.in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9106634874</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Prof. Javed S. Nathani</a:t>
            </a: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latin typeface="Roboto Condensed Light" panose="02000000000000000000" pitchFamily="2" charset="0"/>
                <a:ea typeface="Roboto Condensed Light" panose="02000000000000000000" pitchFamily="2" charset="0"/>
              </a:rPr>
              <a:t>Financial Accounting (FA)</a:t>
            </a:r>
          </a:p>
          <a:p>
            <a:r>
              <a:rPr lang="en-US" b="1" dirty="0">
                <a:latin typeface="Roboto Condensed Light" panose="02000000000000000000" pitchFamily="2" charset="0"/>
                <a:ea typeface="Roboto Condensed Light" panose="02000000000000000000" pitchFamily="2" charset="0"/>
              </a:rPr>
              <a:t>DU # 2501MN601</a:t>
            </a:r>
          </a:p>
        </p:txBody>
      </p:sp>
      <p:sp>
        <p:nvSpPr>
          <p:cNvPr id="10" name="Title 1">
            <a:extLst>
              <a:ext uri="{FF2B5EF4-FFF2-40B4-BE49-F238E27FC236}">
                <a16:creationId xmlns:a16="http://schemas.microsoft.com/office/drawing/2014/main" id="{8008DC1D-3241-42B6-B465-A521EF8397ED}"/>
              </a:ext>
            </a:extLst>
          </p:cNvPr>
          <p:cNvSpPr txBox="1">
            <a:spLocks/>
          </p:cNvSpPr>
          <p:nvPr/>
        </p:nvSpPr>
        <p:spPr>
          <a:xfrm>
            <a:off x="1101873" y="3864436"/>
            <a:ext cx="7486541" cy="997983"/>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pPr algn="just">
              <a:lnSpc>
                <a:spcPct val="100000"/>
              </a:lnSpc>
            </a:pPr>
            <a:r>
              <a:rPr lang="en-US" sz="2400" dirty="0">
                <a:latin typeface="+mn-lt"/>
              </a:rPr>
              <a:t>CO 4: </a:t>
            </a:r>
            <a:r>
              <a:rPr lang="en-US" sz="2400" dirty="0"/>
              <a:t>analyze the financial information from annual reports of the sole proprietorship and comparing it with llp, private ltd companies and public limited companies. </a:t>
            </a:r>
            <a:endParaRPr lang="en-US" sz="2400" dirty="0">
              <a:latin typeface="+mn-lt"/>
            </a:endParaRPr>
          </a:p>
        </p:txBody>
      </p:sp>
      <p:sp>
        <p:nvSpPr>
          <p:cNvPr id="13" name="Title 1">
            <a:extLst>
              <a:ext uri="{FF2B5EF4-FFF2-40B4-BE49-F238E27FC236}">
                <a16:creationId xmlns:a16="http://schemas.microsoft.com/office/drawing/2014/main" id="{870F5E93-ABCF-4BB0-929B-4838D5C9CC1F}"/>
              </a:ext>
            </a:extLst>
          </p:cNvPr>
          <p:cNvSpPr>
            <a:spLocks noGrp="1"/>
          </p:cNvSpPr>
          <p:nvPr>
            <p:ph type="ctrTitle"/>
          </p:nvPr>
        </p:nvSpPr>
        <p:spPr>
          <a:xfrm>
            <a:off x="1099595" y="1511401"/>
            <a:ext cx="6886937" cy="2248861"/>
          </a:xfrm>
        </p:spPr>
        <p:txBody>
          <a:bodyPr/>
          <a:lstStyle/>
          <a:p>
            <a:pPr>
              <a:lnSpc>
                <a:spcPct val="100000"/>
              </a:lnSpc>
            </a:pPr>
            <a:r>
              <a:rPr kumimoji="0" lang="en-US" sz="4800" b="0" i="0" u="none" strike="noStrike" kern="1200" cap="none" spc="0" normalizeH="0" baseline="0" noProof="0" dirty="0">
                <a:ln>
                  <a:noFill/>
                </a:ln>
                <a:solidFill>
                  <a:srgbClr val="212121">
                    <a:lumMod val="90000"/>
                    <a:lumOff val="10000"/>
                  </a:srgbClr>
                </a:solidFill>
                <a:effectLst>
                  <a:outerShdw blurRad="50800" dist="38100" dir="2700000" algn="tl" rotWithShape="0">
                    <a:prstClr val="black">
                      <a:alpha val="40000"/>
                    </a:prstClr>
                  </a:outerShdw>
                </a:effectLst>
                <a:uLnTx/>
                <a:uFillTx/>
                <a:latin typeface="+mn-lt"/>
                <a:ea typeface="Roboto Condensed Light" panose="02000000000000000000" pitchFamily="2" charset="0"/>
                <a:cs typeface="+mn-cs"/>
              </a:rPr>
              <a:t>Unit-4</a:t>
            </a:r>
            <a:br>
              <a:rPr kumimoji="0" lang="en-US" sz="4800" b="1" i="0" u="none" strike="noStrike" kern="1200" cap="none" spc="0" normalizeH="0" baseline="0" noProof="0" dirty="0">
                <a:ln>
                  <a:noFill/>
                </a:ln>
                <a:solidFill>
                  <a:srgbClr val="212121">
                    <a:lumMod val="90000"/>
                    <a:lumOff val="10000"/>
                  </a:srgbClr>
                </a:solidFill>
                <a:effectLst>
                  <a:outerShdw blurRad="50800" dist="38100" dir="2700000" algn="tl" rotWithShape="0">
                    <a:prstClr val="black">
                      <a:alpha val="40000"/>
                    </a:prstClr>
                  </a:outerShdw>
                </a:effectLst>
                <a:uLnTx/>
                <a:uFillTx/>
                <a:latin typeface="+mn-lt"/>
                <a:ea typeface="Segoe UI Black" panose="020B0A02040204020203" pitchFamily="34" charset="0"/>
                <a:cs typeface="+mn-cs"/>
              </a:rPr>
            </a:br>
            <a:r>
              <a:rPr lang="en-US" sz="4800" dirty="0"/>
              <a:t>Financial Statements of Sole Proprietorship</a:t>
            </a:r>
            <a:endParaRPr lang="en-IN" sz="4800" dirty="0"/>
          </a:p>
        </p:txBody>
      </p:sp>
      <p:sp>
        <p:nvSpPr>
          <p:cNvPr id="5" name="Picture Placeholder 4">
            <a:extLst>
              <a:ext uri="{FF2B5EF4-FFF2-40B4-BE49-F238E27FC236}">
                <a16:creationId xmlns:a16="http://schemas.microsoft.com/office/drawing/2014/main" id="{90185AEA-9A99-38AA-0226-EAB2590DEE69}"/>
              </a:ext>
            </a:extLst>
          </p:cNvPr>
          <p:cNvSpPr>
            <a:spLocks noGrp="1"/>
          </p:cNvSpPr>
          <p:nvPr>
            <p:ph type="pic" sz="quarter" idx="10"/>
          </p:nvPr>
        </p:nvSpPr>
        <p:spPr/>
      </p:sp>
      <p:pic>
        <p:nvPicPr>
          <p:cNvPr id="7" name="Picture 6">
            <a:extLst>
              <a:ext uri="{FF2B5EF4-FFF2-40B4-BE49-F238E27FC236}">
                <a16:creationId xmlns:a16="http://schemas.microsoft.com/office/drawing/2014/main" id="{1003B569-97EB-0B71-C8DE-894DB03775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764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6852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31706"/>
            <a:ext cx="8096094" cy="3724096"/>
          </a:xfrm>
          <a:prstGeom prst="rect">
            <a:avLst/>
          </a:prstGeom>
          <a:noFill/>
        </p:spPr>
        <p:txBody>
          <a:bodyPr wrap="square" rtlCol="0">
            <a:spAutoFit/>
          </a:bodyPr>
          <a:lstStyle/>
          <a:p>
            <a:pPr algn="just"/>
            <a:r>
              <a:rPr lang="en-US" sz="2400" b="1" dirty="0"/>
              <a:t>Topics </a:t>
            </a:r>
          </a:p>
          <a:p>
            <a:pPr marL="742950" lvl="1" indent="-285750" algn="just">
              <a:lnSpc>
                <a:spcPct val="150000"/>
              </a:lnSpc>
              <a:buFont typeface="Arial" panose="020B0604020202020204" pitchFamily="34" charset="0"/>
              <a:buChar char="•"/>
            </a:pPr>
            <a:r>
              <a:rPr lang="en-US" sz="2400" dirty="0"/>
              <a:t>Meaning, Objectives and Importance of Financial Statements</a:t>
            </a:r>
          </a:p>
          <a:p>
            <a:pPr marL="742950" lvl="1" indent="-285750" algn="just">
              <a:lnSpc>
                <a:spcPct val="150000"/>
              </a:lnSpc>
              <a:buFont typeface="Arial" panose="020B0604020202020204" pitchFamily="34" charset="0"/>
              <a:buChar char="•"/>
            </a:pPr>
            <a:r>
              <a:rPr lang="en-US" sz="2400" dirty="0"/>
              <a:t>Preparation of Trading Account, Profit &amp; Loss Account and Balance Sheet with adjustments</a:t>
            </a:r>
          </a:p>
          <a:p>
            <a:pPr marL="742950" lvl="1" indent="-285750" algn="just">
              <a:lnSpc>
                <a:spcPct val="150000"/>
              </a:lnSpc>
              <a:buFont typeface="Arial" panose="020B0604020202020204" pitchFamily="34" charset="0"/>
              <a:buChar char="•"/>
            </a:pPr>
            <a:r>
              <a:rPr lang="en-US" sz="2400" dirty="0"/>
              <a:t>Introduction to Limited Liability Partnership (LLP)</a:t>
            </a:r>
          </a:p>
          <a:p>
            <a:pPr marL="742950" lvl="1" indent="-285750" algn="just">
              <a:lnSpc>
                <a:spcPct val="150000"/>
              </a:lnSpc>
              <a:buFont typeface="Arial" panose="020B0604020202020204" pitchFamily="34" charset="0"/>
              <a:buChar char="•"/>
            </a:pPr>
            <a:r>
              <a:rPr lang="en-US" sz="2400" dirty="0"/>
              <a:t>Private Limited Companies and Public Limited Companies</a:t>
            </a:r>
          </a:p>
        </p:txBody>
      </p:sp>
      <p:sp>
        <p:nvSpPr>
          <p:cNvPr id="10" name="Title 1">
            <a:extLst>
              <a:ext uri="{FF2B5EF4-FFF2-40B4-BE49-F238E27FC236}">
                <a16:creationId xmlns:a16="http://schemas.microsoft.com/office/drawing/2014/main" id="{1F9439FB-D110-4B22-83D6-826EC8E2CCB8}"/>
              </a:ext>
            </a:extLst>
          </p:cNvPr>
          <p:cNvSpPr txBox="1">
            <a:spLocks/>
          </p:cNvSpPr>
          <p:nvPr/>
        </p:nvSpPr>
        <p:spPr>
          <a:xfrm>
            <a:off x="2115554" y="5308420"/>
            <a:ext cx="7439505" cy="817874"/>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pPr algn="just">
              <a:lnSpc>
                <a:spcPct val="100000"/>
              </a:lnSpc>
            </a:pPr>
            <a:r>
              <a:rPr lang="en-US" sz="2400" dirty="0"/>
              <a:t>CO 4: analyze the financial information from annual reports of the sole proprietorship and comparing it with llp, private ltd companies and public limited companies. </a:t>
            </a:r>
          </a:p>
        </p:txBody>
      </p:sp>
    </p:spTree>
    <p:extLst>
      <p:ext uri="{BB962C8B-B14F-4D97-AF65-F5344CB8AC3E}">
        <p14:creationId xmlns:p14="http://schemas.microsoft.com/office/powerpoint/2010/main" val="180755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Sole Proprietorship</a:t>
            </a:r>
          </a:p>
        </p:txBody>
      </p:sp>
    </p:spTree>
    <p:extLst>
      <p:ext uri="{BB962C8B-B14F-4D97-AF65-F5344CB8AC3E}">
        <p14:creationId xmlns:p14="http://schemas.microsoft.com/office/powerpoint/2010/main" val="1913656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6B9AAD-17BA-3CF2-FCEA-53D9DE382142}"/>
              </a:ext>
            </a:extLst>
          </p:cNvPr>
          <p:cNvSpPr>
            <a:spLocks noGrp="1"/>
          </p:cNvSpPr>
          <p:nvPr>
            <p:ph idx="1"/>
          </p:nvPr>
        </p:nvSpPr>
        <p:spPr/>
        <p:txBody>
          <a:bodyPr/>
          <a:lstStyle/>
          <a:p>
            <a:pPr>
              <a:lnSpc>
                <a:spcPct val="100000"/>
              </a:lnSpc>
            </a:pPr>
            <a:r>
              <a:rPr lang="en-US" dirty="0"/>
              <a:t>This is the </a:t>
            </a:r>
            <a:r>
              <a:rPr lang="en-US" b="1" dirty="0">
                <a:solidFill>
                  <a:srgbClr val="C00000"/>
                </a:solidFill>
              </a:rPr>
              <a:t>traditional and popular form</a:t>
            </a:r>
            <a:r>
              <a:rPr lang="en-US" dirty="0"/>
              <a:t> of business organisation.</a:t>
            </a:r>
          </a:p>
          <a:p>
            <a:pPr>
              <a:lnSpc>
                <a:spcPct val="100000"/>
              </a:lnSpc>
            </a:pPr>
            <a:r>
              <a:rPr lang="en-US" dirty="0"/>
              <a:t>Its </a:t>
            </a:r>
            <a:r>
              <a:rPr lang="en-US" b="1" dirty="0">
                <a:solidFill>
                  <a:srgbClr val="C00000"/>
                </a:solidFill>
              </a:rPr>
              <a:t>formation is simple, and the owners controls the complete operations of a business</a:t>
            </a:r>
            <a:r>
              <a:rPr lang="en-US" dirty="0"/>
              <a:t> and is liable for all financial burdens and debts.</a:t>
            </a:r>
          </a:p>
          <a:p>
            <a:pPr>
              <a:lnSpc>
                <a:spcPct val="100000"/>
              </a:lnSpc>
            </a:pPr>
            <a:r>
              <a:rPr lang="en-US" dirty="0"/>
              <a:t>As long as they are the only owner, they have the right to operate any category of business.</a:t>
            </a:r>
          </a:p>
          <a:p>
            <a:pPr>
              <a:lnSpc>
                <a:spcPct val="100000"/>
              </a:lnSpc>
            </a:pPr>
            <a:r>
              <a:rPr lang="en-US" dirty="0"/>
              <a:t>All the </a:t>
            </a:r>
            <a:r>
              <a:rPr lang="en-US" b="1" dirty="0">
                <a:solidFill>
                  <a:srgbClr val="C00000"/>
                </a:solidFill>
              </a:rPr>
              <a:t>decisions related with business are taken by sole proprietor</a:t>
            </a:r>
            <a:r>
              <a:rPr lang="en-US" dirty="0"/>
              <a:t>.</a:t>
            </a:r>
          </a:p>
          <a:p>
            <a:pPr>
              <a:lnSpc>
                <a:spcPct val="100000"/>
              </a:lnSpc>
            </a:pPr>
            <a:r>
              <a:rPr lang="en-US" dirty="0"/>
              <a:t>For Example:</a:t>
            </a:r>
          </a:p>
          <a:p>
            <a:pPr lvl="1">
              <a:lnSpc>
                <a:spcPct val="100000"/>
              </a:lnSpc>
            </a:pPr>
            <a:r>
              <a:rPr lang="en-US" dirty="0"/>
              <a:t>Shop or Retail business, Home-based company, Individual consulting firm, etc.</a:t>
            </a:r>
          </a:p>
          <a:p>
            <a:pPr marL="0" indent="0">
              <a:buNone/>
            </a:pPr>
            <a:endParaRPr lang="en-US" dirty="0"/>
          </a:p>
        </p:txBody>
      </p:sp>
      <p:sp>
        <p:nvSpPr>
          <p:cNvPr id="3" name="Title 2">
            <a:extLst>
              <a:ext uri="{FF2B5EF4-FFF2-40B4-BE49-F238E27FC236}">
                <a16:creationId xmlns:a16="http://schemas.microsoft.com/office/drawing/2014/main" id="{CB5F10FE-B9FE-4173-E082-A28C6E1D18FC}"/>
              </a:ext>
            </a:extLst>
          </p:cNvPr>
          <p:cNvSpPr>
            <a:spLocks noGrp="1"/>
          </p:cNvSpPr>
          <p:nvPr>
            <p:ph type="title"/>
          </p:nvPr>
        </p:nvSpPr>
        <p:spPr/>
        <p:txBody>
          <a:bodyPr/>
          <a:lstStyle/>
          <a:p>
            <a:r>
              <a:rPr lang="en-US" dirty="0"/>
              <a:t>Meaning of Sole Proprietorship</a:t>
            </a:r>
          </a:p>
        </p:txBody>
      </p:sp>
    </p:spTree>
    <p:extLst>
      <p:ext uri="{BB962C8B-B14F-4D97-AF65-F5344CB8AC3E}">
        <p14:creationId xmlns:p14="http://schemas.microsoft.com/office/powerpoint/2010/main" val="933435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Financial Statement</a:t>
            </a:r>
          </a:p>
        </p:txBody>
      </p:sp>
    </p:spTree>
    <p:extLst>
      <p:ext uri="{BB962C8B-B14F-4D97-AF65-F5344CB8AC3E}">
        <p14:creationId xmlns:p14="http://schemas.microsoft.com/office/powerpoint/2010/main" val="805991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1DB763-2CA7-457B-BE89-B350ECDE2A68}"/>
              </a:ext>
            </a:extLst>
          </p:cNvPr>
          <p:cNvSpPr>
            <a:spLocks noGrp="1"/>
          </p:cNvSpPr>
          <p:nvPr>
            <p:ph type="title"/>
          </p:nvPr>
        </p:nvSpPr>
        <p:spPr/>
        <p:txBody>
          <a:bodyPr>
            <a:normAutofit/>
          </a:bodyPr>
          <a:lstStyle/>
          <a:p>
            <a:r>
              <a:rPr lang="en-IN" dirty="0">
                <a:solidFill>
                  <a:schemeClr val="tx1"/>
                </a:solidFill>
              </a:rPr>
              <a:t>Meaning of Financial Statement (FS) (</a:t>
            </a:r>
            <a:r>
              <a:rPr lang="gu-IN" dirty="0">
                <a:solidFill>
                  <a:schemeClr val="tx1"/>
                </a:solidFill>
              </a:rPr>
              <a:t>નાણાકીય પત્રક</a:t>
            </a:r>
            <a:r>
              <a:rPr lang="en-IN" dirty="0">
                <a:solidFill>
                  <a:schemeClr val="tx1"/>
                </a:solidFill>
              </a:rPr>
              <a:t>)</a:t>
            </a:r>
            <a:endParaRPr dirty="0">
              <a:solidFill>
                <a:schemeClr val="tx1"/>
              </a:solidFill>
            </a:endParaRPr>
          </a:p>
        </p:txBody>
      </p:sp>
      <p:sp>
        <p:nvSpPr>
          <p:cNvPr id="4" name="Content Placeholder 3">
            <a:extLst>
              <a:ext uri="{FF2B5EF4-FFF2-40B4-BE49-F238E27FC236}">
                <a16:creationId xmlns:a16="http://schemas.microsoft.com/office/drawing/2014/main" id="{E335BFEE-8749-494C-B766-C0F7A27C39B8}"/>
              </a:ext>
            </a:extLst>
          </p:cNvPr>
          <p:cNvSpPr>
            <a:spLocks noGrp="1"/>
          </p:cNvSpPr>
          <p:nvPr>
            <p:ph idx="1"/>
          </p:nvPr>
        </p:nvSpPr>
        <p:spPr/>
        <p:txBody>
          <a:bodyPr/>
          <a:lstStyle/>
          <a:p>
            <a:r>
              <a:rPr lang="en-US" dirty="0"/>
              <a:t>Financial statement means the </a:t>
            </a:r>
            <a:r>
              <a:rPr lang="en-US" b="1" dirty="0">
                <a:solidFill>
                  <a:srgbClr val="C00000"/>
                </a:solidFill>
              </a:rPr>
              <a:t>basic</a:t>
            </a:r>
            <a:r>
              <a:rPr lang="en-US" dirty="0">
                <a:solidFill>
                  <a:srgbClr val="C00000"/>
                </a:solidFill>
              </a:rPr>
              <a:t> </a:t>
            </a:r>
            <a:r>
              <a:rPr lang="en-US" b="1" dirty="0">
                <a:solidFill>
                  <a:srgbClr val="C00000"/>
                </a:solidFill>
              </a:rPr>
              <a:t>and formal annual reports</a:t>
            </a:r>
            <a:r>
              <a:rPr lang="en-US" dirty="0">
                <a:solidFill>
                  <a:srgbClr val="C00000"/>
                </a:solidFill>
              </a:rPr>
              <a:t> </a:t>
            </a:r>
            <a:r>
              <a:rPr lang="en-US" dirty="0"/>
              <a:t>through which the corporate management </a:t>
            </a:r>
            <a:r>
              <a:rPr lang="en-US" b="1" dirty="0">
                <a:solidFill>
                  <a:srgbClr val="C00000"/>
                </a:solidFill>
              </a:rPr>
              <a:t>communicates financial information</a:t>
            </a:r>
            <a:r>
              <a:rPr lang="en-US" dirty="0"/>
              <a:t>. </a:t>
            </a:r>
          </a:p>
          <a:p>
            <a:r>
              <a:rPr lang="en-US" dirty="0"/>
              <a:t>Financial statements shows you </a:t>
            </a:r>
            <a:r>
              <a:rPr lang="en-US" b="1" dirty="0">
                <a:solidFill>
                  <a:srgbClr val="C00000"/>
                </a:solidFill>
              </a:rPr>
              <a:t>where a company’s money came from, where it went</a:t>
            </a:r>
            <a:r>
              <a:rPr lang="en-US" dirty="0">
                <a:solidFill>
                  <a:srgbClr val="C00000"/>
                </a:solidFill>
              </a:rPr>
              <a:t> and </a:t>
            </a:r>
            <a:r>
              <a:rPr lang="en-US" b="1" dirty="0">
                <a:solidFill>
                  <a:srgbClr val="C00000"/>
                </a:solidFill>
              </a:rPr>
              <a:t>where it is now</a:t>
            </a:r>
            <a:r>
              <a:rPr lang="en-US" b="1" dirty="0"/>
              <a:t>. </a:t>
            </a:r>
          </a:p>
          <a:p>
            <a:pPr marL="265113" lvl="1" indent="-265113">
              <a:spcBef>
                <a:spcPts val="1000"/>
              </a:spcBef>
              <a:buFont typeface="Wingdings 3" panose="05040102010807070707" pitchFamily="18" charset="2"/>
              <a:buChar char=""/>
            </a:pPr>
            <a:r>
              <a:rPr lang="en-US" sz="2800" dirty="0"/>
              <a:t>Financial statement is a structured representation of the financial position (</a:t>
            </a:r>
            <a:r>
              <a:rPr lang="en-US" sz="2800" b="1" dirty="0">
                <a:solidFill>
                  <a:srgbClr val="C00000"/>
                </a:solidFill>
              </a:rPr>
              <a:t>Balance Sheet</a:t>
            </a:r>
            <a:r>
              <a:rPr lang="en-US" sz="2800" dirty="0"/>
              <a:t>) and financial performance (</a:t>
            </a:r>
            <a:r>
              <a:rPr lang="en-US" sz="2800" b="1" dirty="0">
                <a:solidFill>
                  <a:srgbClr val="C00000"/>
                </a:solidFill>
              </a:rPr>
              <a:t>Income Statement</a:t>
            </a:r>
            <a:r>
              <a:rPr lang="en-US" sz="2800" dirty="0"/>
              <a:t>) of an entity. </a:t>
            </a:r>
          </a:p>
        </p:txBody>
      </p:sp>
      <p:pic>
        <p:nvPicPr>
          <p:cNvPr id="5" name="Picture 2" descr="Infographic: A Visual Guide to Understanding Your Financial Statement">
            <a:extLst>
              <a:ext uri="{FF2B5EF4-FFF2-40B4-BE49-F238E27FC236}">
                <a16:creationId xmlns:a16="http://schemas.microsoft.com/office/drawing/2014/main" id="{4A318E29-4EFA-4874-8F3D-39F20238492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86" t="38319" r="65741" b="12399"/>
          <a:stretch/>
        </p:blipFill>
        <p:spPr bwMode="auto">
          <a:xfrm>
            <a:off x="2298657" y="3799996"/>
            <a:ext cx="2732737" cy="220762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nfographic: A Visual Guide to Understanding Your Financial Statement">
            <a:extLst>
              <a:ext uri="{FF2B5EF4-FFF2-40B4-BE49-F238E27FC236}">
                <a16:creationId xmlns:a16="http://schemas.microsoft.com/office/drawing/2014/main" id="{EE142B98-0973-44F0-A611-71759B6F99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329" t="38319" r="38398" b="12399"/>
          <a:stretch/>
        </p:blipFill>
        <p:spPr bwMode="auto">
          <a:xfrm>
            <a:off x="6292072" y="3813058"/>
            <a:ext cx="2818167" cy="2181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6264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32" presetClass="emph" presetSubtype="0" fill="hold" nodeType="clickEffect">
                                  <p:stCondLst>
                                    <p:cond delay="0"/>
                                  </p:stCondLst>
                                  <p:childTnLst>
                                    <p:animRot by="120000">
                                      <p:cBhvr>
                                        <p:cTn id="13" dur="100" fill="hold">
                                          <p:stCondLst>
                                            <p:cond delay="0"/>
                                          </p:stCondLst>
                                        </p:cTn>
                                        <p:tgtEl>
                                          <p:spTgt spid="5"/>
                                        </p:tgtEl>
                                        <p:attrNameLst>
                                          <p:attrName>r</p:attrName>
                                        </p:attrNameLst>
                                      </p:cBhvr>
                                    </p:animRot>
                                    <p:animRot by="-240000">
                                      <p:cBhvr>
                                        <p:cTn id="14" dur="200" fill="hold">
                                          <p:stCondLst>
                                            <p:cond delay="200"/>
                                          </p:stCondLst>
                                        </p:cTn>
                                        <p:tgtEl>
                                          <p:spTgt spid="5"/>
                                        </p:tgtEl>
                                        <p:attrNameLst>
                                          <p:attrName>r</p:attrName>
                                        </p:attrNameLst>
                                      </p:cBhvr>
                                    </p:animRot>
                                    <p:animRot by="240000">
                                      <p:cBhvr>
                                        <p:cTn id="15" dur="200" fill="hold">
                                          <p:stCondLst>
                                            <p:cond delay="400"/>
                                          </p:stCondLst>
                                        </p:cTn>
                                        <p:tgtEl>
                                          <p:spTgt spid="5"/>
                                        </p:tgtEl>
                                        <p:attrNameLst>
                                          <p:attrName>r</p:attrName>
                                        </p:attrNameLst>
                                      </p:cBhvr>
                                    </p:animRot>
                                    <p:animRot by="-240000">
                                      <p:cBhvr>
                                        <p:cTn id="16" dur="200" fill="hold">
                                          <p:stCondLst>
                                            <p:cond delay="600"/>
                                          </p:stCondLst>
                                        </p:cTn>
                                        <p:tgtEl>
                                          <p:spTgt spid="5"/>
                                        </p:tgtEl>
                                        <p:attrNameLst>
                                          <p:attrName>r</p:attrName>
                                        </p:attrNameLst>
                                      </p:cBhvr>
                                    </p:animRot>
                                    <p:animRot by="120000">
                                      <p:cBhvr>
                                        <p:cTn id="17" dur="200" fill="hold">
                                          <p:stCondLst>
                                            <p:cond delay="800"/>
                                          </p:stCondLst>
                                        </p:cTn>
                                        <p:tgtEl>
                                          <p:spTgt spid="5"/>
                                        </p:tgtEl>
                                        <p:attrNameLst>
                                          <p:attrName>r</p:attrName>
                                        </p:attrNameLst>
                                      </p:cBhvr>
                                    </p:animRo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1DB763-2CA7-457B-BE89-B350ECDE2A68}"/>
              </a:ext>
            </a:extLst>
          </p:cNvPr>
          <p:cNvSpPr>
            <a:spLocks noGrp="1"/>
          </p:cNvSpPr>
          <p:nvPr>
            <p:ph type="title"/>
          </p:nvPr>
        </p:nvSpPr>
        <p:spPr/>
        <p:txBody>
          <a:bodyPr>
            <a:normAutofit/>
          </a:bodyPr>
          <a:lstStyle/>
          <a:p>
            <a:r>
              <a:rPr lang="en-US" dirty="0">
                <a:solidFill>
                  <a:schemeClr val="tx1"/>
                </a:solidFill>
              </a:rPr>
              <a:t>Objectives of Financial Statements</a:t>
            </a:r>
            <a:endParaRPr dirty="0"/>
          </a:p>
        </p:txBody>
      </p:sp>
      <p:sp>
        <p:nvSpPr>
          <p:cNvPr id="4" name="Content Placeholder 3">
            <a:extLst>
              <a:ext uri="{FF2B5EF4-FFF2-40B4-BE49-F238E27FC236}">
                <a16:creationId xmlns:a16="http://schemas.microsoft.com/office/drawing/2014/main" id="{E335BFEE-8749-494C-B766-C0F7A27C39B8}"/>
              </a:ext>
            </a:extLst>
          </p:cNvPr>
          <p:cNvSpPr>
            <a:spLocks noGrp="1"/>
          </p:cNvSpPr>
          <p:nvPr>
            <p:ph idx="1"/>
          </p:nvPr>
        </p:nvSpPr>
        <p:spPr/>
        <p:txBody>
          <a:bodyPr/>
          <a:lstStyle/>
          <a:p>
            <a:r>
              <a:rPr lang="en-US" dirty="0"/>
              <a:t>A</a:t>
            </a:r>
            <a:r>
              <a:rPr lang="en-US" sz="2800" dirty="0"/>
              <a:t>nalysis </a:t>
            </a:r>
            <a:r>
              <a:rPr lang="en-IN" sz="2800" dirty="0"/>
              <a:t>of past performance</a:t>
            </a:r>
            <a:endParaRPr lang="en-US" sz="2800" dirty="0"/>
          </a:p>
          <a:p>
            <a:r>
              <a:rPr lang="en-IN" sz="2800" dirty="0"/>
              <a:t>Analysis of Current Financial Position</a:t>
            </a:r>
          </a:p>
          <a:p>
            <a:r>
              <a:rPr lang="en-IN" dirty="0"/>
              <a:t>A</a:t>
            </a:r>
            <a:r>
              <a:rPr lang="en-IN" sz="2800" dirty="0"/>
              <a:t>nalysis of Operating Efficiency</a:t>
            </a:r>
            <a:endParaRPr lang="en-IN" dirty="0"/>
          </a:p>
          <a:p>
            <a:r>
              <a:rPr lang="en-IN" sz="2800" dirty="0"/>
              <a:t>Analysis of Risk</a:t>
            </a:r>
            <a:endParaRPr lang="en-US" dirty="0"/>
          </a:p>
          <a:p>
            <a:r>
              <a:rPr lang="en-IN" sz="2800" dirty="0"/>
              <a:t>Projections of Future Performance</a:t>
            </a:r>
          </a:p>
          <a:p>
            <a:r>
              <a:rPr lang="en-IN" sz="2800" dirty="0"/>
              <a:t>Investment Decisions</a:t>
            </a:r>
          </a:p>
          <a:p>
            <a:r>
              <a:rPr lang="en-IN" sz="2800" dirty="0"/>
              <a:t>Lending Decisions</a:t>
            </a:r>
          </a:p>
          <a:p>
            <a:r>
              <a:rPr lang="en-IN" sz="2800" dirty="0"/>
              <a:t>Prediction of Bankruptcy (</a:t>
            </a:r>
            <a:r>
              <a:rPr lang="gu-IN" sz="2800" dirty="0"/>
              <a:t>નાદારી)</a:t>
            </a:r>
            <a:endParaRPr lang="en-US" dirty="0"/>
          </a:p>
        </p:txBody>
      </p:sp>
    </p:spTree>
    <p:extLst>
      <p:ext uri="{BB962C8B-B14F-4D97-AF65-F5344CB8AC3E}">
        <p14:creationId xmlns:p14="http://schemas.microsoft.com/office/powerpoint/2010/main" val="2841395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1DB763-2CA7-457B-BE89-B350ECDE2A68}"/>
              </a:ext>
            </a:extLst>
          </p:cNvPr>
          <p:cNvSpPr>
            <a:spLocks noGrp="1"/>
          </p:cNvSpPr>
          <p:nvPr>
            <p:ph type="title"/>
          </p:nvPr>
        </p:nvSpPr>
        <p:spPr/>
        <p:txBody>
          <a:bodyPr>
            <a:normAutofit/>
          </a:bodyPr>
          <a:lstStyle/>
          <a:p>
            <a:r>
              <a:rPr dirty="0"/>
              <a:t>Importance of Financial Statements</a:t>
            </a:r>
          </a:p>
        </p:txBody>
      </p:sp>
      <p:sp>
        <p:nvSpPr>
          <p:cNvPr id="4" name="Content Placeholder 3">
            <a:extLst>
              <a:ext uri="{FF2B5EF4-FFF2-40B4-BE49-F238E27FC236}">
                <a16:creationId xmlns:a16="http://schemas.microsoft.com/office/drawing/2014/main" id="{E335BFEE-8749-494C-B766-C0F7A27C39B8}"/>
              </a:ext>
            </a:extLst>
          </p:cNvPr>
          <p:cNvSpPr>
            <a:spLocks noGrp="1"/>
          </p:cNvSpPr>
          <p:nvPr>
            <p:ph idx="1"/>
          </p:nvPr>
        </p:nvSpPr>
        <p:spPr/>
        <p:txBody>
          <a:bodyPr/>
          <a:lstStyle/>
          <a:p>
            <a:r>
              <a:rPr lang="en-US" dirty="0"/>
              <a:t>Determine the financial position of the business</a:t>
            </a:r>
          </a:p>
          <a:p>
            <a:r>
              <a:rPr lang="en-US" dirty="0"/>
              <a:t>To obtain credit</a:t>
            </a:r>
          </a:p>
          <a:p>
            <a:r>
              <a:rPr lang="en-US" dirty="0"/>
              <a:t>Helps investors in decision making</a:t>
            </a:r>
          </a:p>
          <a:p>
            <a:r>
              <a:rPr lang="en-US" dirty="0"/>
              <a:t>Helps in policy making</a:t>
            </a:r>
          </a:p>
          <a:p>
            <a:r>
              <a:rPr lang="en-US" dirty="0"/>
              <a:t>Useful for stock traders</a:t>
            </a:r>
          </a:p>
        </p:txBody>
      </p:sp>
    </p:spTree>
    <p:extLst>
      <p:ext uri="{BB962C8B-B14F-4D97-AF65-F5344CB8AC3E}">
        <p14:creationId xmlns:p14="http://schemas.microsoft.com/office/powerpoint/2010/main" val="2290378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4FD538-9192-84BF-FFA8-0BB02EBA3260}"/>
              </a:ext>
            </a:extLst>
          </p:cNvPr>
          <p:cNvSpPr>
            <a:spLocks noGrp="1"/>
          </p:cNvSpPr>
          <p:nvPr>
            <p:ph idx="1"/>
          </p:nvPr>
        </p:nvSpPr>
        <p:spPr/>
        <p:txBody>
          <a:bodyPr/>
          <a:lstStyle/>
          <a:p>
            <a:pPr>
              <a:lnSpc>
                <a:spcPct val="100000"/>
              </a:lnSpc>
            </a:pPr>
            <a:r>
              <a:rPr lang="en-US" dirty="0"/>
              <a:t>Final Accounts is the </a:t>
            </a:r>
            <a:r>
              <a:rPr lang="en-US" b="1" dirty="0">
                <a:solidFill>
                  <a:srgbClr val="C00000"/>
                </a:solidFill>
              </a:rPr>
              <a:t>ultimate stage of the accounting process</a:t>
            </a:r>
            <a:r>
              <a:rPr lang="en-US" dirty="0">
                <a:solidFill>
                  <a:srgbClr val="C00000"/>
                </a:solidFill>
              </a:rPr>
              <a:t> </a:t>
            </a:r>
          </a:p>
          <a:p>
            <a:pPr lvl="1">
              <a:lnSpc>
                <a:spcPct val="100000"/>
              </a:lnSpc>
            </a:pPr>
            <a:r>
              <a:rPr lang="en-US" dirty="0"/>
              <a:t>where the different ledger </a:t>
            </a:r>
            <a:r>
              <a:rPr lang="en-US" b="1" dirty="0">
                <a:solidFill>
                  <a:srgbClr val="C00000"/>
                </a:solidFill>
              </a:rPr>
              <a:t>maintained in the trial balance (Books of Accounts)</a:t>
            </a:r>
            <a:r>
              <a:rPr lang="en-US" dirty="0"/>
              <a:t> of the business organization are presented in the specified way </a:t>
            </a:r>
          </a:p>
          <a:p>
            <a:pPr lvl="1">
              <a:lnSpc>
                <a:spcPct val="100000"/>
              </a:lnSpc>
            </a:pPr>
            <a:r>
              <a:rPr lang="en-US" dirty="0"/>
              <a:t>to provide the </a:t>
            </a:r>
            <a:r>
              <a:rPr lang="en-US" b="1" dirty="0">
                <a:solidFill>
                  <a:srgbClr val="C00000"/>
                </a:solidFill>
              </a:rPr>
              <a:t>profitability and financial position of the entity</a:t>
            </a:r>
            <a:r>
              <a:rPr lang="en-US" dirty="0"/>
              <a:t> for a specified period to the stakeholders and other interested parties, </a:t>
            </a:r>
          </a:p>
          <a:p>
            <a:pPr lvl="1">
              <a:lnSpc>
                <a:spcPct val="100000"/>
              </a:lnSpc>
            </a:pPr>
            <a:r>
              <a:rPr lang="en-US" dirty="0"/>
              <a:t>i.e., </a:t>
            </a:r>
            <a:r>
              <a:rPr lang="en-US" b="1" dirty="0">
                <a:solidFill>
                  <a:srgbClr val="C00000"/>
                </a:solidFill>
              </a:rPr>
              <a:t>Trading Account, Profit &amp; Loss Account and Balance Sheet.</a:t>
            </a:r>
            <a:endParaRPr lang="en-US" dirty="0"/>
          </a:p>
          <a:p>
            <a:pPr>
              <a:lnSpc>
                <a:spcPct val="100000"/>
              </a:lnSpc>
            </a:pPr>
            <a:r>
              <a:rPr lang="en-US" dirty="0"/>
              <a:t>Final Accounts means accounts </a:t>
            </a:r>
            <a:r>
              <a:rPr lang="en-US" b="1" dirty="0">
                <a:solidFill>
                  <a:srgbClr val="C00000"/>
                </a:solidFill>
              </a:rPr>
              <a:t>which are prepared at the final stage</a:t>
            </a:r>
            <a:r>
              <a:rPr lang="en-US" dirty="0">
                <a:solidFill>
                  <a:srgbClr val="C00000"/>
                </a:solidFill>
              </a:rPr>
              <a:t> </a:t>
            </a:r>
            <a:r>
              <a:rPr lang="en-US" dirty="0"/>
              <a:t>to give the financial position of the business.</a:t>
            </a:r>
          </a:p>
          <a:p>
            <a:pPr>
              <a:lnSpc>
                <a:spcPct val="100000"/>
              </a:lnSpc>
            </a:pPr>
            <a:r>
              <a:rPr lang="en-US" b="1" dirty="0">
                <a:solidFill>
                  <a:srgbClr val="C00000"/>
                </a:solidFill>
              </a:rPr>
              <a:t>The determination of the Profit or Loss</a:t>
            </a:r>
            <a:r>
              <a:rPr lang="en-US" dirty="0">
                <a:solidFill>
                  <a:srgbClr val="C00000"/>
                </a:solidFill>
              </a:rPr>
              <a:t> </a:t>
            </a:r>
            <a:r>
              <a:rPr lang="en-US" dirty="0"/>
              <a:t>is done by preparing a </a:t>
            </a:r>
            <a:r>
              <a:rPr lang="en-US" b="1" dirty="0">
                <a:solidFill>
                  <a:srgbClr val="C00000"/>
                </a:solidFill>
              </a:rPr>
              <a:t>Trading and Profit &amp; Loss Accounts</a:t>
            </a:r>
            <a:r>
              <a:rPr lang="en-US" dirty="0"/>
              <a:t>.</a:t>
            </a:r>
          </a:p>
          <a:p>
            <a:pPr>
              <a:lnSpc>
                <a:spcPct val="100000"/>
              </a:lnSpc>
            </a:pPr>
            <a:r>
              <a:rPr lang="en-US" dirty="0"/>
              <a:t>While the </a:t>
            </a:r>
            <a:r>
              <a:rPr lang="en-US" b="1" dirty="0">
                <a:solidFill>
                  <a:srgbClr val="C00000"/>
                </a:solidFill>
              </a:rPr>
              <a:t>financial position</a:t>
            </a:r>
            <a:r>
              <a:rPr lang="en-US" dirty="0">
                <a:solidFill>
                  <a:srgbClr val="C00000"/>
                </a:solidFill>
              </a:rPr>
              <a:t> </a:t>
            </a:r>
            <a:r>
              <a:rPr lang="en-US" dirty="0"/>
              <a:t>is judged by means of preparing a</a:t>
            </a:r>
            <a:r>
              <a:rPr lang="en-US" b="1" dirty="0">
                <a:solidFill>
                  <a:srgbClr val="C00000"/>
                </a:solidFill>
              </a:rPr>
              <a:t> Balance Sheet</a:t>
            </a:r>
            <a:r>
              <a:rPr lang="en-US" dirty="0"/>
              <a:t> of the business.</a:t>
            </a:r>
          </a:p>
        </p:txBody>
      </p:sp>
      <p:sp>
        <p:nvSpPr>
          <p:cNvPr id="3" name="Title 2">
            <a:extLst>
              <a:ext uri="{FF2B5EF4-FFF2-40B4-BE49-F238E27FC236}">
                <a16:creationId xmlns:a16="http://schemas.microsoft.com/office/drawing/2014/main" id="{80F99938-1E98-8B4A-2E19-9C153578779A}"/>
              </a:ext>
            </a:extLst>
          </p:cNvPr>
          <p:cNvSpPr>
            <a:spLocks noGrp="1"/>
          </p:cNvSpPr>
          <p:nvPr>
            <p:ph type="title"/>
          </p:nvPr>
        </p:nvSpPr>
        <p:spPr>
          <a:xfrm>
            <a:off x="0" y="0"/>
            <a:ext cx="12192000" cy="711200"/>
          </a:xfrm>
        </p:spPr>
        <p:txBody>
          <a:bodyPr/>
          <a:lstStyle/>
          <a:p>
            <a:r>
              <a:rPr lang="en-US" dirty="0"/>
              <a:t>Meaning of Financial Statement/Final Accounts</a:t>
            </a:r>
          </a:p>
        </p:txBody>
      </p:sp>
    </p:spTree>
    <p:extLst>
      <p:ext uri="{BB962C8B-B14F-4D97-AF65-F5344CB8AC3E}">
        <p14:creationId xmlns:p14="http://schemas.microsoft.com/office/powerpoint/2010/main" val="116915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A8B839C-A981-ADA3-3B2B-05AC6F1021BF}"/>
              </a:ext>
            </a:extLst>
          </p:cNvPr>
          <p:cNvGraphicFramePr>
            <a:graphicFrameLocks noGrp="1"/>
          </p:cNvGraphicFramePr>
          <p:nvPr>
            <p:ph idx="1"/>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46585A33-38D4-5987-ADDF-4E690A193DF0}"/>
              </a:ext>
            </a:extLst>
          </p:cNvPr>
          <p:cNvSpPr>
            <a:spLocks noGrp="1"/>
          </p:cNvSpPr>
          <p:nvPr>
            <p:ph type="title"/>
          </p:nvPr>
        </p:nvSpPr>
        <p:spPr/>
        <p:txBody>
          <a:bodyPr/>
          <a:lstStyle/>
          <a:p>
            <a:r>
              <a:rPr lang="en-US" dirty="0"/>
              <a:t>Financial Statement/Final Accounts</a:t>
            </a:r>
          </a:p>
        </p:txBody>
      </p:sp>
    </p:spTree>
    <p:extLst>
      <p:ext uri="{BB962C8B-B14F-4D97-AF65-F5344CB8AC3E}">
        <p14:creationId xmlns:p14="http://schemas.microsoft.com/office/powerpoint/2010/main" val="3802671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D6621AA6-8077-4BFD-9CC4-33452DAEF784}"/>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graphicEl>
                                              <a:dgm id="{8B799791-8F17-4216-BBD5-22064053DB1F}"/>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graphicEl>
                                              <a:dgm id="{D51840F5-C97F-4EFF-A46A-D64E15E0D890}"/>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graphicEl>
                                              <a:dgm id="{2ECBCE3B-2FEC-4635-AF8E-796674448BB9}"/>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graphicEl>
                                              <a:dgm id="{8332A3DE-E1AC-4033-89B1-FA0F56DC1AC6}"/>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graphicEl>
                                              <a:dgm id="{BE67AA0F-3738-4FC8-B2B0-42ECCC7BC50C}"/>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graphicEl>
                                              <a:dgm id="{0D13F150-C2C3-482C-917E-9B2997E956D7}"/>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graphicEl>
                                              <a:dgm id="{2359B55E-B1DB-4D21-AD1A-3C19394A5D39}"/>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graphicEl>
                                              <a:dgm id="{29B8CA3D-084A-4113-A479-2324D319BA55}"/>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graphicEl>
                                              <a:dgm id="{F7F687F2-E4A6-47A4-9ACB-C61266377A5A}"/>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graphicEl>
                                              <a:dgm id="{8415EC4F-8887-4223-980A-C726B5B1A68D}"/>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graphicEl>
                                              <a:dgm id="{54266E6A-30DC-4E30-8636-962D13AE6BDF}"/>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graphicEl>
                                              <a:dgm id="{83F52C2B-D94D-4E84-A6DA-754C54216A79}"/>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graphicEl>
                                              <a:dgm id="{DAFC53C6-DC88-4A8B-A6C6-B42BB8769384}"/>
                                            </p:graphic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graphicEl>
                                              <a:dgm id="{F4F654EC-4B84-4728-B028-F3D33E5FD4DC}"/>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
                                            <p:graphicEl>
                                              <a:dgm id="{E35E325F-43C2-4DCD-A888-1332564A086E}"/>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
                                            <p:graphicEl>
                                              <a:dgm id="{2613E6EF-3FB9-42D3-962E-976E7FDEEC1A}"/>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graphicEl>
                                              <a:dgm id="{54CADA92-6D47-4F67-BF45-9C25F3BFD038}"/>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
                                            <p:graphicEl>
                                              <a:dgm id="{25B17813-394E-48A3-9AB9-2E8C12663D74}"/>
                                            </p:graphic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
                                            <p:graphicEl>
                                              <a:dgm id="{0D2DAD06-09FB-4695-9CDA-1143445EC185}"/>
                                            </p:graphic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graphicEl>
                                              <a:dgm id="{DE125802-CD78-41D8-B55B-F6AEF396BB6E}"/>
                                            </p:graphic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
                                            <p:graphicEl>
                                              <a:dgm id="{5CF01508-F5AA-468E-9F01-0A7857C93095}"/>
                                            </p:graphic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
                                            <p:graphicEl>
                                              <a:dgm id="{EE002B3C-C29B-41C6-8C4D-30920414883C}"/>
                                            </p:graphic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graphicEl>
                                              <a:dgm id="{7E02BA0B-96F5-4312-AE9F-045077CDBF08}"/>
                                            </p:graphic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
                                            <p:graphicEl>
                                              <a:dgm id="{D2B7A6DC-05AF-43C4-8F3C-E57B40D4105D}"/>
                                            </p:graphic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
                                            <p:graphicEl>
                                              <a:dgm id="{4543C2BF-16F3-4764-8F6C-4115E00669B2}"/>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82A0DD-3FEF-C9ED-19A1-BDEFA1595EDC}"/>
              </a:ext>
            </a:extLst>
          </p:cNvPr>
          <p:cNvSpPr>
            <a:spLocks noGrp="1"/>
          </p:cNvSpPr>
          <p:nvPr>
            <p:ph idx="1"/>
          </p:nvPr>
        </p:nvSpPr>
        <p:spPr/>
        <p:txBody>
          <a:bodyPr/>
          <a:lstStyle/>
          <a:p>
            <a:pPr>
              <a:lnSpc>
                <a:spcPct val="100000"/>
              </a:lnSpc>
            </a:pPr>
            <a:r>
              <a:rPr lang="en-US" b="1" dirty="0">
                <a:solidFill>
                  <a:srgbClr val="C00000"/>
                </a:solidFill>
              </a:rPr>
              <a:t>Trading account is one of the financial statements which shows the result of buying and selling of goods and/or services during an accounting period.</a:t>
            </a:r>
          </a:p>
          <a:p>
            <a:pPr>
              <a:lnSpc>
                <a:spcPct val="100000"/>
              </a:lnSpc>
            </a:pPr>
            <a:r>
              <a:rPr lang="en-US" dirty="0"/>
              <a:t>Trading account is </a:t>
            </a:r>
            <a:r>
              <a:rPr lang="en-US" b="1" dirty="0">
                <a:solidFill>
                  <a:srgbClr val="C00000"/>
                </a:solidFill>
              </a:rPr>
              <a:t>prepared to know the gross profit or gross loss </a:t>
            </a:r>
            <a:r>
              <a:rPr lang="en-US" dirty="0"/>
              <a:t>during the accounting period.</a:t>
            </a:r>
          </a:p>
          <a:p>
            <a:pPr>
              <a:lnSpc>
                <a:spcPct val="100000"/>
              </a:lnSpc>
            </a:pPr>
            <a:r>
              <a:rPr lang="en-US" dirty="0"/>
              <a:t>At the end of the year, it is necessary to ascertain the net profit or the net loss.</a:t>
            </a:r>
          </a:p>
          <a:p>
            <a:pPr>
              <a:lnSpc>
                <a:spcPct val="100000"/>
              </a:lnSpc>
            </a:pPr>
            <a:r>
              <a:rPr lang="en-US" dirty="0"/>
              <a:t>For this purpose, it is first necessary to know the gross profit or gross loss.</a:t>
            </a:r>
          </a:p>
          <a:p>
            <a:pPr>
              <a:lnSpc>
                <a:spcPct val="100000"/>
              </a:lnSpc>
            </a:pPr>
            <a:r>
              <a:rPr lang="en-US" b="1" dirty="0">
                <a:solidFill>
                  <a:srgbClr val="C00000"/>
                </a:solidFill>
              </a:rPr>
              <a:t>Gross Profit is the difference between the selling price and the cost of the goods sold. </a:t>
            </a:r>
          </a:p>
        </p:txBody>
      </p:sp>
      <p:sp>
        <p:nvSpPr>
          <p:cNvPr id="3" name="Title 2">
            <a:extLst>
              <a:ext uri="{FF2B5EF4-FFF2-40B4-BE49-F238E27FC236}">
                <a16:creationId xmlns:a16="http://schemas.microsoft.com/office/drawing/2014/main" id="{513923C2-0789-FA6D-BDB4-C3FF4342CE34}"/>
              </a:ext>
            </a:extLst>
          </p:cNvPr>
          <p:cNvSpPr>
            <a:spLocks noGrp="1"/>
          </p:cNvSpPr>
          <p:nvPr>
            <p:ph type="title"/>
          </p:nvPr>
        </p:nvSpPr>
        <p:spPr/>
        <p:txBody>
          <a:bodyPr/>
          <a:lstStyle/>
          <a:p>
            <a:r>
              <a:rPr lang="en-US" dirty="0"/>
              <a:t>Trading Account</a:t>
            </a:r>
          </a:p>
        </p:txBody>
      </p:sp>
    </p:spTree>
    <p:extLst>
      <p:ext uri="{BB962C8B-B14F-4D97-AF65-F5344CB8AC3E}">
        <p14:creationId xmlns:p14="http://schemas.microsoft.com/office/powerpoint/2010/main" val="3058627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82A0DD-3FEF-C9ED-19A1-BDEFA1595EDC}"/>
              </a:ext>
            </a:extLst>
          </p:cNvPr>
          <p:cNvSpPr>
            <a:spLocks noGrp="1"/>
          </p:cNvSpPr>
          <p:nvPr>
            <p:ph idx="1"/>
          </p:nvPr>
        </p:nvSpPr>
        <p:spPr/>
        <p:txBody>
          <a:bodyPr/>
          <a:lstStyle/>
          <a:p>
            <a:pPr>
              <a:lnSpc>
                <a:spcPct val="100000"/>
              </a:lnSpc>
            </a:pPr>
            <a:r>
              <a:rPr lang="en-US" dirty="0"/>
              <a:t>For a trading firm, the cost of goods sold can be ascertained by adjusting the cost of goods still on hand at the end of the year against the purchases. It is done as follow:</a:t>
            </a:r>
          </a:p>
          <a:p>
            <a:pPr>
              <a:lnSpc>
                <a:spcPct val="100000"/>
              </a:lnSpc>
            </a:pPr>
            <a:r>
              <a:rPr lang="en-US" b="1" dirty="0">
                <a:solidFill>
                  <a:srgbClr val="C00000"/>
                </a:solidFill>
              </a:rPr>
              <a:t>Cost of Goods Sold = Net Purchases – Closing Stock</a:t>
            </a:r>
          </a:p>
          <a:p>
            <a:pPr>
              <a:lnSpc>
                <a:spcPct val="100000"/>
              </a:lnSpc>
            </a:pPr>
            <a:r>
              <a:rPr lang="en-US" b="1" dirty="0">
                <a:solidFill>
                  <a:srgbClr val="C00000"/>
                </a:solidFill>
              </a:rPr>
              <a:t>Closing Stock = Opening Stock + Purchases (Net) + Direct Expenses – Cost of 		          Goods Sold </a:t>
            </a:r>
          </a:p>
          <a:p>
            <a:pPr>
              <a:lnSpc>
                <a:spcPct val="100000"/>
              </a:lnSpc>
            </a:pPr>
            <a:r>
              <a:rPr lang="en-US" b="1" dirty="0">
                <a:solidFill>
                  <a:srgbClr val="C00000"/>
                </a:solidFill>
              </a:rPr>
              <a:t>Gross Profit = Net Sales – Cost of Goods Sold</a:t>
            </a:r>
          </a:p>
        </p:txBody>
      </p:sp>
      <p:sp>
        <p:nvSpPr>
          <p:cNvPr id="3" name="Title 2">
            <a:extLst>
              <a:ext uri="{FF2B5EF4-FFF2-40B4-BE49-F238E27FC236}">
                <a16:creationId xmlns:a16="http://schemas.microsoft.com/office/drawing/2014/main" id="{513923C2-0789-FA6D-BDB4-C3FF4342CE34}"/>
              </a:ext>
            </a:extLst>
          </p:cNvPr>
          <p:cNvSpPr>
            <a:spLocks noGrp="1"/>
          </p:cNvSpPr>
          <p:nvPr>
            <p:ph type="title"/>
          </p:nvPr>
        </p:nvSpPr>
        <p:spPr/>
        <p:txBody>
          <a:bodyPr/>
          <a:lstStyle/>
          <a:p>
            <a:r>
              <a:rPr lang="en-US" dirty="0"/>
              <a:t>Trading Account</a:t>
            </a:r>
          </a:p>
        </p:txBody>
      </p:sp>
    </p:spTree>
    <p:extLst>
      <p:ext uri="{BB962C8B-B14F-4D97-AF65-F5344CB8AC3E}">
        <p14:creationId xmlns:p14="http://schemas.microsoft.com/office/powerpoint/2010/main" val="555808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924BE3-5D30-3B47-5143-819BEA29A520}"/>
              </a:ext>
            </a:extLst>
          </p:cNvPr>
          <p:cNvSpPr>
            <a:spLocks noGrp="1"/>
          </p:cNvSpPr>
          <p:nvPr>
            <p:ph type="title" idx="4294967295"/>
          </p:nvPr>
        </p:nvSpPr>
        <p:spPr>
          <a:xfrm>
            <a:off x="0" y="0"/>
            <a:ext cx="12192000" cy="711200"/>
          </a:xfrm>
        </p:spPr>
        <p:txBody>
          <a:bodyPr>
            <a:normAutofit/>
          </a:bodyPr>
          <a:lstStyle/>
          <a:p>
            <a:pPr algn="ctr"/>
            <a:r>
              <a:rPr lang="en-US" sz="3400" dirty="0"/>
              <a:t>Dr.        </a:t>
            </a:r>
            <a:r>
              <a:rPr lang="en-US" sz="3400" b="1" dirty="0">
                <a:solidFill>
                  <a:srgbClr val="C00000"/>
                </a:solidFill>
              </a:rPr>
              <a:t>Trading Account of……for the year ended……</a:t>
            </a:r>
            <a:r>
              <a:rPr lang="en-US" sz="3400" dirty="0"/>
              <a:t>       Cr.</a:t>
            </a:r>
          </a:p>
        </p:txBody>
      </p:sp>
      <p:graphicFrame>
        <p:nvGraphicFramePr>
          <p:cNvPr id="4" name="Table 4">
            <a:extLst>
              <a:ext uri="{FF2B5EF4-FFF2-40B4-BE49-F238E27FC236}">
                <a16:creationId xmlns:a16="http://schemas.microsoft.com/office/drawing/2014/main" id="{B54C8D51-F1C5-B5DE-D5BF-471B356CE638}"/>
              </a:ext>
            </a:extLst>
          </p:cNvPr>
          <p:cNvGraphicFramePr>
            <a:graphicFrameLocks noGrp="1"/>
          </p:cNvGraphicFramePr>
          <p:nvPr>
            <p:ph idx="4294967295"/>
          </p:nvPr>
        </p:nvGraphicFramePr>
        <p:xfrm>
          <a:off x="1086542" y="1114245"/>
          <a:ext cx="10018916" cy="4450080"/>
        </p:xfrm>
        <a:graphic>
          <a:graphicData uri="http://schemas.openxmlformats.org/drawingml/2006/table">
            <a:tbl>
              <a:tblPr firstRow="1" bandRow="1">
                <a:tableStyleId>{5940675A-B579-460E-94D1-54222C63F5DA}</a:tableStyleId>
              </a:tblPr>
              <a:tblGrid>
                <a:gridCol w="2755816">
                  <a:extLst>
                    <a:ext uri="{9D8B030D-6E8A-4147-A177-3AD203B41FA5}">
                      <a16:colId xmlns:a16="http://schemas.microsoft.com/office/drawing/2014/main" val="3343977590"/>
                    </a:ext>
                  </a:extLst>
                </a:gridCol>
                <a:gridCol w="1122358">
                  <a:extLst>
                    <a:ext uri="{9D8B030D-6E8A-4147-A177-3AD203B41FA5}">
                      <a16:colId xmlns:a16="http://schemas.microsoft.com/office/drawing/2014/main" val="1102382723"/>
                    </a:ext>
                  </a:extLst>
                </a:gridCol>
                <a:gridCol w="1124125">
                  <a:extLst>
                    <a:ext uri="{9D8B030D-6E8A-4147-A177-3AD203B41FA5}">
                      <a16:colId xmlns:a16="http://schemas.microsoft.com/office/drawing/2014/main" val="1055174130"/>
                    </a:ext>
                  </a:extLst>
                </a:gridCol>
                <a:gridCol w="2869401">
                  <a:extLst>
                    <a:ext uri="{9D8B030D-6E8A-4147-A177-3AD203B41FA5}">
                      <a16:colId xmlns:a16="http://schemas.microsoft.com/office/drawing/2014/main" val="3837956293"/>
                    </a:ext>
                  </a:extLst>
                </a:gridCol>
                <a:gridCol w="1073425">
                  <a:extLst>
                    <a:ext uri="{9D8B030D-6E8A-4147-A177-3AD203B41FA5}">
                      <a16:colId xmlns:a16="http://schemas.microsoft.com/office/drawing/2014/main" val="1596165234"/>
                    </a:ext>
                  </a:extLst>
                </a:gridCol>
                <a:gridCol w="1073791">
                  <a:extLst>
                    <a:ext uri="{9D8B030D-6E8A-4147-A177-3AD203B41FA5}">
                      <a16:colId xmlns:a16="http://schemas.microsoft.com/office/drawing/2014/main" val="252713967"/>
                    </a:ext>
                  </a:extLst>
                </a:gridCol>
              </a:tblGrid>
              <a:tr h="0">
                <a:tc>
                  <a:txBody>
                    <a:bodyPr/>
                    <a:lstStyle/>
                    <a:p>
                      <a:pPr algn="ctr"/>
                      <a:r>
                        <a:rPr lang="en-US" sz="2000" b="1" dirty="0"/>
                        <a:t>Particulars</a:t>
                      </a:r>
                    </a:p>
                  </a:txBody>
                  <a:tcPr/>
                </a:tc>
                <a:tc>
                  <a:txBody>
                    <a:bodyPr/>
                    <a:lstStyle/>
                    <a:p>
                      <a:pPr algn="ctr"/>
                      <a:r>
                        <a:rPr lang="en-IN" sz="2000" b="1" dirty="0"/>
                        <a:t>₹</a:t>
                      </a:r>
                      <a:endParaRPr lang="en-US" sz="2000" b="1" dirty="0"/>
                    </a:p>
                  </a:txBody>
                  <a:tcPr/>
                </a:tc>
                <a:tc>
                  <a:txBody>
                    <a:bodyPr/>
                    <a:lstStyle/>
                    <a:p>
                      <a:pPr algn="ctr"/>
                      <a:r>
                        <a:rPr lang="en-IN" sz="2000" b="1" dirty="0"/>
                        <a:t>₹</a:t>
                      </a:r>
                      <a:endParaRPr lang="en-US" sz="2000" b="1" dirty="0"/>
                    </a:p>
                  </a:txBody>
                  <a:tcPr/>
                </a:tc>
                <a:tc>
                  <a:txBody>
                    <a:bodyPr/>
                    <a:lstStyle/>
                    <a:p>
                      <a:pPr algn="ctr"/>
                      <a:r>
                        <a:rPr lang="en-US" sz="2000" b="1" dirty="0"/>
                        <a:t>Particulars</a:t>
                      </a:r>
                    </a:p>
                  </a:txBody>
                  <a:tcPr/>
                </a:tc>
                <a:tc>
                  <a:txBody>
                    <a:bodyPr/>
                    <a:lstStyle/>
                    <a:p>
                      <a:pPr algn="ctr"/>
                      <a:r>
                        <a:rPr lang="en-IN" sz="2000" b="1" dirty="0"/>
                        <a:t>₹</a:t>
                      </a:r>
                      <a:endParaRPr lang="en-US" sz="2000" b="1" dirty="0"/>
                    </a:p>
                  </a:txBody>
                  <a:tcPr/>
                </a:tc>
                <a:tc>
                  <a:txBody>
                    <a:bodyPr/>
                    <a:lstStyle/>
                    <a:p>
                      <a:pPr algn="ctr"/>
                      <a:r>
                        <a:rPr lang="en-IN" sz="2000" b="1" dirty="0"/>
                        <a:t>₹</a:t>
                      </a:r>
                      <a:endParaRPr lang="en-US" sz="2000" b="1" dirty="0"/>
                    </a:p>
                  </a:txBody>
                  <a:tcPr/>
                </a:tc>
                <a:extLst>
                  <a:ext uri="{0D108BD9-81ED-4DB2-BD59-A6C34878D82A}">
                    <a16:rowId xmlns:a16="http://schemas.microsoft.com/office/drawing/2014/main" val="3954651688"/>
                  </a:ext>
                </a:extLst>
              </a:tr>
              <a:tr h="3431348">
                <a:tc>
                  <a:txBody>
                    <a:bodyPr/>
                    <a:lstStyle/>
                    <a:p>
                      <a:r>
                        <a:rPr lang="en-US" sz="2000" dirty="0"/>
                        <a:t>To Opening Stock</a:t>
                      </a:r>
                    </a:p>
                    <a:p>
                      <a:r>
                        <a:rPr lang="en-US" sz="2000" dirty="0"/>
                        <a:t>To Purchases</a:t>
                      </a:r>
                    </a:p>
                    <a:p>
                      <a:r>
                        <a:rPr lang="en-US" sz="2000" dirty="0"/>
                        <a:t>Less: Returns outwards</a:t>
                      </a:r>
                    </a:p>
                    <a:p>
                      <a:r>
                        <a:rPr lang="en-US" sz="2000" dirty="0"/>
                        <a:t>To Direct expenses: </a:t>
                      </a:r>
                    </a:p>
                    <a:p>
                      <a:pPr marL="339725" indent="0"/>
                      <a:r>
                        <a:rPr lang="en-US" sz="2000" dirty="0"/>
                        <a:t>Freight &amp; Carriage</a:t>
                      </a:r>
                    </a:p>
                    <a:p>
                      <a:pPr marL="339725" indent="0"/>
                      <a:r>
                        <a:rPr lang="en-US" sz="2000" dirty="0"/>
                        <a:t>Customs &amp; Insurance</a:t>
                      </a:r>
                    </a:p>
                    <a:p>
                      <a:pPr marL="339725" indent="0"/>
                      <a:r>
                        <a:rPr lang="en-US" sz="2000" dirty="0"/>
                        <a:t>Wages</a:t>
                      </a:r>
                    </a:p>
                    <a:p>
                      <a:pPr marL="339725" indent="0"/>
                      <a:r>
                        <a:rPr lang="en-US" sz="2000" dirty="0"/>
                        <a:t>Gas, Water &amp; Fuel </a:t>
                      </a:r>
                    </a:p>
                    <a:p>
                      <a:pPr marL="339725" indent="0"/>
                      <a:r>
                        <a:rPr lang="en-US" sz="2000" dirty="0"/>
                        <a:t>Factory Expenses </a:t>
                      </a:r>
                    </a:p>
                    <a:p>
                      <a:pPr marL="339725" indent="0"/>
                      <a:r>
                        <a:rPr lang="en-US" sz="2000" dirty="0"/>
                        <a:t>Royalty on production </a:t>
                      </a:r>
                    </a:p>
                    <a:p>
                      <a:r>
                        <a:rPr lang="en-US" sz="2000" dirty="0"/>
                        <a:t>To Gross Profit c/d*</a:t>
                      </a:r>
                    </a:p>
                    <a:p>
                      <a:r>
                        <a:rPr lang="en-US" sz="2000" b="1" dirty="0"/>
                        <a:t>(Transferred to P&amp;L A/c)</a:t>
                      </a:r>
                    </a:p>
                    <a:p>
                      <a:endParaRPr lang="en-US" sz="2000" dirty="0"/>
                    </a:p>
                  </a:txBody>
                  <a:tcPr/>
                </a:tc>
                <a:tc>
                  <a:txBody>
                    <a:bodyPr/>
                    <a:lstStyle/>
                    <a:p>
                      <a:endParaRPr lang="en-US" sz="2000" dirty="0"/>
                    </a:p>
                    <a:p>
                      <a:pPr algn="r"/>
                      <a:r>
                        <a:rPr lang="en-US" sz="2000" dirty="0"/>
                        <a:t>   XXX</a:t>
                      </a:r>
                    </a:p>
                    <a:p>
                      <a:pPr algn="r"/>
                      <a:r>
                        <a:rPr lang="en-US" sz="2000" dirty="0"/>
                        <a:t>XXX</a:t>
                      </a:r>
                    </a:p>
                    <a:p>
                      <a:pPr algn="r"/>
                      <a:endParaRPr lang="en-US" sz="2000" dirty="0"/>
                    </a:p>
                    <a:p>
                      <a:pPr algn="r"/>
                      <a:r>
                        <a:rPr lang="en-US" sz="2000" dirty="0"/>
                        <a:t>XXX</a:t>
                      </a:r>
                    </a:p>
                    <a:p>
                      <a:pPr algn="r"/>
                      <a:r>
                        <a:rPr lang="en-US" sz="2000" dirty="0"/>
                        <a:t>XXX</a:t>
                      </a:r>
                    </a:p>
                    <a:p>
                      <a:pPr algn="r"/>
                      <a:r>
                        <a:rPr lang="en-US" sz="2000" dirty="0"/>
                        <a:t>XXX</a:t>
                      </a:r>
                    </a:p>
                    <a:p>
                      <a:pPr algn="r"/>
                      <a:r>
                        <a:rPr lang="en-US" sz="2000" dirty="0"/>
                        <a:t>XXX</a:t>
                      </a:r>
                    </a:p>
                    <a:p>
                      <a:pPr algn="r"/>
                      <a:r>
                        <a:rPr lang="en-US" sz="2000" dirty="0"/>
                        <a:t>XXX</a:t>
                      </a:r>
                    </a:p>
                    <a:p>
                      <a:pPr algn="r"/>
                      <a:r>
                        <a:rPr lang="en-US" sz="2000" u="sng" dirty="0"/>
                        <a:t>XXX</a:t>
                      </a:r>
                    </a:p>
                  </a:txBody>
                  <a:tcPr/>
                </a:tc>
                <a:tc>
                  <a:txBody>
                    <a:bodyPr/>
                    <a:lstStyle/>
                    <a:p>
                      <a:pPr algn="r"/>
                      <a:r>
                        <a:rPr lang="en-US" sz="2000" dirty="0"/>
                        <a:t>   XXX</a:t>
                      </a:r>
                    </a:p>
                    <a:p>
                      <a:pPr algn="r"/>
                      <a:endParaRPr lang="en-US" sz="2000" dirty="0"/>
                    </a:p>
                    <a:p>
                      <a:pPr algn="r"/>
                      <a:r>
                        <a:rPr lang="en-US" sz="2000" dirty="0"/>
                        <a:t>    XXX</a:t>
                      </a:r>
                    </a:p>
                    <a:p>
                      <a:pPr algn="r"/>
                      <a:r>
                        <a:rPr lang="en-US" sz="2000" dirty="0"/>
                        <a:t>XXX</a:t>
                      </a:r>
                    </a:p>
                    <a:p>
                      <a:pPr algn="r"/>
                      <a:r>
                        <a:rPr lang="en-US" sz="2000" dirty="0"/>
                        <a:t>XXX</a:t>
                      </a:r>
                    </a:p>
                    <a:p>
                      <a:pPr algn="r"/>
                      <a:endParaRPr lang="en-US" sz="2000" dirty="0"/>
                    </a:p>
                    <a:p>
                      <a:pPr algn="r"/>
                      <a:endParaRPr lang="en-US" sz="2000" dirty="0"/>
                    </a:p>
                    <a:p>
                      <a:pPr algn="r"/>
                      <a:endParaRPr lang="en-US" sz="2000" dirty="0"/>
                    </a:p>
                    <a:p>
                      <a:pPr algn="r"/>
                      <a:endParaRPr lang="en-US" sz="2000" dirty="0"/>
                    </a:p>
                    <a:p>
                      <a:pPr algn="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algn="r"/>
                      <a:endParaRPr lang="en-US" sz="2000" dirty="0"/>
                    </a:p>
                    <a:p>
                      <a:pPr algn="r"/>
                      <a:r>
                        <a:rPr lang="en-US" sz="2000" dirty="0"/>
                        <a:t>XXX</a:t>
                      </a:r>
                    </a:p>
                  </a:txBody>
                  <a:tcPr/>
                </a:tc>
                <a:tc>
                  <a:txBody>
                    <a:bodyPr/>
                    <a:lstStyle/>
                    <a:p>
                      <a:r>
                        <a:rPr lang="en-US" sz="2000" dirty="0"/>
                        <a:t>By Sales</a:t>
                      </a:r>
                    </a:p>
                    <a:p>
                      <a:r>
                        <a:rPr lang="en-US" sz="2000" dirty="0"/>
                        <a:t>Less: Returns Inwards</a:t>
                      </a:r>
                    </a:p>
                    <a:p>
                      <a:r>
                        <a:rPr lang="en-US" sz="2000" dirty="0"/>
                        <a:t>By Closing Stock</a:t>
                      </a:r>
                    </a:p>
                    <a:p>
                      <a:r>
                        <a:rPr lang="en-US" sz="2000" dirty="0"/>
                        <a:t>By Gross Loss c/d*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(Transferred to P&amp;L A/c)</a:t>
                      </a:r>
                    </a:p>
                    <a:p>
                      <a:endParaRPr lang="en-US" sz="2000" dirty="0"/>
                    </a:p>
                  </a:txBody>
                  <a:tcPr/>
                </a:tc>
                <a:tc>
                  <a:txBody>
                    <a:bodyPr/>
                    <a:lstStyle/>
                    <a:p>
                      <a:pPr algn="r"/>
                      <a:r>
                        <a:rPr lang="en-US" sz="2000" dirty="0"/>
                        <a:t>XXX</a:t>
                      </a:r>
                    </a:p>
                    <a:p>
                      <a:pPr algn="r"/>
                      <a:r>
                        <a:rPr lang="en-US" sz="2000" dirty="0"/>
                        <a:t>XXX</a:t>
                      </a:r>
                    </a:p>
                  </a:txBody>
                  <a:tcPr/>
                </a:tc>
                <a:tc>
                  <a:txBody>
                    <a:bodyPr/>
                    <a:lstStyle/>
                    <a:p>
                      <a:pPr algn="r"/>
                      <a:endParaRPr lang="en-US" sz="2000" dirty="0"/>
                    </a:p>
                    <a:p>
                      <a:pPr algn="r"/>
                      <a:r>
                        <a:rPr lang="en-US" sz="2000" dirty="0"/>
                        <a:t>XXX</a:t>
                      </a:r>
                    </a:p>
                    <a:p>
                      <a:pPr algn="r"/>
                      <a:r>
                        <a:rPr lang="en-US" sz="2000" dirty="0"/>
                        <a:t>XXX</a:t>
                      </a:r>
                    </a:p>
                    <a:p>
                      <a:pPr algn="r"/>
                      <a:r>
                        <a:rPr lang="en-US" sz="2000" dirty="0"/>
                        <a:t>XXX</a:t>
                      </a:r>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txBody>
                  <a:tcPr/>
                </a:tc>
                <a:extLst>
                  <a:ext uri="{0D108BD9-81ED-4DB2-BD59-A6C34878D82A}">
                    <a16:rowId xmlns:a16="http://schemas.microsoft.com/office/drawing/2014/main" val="356715822"/>
                  </a:ext>
                </a:extLst>
              </a:tr>
            </a:tbl>
          </a:graphicData>
        </a:graphic>
      </p:graphicFrame>
      <p:cxnSp>
        <p:nvCxnSpPr>
          <p:cNvPr id="8" name="Straight Connector 7">
            <a:extLst>
              <a:ext uri="{FF2B5EF4-FFF2-40B4-BE49-F238E27FC236}">
                <a16:creationId xmlns:a16="http://schemas.microsoft.com/office/drawing/2014/main" id="{94082F93-553A-C35D-A6FE-D25841542DE0}"/>
              </a:ext>
            </a:extLst>
          </p:cNvPr>
          <p:cNvCxnSpPr>
            <a:cxnSpLocks/>
          </p:cNvCxnSpPr>
          <p:nvPr/>
        </p:nvCxnSpPr>
        <p:spPr>
          <a:xfrm>
            <a:off x="4018531" y="4636129"/>
            <a:ext cx="2255409" cy="0"/>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2A8C88CE-49B8-367E-C0F6-6D745C131FF8}"/>
              </a:ext>
            </a:extLst>
          </p:cNvPr>
          <p:cNvCxnSpPr>
            <a:cxnSpLocks/>
          </p:cNvCxnSpPr>
          <p:nvPr/>
        </p:nvCxnSpPr>
        <p:spPr>
          <a:xfrm>
            <a:off x="9159213" y="4636129"/>
            <a:ext cx="2114025"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056805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880F51-8447-1893-CACD-B9CFB7C77B4A}"/>
              </a:ext>
            </a:extLst>
          </p:cNvPr>
          <p:cNvSpPr>
            <a:spLocks noGrp="1"/>
          </p:cNvSpPr>
          <p:nvPr>
            <p:ph idx="1"/>
          </p:nvPr>
        </p:nvSpPr>
        <p:spPr/>
        <p:txBody>
          <a:bodyPr/>
          <a:lstStyle/>
          <a:p>
            <a:pPr>
              <a:lnSpc>
                <a:spcPct val="100000"/>
              </a:lnSpc>
            </a:pPr>
            <a:r>
              <a:rPr lang="en-US" sz="2600" b="1" dirty="0">
                <a:solidFill>
                  <a:srgbClr val="C00000"/>
                </a:solidFill>
              </a:rPr>
              <a:t>The Profit and Loss Account starts with gross profit on the credit side.</a:t>
            </a:r>
          </a:p>
          <a:p>
            <a:pPr>
              <a:lnSpc>
                <a:spcPct val="100000"/>
              </a:lnSpc>
            </a:pPr>
            <a:r>
              <a:rPr lang="en-US" sz="2600" b="1" dirty="0">
                <a:solidFill>
                  <a:srgbClr val="C00000"/>
                </a:solidFill>
              </a:rPr>
              <a:t>If there is gross loss, it will be written on the debit side. </a:t>
            </a:r>
          </a:p>
          <a:p>
            <a:pPr>
              <a:lnSpc>
                <a:spcPct val="100000"/>
              </a:lnSpc>
            </a:pPr>
            <a:r>
              <a:rPr lang="en-US" sz="2600" dirty="0"/>
              <a:t>After that all those </a:t>
            </a:r>
            <a:r>
              <a:rPr lang="en-US" sz="2600" b="1" dirty="0">
                <a:solidFill>
                  <a:srgbClr val="C00000"/>
                </a:solidFill>
              </a:rPr>
              <a:t>expenses and losses</a:t>
            </a:r>
            <a:r>
              <a:rPr lang="en-US" sz="2600" dirty="0"/>
              <a:t>, which have not been entered in the Trading Account, </a:t>
            </a:r>
            <a:r>
              <a:rPr lang="en-US" sz="2600" b="1" dirty="0">
                <a:solidFill>
                  <a:srgbClr val="C00000"/>
                </a:solidFill>
              </a:rPr>
              <a:t>will be written on the debit side of Profit and Loss Account</a:t>
            </a:r>
            <a:r>
              <a:rPr lang="en-US" sz="2600" dirty="0"/>
              <a:t>.</a:t>
            </a:r>
          </a:p>
          <a:p>
            <a:pPr>
              <a:lnSpc>
                <a:spcPct val="100000"/>
              </a:lnSpc>
            </a:pPr>
            <a:r>
              <a:rPr lang="en-US" sz="2600" b="1" dirty="0">
                <a:solidFill>
                  <a:srgbClr val="C00000"/>
                </a:solidFill>
              </a:rPr>
              <a:t>Incomes and gains</a:t>
            </a:r>
            <a:r>
              <a:rPr lang="en-US" sz="2600" dirty="0"/>
              <a:t>, other than sales, </a:t>
            </a:r>
            <a:r>
              <a:rPr lang="en-US" sz="2600" b="1" dirty="0">
                <a:solidFill>
                  <a:srgbClr val="C00000"/>
                </a:solidFill>
              </a:rPr>
              <a:t>will be written on the credit side</a:t>
            </a:r>
            <a:r>
              <a:rPr lang="en-US" sz="2600" dirty="0"/>
              <a:t>. </a:t>
            </a:r>
          </a:p>
          <a:p>
            <a:pPr>
              <a:lnSpc>
                <a:spcPct val="100000"/>
              </a:lnSpc>
            </a:pPr>
            <a:r>
              <a:rPr lang="en-US" sz="2600" dirty="0"/>
              <a:t>Further, it may be noted that the expenses which are personal in nature will not be charged to Profit and Loss A/c. Only those revenue expenses and losses which are related to the current year, are debited to Profit and Loss Account. </a:t>
            </a:r>
          </a:p>
          <a:p>
            <a:pPr>
              <a:lnSpc>
                <a:spcPct val="100000"/>
              </a:lnSpc>
            </a:pPr>
            <a:r>
              <a:rPr lang="en-US" sz="2600" dirty="0"/>
              <a:t>Profit and Loss Account should be </a:t>
            </a:r>
            <a:r>
              <a:rPr lang="en-US" sz="2600" b="1" dirty="0">
                <a:solidFill>
                  <a:srgbClr val="C00000"/>
                </a:solidFill>
              </a:rPr>
              <a:t>prepared in such a manner as will enable the reader to form a correct idea about the profit earned or loss suffered by the firm.</a:t>
            </a:r>
          </a:p>
          <a:p>
            <a:pPr>
              <a:lnSpc>
                <a:spcPct val="100000"/>
              </a:lnSpc>
            </a:pPr>
            <a:r>
              <a:rPr lang="en-US" sz="2600" dirty="0"/>
              <a:t>All other expenses like Administrative expenses, Selling and Distribution expenses and Finance related expenses are recorded in Profit &amp; Loss account.</a:t>
            </a:r>
          </a:p>
        </p:txBody>
      </p:sp>
      <p:sp>
        <p:nvSpPr>
          <p:cNvPr id="3" name="Title 2">
            <a:extLst>
              <a:ext uri="{FF2B5EF4-FFF2-40B4-BE49-F238E27FC236}">
                <a16:creationId xmlns:a16="http://schemas.microsoft.com/office/drawing/2014/main" id="{C012106E-66BD-7D82-585F-84E24CC7B937}"/>
              </a:ext>
            </a:extLst>
          </p:cNvPr>
          <p:cNvSpPr>
            <a:spLocks noGrp="1"/>
          </p:cNvSpPr>
          <p:nvPr>
            <p:ph type="title"/>
          </p:nvPr>
        </p:nvSpPr>
        <p:spPr/>
        <p:txBody>
          <a:bodyPr/>
          <a:lstStyle/>
          <a:p>
            <a:r>
              <a:rPr lang="en-US" dirty="0"/>
              <a:t>Profit and Loss Account</a:t>
            </a:r>
          </a:p>
        </p:txBody>
      </p:sp>
    </p:spTree>
    <p:extLst>
      <p:ext uri="{BB962C8B-B14F-4D97-AF65-F5344CB8AC3E}">
        <p14:creationId xmlns:p14="http://schemas.microsoft.com/office/powerpoint/2010/main" val="685322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924BE3-5D30-3B47-5143-819BEA29A520}"/>
              </a:ext>
            </a:extLst>
          </p:cNvPr>
          <p:cNvSpPr>
            <a:spLocks noGrp="1"/>
          </p:cNvSpPr>
          <p:nvPr>
            <p:ph type="title" idx="4294967295"/>
          </p:nvPr>
        </p:nvSpPr>
        <p:spPr>
          <a:xfrm>
            <a:off x="0" y="0"/>
            <a:ext cx="12192000" cy="711200"/>
          </a:xfrm>
        </p:spPr>
        <p:txBody>
          <a:bodyPr>
            <a:normAutofit/>
          </a:bodyPr>
          <a:lstStyle/>
          <a:p>
            <a:pPr algn="ctr"/>
            <a:r>
              <a:rPr lang="en-US" sz="3400" dirty="0"/>
              <a:t>Dr.        </a:t>
            </a:r>
            <a:r>
              <a:rPr lang="en-US" sz="3400" b="1" dirty="0">
                <a:solidFill>
                  <a:srgbClr val="C00000"/>
                </a:solidFill>
              </a:rPr>
              <a:t>Profit and Loss Account of……for the year ended……</a:t>
            </a:r>
            <a:r>
              <a:rPr lang="en-US" sz="3400" dirty="0"/>
              <a:t>       Cr.</a:t>
            </a:r>
          </a:p>
        </p:txBody>
      </p:sp>
      <p:graphicFrame>
        <p:nvGraphicFramePr>
          <p:cNvPr id="4" name="Table 4">
            <a:extLst>
              <a:ext uri="{FF2B5EF4-FFF2-40B4-BE49-F238E27FC236}">
                <a16:creationId xmlns:a16="http://schemas.microsoft.com/office/drawing/2014/main" id="{B54C8D51-F1C5-B5DE-D5BF-471B356CE638}"/>
              </a:ext>
            </a:extLst>
          </p:cNvPr>
          <p:cNvGraphicFramePr>
            <a:graphicFrameLocks noGrp="1"/>
          </p:cNvGraphicFramePr>
          <p:nvPr>
            <p:ph idx="4294967295"/>
          </p:nvPr>
        </p:nvGraphicFramePr>
        <p:xfrm>
          <a:off x="478759" y="899160"/>
          <a:ext cx="11218870" cy="5059680"/>
        </p:xfrm>
        <a:graphic>
          <a:graphicData uri="http://schemas.openxmlformats.org/drawingml/2006/table">
            <a:tbl>
              <a:tblPr firstRow="1" bandRow="1">
                <a:tableStyleId>{5940675A-B579-460E-94D1-54222C63F5DA}</a:tableStyleId>
              </a:tblPr>
              <a:tblGrid>
                <a:gridCol w="3085877">
                  <a:extLst>
                    <a:ext uri="{9D8B030D-6E8A-4147-A177-3AD203B41FA5}">
                      <a16:colId xmlns:a16="http://schemas.microsoft.com/office/drawing/2014/main" val="3343977590"/>
                    </a:ext>
                  </a:extLst>
                </a:gridCol>
                <a:gridCol w="1256782">
                  <a:extLst>
                    <a:ext uri="{9D8B030D-6E8A-4147-A177-3AD203B41FA5}">
                      <a16:colId xmlns:a16="http://schemas.microsoft.com/office/drawing/2014/main" val="1102382723"/>
                    </a:ext>
                  </a:extLst>
                </a:gridCol>
                <a:gridCol w="1258760">
                  <a:extLst>
                    <a:ext uri="{9D8B030D-6E8A-4147-A177-3AD203B41FA5}">
                      <a16:colId xmlns:a16="http://schemas.microsoft.com/office/drawing/2014/main" val="1055174130"/>
                    </a:ext>
                  </a:extLst>
                </a:gridCol>
                <a:gridCol w="3213065">
                  <a:extLst>
                    <a:ext uri="{9D8B030D-6E8A-4147-A177-3AD203B41FA5}">
                      <a16:colId xmlns:a16="http://schemas.microsoft.com/office/drawing/2014/main" val="3837956293"/>
                    </a:ext>
                  </a:extLst>
                </a:gridCol>
                <a:gridCol w="1201988">
                  <a:extLst>
                    <a:ext uri="{9D8B030D-6E8A-4147-A177-3AD203B41FA5}">
                      <a16:colId xmlns:a16="http://schemas.microsoft.com/office/drawing/2014/main" val="1596165234"/>
                    </a:ext>
                  </a:extLst>
                </a:gridCol>
                <a:gridCol w="1202398">
                  <a:extLst>
                    <a:ext uri="{9D8B030D-6E8A-4147-A177-3AD203B41FA5}">
                      <a16:colId xmlns:a16="http://schemas.microsoft.com/office/drawing/2014/main" val="252713967"/>
                    </a:ext>
                  </a:extLst>
                </a:gridCol>
              </a:tblGrid>
              <a:tr h="0">
                <a:tc>
                  <a:txBody>
                    <a:bodyPr/>
                    <a:lstStyle/>
                    <a:p>
                      <a:pPr algn="ctr"/>
                      <a:r>
                        <a:rPr lang="en-US" sz="2000" b="1" dirty="0"/>
                        <a:t>Particulars</a:t>
                      </a:r>
                    </a:p>
                  </a:txBody>
                  <a:tcPr/>
                </a:tc>
                <a:tc>
                  <a:txBody>
                    <a:bodyPr/>
                    <a:lstStyle/>
                    <a:p>
                      <a:pPr algn="ctr"/>
                      <a:r>
                        <a:rPr lang="en-IN" sz="2000" b="1" dirty="0"/>
                        <a:t>₹</a:t>
                      </a:r>
                      <a:endParaRPr lang="en-US" sz="2000" b="1" dirty="0"/>
                    </a:p>
                  </a:txBody>
                  <a:tcPr/>
                </a:tc>
                <a:tc>
                  <a:txBody>
                    <a:bodyPr/>
                    <a:lstStyle/>
                    <a:p>
                      <a:pPr algn="ctr"/>
                      <a:r>
                        <a:rPr lang="en-IN" sz="2000" b="1" dirty="0"/>
                        <a:t>₹</a:t>
                      </a:r>
                      <a:endParaRPr lang="en-US" sz="2000" b="1" dirty="0"/>
                    </a:p>
                  </a:txBody>
                  <a:tcPr/>
                </a:tc>
                <a:tc>
                  <a:txBody>
                    <a:bodyPr/>
                    <a:lstStyle/>
                    <a:p>
                      <a:pPr algn="ctr"/>
                      <a:r>
                        <a:rPr lang="en-US" sz="2000" b="1" dirty="0"/>
                        <a:t>Particulars</a:t>
                      </a:r>
                    </a:p>
                  </a:txBody>
                  <a:tcPr/>
                </a:tc>
                <a:tc>
                  <a:txBody>
                    <a:bodyPr/>
                    <a:lstStyle/>
                    <a:p>
                      <a:pPr algn="ctr"/>
                      <a:r>
                        <a:rPr lang="en-IN" sz="2000" b="1" dirty="0"/>
                        <a:t>₹</a:t>
                      </a:r>
                      <a:endParaRPr lang="en-US" sz="2000" b="1" dirty="0"/>
                    </a:p>
                  </a:txBody>
                  <a:tcPr/>
                </a:tc>
                <a:tc>
                  <a:txBody>
                    <a:bodyPr/>
                    <a:lstStyle/>
                    <a:p>
                      <a:pPr algn="ctr"/>
                      <a:r>
                        <a:rPr lang="en-IN" sz="2000" b="1" dirty="0"/>
                        <a:t>₹</a:t>
                      </a:r>
                      <a:endParaRPr lang="en-US" sz="2000" b="1" dirty="0"/>
                    </a:p>
                  </a:txBody>
                  <a:tcPr/>
                </a:tc>
                <a:extLst>
                  <a:ext uri="{0D108BD9-81ED-4DB2-BD59-A6C34878D82A}">
                    <a16:rowId xmlns:a16="http://schemas.microsoft.com/office/drawing/2014/main" val="3954651688"/>
                  </a:ext>
                </a:extLst>
              </a:tr>
              <a:tr h="3431348">
                <a:tc>
                  <a:txBody>
                    <a:bodyPr/>
                    <a:lstStyle/>
                    <a:p>
                      <a:r>
                        <a:rPr lang="en-US" sz="2000" dirty="0"/>
                        <a:t>To Gross Loss b/d*</a:t>
                      </a:r>
                    </a:p>
                    <a:p>
                      <a:r>
                        <a:rPr lang="en-US" sz="2000" b="1" dirty="0"/>
                        <a:t>Management expenses</a:t>
                      </a:r>
                    </a:p>
                    <a:p>
                      <a:pPr marL="627063" indent="-457200"/>
                      <a:r>
                        <a:rPr lang="en-US" sz="2000" dirty="0"/>
                        <a:t>To Salaries (administrative)</a:t>
                      </a:r>
                    </a:p>
                    <a:p>
                      <a:pPr marL="233363" indent="-63500"/>
                      <a:r>
                        <a:rPr lang="en-US" sz="2000" dirty="0"/>
                        <a:t>To Office rent, rates and Taxes</a:t>
                      </a:r>
                    </a:p>
                    <a:p>
                      <a:pPr marL="627063" indent="-457200"/>
                      <a:r>
                        <a:rPr lang="en-US" sz="2000" dirty="0"/>
                        <a:t>To Printing and stationery</a:t>
                      </a:r>
                    </a:p>
                    <a:p>
                      <a:pPr marL="627063" indent="-457200"/>
                      <a:r>
                        <a:rPr lang="en-US" sz="2000" dirty="0"/>
                        <a:t>To Telephone charges</a:t>
                      </a:r>
                    </a:p>
                    <a:p>
                      <a:pPr marL="627063" indent="-457200"/>
                      <a:r>
                        <a:rPr lang="en-US" sz="2000" dirty="0"/>
                        <a:t>To Postage and telegrams</a:t>
                      </a:r>
                    </a:p>
                    <a:p>
                      <a:pPr marL="627063" indent="-457200"/>
                      <a:r>
                        <a:rPr lang="en-US" sz="2000" dirty="0"/>
                        <a:t>To Insurance</a:t>
                      </a:r>
                    </a:p>
                    <a:p>
                      <a:pPr marL="627063" indent="-457200"/>
                      <a:r>
                        <a:rPr lang="en-US" sz="2000" dirty="0"/>
                        <a:t>To Audit Fees</a:t>
                      </a:r>
                    </a:p>
                    <a:p>
                      <a:pPr marL="627063" indent="-457200"/>
                      <a:r>
                        <a:rPr lang="en-US" sz="2000" dirty="0"/>
                        <a:t>To Legal Charges</a:t>
                      </a:r>
                    </a:p>
                    <a:p>
                      <a:pPr marL="627063" indent="-457200"/>
                      <a:r>
                        <a:rPr lang="en-US" sz="2000" dirty="0"/>
                        <a:t>To Electricity Charges</a:t>
                      </a:r>
                    </a:p>
                  </a:txBody>
                  <a:tcPr/>
                </a:tc>
                <a:tc>
                  <a:txBody>
                    <a:bodyPr/>
                    <a:lstStyle/>
                    <a:p>
                      <a:endParaRPr lang="en-US" sz="2000" dirty="0"/>
                    </a:p>
                    <a:p>
                      <a:pPr algn="r"/>
                      <a:r>
                        <a:rPr lang="en-US" sz="2000" dirty="0"/>
                        <a:t>  </a:t>
                      </a:r>
                    </a:p>
                    <a:p>
                      <a:pPr algn="r"/>
                      <a:r>
                        <a:rPr lang="en-US" sz="2000" dirty="0"/>
                        <a:t>XXX</a:t>
                      </a:r>
                    </a:p>
                    <a:p>
                      <a:pPr algn="r"/>
                      <a:endParaRPr lang="en-US" sz="2000" dirty="0"/>
                    </a:p>
                    <a:p>
                      <a:pPr algn="r"/>
                      <a:r>
                        <a:rPr lang="en-US" sz="2000" dirty="0"/>
                        <a:t>XXX</a:t>
                      </a:r>
                    </a:p>
                    <a:p>
                      <a:pPr algn="r"/>
                      <a:r>
                        <a:rPr lang="en-US" sz="2000" dirty="0"/>
                        <a:t>XXX</a:t>
                      </a:r>
                    </a:p>
                    <a:p>
                      <a:pPr algn="r"/>
                      <a:r>
                        <a:rPr lang="en-US" sz="2000" dirty="0"/>
                        <a:t>XXX</a:t>
                      </a:r>
                    </a:p>
                    <a:p>
                      <a:pPr algn="r"/>
                      <a:r>
                        <a:rPr lang="en-US" sz="2000" dirty="0"/>
                        <a:t>XXX</a:t>
                      </a:r>
                    </a:p>
                    <a:p>
                      <a:pPr algn="r"/>
                      <a:r>
                        <a:rPr lang="en-US" sz="2000" dirty="0"/>
                        <a:t>XXX</a:t>
                      </a:r>
                    </a:p>
                    <a:p>
                      <a:pPr algn="r"/>
                      <a:r>
                        <a:rPr lang="en-US" sz="2000" dirty="0"/>
                        <a:t>XXX</a:t>
                      </a:r>
                    </a:p>
                    <a:p>
                      <a:pPr algn="r"/>
                      <a:r>
                        <a:rPr lang="en-US" sz="2000" dirty="0"/>
                        <a:t> XXX</a:t>
                      </a:r>
                    </a:p>
                    <a:p>
                      <a:pPr algn="r"/>
                      <a:r>
                        <a:rPr lang="en-US" sz="2000" dirty="0"/>
                        <a:t> XXX</a:t>
                      </a:r>
                    </a:p>
                  </a:txBody>
                  <a:tcPr/>
                </a:tc>
                <a:tc>
                  <a:txBody>
                    <a:bodyPr/>
                    <a:lstStyle/>
                    <a:p>
                      <a:pPr algn="r"/>
                      <a:r>
                        <a:rPr lang="en-US" sz="2000" dirty="0"/>
                        <a:t>   XXX</a:t>
                      </a:r>
                    </a:p>
                    <a:p>
                      <a:pPr algn="r"/>
                      <a:endParaRPr lang="en-US" sz="2000" dirty="0"/>
                    </a:p>
                    <a:p>
                      <a:pPr algn="r"/>
                      <a:r>
                        <a:rPr lang="en-US" sz="2000" dirty="0"/>
                        <a:t>    </a:t>
                      </a:r>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r>
                        <a:rPr lang="en-US" sz="2000" dirty="0"/>
                        <a:t>XXX</a:t>
                      </a:r>
                    </a:p>
                  </a:txBody>
                  <a:tcPr/>
                </a:tc>
                <a:tc>
                  <a:txBody>
                    <a:bodyPr/>
                    <a:lstStyle/>
                    <a:p>
                      <a:r>
                        <a:rPr lang="en-US" sz="2000" dirty="0"/>
                        <a:t>By Gross Profit b/d*</a:t>
                      </a:r>
                    </a:p>
                    <a:p>
                      <a:r>
                        <a:rPr lang="en-US" sz="2000" b="1" dirty="0"/>
                        <a:t>Other Income</a:t>
                      </a:r>
                    </a:p>
                    <a:p>
                      <a:pPr marL="0" indent="233363"/>
                      <a:r>
                        <a:rPr lang="en-US" sz="2000" b="0" dirty="0"/>
                        <a:t>By Discount Received</a:t>
                      </a:r>
                    </a:p>
                    <a:p>
                      <a:pPr marL="0" indent="233363"/>
                      <a:r>
                        <a:rPr lang="en-US" sz="2000" b="0" dirty="0"/>
                        <a:t>By Commission Received</a:t>
                      </a:r>
                    </a:p>
                    <a:p>
                      <a:r>
                        <a:rPr lang="en-US" sz="2000" b="1" dirty="0"/>
                        <a:t>Non-Trading Income</a:t>
                      </a:r>
                    </a:p>
                    <a:p>
                      <a:pPr marL="0" indent="233363"/>
                      <a:r>
                        <a:rPr lang="en-US" sz="2000" b="0" dirty="0"/>
                        <a:t>By Bank Interest</a:t>
                      </a:r>
                    </a:p>
                    <a:p>
                      <a:pPr marL="0" indent="233363"/>
                      <a:r>
                        <a:rPr lang="en-US" sz="2000" b="0" dirty="0"/>
                        <a:t>By Rent of property let-out</a:t>
                      </a:r>
                    </a:p>
                    <a:p>
                      <a:pPr marL="0" indent="233363"/>
                      <a:r>
                        <a:rPr lang="en-US" sz="2000" b="0" dirty="0"/>
                        <a:t>By Dividend from shares</a:t>
                      </a:r>
                    </a:p>
                    <a:p>
                      <a:r>
                        <a:rPr lang="en-US" sz="2000" b="1" dirty="0"/>
                        <a:t>Abnormal Gains</a:t>
                      </a:r>
                    </a:p>
                    <a:p>
                      <a:pPr marL="233363" indent="0"/>
                      <a:r>
                        <a:rPr lang="en-US" sz="2000" b="0" dirty="0"/>
                        <a:t>By Profit on sale of    machinery</a:t>
                      </a:r>
                    </a:p>
                    <a:p>
                      <a:pPr marL="233363" indent="0"/>
                      <a:r>
                        <a:rPr lang="en-US" sz="2000" b="0" dirty="0"/>
                        <a:t>By Profit on sale of investment</a:t>
                      </a:r>
                    </a:p>
                    <a:p>
                      <a:r>
                        <a:rPr lang="en-US" sz="2000" b="1" dirty="0"/>
                        <a:t>By Net Loss</a:t>
                      </a:r>
                    </a:p>
                    <a:p>
                      <a:r>
                        <a:rPr lang="en-US" sz="2000" b="1" dirty="0"/>
                        <a:t>(Transferred to Capital A/c)</a:t>
                      </a:r>
                    </a:p>
                  </a:txBody>
                  <a:tcPr/>
                </a:tc>
                <a:tc>
                  <a:txBody>
                    <a:bodyPr/>
                    <a:lstStyle/>
                    <a:p>
                      <a:pPr algn="r"/>
                      <a:r>
                        <a:rPr lang="en-US" sz="2000" dirty="0"/>
                        <a:t>XXX</a:t>
                      </a:r>
                    </a:p>
                    <a:p>
                      <a:pPr algn="r"/>
                      <a:endParaRPr lang="en-US" sz="2000" dirty="0"/>
                    </a:p>
                    <a:p>
                      <a:pPr algn="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algn="r"/>
                      <a:endParaRPr lang="en-US" sz="2000" dirty="0"/>
                    </a:p>
                    <a:p>
                      <a:pPr algn="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algn="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2000" dirty="0"/>
                    </a:p>
                    <a:p>
                      <a:pPr algn="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2000" dirty="0"/>
                    </a:p>
                  </a:txBody>
                  <a:tcPr/>
                </a:tc>
                <a:tc>
                  <a:txBody>
                    <a:bodyPr/>
                    <a:lstStyle/>
                    <a:p>
                      <a:pPr algn="r"/>
                      <a:endParaRPr lang="en-US" sz="2000" dirty="0"/>
                    </a:p>
                    <a:p>
                      <a:pPr algn="r"/>
                      <a:endParaRPr lang="en-US" sz="2000" dirty="0"/>
                    </a:p>
                    <a:p>
                      <a:pPr algn="r"/>
                      <a:endParaRPr lang="en-US" sz="2000" dirty="0"/>
                    </a:p>
                    <a:p>
                      <a:pPr algn="r"/>
                      <a:r>
                        <a:rPr lang="en-US" sz="2000" dirty="0"/>
                        <a:t>XXX</a:t>
                      </a:r>
                    </a:p>
                    <a:p>
                      <a:pPr algn="r"/>
                      <a:endParaRPr lang="en-US" sz="2000" dirty="0"/>
                    </a:p>
                    <a:p>
                      <a:pPr algn="r"/>
                      <a:endParaRPr lang="en-US" sz="2000" dirty="0"/>
                    </a:p>
                    <a:p>
                      <a:pPr algn="r"/>
                      <a:endParaRPr lang="en-US" sz="2000" dirty="0"/>
                    </a:p>
                    <a:p>
                      <a:pPr algn="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2000" dirty="0"/>
                    </a:p>
                    <a:p>
                      <a:pPr algn="r"/>
                      <a:endParaRPr lang="en-US" sz="2000" dirty="0"/>
                    </a:p>
                    <a:p>
                      <a:pPr algn="r"/>
                      <a:endParaRPr lang="en-US" sz="2000" dirty="0"/>
                    </a:p>
                    <a:p>
                      <a:pPr algn="r"/>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algn="r"/>
                      <a:endParaRPr lang="en-US" sz="2000" dirty="0"/>
                    </a:p>
                    <a:p>
                      <a:pPr algn="r"/>
                      <a:r>
                        <a:rPr lang="en-US" sz="2000" dirty="0"/>
                        <a:t>XXX</a:t>
                      </a:r>
                    </a:p>
                  </a:txBody>
                  <a:tcPr/>
                </a:tc>
                <a:extLst>
                  <a:ext uri="{0D108BD9-81ED-4DB2-BD59-A6C34878D82A}">
                    <a16:rowId xmlns:a16="http://schemas.microsoft.com/office/drawing/2014/main" val="356715822"/>
                  </a:ext>
                </a:extLst>
              </a:tr>
            </a:tbl>
          </a:graphicData>
        </a:graphic>
      </p:graphicFrame>
    </p:spTree>
    <p:extLst>
      <p:ext uri="{BB962C8B-B14F-4D97-AF65-F5344CB8AC3E}">
        <p14:creationId xmlns:p14="http://schemas.microsoft.com/office/powerpoint/2010/main" val="3074352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924BE3-5D30-3B47-5143-819BEA29A520}"/>
              </a:ext>
            </a:extLst>
          </p:cNvPr>
          <p:cNvSpPr>
            <a:spLocks noGrp="1"/>
          </p:cNvSpPr>
          <p:nvPr>
            <p:ph type="title" idx="4294967295"/>
          </p:nvPr>
        </p:nvSpPr>
        <p:spPr>
          <a:xfrm>
            <a:off x="0" y="0"/>
            <a:ext cx="12192000" cy="711200"/>
          </a:xfrm>
        </p:spPr>
        <p:txBody>
          <a:bodyPr>
            <a:normAutofit/>
          </a:bodyPr>
          <a:lstStyle/>
          <a:p>
            <a:pPr algn="ctr"/>
            <a:r>
              <a:rPr lang="en-US" sz="3400" dirty="0"/>
              <a:t>Dr.        </a:t>
            </a:r>
            <a:r>
              <a:rPr lang="en-US" sz="3400" b="1" dirty="0">
                <a:solidFill>
                  <a:srgbClr val="C00000"/>
                </a:solidFill>
              </a:rPr>
              <a:t>Profit and Loss Account of……for the year ended……</a:t>
            </a:r>
            <a:r>
              <a:rPr lang="en-US" sz="3400" dirty="0"/>
              <a:t>       Cr.</a:t>
            </a:r>
          </a:p>
        </p:txBody>
      </p:sp>
      <p:graphicFrame>
        <p:nvGraphicFramePr>
          <p:cNvPr id="4" name="Table 4">
            <a:extLst>
              <a:ext uri="{FF2B5EF4-FFF2-40B4-BE49-F238E27FC236}">
                <a16:creationId xmlns:a16="http://schemas.microsoft.com/office/drawing/2014/main" id="{B54C8D51-F1C5-B5DE-D5BF-471B356CE638}"/>
              </a:ext>
            </a:extLst>
          </p:cNvPr>
          <p:cNvGraphicFramePr>
            <a:graphicFrameLocks noGrp="1"/>
          </p:cNvGraphicFramePr>
          <p:nvPr>
            <p:ph idx="4294967295"/>
          </p:nvPr>
        </p:nvGraphicFramePr>
        <p:xfrm>
          <a:off x="574040" y="935826"/>
          <a:ext cx="9718536" cy="5364480"/>
        </p:xfrm>
        <a:graphic>
          <a:graphicData uri="http://schemas.openxmlformats.org/drawingml/2006/table">
            <a:tbl>
              <a:tblPr firstRow="1" bandRow="1">
                <a:tableStyleId>{5940675A-B579-460E-94D1-54222C63F5DA}</a:tableStyleId>
              </a:tblPr>
              <a:tblGrid>
                <a:gridCol w="3037755">
                  <a:extLst>
                    <a:ext uri="{9D8B030D-6E8A-4147-A177-3AD203B41FA5}">
                      <a16:colId xmlns:a16="http://schemas.microsoft.com/office/drawing/2014/main" val="3343977590"/>
                    </a:ext>
                  </a:extLst>
                </a:gridCol>
                <a:gridCol w="1237183">
                  <a:extLst>
                    <a:ext uri="{9D8B030D-6E8A-4147-A177-3AD203B41FA5}">
                      <a16:colId xmlns:a16="http://schemas.microsoft.com/office/drawing/2014/main" val="1102382723"/>
                    </a:ext>
                  </a:extLst>
                </a:gridCol>
                <a:gridCol w="1239131">
                  <a:extLst>
                    <a:ext uri="{9D8B030D-6E8A-4147-A177-3AD203B41FA5}">
                      <a16:colId xmlns:a16="http://schemas.microsoft.com/office/drawing/2014/main" val="1055174130"/>
                    </a:ext>
                  </a:extLst>
                </a:gridCol>
                <a:gridCol w="2141491">
                  <a:extLst>
                    <a:ext uri="{9D8B030D-6E8A-4147-A177-3AD203B41FA5}">
                      <a16:colId xmlns:a16="http://schemas.microsoft.com/office/drawing/2014/main" val="3837956293"/>
                    </a:ext>
                  </a:extLst>
                </a:gridCol>
                <a:gridCol w="1137424">
                  <a:extLst>
                    <a:ext uri="{9D8B030D-6E8A-4147-A177-3AD203B41FA5}">
                      <a16:colId xmlns:a16="http://schemas.microsoft.com/office/drawing/2014/main" val="1596165234"/>
                    </a:ext>
                  </a:extLst>
                </a:gridCol>
                <a:gridCol w="925552">
                  <a:extLst>
                    <a:ext uri="{9D8B030D-6E8A-4147-A177-3AD203B41FA5}">
                      <a16:colId xmlns:a16="http://schemas.microsoft.com/office/drawing/2014/main" val="252713967"/>
                    </a:ext>
                  </a:extLst>
                </a:gridCol>
              </a:tblGrid>
              <a:tr h="0">
                <a:tc>
                  <a:txBody>
                    <a:bodyPr/>
                    <a:lstStyle/>
                    <a:p>
                      <a:pPr algn="ctr"/>
                      <a:r>
                        <a:rPr lang="en-US" sz="2000" b="1" dirty="0"/>
                        <a:t>Particulars</a:t>
                      </a:r>
                    </a:p>
                  </a:txBody>
                  <a:tcPr/>
                </a:tc>
                <a:tc>
                  <a:txBody>
                    <a:bodyPr/>
                    <a:lstStyle/>
                    <a:p>
                      <a:pPr algn="ctr"/>
                      <a:r>
                        <a:rPr lang="en-IN" sz="2000" b="1" dirty="0"/>
                        <a:t>₹</a:t>
                      </a:r>
                      <a:endParaRPr lang="en-US" sz="2000" b="1" dirty="0"/>
                    </a:p>
                  </a:txBody>
                  <a:tcPr/>
                </a:tc>
                <a:tc>
                  <a:txBody>
                    <a:bodyPr/>
                    <a:lstStyle/>
                    <a:p>
                      <a:pPr algn="ctr"/>
                      <a:r>
                        <a:rPr lang="en-IN" sz="2000" b="1" dirty="0"/>
                        <a:t>₹</a:t>
                      </a:r>
                      <a:endParaRPr lang="en-US" sz="2000" b="1" dirty="0"/>
                    </a:p>
                  </a:txBody>
                  <a:tcPr/>
                </a:tc>
                <a:tc>
                  <a:txBody>
                    <a:bodyPr/>
                    <a:lstStyle/>
                    <a:p>
                      <a:pPr algn="ctr"/>
                      <a:r>
                        <a:rPr lang="en-US" sz="2000" b="1" dirty="0"/>
                        <a:t>Particulars</a:t>
                      </a:r>
                    </a:p>
                  </a:txBody>
                  <a:tcPr/>
                </a:tc>
                <a:tc>
                  <a:txBody>
                    <a:bodyPr/>
                    <a:lstStyle/>
                    <a:p>
                      <a:pPr algn="ctr"/>
                      <a:r>
                        <a:rPr lang="en-IN" sz="2000" b="1" dirty="0"/>
                        <a:t>₹</a:t>
                      </a:r>
                      <a:endParaRPr lang="en-US" sz="2000" b="1" dirty="0"/>
                    </a:p>
                  </a:txBody>
                  <a:tcPr/>
                </a:tc>
                <a:tc>
                  <a:txBody>
                    <a:bodyPr/>
                    <a:lstStyle/>
                    <a:p>
                      <a:pPr algn="ctr"/>
                      <a:r>
                        <a:rPr lang="en-IN" sz="2000" b="1" dirty="0"/>
                        <a:t>₹</a:t>
                      </a:r>
                      <a:endParaRPr lang="en-US" sz="2000" b="1" dirty="0"/>
                    </a:p>
                  </a:txBody>
                  <a:tcPr/>
                </a:tc>
                <a:extLst>
                  <a:ext uri="{0D108BD9-81ED-4DB2-BD59-A6C34878D82A}">
                    <a16:rowId xmlns:a16="http://schemas.microsoft.com/office/drawing/2014/main" val="3954651688"/>
                  </a:ext>
                </a:extLst>
              </a:tr>
              <a:tr h="3431348">
                <a:tc>
                  <a:txBody>
                    <a:bodyPr/>
                    <a:lstStyle/>
                    <a:p>
                      <a:r>
                        <a:rPr lang="en-US" sz="2000" b="1" dirty="0"/>
                        <a:t>Maintenance expenses</a:t>
                      </a:r>
                    </a:p>
                    <a:p>
                      <a:r>
                        <a:rPr lang="en-US" sz="2000" dirty="0"/>
                        <a:t>To Repairs &amp; renewals</a:t>
                      </a:r>
                    </a:p>
                    <a:p>
                      <a:r>
                        <a:rPr lang="en-US" sz="2000" dirty="0"/>
                        <a:t>To Depreciation on:</a:t>
                      </a:r>
                    </a:p>
                    <a:p>
                      <a:r>
                        <a:rPr lang="en-US" sz="2000" dirty="0"/>
                        <a:t>      Office Equipment</a:t>
                      </a:r>
                    </a:p>
                    <a:p>
                      <a:r>
                        <a:rPr lang="en-US" sz="2000" dirty="0"/>
                        <a:t>      Office Furniture</a:t>
                      </a:r>
                    </a:p>
                    <a:p>
                      <a:r>
                        <a:rPr lang="en-US" sz="2000" dirty="0"/>
                        <a:t>      Office Buildings</a:t>
                      </a:r>
                      <a:endParaRPr lang="en-US" sz="2000" b="1" dirty="0"/>
                    </a:p>
                    <a:p>
                      <a:r>
                        <a:rPr lang="en-US" sz="2000" b="1" dirty="0"/>
                        <a:t>Selling and Distribution expenses</a:t>
                      </a:r>
                    </a:p>
                    <a:p>
                      <a:pPr marL="0" indent="287338"/>
                      <a:r>
                        <a:rPr lang="en-US" sz="2000" b="0" dirty="0"/>
                        <a:t>To Salaries (selling staff)</a:t>
                      </a:r>
                    </a:p>
                    <a:p>
                      <a:pPr marL="0" indent="287338"/>
                      <a:r>
                        <a:rPr lang="en-US" sz="2000" b="0" dirty="0"/>
                        <a:t>To Advertisement</a:t>
                      </a:r>
                    </a:p>
                    <a:p>
                      <a:pPr marL="0" indent="287338"/>
                      <a:r>
                        <a:rPr lang="en-US" sz="2000" b="0" dirty="0"/>
                        <a:t>To Godown rent</a:t>
                      </a:r>
                    </a:p>
                    <a:p>
                      <a:pPr marL="0" indent="287338"/>
                      <a:r>
                        <a:rPr lang="en-US" sz="2000" b="0" dirty="0"/>
                        <a:t>To Carriage Outward</a:t>
                      </a:r>
                    </a:p>
                    <a:p>
                      <a:pPr marL="0" indent="287338"/>
                      <a:r>
                        <a:rPr lang="en-US" sz="2000" b="0" dirty="0"/>
                        <a:t>To Bad Debts</a:t>
                      </a:r>
                    </a:p>
                    <a:p>
                      <a:pPr marL="287338" indent="0"/>
                      <a:r>
                        <a:rPr lang="en-US" sz="2000" b="0" dirty="0"/>
                        <a:t>To Provision for bad debts</a:t>
                      </a:r>
                    </a:p>
                    <a:p>
                      <a:pPr marL="0" indent="287338"/>
                      <a:r>
                        <a:rPr lang="en-US" sz="2000" b="0" dirty="0"/>
                        <a:t>To Selling commission</a:t>
                      </a:r>
                    </a:p>
                  </a:txBody>
                  <a:tcPr/>
                </a:tc>
                <a:tc>
                  <a:txBody>
                    <a:bodyPr/>
                    <a:lstStyle/>
                    <a:p>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  </a:t>
                      </a:r>
                    </a:p>
                    <a:p>
                      <a:pPr algn="r"/>
                      <a:endParaRPr lang="en-US" sz="2000" dirty="0"/>
                    </a:p>
                    <a:p>
                      <a:pPr algn="r"/>
                      <a:r>
                        <a:rPr lang="en-US" sz="2000" dirty="0"/>
                        <a:t>XXX</a:t>
                      </a:r>
                    </a:p>
                    <a:p>
                      <a:pPr algn="r"/>
                      <a:r>
                        <a:rPr lang="en-US" sz="2000" dirty="0"/>
                        <a:t>XXX</a:t>
                      </a:r>
                    </a:p>
                    <a:p>
                      <a:pPr algn="r"/>
                      <a:r>
                        <a:rPr lang="en-US" sz="2000" dirty="0"/>
                        <a:t>XXX</a:t>
                      </a:r>
                    </a:p>
                    <a:p>
                      <a:pPr algn="r"/>
                      <a:endParaRPr lang="en-US" sz="2000" dirty="0"/>
                    </a:p>
                    <a:p>
                      <a:pPr algn="r"/>
                      <a:endParaRPr lang="en-US" sz="2000" dirty="0"/>
                    </a:p>
                    <a:p>
                      <a:pPr algn="r"/>
                      <a:r>
                        <a:rPr lang="en-US" sz="2000" dirty="0"/>
                        <a:t>XXX</a:t>
                      </a:r>
                    </a:p>
                    <a:p>
                      <a:pPr algn="r"/>
                      <a:r>
                        <a:rPr lang="en-US" sz="2000" dirty="0"/>
                        <a:t>XXX</a:t>
                      </a:r>
                    </a:p>
                    <a:p>
                      <a:pPr algn="r"/>
                      <a:r>
                        <a:rPr lang="en-US" sz="2000" dirty="0"/>
                        <a:t>XXX</a:t>
                      </a:r>
                    </a:p>
                    <a:p>
                      <a:pPr algn="r"/>
                      <a:r>
                        <a:rPr lang="en-US" sz="2000" dirty="0"/>
                        <a:t>XXX</a:t>
                      </a:r>
                    </a:p>
                    <a:p>
                      <a:pPr algn="r"/>
                      <a:r>
                        <a:rPr lang="en-US" sz="2000" dirty="0"/>
                        <a:t> XXX</a:t>
                      </a:r>
                    </a:p>
                    <a:p>
                      <a:pPr algn="r"/>
                      <a:r>
                        <a:rPr lang="en-US" sz="2000" dirty="0"/>
                        <a:t> XXX</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txBody>
                  <a:tcPr/>
                </a:tc>
                <a:tc>
                  <a:txBody>
                    <a:bodyPr/>
                    <a:lstStyle/>
                    <a:p>
                      <a:pPr algn="r"/>
                      <a:r>
                        <a:rPr lang="en-US" sz="2000" dirty="0"/>
                        <a:t>   </a:t>
                      </a:r>
                    </a:p>
                    <a:p>
                      <a:pPr algn="r"/>
                      <a:endParaRPr lang="en-US" sz="2000" dirty="0"/>
                    </a:p>
                    <a:p>
                      <a:pPr algn="r"/>
                      <a:r>
                        <a:rPr lang="en-US" sz="2000" dirty="0"/>
                        <a:t>    </a:t>
                      </a:r>
                    </a:p>
                    <a:p>
                      <a:pPr algn="r"/>
                      <a:endParaRPr lang="en-US" sz="2000" dirty="0"/>
                    </a:p>
                    <a:p>
                      <a:pPr algn="r"/>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r>
                        <a:rPr lang="en-US" sz="2000" dirty="0"/>
                        <a:t>XXX</a:t>
                      </a:r>
                    </a:p>
                  </a:txBody>
                  <a:tcPr/>
                </a:tc>
                <a:tc>
                  <a:txBody>
                    <a:bodyPr/>
                    <a:lstStyle/>
                    <a:p>
                      <a:endParaRPr lang="en-US" sz="2000" dirty="0"/>
                    </a:p>
                  </a:txBody>
                  <a:tcPr/>
                </a:tc>
                <a:tc>
                  <a:txBody>
                    <a:bodyPr/>
                    <a:lstStyle/>
                    <a:p>
                      <a:pPr algn="r"/>
                      <a:endParaRPr lang="en-US" sz="2000" dirty="0"/>
                    </a:p>
                  </a:txBody>
                  <a:tcPr/>
                </a:tc>
                <a:tc>
                  <a:txBody>
                    <a:bodyPr/>
                    <a:lstStyle/>
                    <a:p>
                      <a:pPr algn="r"/>
                      <a:endParaRPr lang="en-US" sz="2000" dirty="0"/>
                    </a:p>
                  </a:txBody>
                  <a:tcPr/>
                </a:tc>
                <a:extLst>
                  <a:ext uri="{0D108BD9-81ED-4DB2-BD59-A6C34878D82A}">
                    <a16:rowId xmlns:a16="http://schemas.microsoft.com/office/drawing/2014/main" val="356715822"/>
                  </a:ext>
                </a:extLst>
              </a:tr>
            </a:tbl>
          </a:graphicData>
        </a:graphic>
      </p:graphicFrame>
    </p:spTree>
    <p:extLst>
      <p:ext uri="{BB962C8B-B14F-4D97-AF65-F5344CB8AC3E}">
        <p14:creationId xmlns:p14="http://schemas.microsoft.com/office/powerpoint/2010/main" val="3964506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924BE3-5D30-3B47-5143-819BEA29A520}"/>
              </a:ext>
            </a:extLst>
          </p:cNvPr>
          <p:cNvSpPr>
            <a:spLocks noGrp="1"/>
          </p:cNvSpPr>
          <p:nvPr>
            <p:ph type="title" idx="4294967295"/>
          </p:nvPr>
        </p:nvSpPr>
        <p:spPr>
          <a:xfrm>
            <a:off x="0" y="0"/>
            <a:ext cx="12192000" cy="711200"/>
          </a:xfrm>
        </p:spPr>
        <p:txBody>
          <a:bodyPr>
            <a:normAutofit/>
          </a:bodyPr>
          <a:lstStyle/>
          <a:p>
            <a:pPr algn="ctr"/>
            <a:r>
              <a:rPr lang="en-US" sz="3400" dirty="0"/>
              <a:t>Dr.        </a:t>
            </a:r>
            <a:r>
              <a:rPr lang="en-US" sz="3400" b="1" dirty="0">
                <a:solidFill>
                  <a:srgbClr val="C00000"/>
                </a:solidFill>
              </a:rPr>
              <a:t>Profit and Loss Account of……for the year ended……</a:t>
            </a:r>
            <a:r>
              <a:rPr lang="en-US" sz="3400" dirty="0"/>
              <a:t>       Cr.</a:t>
            </a:r>
          </a:p>
        </p:txBody>
      </p:sp>
      <p:graphicFrame>
        <p:nvGraphicFramePr>
          <p:cNvPr id="4" name="Table 4">
            <a:extLst>
              <a:ext uri="{FF2B5EF4-FFF2-40B4-BE49-F238E27FC236}">
                <a16:creationId xmlns:a16="http://schemas.microsoft.com/office/drawing/2014/main" id="{B54C8D51-F1C5-B5DE-D5BF-471B356CE638}"/>
              </a:ext>
            </a:extLst>
          </p:cNvPr>
          <p:cNvGraphicFramePr>
            <a:graphicFrameLocks noGrp="1"/>
          </p:cNvGraphicFramePr>
          <p:nvPr>
            <p:ph idx="4294967295"/>
          </p:nvPr>
        </p:nvGraphicFramePr>
        <p:xfrm>
          <a:off x="579120" y="899160"/>
          <a:ext cx="11043920" cy="5059680"/>
        </p:xfrm>
        <a:graphic>
          <a:graphicData uri="http://schemas.openxmlformats.org/drawingml/2006/table">
            <a:tbl>
              <a:tblPr firstRow="1" bandRow="1">
                <a:tableStyleId>{5940675A-B579-460E-94D1-54222C63F5DA}</a:tableStyleId>
              </a:tblPr>
              <a:tblGrid>
                <a:gridCol w="3037755">
                  <a:extLst>
                    <a:ext uri="{9D8B030D-6E8A-4147-A177-3AD203B41FA5}">
                      <a16:colId xmlns:a16="http://schemas.microsoft.com/office/drawing/2014/main" val="3343977590"/>
                    </a:ext>
                  </a:extLst>
                </a:gridCol>
                <a:gridCol w="1237183">
                  <a:extLst>
                    <a:ext uri="{9D8B030D-6E8A-4147-A177-3AD203B41FA5}">
                      <a16:colId xmlns:a16="http://schemas.microsoft.com/office/drawing/2014/main" val="1102382723"/>
                    </a:ext>
                  </a:extLst>
                </a:gridCol>
                <a:gridCol w="1239131">
                  <a:extLst>
                    <a:ext uri="{9D8B030D-6E8A-4147-A177-3AD203B41FA5}">
                      <a16:colId xmlns:a16="http://schemas.microsoft.com/office/drawing/2014/main" val="1055174130"/>
                    </a:ext>
                  </a:extLst>
                </a:gridCol>
                <a:gridCol w="3162960">
                  <a:extLst>
                    <a:ext uri="{9D8B030D-6E8A-4147-A177-3AD203B41FA5}">
                      <a16:colId xmlns:a16="http://schemas.microsoft.com/office/drawing/2014/main" val="3837956293"/>
                    </a:ext>
                  </a:extLst>
                </a:gridCol>
                <a:gridCol w="1183244">
                  <a:extLst>
                    <a:ext uri="{9D8B030D-6E8A-4147-A177-3AD203B41FA5}">
                      <a16:colId xmlns:a16="http://schemas.microsoft.com/office/drawing/2014/main" val="1596165234"/>
                    </a:ext>
                  </a:extLst>
                </a:gridCol>
                <a:gridCol w="1183647">
                  <a:extLst>
                    <a:ext uri="{9D8B030D-6E8A-4147-A177-3AD203B41FA5}">
                      <a16:colId xmlns:a16="http://schemas.microsoft.com/office/drawing/2014/main" val="252713967"/>
                    </a:ext>
                  </a:extLst>
                </a:gridCol>
              </a:tblGrid>
              <a:tr h="0">
                <a:tc>
                  <a:txBody>
                    <a:bodyPr/>
                    <a:lstStyle/>
                    <a:p>
                      <a:pPr algn="ctr"/>
                      <a:r>
                        <a:rPr lang="en-US" sz="2000" b="1" dirty="0"/>
                        <a:t>Particulars</a:t>
                      </a:r>
                    </a:p>
                  </a:txBody>
                  <a:tcPr/>
                </a:tc>
                <a:tc>
                  <a:txBody>
                    <a:bodyPr/>
                    <a:lstStyle/>
                    <a:p>
                      <a:pPr algn="ctr"/>
                      <a:r>
                        <a:rPr lang="en-IN" sz="2000" b="1" dirty="0"/>
                        <a:t>₹</a:t>
                      </a:r>
                      <a:endParaRPr lang="en-US" sz="2000" b="1" dirty="0"/>
                    </a:p>
                  </a:txBody>
                  <a:tcPr/>
                </a:tc>
                <a:tc>
                  <a:txBody>
                    <a:bodyPr/>
                    <a:lstStyle/>
                    <a:p>
                      <a:pPr algn="ctr"/>
                      <a:r>
                        <a:rPr lang="en-IN" sz="2000" b="1" dirty="0"/>
                        <a:t>₹</a:t>
                      </a:r>
                      <a:endParaRPr lang="en-US" sz="2000" b="1" dirty="0"/>
                    </a:p>
                  </a:txBody>
                  <a:tcPr/>
                </a:tc>
                <a:tc>
                  <a:txBody>
                    <a:bodyPr/>
                    <a:lstStyle/>
                    <a:p>
                      <a:pPr algn="ctr"/>
                      <a:r>
                        <a:rPr lang="en-US" sz="2000" b="1" dirty="0"/>
                        <a:t>Particulars</a:t>
                      </a:r>
                    </a:p>
                  </a:txBody>
                  <a:tcPr/>
                </a:tc>
                <a:tc>
                  <a:txBody>
                    <a:bodyPr/>
                    <a:lstStyle/>
                    <a:p>
                      <a:pPr algn="ctr"/>
                      <a:r>
                        <a:rPr lang="en-IN" sz="2000" b="1" dirty="0"/>
                        <a:t>₹</a:t>
                      </a:r>
                      <a:endParaRPr lang="en-US" sz="2000" b="1" dirty="0"/>
                    </a:p>
                  </a:txBody>
                  <a:tcPr/>
                </a:tc>
                <a:tc>
                  <a:txBody>
                    <a:bodyPr/>
                    <a:lstStyle/>
                    <a:p>
                      <a:pPr algn="ctr"/>
                      <a:r>
                        <a:rPr lang="en-IN" sz="2000" b="1" dirty="0"/>
                        <a:t>₹</a:t>
                      </a:r>
                      <a:endParaRPr lang="en-US" sz="2000" b="1" dirty="0"/>
                    </a:p>
                  </a:txBody>
                  <a:tcPr/>
                </a:tc>
                <a:extLst>
                  <a:ext uri="{0D108BD9-81ED-4DB2-BD59-A6C34878D82A}">
                    <a16:rowId xmlns:a16="http://schemas.microsoft.com/office/drawing/2014/main" val="3954651688"/>
                  </a:ext>
                </a:extLst>
              </a:tr>
              <a:tr h="3431348">
                <a:tc>
                  <a:txBody>
                    <a:bodyPr/>
                    <a:lstStyle/>
                    <a:p>
                      <a:r>
                        <a:rPr lang="en-US" sz="2000" b="1" dirty="0"/>
                        <a:t>Financial expenses</a:t>
                      </a:r>
                    </a:p>
                    <a:p>
                      <a:pPr marL="0" indent="233363"/>
                      <a:r>
                        <a:rPr lang="en-US" sz="2000" dirty="0"/>
                        <a:t>To Bank charges</a:t>
                      </a:r>
                    </a:p>
                    <a:p>
                      <a:pPr marL="0" indent="233363"/>
                      <a:r>
                        <a:rPr lang="en-US" sz="2000" dirty="0"/>
                        <a:t>To Interest on loans</a:t>
                      </a:r>
                    </a:p>
                    <a:p>
                      <a:pPr marL="0" indent="233363"/>
                      <a:r>
                        <a:rPr lang="en-US" sz="2000" dirty="0"/>
                        <a:t>To Discount on bills</a:t>
                      </a:r>
                    </a:p>
                    <a:p>
                      <a:pPr marL="233363" indent="0"/>
                      <a:r>
                        <a:rPr lang="en-US" sz="2000" dirty="0"/>
                        <a:t>To discount allowed to customers</a:t>
                      </a:r>
                    </a:p>
                    <a:p>
                      <a:r>
                        <a:rPr lang="en-US" sz="2000" b="1" dirty="0"/>
                        <a:t>Abnormal Losses</a:t>
                      </a:r>
                    </a:p>
                    <a:p>
                      <a:pPr marL="287338" indent="0"/>
                      <a:r>
                        <a:rPr lang="en-US" sz="2000" b="0" dirty="0"/>
                        <a:t>To Loss on sale of machinery</a:t>
                      </a:r>
                    </a:p>
                    <a:p>
                      <a:pPr marL="287338" indent="0"/>
                      <a:r>
                        <a:rPr lang="en-US" sz="2000" b="0" dirty="0"/>
                        <a:t>To Loss on sale of investment</a:t>
                      </a:r>
                    </a:p>
                    <a:p>
                      <a:pPr marL="0" indent="287338"/>
                      <a:r>
                        <a:rPr lang="en-US" sz="2000" b="0" dirty="0"/>
                        <a:t>To Loss by fire</a:t>
                      </a:r>
                    </a:p>
                    <a:p>
                      <a:r>
                        <a:rPr lang="en-US" sz="2000" b="1" dirty="0"/>
                        <a:t>To Net Profit</a:t>
                      </a:r>
                    </a:p>
                    <a:p>
                      <a:r>
                        <a:rPr lang="en-US" sz="2000" b="1" dirty="0"/>
                        <a:t>(Transferred to Capital A/c)</a:t>
                      </a:r>
                    </a:p>
                  </a:txBody>
                  <a:tcPr/>
                </a:tc>
                <a:tc>
                  <a:txBody>
                    <a:bodyPr/>
                    <a:lstStyle/>
                    <a:p>
                      <a:endParaRPr lang="en-US" sz="2000" dirty="0"/>
                    </a:p>
                    <a:p>
                      <a:pPr algn="r"/>
                      <a:r>
                        <a:rPr lang="en-US" sz="2000" dirty="0"/>
                        <a:t>XXX</a:t>
                      </a:r>
                    </a:p>
                    <a:p>
                      <a:pPr algn="r"/>
                      <a:r>
                        <a:rPr lang="en-US" sz="2000" dirty="0"/>
                        <a:t>XXX</a:t>
                      </a:r>
                    </a:p>
                    <a:p>
                      <a:pPr algn="r"/>
                      <a:r>
                        <a:rPr lang="en-US" sz="2000" dirty="0"/>
                        <a:t>XXX</a:t>
                      </a:r>
                    </a:p>
                    <a:p>
                      <a:pPr algn="r"/>
                      <a:endParaRPr lang="en-US" sz="2000" dirty="0"/>
                    </a:p>
                    <a:p>
                      <a:pPr algn="r"/>
                      <a:r>
                        <a:rPr lang="en-US" sz="2000" dirty="0"/>
                        <a:t>XXX</a:t>
                      </a:r>
                    </a:p>
                    <a:p>
                      <a:pPr algn="r"/>
                      <a:endParaRPr lang="en-US" sz="2000" dirty="0"/>
                    </a:p>
                    <a:p>
                      <a:pPr algn="r"/>
                      <a:endParaRPr lang="en-US" sz="2000" dirty="0"/>
                    </a:p>
                    <a:p>
                      <a:pPr algn="r"/>
                      <a:r>
                        <a:rPr lang="en-US" sz="2000" dirty="0"/>
                        <a:t>XXX</a:t>
                      </a:r>
                    </a:p>
                    <a:p>
                      <a:pPr algn="r"/>
                      <a:endParaRPr lang="en-US" sz="2000" dirty="0"/>
                    </a:p>
                    <a:p>
                      <a:pPr algn="r"/>
                      <a:r>
                        <a:rPr lang="en-US" sz="2000" dirty="0"/>
                        <a:t>XXX</a:t>
                      </a:r>
                    </a:p>
                    <a:p>
                      <a:pPr algn="r"/>
                      <a:r>
                        <a:rPr lang="en-US" sz="2000" dirty="0"/>
                        <a:t>XXX</a:t>
                      </a:r>
                    </a:p>
                    <a:p>
                      <a:pPr algn="r"/>
                      <a:r>
                        <a:rPr lang="en-US" sz="2000" dirty="0"/>
                        <a:t> </a:t>
                      </a:r>
                    </a:p>
                  </a:txBody>
                  <a:tcPr/>
                </a:tc>
                <a:tc>
                  <a:txBody>
                    <a:bodyPr/>
                    <a:lstStyle/>
                    <a:p>
                      <a:pPr algn="r"/>
                      <a:r>
                        <a:rPr lang="en-US" sz="2000" dirty="0"/>
                        <a:t>   </a:t>
                      </a:r>
                    </a:p>
                    <a:p>
                      <a:pPr algn="r"/>
                      <a:endParaRPr lang="en-US" sz="2000" dirty="0"/>
                    </a:p>
                    <a:p>
                      <a:pPr algn="r"/>
                      <a:r>
                        <a:rPr lang="en-US" sz="2000" dirty="0"/>
                        <a:t>    </a:t>
                      </a:r>
                    </a:p>
                    <a:p>
                      <a:pPr algn="r"/>
                      <a:endParaRPr lang="en-US" sz="2000" dirty="0"/>
                    </a:p>
                    <a:p>
                      <a:pPr algn="r"/>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r>
                        <a:rPr lang="en-US" sz="2000" dirty="0"/>
                        <a:t>XXX</a:t>
                      </a:r>
                    </a:p>
                    <a:p>
                      <a:pPr algn="r"/>
                      <a:r>
                        <a:rPr lang="en-US" sz="2000" dirty="0"/>
                        <a:t>XXX</a:t>
                      </a:r>
                    </a:p>
                  </a:txBody>
                  <a:tcPr/>
                </a:tc>
                <a:tc>
                  <a:txBody>
                    <a:bodyPr/>
                    <a:lstStyle/>
                    <a:p>
                      <a:endParaRPr lang="en-US" sz="2000" dirty="0"/>
                    </a:p>
                  </a:txBody>
                  <a:tcPr/>
                </a:tc>
                <a:tc>
                  <a:txBody>
                    <a:bodyPr/>
                    <a:lstStyle/>
                    <a:p>
                      <a:pPr algn="r"/>
                      <a:endParaRPr lang="en-US" sz="2000" dirty="0"/>
                    </a:p>
                  </a:txBody>
                  <a:tcPr/>
                </a:tc>
                <a:tc>
                  <a:txBody>
                    <a:bodyPr/>
                    <a:lstStyle/>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r>
                        <a:rPr lang="en-US" sz="2000" dirty="0"/>
                        <a:t>XXX</a:t>
                      </a:r>
                    </a:p>
                  </a:txBody>
                  <a:tcPr/>
                </a:tc>
                <a:extLst>
                  <a:ext uri="{0D108BD9-81ED-4DB2-BD59-A6C34878D82A}">
                    <a16:rowId xmlns:a16="http://schemas.microsoft.com/office/drawing/2014/main" val="356715822"/>
                  </a:ext>
                </a:extLst>
              </a:tr>
            </a:tbl>
          </a:graphicData>
        </a:graphic>
      </p:graphicFrame>
      <p:cxnSp>
        <p:nvCxnSpPr>
          <p:cNvPr id="2" name="Straight Connector 1">
            <a:extLst>
              <a:ext uri="{FF2B5EF4-FFF2-40B4-BE49-F238E27FC236}">
                <a16:creationId xmlns:a16="http://schemas.microsoft.com/office/drawing/2014/main" id="{6D3631D6-A491-81A3-807B-BC158F2B6795}"/>
              </a:ext>
            </a:extLst>
          </p:cNvPr>
          <p:cNvCxnSpPr>
            <a:cxnSpLocks/>
          </p:cNvCxnSpPr>
          <p:nvPr/>
        </p:nvCxnSpPr>
        <p:spPr>
          <a:xfrm>
            <a:off x="3601971" y="5337169"/>
            <a:ext cx="2494029"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C86BC907-8A2F-B207-8629-F5D6C084F733}"/>
              </a:ext>
            </a:extLst>
          </p:cNvPr>
          <p:cNvCxnSpPr>
            <a:cxnSpLocks/>
          </p:cNvCxnSpPr>
          <p:nvPr/>
        </p:nvCxnSpPr>
        <p:spPr>
          <a:xfrm>
            <a:off x="9230611" y="5320018"/>
            <a:ext cx="2392429"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731518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B136A5-C21D-62EB-BD75-BB8875099604}"/>
              </a:ext>
            </a:extLst>
          </p:cNvPr>
          <p:cNvSpPr>
            <a:spLocks noGrp="1"/>
          </p:cNvSpPr>
          <p:nvPr>
            <p:ph idx="1"/>
          </p:nvPr>
        </p:nvSpPr>
        <p:spPr/>
        <p:txBody>
          <a:bodyPr/>
          <a:lstStyle/>
          <a:p>
            <a:pPr>
              <a:lnSpc>
                <a:spcPct val="100000"/>
              </a:lnSpc>
            </a:pPr>
            <a:r>
              <a:rPr lang="en-US" dirty="0"/>
              <a:t>The balance sheet may be defined as </a:t>
            </a:r>
            <a:r>
              <a:rPr lang="en-US" b="1" dirty="0">
                <a:solidFill>
                  <a:srgbClr val="C00000"/>
                </a:solidFill>
              </a:rPr>
              <a:t>“a statement which sets out the assets and liabilities of a firm or an institution as at a certain date.” </a:t>
            </a:r>
          </a:p>
          <a:p>
            <a:pPr>
              <a:lnSpc>
                <a:spcPct val="100000"/>
              </a:lnSpc>
            </a:pPr>
            <a:r>
              <a:rPr lang="en-US" dirty="0"/>
              <a:t>It is called a Balance Sheet because it is a sheet of balances of those ledger accounts </a:t>
            </a:r>
          </a:p>
          <a:p>
            <a:pPr lvl="1">
              <a:lnSpc>
                <a:spcPct val="100000"/>
              </a:lnSpc>
            </a:pPr>
            <a:r>
              <a:rPr lang="en-US" dirty="0"/>
              <a:t>which have not been closed till the preparation of the Trading and Profit and Loss Account.</a:t>
            </a:r>
          </a:p>
          <a:p>
            <a:pPr>
              <a:lnSpc>
                <a:spcPct val="100000"/>
              </a:lnSpc>
            </a:pPr>
            <a:r>
              <a:rPr lang="en-US" dirty="0"/>
              <a:t>Since even a single transaction will make a difference to some of the assets or liabilities, the balance sheet is true only at a particular point of time. </a:t>
            </a:r>
          </a:p>
          <a:p>
            <a:pPr>
              <a:lnSpc>
                <a:spcPct val="100000"/>
              </a:lnSpc>
            </a:pPr>
            <a:r>
              <a:rPr lang="en-US" dirty="0"/>
              <a:t>That is the significance of the word “as at.” </a:t>
            </a:r>
          </a:p>
          <a:p>
            <a:pPr>
              <a:lnSpc>
                <a:spcPct val="100000"/>
              </a:lnSpc>
            </a:pPr>
            <a:r>
              <a:rPr lang="en-US" b="1" dirty="0">
                <a:solidFill>
                  <a:srgbClr val="C00000"/>
                </a:solidFill>
              </a:rPr>
              <a:t>The assets are shown on the right-hand side and liabilities and capital on the left-hand side. </a:t>
            </a:r>
          </a:p>
        </p:txBody>
      </p:sp>
      <p:sp>
        <p:nvSpPr>
          <p:cNvPr id="3" name="Title 2">
            <a:extLst>
              <a:ext uri="{FF2B5EF4-FFF2-40B4-BE49-F238E27FC236}">
                <a16:creationId xmlns:a16="http://schemas.microsoft.com/office/drawing/2014/main" id="{C383EC2A-A22E-F673-5C8E-98A88EFB0AC2}"/>
              </a:ext>
            </a:extLst>
          </p:cNvPr>
          <p:cNvSpPr>
            <a:spLocks noGrp="1"/>
          </p:cNvSpPr>
          <p:nvPr>
            <p:ph type="title"/>
          </p:nvPr>
        </p:nvSpPr>
        <p:spPr/>
        <p:txBody>
          <a:bodyPr/>
          <a:lstStyle/>
          <a:p>
            <a:r>
              <a:rPr lang="en-US" dirty="0"/>
              <a:t>Balance Sheet</a:t>
            </a:r>
          </a:p>
        </p:txBody>
      </p:sp>
    </p:spTree>
    <p:extLst>
      <p:ext uri="{BB962C8B-B14F-4D97-AF65-F5344CB8AC3E}">
        <p14:creationId xmlns:p14="http://schemas.microsoft.com/office/powerpoint/2010/main" val="222042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EA676D-2D74-FA71-7783-49A57AE2506E}"/>
              </a:ext>
            </a:extLst>
          </p:cNvPr>
          <p:cNvSpPr>
            <a:spLocks noGrp="1"/>
          </p:cNvSpPr>
          <p:nvPr>
            <p:ph idx="1"/>
          </p:nvPr>
        </p:nvSpPr>
        <p:spPr/>
        <p:txBody>
          <a:bodyPr/>
          <a:lstStyle/>
          <a:p>
            <a:pPr>
              <a:lnSpc>
                <a:spcPct val="100000"/>
              </a:lnSpc>
            </a:pPr>
            <a:r>
              <a:rPr lang="en-US" sz="2700" dirty="0"/>
              <a:t>It is </a:t>
            </a:r>
            <a:r>
              <a:rPr lang="en-US" sz="2700" b="1" dirty="0">
                <a:solidFill>
                  <a:srgbClr val="C00000"/>
                </a:solidFill>
              </a:rPr>
              <a:t>prepared at a particular date</a:t>
            </a:r>
            <a:r>
              <a:rPr lang="en-US" sz="2700" dirty="0"/>
              <a:t>, rather the close of a day and not for a period. It is true only on that date and not later. </a:t>
            </a:r>
          </a:p>
          <a:p>
            <a:pPr>
              <a:lnSpc>
                <a:spcPct val="100000"/>
              </a:lnSpc>
            </a:pPr>
            <a:r>
              <a:rPr lang="en-US" sz="2700" dirty="0"/>
              <a:t>The balance sheet is </a:t>
            </a:r>
            <a:r>
              <a:rPr lang="en-US" sz="2700" b="1" dirty="0">
                <a:solidFill>
                  <a:srgbClr val="C00000"/>
                </a:solidFill>
              </a:rPr>
              <a:t>prepared only after the preparation of the Profit and Loss Account</a:t>
            </a:r>
            <a:r>
              <a:rPr lang="en-US" sz="2700" dirty="0"/>
              <a:t>. </a:t>
            </a:r>
          </a:p>
          <a:p>
            <a:pPr>
              <a:lnSpc>
                <a:spcPct val="100000"/>
              </a:lnSpc>
            </a:pPr>
            <a:r>
              <a:rPr lang="en-US" sz="2700" dirty="0"/>
              <a:t>This is the reason why the Profit and Loss Account (including the Trading Account) and the Balance Sheet are together called Final Accounts.</a:t>
            </a:r>
          </a:p>
          <a:p>
            <a:pPr>
              <a:lnSpc>
                <a:spcPct val="100000"/>
              </a:lnSpc>
            </a:pPr>
            <a:r>
              <a:rPr lang="en-US" sz="2700" b="1" dirty="0">
                <a:solidFill>
                  <a:srgbClr val="C00000"/>
                </a:solidFill>
              </a:rPr>
              <a:t>A Balance Sheet is only a statement and not an account. It has no debit side or credit side. The headings of the two sides are ‘Assets’ and ‘Liabilities’.</a:t>
            </a:r>
          </a:p>
          <a:p>
            <a:pPr>
              <a:lnSpc>
                <a:spcPct val="100000"/>
              </a:lnSpc>
            </a:pPr>
            <a:r>
              <a:rPr lang="en-US" sz="2700" dirty="0"/>
              <a:t>Capital always equals the difference between assets and liabilities.</a:t>
            </a:r>
          </a:p>
          <a:p>
            <a:pPr>
              <a:lnSpc>
                <a:spcPct val="100000"/>
              </a:lnSpc>
            </a:pPr>
            <a:r>
              <a:rPr lang="en-US" sz="2700" dirty="0"/>
              <a:t>The </a:t>
            </a:r>
            <a:r>
              <a:rPr lang="en-US" sz="2700" b="1" dirty="0">
                <a:solidFill>
                  <a:srgbClr val="C00000"/>
                </a:solidFill>
              </a:rPr>
              <a:t>two sides of the Balance Sheet must have the same totals</a:t>
            </a:r>
            <a:r>
              <a:rPr lang="en-US" sz="2700" dirty="0"/>
              <a:t>.</a:t>
            </a:r>
          </a:p>
          <a:p>
            <a:pPr lvl="1">
              <a:lnSpc>
                <a:spcPct val="100000"/>
              </a:lnSpc>
            </a:pPr>
            <a:r>
              <a:rPr lang="en-US" sz="2500" dirty="0"/>
              <a:t>If it is not so, there is certainly an error somewhere. </a:t>
            </a:r>
          </a:p>
        </p:txBody>
      </p:sp>
      <p:sp>
        <p:nvSpPr>
          <p:cNvPr id="3" name="Title 2">
            <a:extLst>
              <a:ext uri="{FF2B5EF4-FFF2-40B4-BE49-F238E27FC236}">
                <a16:creationId xmlns:a16="http://schemas.microsoft.com/office/drawing/2014/main" id="{3FEA3F99-FE01-FCD4-9D08-274D996041C6}"/>
              </a:ext>
            </a:extLst>
          </p:cNvPr>
          <p:cNvSpPr>
            <a:spLocks noGrp="1"/>
          </p:cNvSpPr>
          <p:nvPr>
            <p:ph type="title"/>
          </p:nvPr>
        </p:nvSpPr>
        <p:spPr/>
        <p:txBody>
          <a:bodyPr/>
          <a:lstStyle/>
          <a:p>
            <a:r>
              <a:rPr lang="en-US" dirty="0"/>
              <a:t>Characteristics of Balance Sheet</a:t>
            </a:r>
          </a:p>
        </p:txBody>
      </p:sp>
    </p:spTree>
    <p:extLst>
      <p:ext uri="{BB962C8B-B14F-4D97-AF65-F5344CB8AC3E}">
        <p14:creationId xmlns:p14="http://schemas.microsoft.com/office/powerpoint/2010/main" val="474387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924BE3-5D30-3B47-5143-819BEA29A520}"/>
              </a:ext>
            </a:extLst>
          </p:cNvPr>
          <p:cNvSpPr>
            <a:spLocks noGrp="1"/>
          </p:cNvSpPr>
          <p:nvPr>
            <p:ph type="title" idx="4294967295"/>
          </p:nvPr>
        </p:nvSpPr>
        <p:spPr>
          <a:xfrm>
            <a:off x="0" y="0"/>
            <a:ext cx="12192000" cy="711200"/>
          </a:xfrm>
        </p:spPr>
        <p:txBody>
          <a:bodyPr>
            <a:normAutofit/>
          </a:bodyPr>
          <a:lstStyle/>
          <a:p>
            <a:pPr algn="ctr"/>
            <a:r>
              <a:rPr lang="en-US" sz="3400" b="1" dirty="0">
                <a:solidFill>
                  <a:srgbClr val="C00000"/>
                </a:solidFill>
              </a:rPr>
              <a:t>   Balance Sheet of……as on……       </a:t>
            </a:r>
          </a:p>
        </p:txBody>
      </p:sp>
      <p:graphicFrame>
        <p:nvGraphicFramePr>
          <p:cNvPr id="4" name="Table 4">
            <a:extLst>
              <a:ext uri="{FF2B5EF4-FFF2-40B4-BE49-F238E27FC236}">
                <a16:creationId xmlns:a16="http://schemas.microsoft.com/office/drawing/2014/main" id="{B54C8D51-F1C5-B5DE-D5BF-471B356CE638}"/>
              </a:ext>
            </a:extLst>
          </p:cNvPr>
          <p:cNvGraphicFramePr>
            <a:graphicFrameLocks noGrp="1"/>
          </p:cNvGraphicFramePr>
          <p:nvPr>
            <p:ph idx="4294967295"/>
          </p:nvPr>
        </p:nvGraphicFramePr>
        <p:xfrm>
          <a:off x="838201" y="951199"/>
          <a:ext cx="10515597" cy="4754880"/>
        </p:xfrm>
        <a:graphic>
          <a:graphicData uri="http://schemas.openxmlformats.org/drawingml/2006/table">
            <a:tbl>
              <a:tblPr firstRow="1" bandRow="1">
                <a:tableStyleId>{5940675A-B579-460E-94D1-54222C63F5DA}</a:tableStyleId>
              </a:tblPr>
              <a:tblGrid>
                <a:gridCol w="2892434">
                  <a:extLst>
                    <a:ext uri="{9D8B030D-6E8A-4147-A177-3AD203B41FA5}">
                      <a16:colId xmlns:a16="http://schemas.microsoft.com/office/drawing/2014/main" val="3343977590"/>
                    </a:ext>
                  </a:extLst>
                </a:gridCol>
                <a:gridCol w="1177998">
                  <a:extLst>
                    <a:ext uri="{9D8B030D-6E8A-4147-A177-3AD203B41FA5}">
                      <a16:colId xmlns:a16="http://schemas.microsoft.com/office/drawing/2014/main" val="1102382723"/>
                    </a:ext>
                  </a:extLst>
                </a:gridCol>
                <a:gridCol w="1179853">
                  <a:extLst>
                    <a:ext uri="{9D8B030D-6E8A-4147-A177-3AD203B41FA5}">
                      <a16:colId xmlns:a16="http://schemas.microsoft.com/office/drawing/2014/main" val="1055174130"/>
                    </a:ext>
                  </a:extLst>
                </a:gridCol>
                <a:gridCol w="3011650">
                  <a:extLst>
                    <a:ext uri="{9D8B030D-6E8A-4147-A177-3AD203B41FA5}">
                      <a16:colId xmlns:a16="http://schemas.microsoft.com/office/drawing/2014/main" val="3837956293"/>
                    </a:ext>
                  </a:extLst>
                </a:gridCol>
                <a:gridCol w="1126639">
                  <a:extLst>
                    <a:ext uri="{9D8B030D-6E8A-4147-A177-3AD203B41FA5}">
                      <a16:colId xmlns:a16="http://schemas.microsoft.com/office/drawing/2014/main" val="1596165234"/>
                    </a:ext>
                  </a:extLst>
                </a:gridCol>
                <a:gridCol w="1127023">
                  <a:extLst>
                    <a:ext uri="{9D8B030D-6E8A-4147-A177-3AD203B41FA5}">
                      <a16:colId xmlns:a16="http://schemas.microsoft.com/office/drawing/2014/main" val="252713967"/>
                    </a:ext>
                  </a:extLst>
                </a:gridCol>
              </a:tblGrid>
              <a:tr h="315218">
                <a:tc>
                  <a:txBody>
                    <a:bodyPr/>
                    <a:lstStyle/>
                    <a:p>
                      <a:pPr algn="ctr"/>
                      <a:r>
                        <a:rPr lang="en-US" sz="2000" b="1" dirty="0"/>
                        <a:t>Liabilities</a:t>
                      </a:r>
                    </a:p>
                  </a:txBody>
                  <a:tcPr/>
                </a:tc>
                <a:tc>
                  <a:txBody>
                    <a:bodyPr/>
                    <a:lstStyle/>
                    <a:p>
                      <a:pPr algn="ctr"/>
                      <a:r>
                        <a:rPr lang="en-IN" sz="2000" b="1" dirty="0"/>
                        <a:t>₹</a:t>
                      </a:r>
                      <a:endParaRPr lang="en-US" sz="2000" b="1" dirty="0"/>
                    </a:p>
                  </a:txBody>
                  <a:tcPr/>
                </a:tc>
                <a:tc>
                  <a:txBody>
                    <a:bodyPr/>
                    <a:lstStyle/>
                    <a:p>
                      <a:pPr algn="ctr"/>
                      <a:r>
                        <a:rPr lang="en-IN" sz="2000" b="1" dirty="0"/>
                        <a:t>₹</a:t>
                      </a:r>
                      <a:endParaRPr lang="en-US" sz="2000" b="1" dirty="0"/>
                    </a:p>
                  </a:txBody>
                  <a:tcPr/>
                </a:tc>
                <a:tc>
                  <a:txBody>
                    <a:bodyPr/>
                    <a:lstStyle/>
                    <a:p>
                      <a:pPr algn="ctr"/>
                      <a:r>
                        <a:rPr lang="en-US" sz="2000" b="1" dirty="0"/>
                        <a:t>Assets</a:t>
                      </a:r>
                    </a:p>
                  </a:txBody>
                  <a:tcPr/>
                </a:tc>
                <a:tc>
                  <a:txBody>
                    <a:bodyPr/>
                    <a:lstStyle/>
                    <a:p>
                      <a:pPr algn="ctr"/>
                      <a:r>
                        <a:rPr lang="en-IN" sz="2000" b="1" dirty="0"/>
                        <a:t>₹</a:t>
                      </a:r>
                      <a:endParaRPr lang="en-US" sz="2000" b="1" dirty="0"/>
                    </a:p>
                  </a:txBody>
                  <a:tcPr/>
                </a:tc>
                <a:tc>
                  <a:txBody>
                    <a:bodyPr/>
                    <a:lstStyle/>
                    <a:p>
                      <a:pPr algn="ctr"/>
                      <a:r>
                        <a:rPr lang="en-IN" sz="2000" b="1" dirty="0"/>
                        <a:t>₹</a:t>
                      </a:r>
                      <a:endParaRPr lang="en-US" sz="2000" b="1" dirty="0"/>
                    </a:p>
                  </a:txBody>
                  <a:tcPr/>
                </a:tc>
                <a:extLst>
                  <a:ext uri="{0D108BD9-81ED-4DB2-BD59-A6C34878D82A}">
                    <a16:rowId xmlns:a16="http://schemas.microsoft.com/office/drawing/2014/main" val="3954651688"/>
                  </a:ext>
                </a:extLst>
              </a:tr>
              <a:tr h="4194823">
                <a:tc>
                  <a:txBody>
                    <a:bodyPr/>
                    <a:lstStyle/>
                    <a:p>
                      <a:r>
                        <a:rPr lang="en-US" sz="2000" b="1" dirty="0"/>
                        <a:t>Capital A/c:</a:t>
                      </a:r>
                    </a:p>
                    <a:p>
                      <a:r>
                        <a:rPr lang="en-US" sz="2000" dirty="0"/>
                        <a:t>Balance</a:t>
                      </a:r>
                    </a:p>
                    <a:p>
                      <a:r>
                        <a:rPr lang="en-US" sz="2000" b="1" dirty="0"/>
                        <a:t>Add: </a:t>
                      </a:r>
                      <a:r>
                        <a:rPr lang="en-US" sz="2000" dirty="0"/>
                        <a:t>Net Profit/</a:t>
                      </a:r>
                      <a:r>
                        <a:rPr lang="en-US" sz="2000" b="1" dirty="0"/>
                        <a:t>Less:</a:t>
                      </a:r>
                      <a:r>
                        <a:rPr lang="en-US" sz="2000" dirty="0"/>
                        <a:t> Net Loss</a:t>
                      </a:r>
                    </a:p>
                    <a:p>
                      <a:r>
                        <a:rPr lang="en-US" sz="2000" b="1" dirty="0"/>
                        <a:t>Less:</a:t>
                      </a:r>
                      <a:r>
                        <a:rPr lang="en-US" sz="2000" dirty="0"/>
                        <a:t> Drawings</a:t>
                      </a:r>
                    </a:p>
                    <a:p>
                      <a:r>
                        <a:rPr lang="en-US" sz="2000" b="1" dirty="0"/>
                        <a:t>Long Term Loans :</a:t>
                      </a:r>
                    </a:p>
                    <a:p>
                      <a:pPr marL="0" indent="233363"/>
                      <a:r>
                        <a:rPr lang="en-US" sz="2000" dirty="0"/>
                        <a:t>Term Loans</a:t>
                      </a:r>
                    </a:p>
                    <a:p>
                      <a:pPr marL="0" indent="233363"/>
                      <a:r>
                        <a:rPr lang="en-US" sz="2000" dirty="0"/>
                        <a:t>Other Loans</a:t>
                      </a:r>
                    </a:p>
                    <a:p>
                      <a:r>
                        <a:rPr lang="en-US" sz="2000" b="1" dirty="0"/>
                        <a:t>Short Term Loans :</a:t>
                      </a:r>
                    </a:p>
                    <a:p>
                      <a:pPr marL="0" indent="233363"/>
                      <a:r>
                        <a:rPr lang="en-US" sz="2000" dirty="0"/>
                        <a:t>Cash Credit</a:t>
                      </a:r>
                    </a:p>
                    <a:p>
                      <a:pPr marL="0" indent="233363"/>
                      <a:r>
                        <a:rPr lang="en-US" sz="2000" dirty="0"/>
                        <a:t>Bank Overdrafts</a:t>
                      </a:r>
                    </a:p>
                    <a:p>
                      <a:pPr marL="0" indent="233363"/>
                      <a:r>
                        <a:rPr lang="en-US" sz="2000" dirty="0"/>
                        <a:t>Other Loans</a:t>
                      </a:r>
                    </a:p>
                    <a:p>
                      <a:endParaRPr lang="en-US" sz="2000" dirty="0"/>
                    </a:p>
                  </a:txBody>
                  <a:tcPr/>
                </a:tc>
                <a:tc>
                  <a:txBody>
                    <a:bodyPr/>
                    <a:lstStyle/>
                    <a:p>
                      <a:endParaRPr lang="en-US" sz="2000" dirty="0"/>
                    </a:p>
                    <a:p>
                      <a:pPr algn="r"/>
                      <a:r>
                        <a:rPr lang="en-US" sz="2000" dirty="0"/>
                        <a:t>  </a:t>
                      </a:r>
                    </a:p>
                    <a:p>
                      <a:pPr algn="r"/>
                      <a:r>
                        <a:rPr lang="en-US" sz="2000" dirty="0"/>
                        <a:t>XXX</a:t>
                      </a:r>
                    </a:p>
                    <a:p>
                      <a:pPr algn="r"/>
                      <a:endParaRPr lang="en-US" sz="2000" dirty="0"/>
                    </a:p>
                    <a:p>
                      <a:pPr algn="r"/>
                      <a:r>
                        <a:rPr lang="en-US" sz="2000" dirty="0"/>
                        <a:t>XXX</a:t>
                      </a:r>
                    </a:p>
                    <a:p>
                      <a:pPr algn="r"/>
                      <a:endParaRPr lang="en-US" sz="2000" dirty="0"/>
                    </a:p>
                    <a:p>
                      <a:pPr algn="r"/>
                      <a:r>
                        <a:rPr lang="en-US" sz="2000" dirty="0"/>
                        <a:t>XXX</a:t>
                      </a:r>
                    </a:p>
                    <a:p>
                      <a:pPr algn="r"/>
                      <a:r>
                        <a:rPr lang="en-US" sz="2000" dirty="0"/>
                        <a:t>XXX</a:t>
                      </a:r>
                    </a:p>
                    <a:p>
                      <a:pPr algn="r"/>
                      <a:endParaRPr lang="en-US" sz="2000" dirty="0"/>
                    </a:p>
                    <a:p>
                      <a:pPr algn="r"/>
                      <a:r>
                        <a:rPr lang="en-US" sz="2000" dirty="0"/>
                        <a:t>XXX</a:t>
                      </a:r>
                    </a:p>
                    <a:p>
                      <a:pPr algn="r"/>
                      <a:r>
                        <a:rPr lang="en-US" sz="2000" dirty="0"/>
                        <a:t>XXX</a:t>
                      </a:r>
                    </a:p>
                    <a:p>
                      <a:pPr algn="r"/>
                      <a:r>
                        <a:rPr lang="en-US" sz="2000" dirty="0"/>
                        <a:t> XXX</a:t>
                      </a:r>
                    </a:p>
                    <a:p>
                      <a:pPr algn="r"/>
                      <a:r>
                        <a:rPr lang="en-US" sz="2000" dirty="0"/>
                        <a:t> </a:t>
                      </a:r>
                    </a:p>
                    <a:p>
                      <a:pPr algn="r"/>
                      <a:endParaRPr lang="en-US" sz="2000" dirty="0"/>
                    </a:p>
                  </a:txBody>
                  <a:tcPr/>
                </a:tc>
                <a:tc>
                  <a:txBody>
                    <a:bodyPr/>
                    <a:lstStyle/>
                    <a:p>
                      <a:pPr algn="r"/>
                      <a:r>
                        <a:rPr lang="en-US" sz="2000" dirty="0"/>
                        <a:t> </a:t>
                      </a:r>
                    </a:p>
                    <a:p>
                      <a:pPr algn="r"/>
                      <a:r>
                        <a:rPr lang="en-US" sz="2000" dirty="0"/>
                        <a:t>    </a:t>
                      </a:r>
                    </a:p>
                    <a:p>
                      <a:pPr algn="r"/>
                      <a:endParaRPr lang="en-US" sz="2000" dirty="0"/>
                    </a:p>
                    <a:p>
                      <a:pPr algn="r"/>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algn="r"/>
                      <a:endParaRPr lang="en-US" sz="2000" dirty="0"/>
                    </a:p>
                    <a:p>
                      <a:pPr algn="r"/>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txBody>
                  <a:tcPr/>
                </a:tc>
                <a:tc>
                  <a:txBody>
                    <a:bodyPr/>
                    <a:lstStyle/>
                    <a:p>
                      <a:r>
                        <a:rPr lang="en-US" sz="2000" b="1" dirty="0"/>
                        <a:t>Tangible Fixed Assets :</a:t>
                      </a:r>
                    </a:p>
                    <a:p>
                      <a:pPr marL="0" indent="233363"/>
                      <a:r>
                        <a:rPr lang="en-US" sz="2000" b="0" dirty="0"/>
                        <a:t>Land and Building</a:t>
                      </a:r>
                    </a:p>
                    <a:p>
                      <a:pPr marL="0" indent="233363"/>
                      <a:r>
                        <a:rPr lang="en-US" sz="2000" b="0" dirty="0"/>
                        <a:t>Plant and Machinery</a:t>
                      </a:r>
                    </a:p>
                    <a:p>
                      <a:pPr marL="0" indent="233363"/>
                      <a:r>
                        <a:rPr lang="en-US" sz="2000" b="0" dirty="0"/>
                        <a:t>Furniture and Fixture</a:t>
                      </a:r>
                    </a:p>
                    <a:p>
                      <a:pPr marL="0" indent="233363"/>
                      <a:r>
                        <a:rPr lang="en-US" sz="2000" b="0" dirty="0"/>
                        <a:t>Vehicles</a:t>
                      </a:r>
                    </a:p>
                    <a:p>
                      <a:r>
                        <a:rPr lang="en-US" sz="2000" b="1" dirty="0"/>
                        <a:t>Intangibles Fixed Assets :</a:t>
                      </a:r>
                    </a:p>
                    <a:p>
                      <a:pPr marL="0" indent="233363"/>
                      <a:r>
                        <a:rPr lang="en-US" sz="2000" b="0" dirty="0"/>
                        <a:t>Goodwill</a:t>
                      </a:r>
                    </a:p>
                    <a:p>
                      <a:pPr marL="0" indent="233363"/>
                      <a:r>
                        <a:rPr lang="en-US" sz="2000" b="0" dirty="0"/>
                        <a:t>Patent Rights</a:t>
                      </a:r>
                    </a:p>
                    <a:p>
                      <a:pPr marL="0" indent="233363"/>
                      <a:r>
                        <a:rPr lang="en-US" sz="2000" b="0" dirty="0"/>
                        <a:t>Trademark</a:t>
                      </a:r>
                    </a:p>
                    <a:p>
                      <a:pPr marL="0" indent="233363"/>
                      <a:r>
                        <a:rPr lang="en-US" sz="2000" b="0" dirty="0"/>
                        <a:t>Copyright</a:t>
                      </a:r>
                    </a:p>
                    <a:p>
                      <a:r>
                        <a:rPr lang="en-US" sz="2000" b="1" dirty="0"/>
                        <a:t>Investments :</a:t>
                      </a:r>
                    </a:p>
                    <a:p>
                      <a:pPr marL="0" indent="233363"/>
                      <a:r>
                        <a:rPr lang="en-US" sz="2000" b="0" dirty="0"/>
                        <a:t>Long term investments</a:t>
                      </a:r>
                    </a:p>
                    <a:p>
                      <a:endParaRPr lang="en-US" sz="2000" b="0" dirty="0"/>
                    </a:p>
                  </a:txBody>
                  <a:tcPr/>
                </a:tc>
                <a:tc>
                  <a:txBody>
                    <a:bodyPr/>
                    <a:lstStyle/>
                    <a:p>
                      <a:pPr algn="r"/>
                      <a:endParaRPr lang="en-US" sz="2000" dirty="0"/>
                    </a:p>
                    <a:p>
                      <a:pPr algn="r"/>
                      <a:r>
                        <a:rPr lang="en-US" sz="2000" dirty="0"/>
                        <a:t>XXX</a:t>
                      </a:r>
                    </a:p>
                    <a:p>
                      <a:pPr algn="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2000" dirty="0"/>
                    </a:p>
                    <a:p>
                      <a:pPr algn="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algn="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2000" dirty="0"/>
                    </a:p>
                  </a:txBody>
                  <a:tcPr/>
                </a:tc>
                <a:tc>
                  <a:txBody>
                    <a:bodyPr/>
                    <a:lstStyle/>
                    <a:p>
                      <a:pPr algn="r"/>
                      <a:endParaRPr lang="en-US" sz="2000" dirty="0"/>
                    </a:p>
                    <a:p>
                      <a:pPr algn="r"/>
                      <a:endParaRPr lang="en-US" sz="2000" dirty="0"/>
                    </a:p>
                    <a:p>
                      <a:pPr algn="r"/>
                      <a:endParaRPr lang="en-US" sz="2000" dirty="0"/>
                    </a:p>
                    <a:p>
                      <a:pPr algn="r"/>
                      <a:endParaRPr lang="en-US" sz="2000" dirty="0"/>
                    </a:p>
                    <a:p>
                      <a:pPr algn="r"/>
                      <a:r>
                        <a:rPr lang="en-US" sz="2000" dirty="0"/>
                        <a:t>XXX</a:t>
                      </a:r>
                    </a:p>
                    <a:p>
                      <a:pPr algn="r"/>
                      <a:endParaRPr lang="en-US" sz="2000" dirty="0"/>
                    </a:p>
                    <a:p>
                      <a:pPr algn="r"/>
                      <a:endParaRPr lang="en-US" sz="2000" dirty="0"/>
                    </a:p>
                    <a:p>
                      <a:pPr algn="r"/>
                      <a:endParaRPr lang="en-US" sz="2000" dirty="0"/>
                    </a:p>
                    <a:p>
                      <a:pPr algn="r"/>
                      <a:endParaRPr lang="en-US" sz="2000" dirty="0"/>
                    </a:p>
                    <a:p>
                      <a:pPr algn="r"/>
                      <a:r>
                        <a:rPr lang="en-US" sz="2000" dirty="0"/>
                        <a:t>XXX</a:t>
                      </a:r>
                    </a:p>
                    <a:p>
                      <a:pPr algn="r"/>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algn="r"/>
                      <a:endParaRPr lang="en-US" sz="2000" dirty="0"/>
                    </a:p>
                  </a:txBody>
                  <a:tcPr/>
                </a:tc>
                <a:extLst>
                  <a:ext uri="{0D108BD9-81ED-4DB2-BD59-A6C34878D82A}">
                    <a16:rowId xmlns:a16="http://schemas.microsoft.com/office/drawing/2014/main" val="356715822"/>
                  </a:ext>
                </a:extLst>
              </a:tr>
            </a:tbl>
          </a:graphicData>
        </a:graphic>
      </p:graphicFrame>
    </p:spTree>
    <p:extLst>
      <p:ext uri="{BB962C8B-B14F-4D97-AF65-F5344CB8AC3E}">
        <p14:creationId xmlns:p14="http://schemas.microsoft.com/office/powerpoint/2010/main" val="222812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924BE3-5D30-3B47-5143-819BEA29A520}"/>
              </a:ext>
            </a:extLst>
          </p:cNvPr>
          <p:cNvSpPr>
            <a:spLocks noGrp="1"/>
          </p:cNvSpPr>
          <p:nvPr>
            <p:ph type="title" idx="4294967295"/>
          </p:nvPr>
        </p:nvSpPr>
        <p:spPr>
          <a:xfrm>
            <a:off x="0" y="0"/>
            <a:ext cx="12192000" cy="711200"/>
          </a:xfrm>
        </p:spPr>
        <p:txBody>
          <a:bodyPr>
            <a:normAutofit/>
          </a:bodyPr>
          <a:lstStyle/>
          <a:p>
            <a:pPr algn="ctr"/>
            <a:r>
              <a:rPr lang="en-US" sz="3400" b="1" dirty="0">
                <a:solidFill>
                  <a:srgbClr val="C00000"/>
                </a:solidFill>
              </a:rPr>
              <a:t>   Balance Sheet of……as on……       </a:t>
            </a:r>
          </a:p>
        </p:txBody>
      </p:sp>
      <p:graphicFrame>
        <p:nvGraphicFramePr>
          <p:cNvPr id="4" name="Table 4">
            <a:extLst>
              <a:ext uri="{FF2B5EF4-FFF2-40B4-BE49-F238E27FC236}">
                <a16:creationId xmlns:a16="http://schemas.microsoft.com/office/drawing/2014/main" id="{B54C8D51-F1C5-B5DE-D5BF-471B356CE638}"/>
              </a:ext>
            </a:extLst>
          </p:cNvPr>
          <p:cNvGraphicFramePr>
            <a:graphicFrameLocks noGrp="1"/>
          </p:cNvGraphicFramePr>
          <p:nvPr>
            <p:ph idx="4294967295"/>
          </p:nvPr>
        </p:nvGraphicFramePr>
        <p:xfrm>
          <a:off x="579120" y="935825"/>
          <a:ext cx="11043920" cy="4754880"/>
        </p:xfrm>
        <a:graphic>
          <a:graphicData uri="http://schemas.openxmlformats.org/drawingml/2006/table">
            <a:tbl>
              <a:tblPr firstRow="1" bandRow="1">
                <a:tableStyleId>{5940675A-B579-460E-94D1-54222C63F5DA}</a:tableStyleId>
              </a:tblPr>
              <a:tblGrid>
                <a:gridCol w="3037755">
                  <a:extLst>
                    <a:ext uri="{9D8B030D-6E8A-4147-A177-3AD203B41FA5}">
                      <a16:colId xmlns:a16="http://schemas.microsoft.com/office/drawing/2014/main" val="3343977590"/>
                    </a:ext>
                  </a:extLst>
                </a:gridCol>
                <a:gridCol w="1237183">
                  <a:extLst>
                    <a:ext uri="{9D8B030D-6E8A-4147-A177-3AD203B41FA5}">
                      <a16:colId xmlns:a16="http://schemas.microsoft.com/office/drawing/2014/main" val="1102382723"/>
                    </a:ext>
                  </a:extLst>
                </a:gridCol>
                <a:gridCol w="1239131">
                  <a:extLst>
                    <a:ext uri="{9D8B030D-6E8A-4147-A177-3AD203B41FA5}">
                      <a16:colId xmlns:a16="http://schemas.microsoft.com/office/drawing/2014/main" val="1055174130"/>
                    </a:ext>
                  </a:extLst>
                </a:gridCol>
                <a:gridCol w="3162960">
                  <a:extLst>
                    <a:ext uri="{9D8B030D-6E8A-4147-A177-3AD203B41FA5}">
                      <a16:colId xmlns:a16="http://schemas.microsoft.com/office/drawing/2014/main" val="3837956293"/>
                    </a:ext>
                  </a:extLst>
                </a:gridCol>
                <a:gridCol w="1183244">
                  <a:extLst>
                    <a:ext uri="{9D8B030D-6E8A-4147-A177-3AD203B41FA5}">
                      <a16:colId xmlns:a16="http://schemas.microsoft.com/office/drawing/2014/main" val="1596165234"/>
                    </a:ext>
                  </a:extLst>
                </a:gridCol>
                <a:gridCol w="1183647">
                  <a:extLst>
                    <a:ext uri="{9D8B030D-6E8A-4147-A177-3AD203B41FA5}">
                      <a16:colId xmlns:a16="http://schemas.microsoft.com/office/drawing/2014/main" val="252713967"/>
                    </a:ext>
                  </a:extLst>
                </a:gridCol>
              </a:tblGrid>
              <a:tr h="0">
                <a:tc>
                  <a:txBody>
                    <a:bodyPr/>
                    <a:lstStyle/>
                    <a:p>
                      <a:pPr algn="ctr"/>
                      <a:r>
                        <a:rPr lang="en-US" sz="2000" b="1" dirty="0"/>
                        <a:t>Liabilities</a:t>
                      </a:r>
                    </a:p>
                  </a:txBody>
                  <a:tcPr/>
                </a:tc>
                <a:tc>
                  <a:txBody>
                    <a:bodyPr/>
                    <a:lstStyle/>
                    <a:p>
                      <a:pPr algn="ctr"/>
                      <a:r>
                        <a:rPr lang="en-IN" sz="2000" b="1" dirty="0"/>
                        <a:t>₹</a:t>
                      </a:r>
                      <a:endParaRPr lang="en-US" sz="2000" b="1" dirty="0"/>
                    </a:p>
                  </a:txBody>
                  <a:tcPr/>
                </a:tc>
                <a:tc>
                  <a:txBody>
                    <a:bodyPr/>
                    <a:lstStyle/>
                    <a:p>
                      <a:pPr algn="ctr"/>
                      <a:r>
                        <a:rPr lang="en-IN" sz="2000" b="1" dirty="0"/>
                        <a:t>₹</a:t>
                      </a:r>
                      <a:endParaRPr lang="en-US" sz="2000" b="1" dirty="0"/>
                    </a:p>
                  </a:txBody>
                  <a:tcPr/>
                </a:tc>
                <a:tc>
                  <a:txBody>
                    <a:bodyPr/>
                    <a:lstStyle/>
                    <a:p>
                      <a:pPr algn="ctr"/>
                      <a:r>
                        <a:rPr lang="en-US" sz="2000" b="1" dirty="0"/>
                        <a:t>Assets</a:t>
                      </a:r>
                    </a:p>
                  </a:txBody>
                  <a:tcPr/>
                </a:tc>
                <a:tc>
                  <a:txBody>
                    <a:bodyPr/>
                    <a:lstStyle/>
                    <a:p>
                      <a:pPr algn="ctr"/>
                      <a:r>
                        <a:rPr lang="en-IN" sz="2000" b="1" dirty="0"/>
                        <a:t>₹</a:t>
                      </a:r>
                      <a:endParaRPr lang="en-US" sz="2000" b="1" dirty="0"/>
                    </a:p>
                  </a:txBody>
                  <a:tcPr/>
                </a:tc>
                <a:tc>
                  <a:txBody>
                    <a:bodyPr/>
                    <a:lstStyle/>
                    <a:p>
                      <a:pPr algn="ctr"/>
                      <a:r>
                        <a:rPr lang="en-IN" sz="2000" b="1" dirty="0"/>
                        <a:t>₹</a:t>
                      </a:r>
                      <a:endParaRPr lang="en-US" sz="2000" b="1" dirty="0"/>
                    </a:p>
                  </a:txBody>
                  <a:tcPr/>
                </a:tc>
                <a:extLst>
                  <a:ext uri="{0D108BD9-81ED-4DB2-BD59-A6C34878D82A}">
                    <a16:rowId xmlns:a16="http://schemas.microsoft.com/office/drawing/2014/main" val="3954651688"/>
                  </a:ext>
                </a:extLst>
              </a:tr>
              <a:tr h="3431348">
                <a:tc>
                  <a:txBody>
                    <a:bodyPr/>
                    <a:lstStyle/>
                    <a:p>
                      <a:r>
                        <a:rPr lang="en-US" sz="2000" b="1" dirty="0"/>
                        <a:t>Current Liabilities :</a:t>
                      </a:r>
                    </a:p>
                    <a:p>
                      <a:pPr marL="0" indent="287338"/>
                      <a:r>
                        <a:rPr lang="en-US" sz="2000" dirty="0"/>
                        <a:t>Trade Payables</a:t>
                      </a:r>
                    </a:p>
                    <a:p>
                      <a:pPr marL="0" indent="287338"/>
                      <a:r>
                        <a:rPr lang="en-US" sz="2000" dirty="0"/>
                        <a:t>Outstanding Expenses</a:t>
                      </a:r>
                    </a:p>
                    <a:p>
                      <a:pPr marL="0" indent="287338"/>
                      <a:r>
                        <a:rPr lang="en-US" sz="2000" dirty="0"/>
                        <a:t>Advance Taken</a:t>
                      </a:r>
                      <a:endParaRPr lang="en-US" sz="2000" b="1" dirty="0"/>
                    </a:p>
                    <a:p>
                      <a:r>
                        <a:rPr lang="en-US" sz="2000" b="1" dirty="0"/>
                        <a:t>Provision :</a:t>
                      </a:r>
                    </a:p>
                    <a:p>
                      <a:pPr marL="0" indent="339725"/>
                      <a:r>
                        <a:rPr lang="en-US" sz="2000" dirty="0"/>
                        <a:t>Provision for Bad debts</a:t>
                      </a:r>
                    </a:p>
                    <a:p>
                      <a:pPr marL="339725" indent="0"/>
                      <a:r>
                        <a:rPr lang="en-US" sz="2000" dirty="0"/>
                        <a:t>Provision for Retirement Benefits</a:t>
                      </a:r>
                    </a:p>
                    <a:p>
                      <a:pPr marL="0" indent="339725"/>
                      <a:r>
                        <a:rPr lang="en-US" sz="2000" dirty="0"/>
                        <a:t>Provision for Taxation</a:t>
                      </a:r>
                    </a:p>
                  </a:txBody>
                  <a:tcPr/>
                </a:tc>
                <a:tc>
                  <a:txBody>
                    <a:bodyPr/>
                    <a:lstStyle/>
                    <a:p>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algn="r"/>
                      <a:r>
                        <a:rPr lang="en-US" sz="2000" dirty="0"/>
                        <a:t>  </a:t>
                      </a:r>
                    </a:p>
                    <a:p>
                      <a:pPr algn="r"/>
                      <a:r>
                        <a:rPr lang="en-US" sz="2000" dirty="0"/>
                        <a:t>XXX</a:t>
                      </a:r>
                    </a:p>
                    <a:p>
                      <a:pPr algn="r"/>
                      <a:endParaRPr lang="en-US" sz="2000" dirty="0"/>
                    </a:p>
                    <a:p>
                      <a:pPr algn="r"/>
                      <a:r>
                        <a:rPr lang="en-US" sz="2000" dirty="0"/>
                        <a:t>XXX</a:t>
                      </a:r>
                    </a:p>
                    <a:p>
                      <a:pPr algn="r"/>
                      <a:r>
                        <a:rPr lang="en-US" sz="2000" dirty="0"/>
                        <a:t>XXX</a:t>
                      </a:r>
                    </a:p>
                  </a:txBody>
                  <a:tcPr/>
                </a:tc>
                <a:tc>
                  <a:txBody>
                    <a:bodyPr/>
                    <a:lstStyle/>
                    <a:p>
                      <a:pPr algn="r"/>
                      <a:endParaRPr lang="en-US" sz="2000" dirty="0"/>
                    </a:p>
                    <a:p>
                      <a:pPr algn="r"/>
                      <a:endParaRPr lang="en-US" sz="2000" dirty="0"/>
                    </a:p>
                    <a:p>
                      <a:pPr algn="r"/>
                      <a:endParaRPr lang="en-US" sz="2000" dirty="0"/>
                    </a:p>
                    <a:p>
                      <a:pPr algn="r"/>
                      <a:r>
                        <a:rPr lang="en-US" sz="2000" dirty="0"/>
                        <a:t>   XXX</a:t>
                      </a:r>
                    </a:p>
                    <a:p>
                      <a:pPr algn="r"/>
                      <a:endParaRPr lang="en-US" sz="2000" dirty="0"/>
                    </a:p>
                    <a:p>
                      <a:pPr algn="r"/>
                      <a:r>
                        <a:rPr lang="en-US" sz="2000" dirty="0"/>
                        <a:t>    </a:t>
                      </a:r>
                    </a:p>
                    <a:p>
                      <a:pPr algn="r"/>
                      <a:endParaRPr lang="en-US" sz="2000" dirty="0"/>
                    </a:p>
                    <a:p>
                      <a:pPr algn="r"/>
                      <a:endParaRPr lang="en-US" sz="2000" dirty="0"/>
                    </a:p>
                    <a:p>
                      <a:pPr algn="r"/>
                      <a:r>
                        <a:rPr lang="en-US" sz="2000" dirty="0"/>
                        <a:t>XXX</a:t>
                      </a:r>
                    </a:p>
                    <a:p>
                      <a:pPr algn="r"/>
                      <a:endParaRPr lang="en-US" sz="2000" dirty="0"/>
                    </a:p>
                    <a:p>
                      <a:pPr algn="r"/>
                      <a:endParaRPr lang="en-US" sz="2000" dirty="0"/>
                    </a:p>
                    <a:p>
                      <a:pPr algn="r"/>
                      <a:endParaRPr lang="en-US" sz="2000" dirty="0"/>
                    </a:p>
                    <a:p>
                      <a:pPr algn="r"/>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txBody>
                  <a:tcPr/>
                </a:tc>
                <a:tc>
                  <a:txBody>
                    <a:bodyPr/>
                    <a:lstStyle/>
                    <a:p>
                      <a:r>
                        <a:rPr lang="en-US" sz="2000" b="1" dirty="0"/>
                        <a:t>Current Assets :</a:t>
                      </a:r>
                    </a:p>
                    <a:p>
                      <a:pPr marL="0" indent="287338"/>
                      <a:r>
                        <a:rPr lang="en-US" sz="2000" b="0" dirty="0"/>
                        <a:t>Inventory in Trade</a:t>
                      </a:r>
                    </a:p>
                    <a:p>
                      <a:pPr marL="0" indent="287338"/>
                      <a:r>
                        <a:rPr lang="en-US" sz="2000" b="0" dirty="0"/>
                        <a:t>Trade receivables</a:t>
                      </a:r>
                    </a:p>
                    <a:p>
                      <a:pPr marL="0" indent="287338"/>
                      <a:r>
                        <a:rPr lang="en-US" sz="2000" b="0" dirty="0"/>
                        <a:t>Short term investments</a:t>
                      </a:r>
                    </a:p>
                    <a:p>
                      <a:pPr marL="0" indent="287338"/>
                      <a:r>
                        <a:rPr lang="en-US" sz="2000" b="0" dirty="0"/>
                        <a:t>Prepayments</a:t>
                      </a:r>
                    </a:p>
                    <a:p>
                      <a:pPr marL="0" indent="287338"/>
                      <a:r>
                        <a:rPr lang="en-US" sz="2000" b="0" dirty="0"/>
                        <a:t>Advances</a:t>
                      </a:r>
                    </a:p>
                    <a:p>
                      <a:pPr marL="0" indent="287338"/>
                      <a:r>
                        <a:rPr lang="en-US" sz="2000" b="0" dirty="0"/>
                        <a:t>Bank Balance</a:t>
                      </a:r>
                    </a:p>
                    <a:p>
                      <a:pPr marL="0" indent="287338"/>
                      <a:r>
                        <a:rPr lang="en-US" sz="2000" b="0" dirty="0"/>
                        <a:t>Cash In Hand</a:t>
                      </a:r>
                    </a:p>
                  </a:txBody>
                  <a:tcPr/>
                </a:tc>
                <a:tc>
                  <a:txBody>
                    <a:bodyPr/>
                    <a:lstStyle/>
                    <a:p>
                      <a:pPr algn="r"/>
                      <a:endParaRPr lang="en-US" sz="2000" dirty="0"/>
                    </a:p>
                    <a:p>
                      <a:pPr algn="r"/>
                      <a:r>
                        <a:rPr lang="en-US" sz="2000" dirty="0"/>
                        <a:t>XXX</a:t>
                      </a:r>
                    </a:p>
                    <a:p>
                      <a:pPr algn="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algn="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algn="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2000" dirty="0"/>
                    </a:p>
                    <a:p>
                      <a:pPr algn="r"/>
                      <a:endParaRPr lang="en-US" sz="2000" dirty="0"/>
                    </a:p>
                  </a:txBody>
                  <a:tcPr/>
                </a:tc>
                <a:tc>
                  <a:txBody>
                    <a:bodyPr/>
                    <a:lstStyle/>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endParaRPr lang="en-US" sz="2000" dirty="0"/>
                    </a:p>
                    <a:p>
                      <a:pPr algn="r"/>
                      <a:r>
                        <a:rPr lang="en-US" sz="2000" dirty="0"/>
                        <a:t>XXX</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2000" dirty="0"/>
                    </a:p>
                    <a:p>
                      <a:pPr algn="r"/>
                      <a:endParaRPr lang="en-US" sz="2000" dirty="0"/>
                    </a:p>
                    <a:p>
                      <a:pPr algn="r"/>
                      <a:endParaRPr lang="en-US" sz="2000" dirty="0"/>
                    </a:p>
                    <a:p>
                      <a:pPr algn="r"/>
                      <a:endParaRPr lang="en-US" sz="2000" dirty="0"/>
                    </a:p>
                    <a:p>
                      <a:pPr algn="r"/>
                      <a:endParaRPr lang="en-US" sz="2000" dirty="0"/>
                    </a:p>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t>XXX</a:t>
                      </a:r>
                    </a:p>
                  </a:txBody>
                  <a:tcPr/>
                </a:tc>
                <a:extLst>
                  <a:ext uri="{0D108BD9-81ED-4DB2-BD59-A6C34878D82A}">
                    <a16:rowId xmlns:a16="http://schemas.microsoft.com/office/drawing/2014/main" val="356715822"/>
                  </a:ext>
                </a:extLst>
              </a:tr>
            </a:tbl>
          </a:graphicData>
        </a:graphic>
      </p:graphicFrame>
      <p:cxnSp>
        <p:nvCxnSpPr>
          <p:cNvPr id="2" name="Straight Connector 1">
            <a:extLst>
              <a:ext uri="{FF2B5EF4-FFF2-40B4-BE49-F238E27FC236}">
                <a16:creationId xmlns:a16="http://schemas.microsoft.com/office/drawing/2014/main" id="{876E0329-89DA-04DB-F964-1AC6B6A2B353}"/>
              </a:ext>
            </a:extLst>
          </p:cNvPr>
          <p:cNvCxnSpPr>
            <a:cxnSpLocks/>
          </p:cNvCxnSpPr>
          <p:nvPr/>
        </p:nvCxnSpPr>
        <p:spPr>
          <a:xfrm>
            <a:off x="3601971" y="4978666"/>
            <a:ext cx="2494029" cy="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C025348E-3AE0-2F3A-EAD1-824C61DAAAD1}"/>
              </a:ext>
            </a:extLst>
          </p:cNvPr>
          <p:cNvCxnSpPr>
            <a:cxnSpLocks/>
          </p:cNvCxnSpPr>
          <p:nvPr/>
        </p:nvCxnSpPr>
        <p:spPr>
          <a:xfrm>
            <a:off x="9218999" y="4978666"/>
            <a:ext cx="2404041"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8627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Closing </a:t>
            </a:r>
            <a:br>
              <a:rPr lang="en-US" dirty="0"/>
            </a:br>
            <a:r>
              <a:rPr lang="en-US" dirty="0"/>
              <a:t>Adjustment </a:t>
            </a:r>
            <a:br>
              <a:rPr lang="en-US" dirty="0"/>
            </a:br>
            <a:r>
              <a:rPr lang="en-US" dirty="0"/>
              <a:t>Entries</a:t>
            </a:r>
          </a:p>
        </p:txBody>
      </p:sp>
    </p:spTree>
    <p:extLst>
      <p:ext uri="{BB962C8B-B14F-4D97-AF65-F5344CB8AC3E}">
        <p14:creationId xmlns:p14="http://schemas.microsoft.com/office/powerpoint/2010/main" val="747605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559B8-FFA0-EE44-5AC1-F37C00DD9FDC}"/>
              </a:ext>
            </a:extLst>
          </p:cNvPr>
          <p:cNvSpPr>
            <a:spLocks noGrp="1"/>
          </p:cNvSpPr>
          <p:nvPr>
            <p:ph idx="1"/>
          </p:nvPr>
        </p:nvSpPr>
        <p:spPr/>
        <p:txBody>
          <a:bodyPr/>
          <a:lstStyle/>
          <a:p>
            <a:pPr>
              <a:lnSpc>
                <a:spcPct val="100000"/>
              </a:lnSpc>
            </a:pPr>
            <a:r>
              <a:rPr lang="en-US" dirty="0"/>
              <a:t>Treatment of items of adjustment appearing outside and inside in the Trial Balance.</a:t>
            </a:r>
          </a:p>
          <a:p>
            <a:pPr>
              <a:lnSpc>
                <a:spcPct val="100000"/>
              </a:lnSpc>
            </a:pPr>
            <a:r>
              <a:rPr lang="en-US" dirty="0"/>
              <a:t>If any item of adjustment appears outside the Trial Balance, it will be shown </a:t>
            </a:r>
            <a:r>
              <a:rPr lang="en-US" b="1" dirty="0">
                <a:solidFill>
                  <a:srgbClr val="C00000"/>
                </a:solidFill>
              </a:rPr>
              <a:t>at two appropriate places</a:t>
            </a:r>
            <a:r>
              <a:rPr lang="en-US" dirty="0"/>
              <a:t> in the final accounts.</a:t>
            </a:r>
          </a:p>
          <a:p>
            <a:pPr>
              <a:lnSpc>
                <a:spcPct val="100000"/>
              </a:lnSpc>
            </a:pPr>
            <a:r>
              <a:rPr lang="en-US" dirty="0"/>
              <a:t>If any item of adjustments appears inside the Trial Balance, it will be shown only </a:t>
            </a:r>
            <a:r>
              <a:rPr lang="en-US" b="1" dirty="0">
                <a:solidFill>
                  <a:srgbClr val="C00000"/>
                </a:solidFill>
              </a:rPr>
              <a:t>at one appropriate place</a:t>
            </a:r>
            <a:r>
              <a:rPr lang="en-US" dirty="0"/>
              <a:t> in the final accounts.</a:t>
            </a:r>
          </a:p>
          <a:p>
            <a:pPr marL="457200" lvl="1" indent="0">
              <a:buNone/>
            </a:pPr>
            <a:endParaRPr lang="en-US" dirty="0"/>
          </a:p>
        </p:txBody>
      </p:sp>
      <p:sp>
        <p:nvSpPr>
          <p:cNvPr id="3" name="Title 2">
            <a:extLst>
              <a:ext uri="{FF2B5EF4-FFF2-40B4-BE49-F238E27FC236}">
                <a16:creationId xmlns:a16="http://schemas.microsoft.com/office/drawing/2014/main" id="{2F53653C-2280-3610-6D39-F15417697F76}"/>
              </a:ext>
            </a:extLst>
          </p:cNvPr>
          <p:cNvSpPr>
            <a:spLocks noGrp="1"/>
          </p:cNvSpPr>
          <p:nvPr>
            <p:ph type="title"/>
          </p:nvPr>
        </p:nvSpPr>
        <p:spPr/>
        <p:txBody>
          <a:bodyPr/>
          <a:lstStyle/>
          <a:p>
            <a:r>
              <a:rPr lang="en-US" dirty="0"/>
              <a:t>Closing Adjustment Entries</a:t>
            </a:r>
          </a:p>
        </p:txBody>
      </p:sp>
    </p:spTree>
    <p:extLst>
      <p:ext uri="{BB962C8B-B14F-4D97-AF65-F5344CB8AC3E}">
        <p14:creationId xmlns:p14="http://schemas.microsoft.com/office/powerpoint/2010/main" val="697060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6">
            <a:extLst>
              <a:ext uri="{FF2B5EF4-FFF2-40B4-BE49-F238E27FC236}">
                <a16:creationId xmlns:a16="http://schemas.microsoft.com/office/drawing/2014/main" id="{E38E5E55-FDA9-0EF3-13FA-C875D0327137}"/>
              </a:ext>
            </a:extLst>
          </p:cNvPr>
          <p:cNvGraphicFramePr>
            <a:graphicFrameLocks noGrp="1"/>
          </p:cNvGraphicFramePr>
          <p:nvPr>
            <p:ph idx="4294967295"/>
          </p:nvPr>
        </p:nvGraphicFramePr>
        <p:xfrm>
          <a:off x="162561" y="110190"/>
          <a:ext cx="11866878" cy="6492240"/>
        </p:xfrm>
        <a:graphic>
          <a:graphicData uri="http://schemas.openxmlformats.org/drawingml/2006/table">
            <a:tbl>
              <a:tblPr firstRow="1" bandRow="1">
                <a:tableStyleId>{5940675A-B579-460E-94D1-54222C63F5DA}</a:tableStyleId>
              </a:tblPr>
              <a:tblGrid>
                <a:gridCol w="3955626">
                  <a:extLst>
                    <a:ext uri="{9D8B030D-6E8A-4147-A177-3AD203B41FA5}">
                      <a16:colId xmlns:a16="http://schemas.microsoft.com/office/drawing/2014/main" val="50345232"/>
                    </a:ext>
                  </a:extLst>
                </a:gridCol>
                <a:gridCol w="3955626">
                  <a:extLst>
                    <a:ext uri="{9D8B030D-6E8A-4147-A177-3AD203B41FA5}">
                      <a16:colId xmlns:a16="http://schemas.microsoft.com/office/drawing/2014/main" val="3871955314"/>
                    </a:ext>
                  </a:extLst>
                </a:gridCol>
                <a:gridCol w="3955626">
                  <a:extLst>
                    <a:ext uri="{9D8B030D-6E8A-4147-A177-3AD203B41FA5}">
                      <a16:colId xmlns:a16="http://schemas.microsoft.com/office/drawing/2014/main" val="3531073226"/>
                    </a:ext>
                  </a:extLst>
                </a:gridCol>
              </a:tblGrid>
              <a:tr h="370840">
                <a:tc>
                  <a:txBody>
                    <a:bodyPr/>
                    <a:lstStyle/>
                    <a:p>
                      <a:r>
                        <a:rPr lang="en-US" sz="2400" b="1" dirty="0"/>
                        <a:t>Adjustment</a:t>
                      </a:r>
                    </a:p>
                  </a:txBody>
                  <a:tcPr/>
                </a:tc>
                <a:tc>
                  <a:txBody>
                    <a:bodyPr/>
                    <a:lstStyle/>
                    <a:p>
                      <a:r>
                        <a:rPr lang="en-US" sz="2400" b="1" dirty="0"/>
                        <a:t>If given in Trial Balance</a:t>
                      </a:r>
                    </a:p>
                  </a:txBody>
                  <a:tcPr/>
                </a:tc>
                <a:tc>
                  <a:txBody>
                    <a:bodyPr/>
                    <a:lstStyle/>
                    <a:p>
                      <a:r>
                        <a:rPr lang="en-US" sz="2400" b="1" dirty="0"/>
                        <a:t>If not given in Trial Balance</a:t>
                      </a:r>
                    </a:p>
                  </a:txBody>
                  <a:tcPr/>
                </a:tc>
                <a:extLst>
                  <a:ext uri="{0D108BD9-81ED-4DB2-BD59-A6C34878D82A}">
                    <a16:rowId xmlns:a16="http://schemas.microsoft.com/office/drawing/2014/main" val="3672012837"/>
                  </a:ext>
                </a:extLst>
              </a:tr>
              <a:tr h="370840">
                <a:tc>
                  <a:txBody>
                    <a:bodyPr/>
                    <a:lstStyle/>
                    <a:p>
                      <a:r>
                        <a:rPr lang="en-US" sz="2000" dirty="0"/>
                        <a:t>1. Closing stock</a:t>
                      </a:r>
                    </a:p>
                  </a:txBody>
                  <a:tcPr anchor="ctr"/>
                </a:tc>
                <a:tc>
                  <a:txBody>
                    <a:bodyPr/>
                    <a:lstStyle/>
                    <a:p>
                      <a:r>
                        <a:rPr lang="en-US" sz="2000" dirty="0"/>
                        <a:t>Balance Sheet – Asset Side</a:t>
                      </a:r>
                    </a:p>
                  </a:txBody>
                  <a:tcPr anchor="ctr"/>
                </a:tc>
                <a:tc>
                  <a:txBody>
                    <a:bodyPr/>
                    <a:lstStyle/>
                    <a:p>
                      <a:pPr marL="457200" indent="-457200">
                        <a:buAutoNum type="alphaLcParenBoth"/>
                      </a:pPr>
                      <a:r>
                        <a:rPr lang="en-US" sz="2000" dirty="0"/>
                        <a:t>Trading A/c – Credit Side</a:t>
                      </a:r>
                    </a:p>
                    <a:p>
                      <a:pPr marL="457200" indent="-457200">
                        <a:buAutoNum type="alphaLcParenBoth"/>
                      </a:pPr>
                      <a:r>
                        <a:rPr lang="en-US" sz="2000" dirty="0"/>
                        <a:t>Balance Sheet – Asset Side </a:t>
                      </a:r>
                    </a:p>
                  </a:txBody>
                  <a:tcPr/>
                </a:tc>
                <a:extLst>
                  <a:ext uri="{0D108BD9-81ED-4DB2-BD59-A6C34878D82A}">
                    <a16:rowId xmlns:a16="http://schemas.microsoft.com/office/drawing/2014/main" val="4292481262"/>
                  </a:ext>
                </a:extLst>
              </a:tr>
              <a:tr h="370840">
                <a:tc>
                  <a:txBody>
                    <a:bodyPr/>
                    <a:lstStyle/>
                    <a:p>
                      <a:r>
                        <a:rPr lang="en-US" sz="2000" dirty="0"/>
                        <a:t>2. Outstanding Expenses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Balance Sheet – Liability Side</a:t>
                      </a:r>
                    </a:p>
                  </a:txBody>
                  <a:tcPr anchor="ctr"/>
                </a:tc>
                <a:tc>
                  <a:txBody>
                    <a:bodyPr/>
                    <a:lstStyle/>
                    <a:p>
                      <a:pPr marL="457200" indent="-457200">
                        <a:buAutoNum type="alphaLcParenBoth"/>
                      </a:pPr>
                      <a:r>
                        <a:rPr lang="en-US" sz="2000" dirty="0"/>
                        <a:t>Trading/Profit &amp; Loss A/c Debit Side. </a:t>
                      </a:r>
                    </a:p>
                    <a:p>
                      <a:pPr marL="457200" indent="-457200">
                        <a:buAutoNum type="alphaLcParenBoth"/>
                      </a:pPr>
                      <a:r>
                        <a:rPr lang="en-US" sz="2000" dirty="0"/>
                        <a:t>Balance Sheet – Liability Side </a:t>
                      </a:r>
                    </a:p>
                  </a:txBody>
                  <a:tcPr/>
                </a:tc>
                <a:extLst>
                  <a:ext uri="{0D108BD9-81ED-4DB2-BD59-A6C34878D82A}">
                    <a16:rowId xmlns:a16="http://schemas.microsoft.com/office/drawing/2014/main" val="352387546"/>
                  </a:ext>
                </a:extLst>
              </a:tr>
              <a:tr h="370840">
                <a:tc>
                  <a:txBody>
                    <a:bodyPr/>
                    <a:lstStyle/>
                    <a:p>
                      <a:r>
                        <a:rPr lang="en-US" sz="2000" dirty="0"/>
                        <a:t>3. Prepaid Expenses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Balance Sheet – Asset Side</a:t>
                      </a:r>
                    </a:p>
                  </a:txBody>
                  <a:tcPr anchor="ctr"/>
                </a:tc>
                <a:tc>
                  <a:txBody>
                    <a:bodyPr/>
                    <a:lstStyle/>
                    <a:p>
                      <a:pPr marL="457200" indent="-457200">
                        <a:buAutoNum type="alphaLcParenBoth"/>
                      </a:pPr>
                      <a:r>
                        <a:rPr lang="en-US" sz="2000" dirty="0"/>
                        <a:t>Trading/Profit &amp; Loss A/c Debit Side. Deduct from the concerned expenses.</a:t>
                      </a:r>
                    </a:p>
                    <a:p>
                      <a:pPr marL="457200" indent="-457200">
                        <a:buAutoNum type="alphaLcParenBoth"/>
                      </a:pPr>
                      <a:r>
                        <a:rPr lang="en-US" sz="2000" dirty="0"/>
                        <a:t>Balance Sheet - Asset Side.</a:t>
                      </a:r>
                      <a:endParaRPr lang="en-US" sz="2000" b="1" dirty="0"/>
                    </a:p>
                  </a:txBody>
                  <a:tcPr/>
                </a:tc>
                <a:extLst>
                  <a:ext uri="{0D108BD9-81ED-4DB2-BD59-A6C34878D82A}">
                    <a16:rowId xmlns:a16="http://schemas.microsoft.com/office/drawing/2014/main" val="1380410863"/>
                  </a:ext>
                </a:extLst>
              </a:tr>
              <a:tr h="370840">
                <a:tc>
                  <a:txBody>
                    <a:bodyPr/>
                    <a:lstStyle/>
                    <a:p>
                      <a:r>
                        <a:rPr lang="en-US" sz="2000" dirty="0"/>
                        <a:t>4. Income Outstanding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Balance Sheet – Asset Side </a:t>
                      </a:r>
                    </a:p>
                  </a:txBody>
                  <a:tcPr anchor="ctr"/>
                </a:tc>
                <a:tc>
                  <a:txBody>
                    <a:bodyPr/>
                    <a:lstStyle/>
                    <a:p>
                      <a:pPr marL="457200" indent="-457200">
                        <a:buAutoNum type="alphaLcParenBoth"/>
                      </a:pPr>
                      <a:r>
                        <a:rPr lang="en-US" sz="2000" dirty="0"/>
                        <a:t>Profit &amp; Loss A/c – Credit Side. Add to the concerned income.</a:t>
                      </a:r>
                    </a:p>
                    <a:p>
                      <a:pPr marL="457200" indent="-457200">
                        <a:buAutoNum type="alphaLcParenBoth"/>
                      </a:pPr>
                      <a:r>
                        <a:rPr lang="en-US" sz="2000" dirty="0"/>
                        <a:t>Balance Sheet – Asset Side. </a:t>
                      </a:r>
                    </a:p>
                  </a:txBody>
                  <a:tcPr/>
                </a:tc>
                <a:extLst>
                  <a:ext uri="{0D108BD9-81ED-4DB2-BD59-A6C34878D82A}">
                    <a16:rowId xmlns:a16="http://schemas.microsoft.com/office/drawing/2014/main" val="2350044888"/>
                  </a:ext>
                </a:extLst>
              </a:tr>
              <a:tr h="370840">
                <a:tc>
                  <a:txBody>
                    <a:bodyPr/>
                    <a:lstStyle/>
                    <a:p>
                      <a:r>
                        <a:rPr lang="en-US" sz="2000" dirty="0"/>
                        <a:t>5. Incomes Received in Advance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Balance Sheet – Liability Side</a:t>
                      </a:r>
                    </a:p>
                  </a:txBody>
                  <a:tcPr anchor="ctr"/>
                </a:tc>
                <a:tc>
                  <a:txBody>
                    <a:bodyPr/>
                    <a:lstStyle/>
                    <a:p>
                      <a:pPr marL="457200" indent="-457200">
                        <a:buAutoNum type="alphaLcParenBoth"/>
                      </a:pPr>
                      <a:r>
                        <a:rPr lang="en-US" sz="2000" dirty="0"/>
                        <a:t>Profit &amp; Loss A/c – Credit Side.</a:t>
                      </a:r>
                    </a:p>
                    <a:p>
                      <a:pPr marL="457200" indent="-457200">
                        <a:buNone/>
                      </a:pPr>
                      <a:r>
                        <a:rPr lang="en-US" sz="2000" dirty="0"/>
                        <a:t>        Deduct from concerned income.</a:t>
                      </a:r>
                    </a:p>
                    <a:p>
                      <a:r>
                        <a:rPr lang="en-US" sz="2000" dirty="0"/>
                        <a:t>(b)   Balance Sheet – Liability Side </a:t>
                      </a:r>
                    </a:p>
                  </a:txBody>
                  <a:tcPr/>
                </a:tc>
                <a:extLst>
                  <a:ext uri="{0D108BD9-81ED-4DB2-BD59-A6C34878D82A}">
                    <a16:rowId xmlns:a16="http://schemas.microsoft.com/office/drawing/2014/main" val="1999177365"/>
                  </a:ext>
                </a:extLst>
              </a:tr>
              <a:tr h="370840">
                <a:tc>
                  <a:txBody>
                    <a:bodyPr/>
                    <a:lstStyle/>
                    <a:p>
                      <a:r>
                        <a:rPr lang="en-US" sz="2000" dirty="0"/>
                        <a:t>6. Bad Debts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Profit &amp; Loss A/c – Debit Side</a:t>
                      </a:r>
                    </a:p>
                  </a:txBody>
                  <a:tcPr anchor="ctr"/>
                </a:tc>
                <a:tc>
                  <a:txBody>
                    <a:bodyPr/>
                    <a:lstStyle/>
                    <a:p>
                      <a:pPr marL="457200" indent="-457200">
                        <a:buAutoNum type="alphaLcParenBoth"/>
                      </a:pPr>
                      <a:r>
                        <a:rPr lang="en-US" sz="2000" dirty="0"/>
                        <a:t>Profit &amp; Loss A/c – Debit Side. </a:t>
                      </a:r>
                    </a:p>
                    <a:p>
                      <a:pPr marL="457200" indent="-457200">
                        <a:buAutoNum type="alphaLcParenBoth"/>
                      </a:pPr>
                      <a:r>
                        <a:rPr lang="en-US" sz="2000" dirty="0"/>
                        <a:t>Balance Sheet – Asset Side. Deduct from debtors.</a:t>
                      </a:r>
                    </a:p>
                  </a:txBody>
                  <a:tcPr/>
                </a:tc>
                <a:extLst>
                  <a:ext uri="{0D108BD9-81ED-4DB2-BD59-A6C34878D82A}">
                    <a16:rowId xmlns:a16="http://schemas.microsoft.com/office/drawing/2014/main" val="1882407974"/>
                  </a:ext>
                </a:extLst>
              </a:tr>
            </a:tbl>
          </a:graphicData>
        </a:graphic>
      </p:graphicFrame>
    </p:spTree>
    <p:extLst>
      <p:ext uri="{BB962C8B-B14F-4D97-AF65-F5344CB8AC3E}">
        <p14:creationId xmlns:p14="http://schemas.microsoft.com/office/powerpoint/2010/main" val="4269021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6">
            <a:extLst>
              <a:ext uri="{FF2B5EF4-FFF2-40B4-BE49-F238E27FC236}">
                <a16:creationId xmlns:a16="http://schemas.microsoft.com/office/drawing/2014/main" id="{E38E5E55-FDA9-0EF3-13FA-C875D0327137}"/>
              </a:ext>
            </a:extLst>
          </p:cNvPr>
          <p:cNvGraphicFramePr>
            <a:graphicFrameLocks noGrp="1"/>
          </p:cNvGraphicFramePr>
          <p:nvPr>
            <p:ph idx="4294967295"/>
          </p:nvPr>
        </p:nvGraphicFramePr>
        <p:xfrm>
          <a:off x="162561" y="110190"/>
          <a:ext cx="11866878" cy="5394960"/>
        </p:xfrm>
        <a:graphic>
          <a:graphicData uri="http://schemas.openxmlformats.org/drawingml/2006/table">
            <a:tbl>
              <a:tblPr firstRow="1" bandRow="1">
                <a:tableStyleId>{5940675A-B579-460E-94D1-54222C63F5DA}</a:tableStyleId>
              </a:tblPr>
              <a:tblGrid>
                <a:gridCol w="3955626">
                  <a:extLst>
                    <a:ext uri="{9D8B030D-6E8A-4147-A177-3AD203B41FA5}">
                      <a16:colId xmlns:a16="http://schemas.microsoft.com/office/drawing/2014/main" val="50345232"/>
                    </a:ext>
                  </a:extLst>
                </a:gridCol>
                <a:gridCol w="3955626">
                  <a:extLst>
                    <a:ext uri="{9D8B030D-6E8A-4147-A177-3AD203B41FA5}">
                      <a16:colId xmlns:a16="http://schemas.microsoft.com/office/drawing/2014/main" val="3871955314"/>
                    </a:ext>
                  </a:extLst>
                </a:gridCol>
                <a:gridCol w="3955626">
                  <a:extLst>
                    <a:ext uri="{9D8B030D-6E8A-4147-A177-3AD203B41FA5}">
                      <a16:colId xmlns:a16="http://schemas.microsoft.com/office/drawing/2014/main" val="3531073226"/>
                    </a:ext>
                  </a:extLst>
                </a:gridCol>
              </a:tblGrid>
              <a:tr h="370840">
                <a:tc>
                  <a:txBody>
                    <a:bodyPr/>
                    <a:lstStyle/>
                    <a:p>
                      <a:r>
                        <a:rPr lang="en-US" sz="2400" b="1" dirty="0"/>
                        <a:t>Adjustment</a:t>
                      </a:r>
                    </a:p>
                  </a:txBody>
                  <a:tcPr/>
                </a:tc>
                <a:tc>
                  <a:txBody>
                    <a:bodyPr/>
                    <a:lstStyle/>
                    <a:p>
                      <a:r>
                        <a:rPr lang="en-US" sz="2400" b="1" dirty="0"/>
                        <a:t>If given in Trial Balance</a:t>
                      </a:r>
                    </a:p>
                  </a:txBody>
                  <a:tcPr/>
                </a:tc>
                <a:tc>
                  <a:txBody>
                    <a:bodyPr/>
                    <a:lstStyle/>
                    <a:p>
                      <a:r>
                        <a:rPr lang="en-US" sz="2400" b="1" dirty="0"/>
                        <a:t>If not given in Trial Balance</a:t>
                      </a:r>
                    </a:p>
                  </a:txBody>
                  <a:tcPr/>
                </a:tc>
                <a:extLst>
                  <a:ext uri="{0D108BD9-81ED-4DB2-BD59-A6C34878D82A}">
                    <a16:rowId xmlns:a16="http://schemas.microsoft.com/office/drawing/2014/main" val="3672012837"/>
                  </a:ext>
                </a:extLst>
              </a:tr>
              <a:tr h="370840">
                <a:tc>
                  <a:txBody>
                    <a:bodyPr/>
                    <a:lstStyle/>
                    <a:p>
                      <a:r>
                        <a:rPr lang="en-US" sz="2000" dirty="0"/>
                        <a:t>7. Provision for Bad or Doubtful</a:t>
                      </a:r>
                    </a:p>
                    <a:p>
                      <a:r>
                        <a:rPr lang="en-US" sz="2000" dirty="0"/>
                        <a:t>    debts</a:t>
                      </a:r>
                    </a:p>
                  </a:txBody>
                  <a:tcPr/>
                </a:tc>
                <a:tc>
                  <a:txBody>
                    <a:bodyPr/>
                    <a:lstStyle/>
                    <a:p>
                      <a:r>
                        <a:rPr lang="en-US" sz="2000" dirty="0"/>
                        <a:t>Profit &amp; Loss A/c – Debit Side</a:t>
                      </a:r>
                    </a:p>
                  </a:txBody>
                  <a:tcPr/>
                </a:tc>
                <a:tc>
                  <a:txBody>
                    <a:bodyPr/>
                    <a:lstStyle/>
                    <a:p>
                      <a:pPr marL="457200" indent="-457200">
                        <a:buAutoNum type="alphaLcParenBoth"/>
                      </a:pPr>
                      <a:r>
                        <a:rPr lang="en-US" sz="2000" dirty="0"/>
                        <a:t>Profit &amp; Loss A/c – Debit Side.</a:t>
                      </a:r>
                    </a:p>
                    <a:p>
                      <a:pPr marL="457200" marR="0" lvl="0" indent="-457200" algn="l" defTabSz="914400" rtl="0" eaLnBrk="1" fontAlgn="auto" latinLnBrk="0" hangingPunct="1">
                        <a:lnSpc>
                          <a:spcPct val="100000"/>
                        </a:lnSpc>
                        <a:spcBef>
                          <a:spcPts val="0"/>
                        </a:spcBef>
                        <a:spcAft>
                          <a:spcPts val="0"/>
                        </a:spcAft>
                        <a:buClrTx/>
                        <a:buSzTx/>
                        <a:buFontTx/>
                        <a:buAutoNum type="alphaLcParenBoth"/>
                        <a:tabLst/>
                        <a:defRPr/>
                      </a:pPr>
                      <a:r>
                        <a:rPr lang="en-US" sz="2000" dirty="0"/>
                        <a:t>Balance Sheet – Asset Side. Deduct from debtors after addition bad debts, if any.</a:t>
                      </a:r>
                    </a:p>
                  </a:txBody>
                  <a:tcPr/>
                </a:tc>
                <a:extLst>
                  <a:ext uri="{0D108BD9-81ED-4DB2-BD59-A6C34878D82A}">
                    <a16:rowId xmlns:a16="http://schemas.microsoft.com/office/drawing/2014/main" val="4292481262"/>
                  </a:ext>
                </a:extLst>
              </a:tr>
              <a:tr h="370840">
                <a:tc>
                  <a:txBody>
                    <a:bodyPr/>
                    <a:lstStyle/>
                    <a:p>
                      <a:r>
                        <a:rPr lang="en-US" sz="2000" dirty="0"/>
                        <a:t>8. Provision for Discount on Debtors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Balance Sheet – Asset Side Deduct from Debtors.</a:t>
                      </a:r>
                    </a:p>
                  </a:txBody>
                  <a:tcPr/>
                </a:tc>
                <a:tc>
                  <a:txBody>
                    <a:bodyPr/>
                    <a:lstStyle/>
                    <a:p>
                      <a:pPr marL="457200" indent="-457200">
                        <a:buAutoNum type="alphaLcParenBoth"/>
                      </a:pPr>
                      <a:r>
                        <a:rPr lang="en-US" sz="2000" dirty="0"/>
                        <a:t>Profit &amp; Loss A/c – Debit Side.</a:t>
                      </a:r>
                    </a:p>
                    <a:p>
                      <a:pPr marL="457200" indent="-457200">
                        <a:buAutoNum type="alphaLcParenBoth"/>
                      </a:pPr>
                      <a:r>
                        <a:rPr lang="en-US" sz="2000" dirty="0"/>
                        <a:t>Balance Sheet – Asset Side. Deduct from debtors after providing for provision for bad debts</a:t>
                      </a:r>
                    </a:p>
                  </a:txBody>
                  <a:tcPr/>
                </a:tc>
                <a:extLst>
                  <a:ext uri="{0D108BD9-81ED-4DB2-BD59-A6C34878D82A}">
                    <a16:rowId xmlns:a16="http://schemas.microsoft.com/office/drawing/2014/main" val="352387546"/>
                  </a:ext>
                </a:extLst>
              </a:tr>
              <a:tr h="370840">
                <a:tc>
                  <a:txBody>
                    <a:bodyPr/>
                    <a:lstStyle/>
                    <a:p>
                      <a:r>
                        <a:rPr lang="en-US" sz="2000" dirty="0"/>
                        <a:t>9. Depreciation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Profit &amp; Loss A/c – Debit Side </a:t>
                      </a:r>
                    </a:p>
                  </a:txBody>
                  <a:tcPr/>
                </a:tc>
                <a:tc>
                  <a:txBody>
                    <a:bodyPr/>
                    <a:lstStyle/>
                    <a:p>
                      <a:pPr marL="457200" indent="-457200">
                        <a:buAutoNum type="alphaLcParenBoth"/>
                      </a:pPr>
                      <a:r>
                        <a:rPr lang="en-US" sz="2000" dirty="0"/>
                        <a:t>Profit &amp; Loss A/c – Debit Side.</a:t>
                      </a:r>
                    </a:p>
                    <a:p>
                      <a:pPr marL="457200" indent="-457200">
                        <a:buAutoNum type="alphaLcParenBoth"/>
                      </a:pPr>
                      <a:r>
                        <a:rPr lang="en-US" sz="2000" dirty="0"/>
                        <a:t>Balance Sheet – Asset Side. Deduct from Respective Asset.</a:t>
                      </a:r>
                      <a:endParaRPr lang="en-US" sz="2000" b="1" dirty="0"/>
                    </a:p>
                  </a:txBody>
                  <a:tcPr/>
                </a:tc>
                <a:extLst>
                  <a:ext uri="{0D108BD9-81ED-4DB2-BD59-A6C34878D82A}">
                    <a16:rowId xmlns:a16="http://schemas.microsoft.com/office/drawing/2014/main" val="1380410863"/>
                  </a:ext>
                </a:extLst>
              </a:tr>
              <a:tr h="370840">
                <a:tc>
                  <a:txBody>
                    <a:bodyPr/>
                    <a:lstStyle/>
                    <a:p>
                      <a:r>
                        <a:rPr lang="en-US" sz="2000" dirty="0"/>
                        <a:t>10. Interest on Capital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Profit &amp; Loss A/c – Debit Side</a:t>
                      </a:r>
                    </a:p>
                  </a:txBody>
                  <a:tcPr/>
                </a:tc>
                <a:tc>
                  <a:txBody>
                    <a:bodyPr/>
                    <a:lstStyle/>
                    <a:p>
                      <a:pPr marL="457200" indent="-457200">
                        <a:buAutoNum type="alphaLcParenBoth"/>
                      </a:pPr>
                      <a:r>
                        <a:rPr lang="en-US" sz="2000" dirty="0"/>
                        <a:t>Profit &amp; Loss A/c – Debit Side. </a:t>
                      </a:r>
                    </a:p>
                    <a:p>
                      <a:pPr marL="457200" indent="-457200">
                        <a:buAutoNum type="alphaLcParenBoth"/>
                      </a:pPr>
                      <a:r>
                        <a:rPr lang="en-US" sz="2000" dirty="0"/>
                        <a:t>Balance Sheet – Liability Side. Add to Capital.</a:t>
                      </a:r>
                    </a:p>
                  </a:txBody>
                  <a:tcPr/>
                </a:tc>
                <a:extLst>
                  <a:ext uri="{0D108BD9-81ED-4DB2-BD59-A6C34878D82A}">
                    <a16:rowId xmlns:a16="http://schemas.microsoft.com/office/drawing/2014/main" val="2350044888"/>
                  </a:ext>
                </a:extLst>
              </a:tr>
            </a:tbl>
          </a:graphicData>
        </a:graphic>
      </p:graphicFrame>
    </p:spTree>
    <p:extLst>
      <p:ext uri="{BB962C8B-B14F-4D97-AF65-F5344CB8AC3E}">
        <p14:creationId xmlns:p14="http://schemas.microsoft.com/office/powerpoint/2010/main" val="424144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6">
            <a:extLst>
              <a:ext uri="{FF2B5EF4-FFF2-40B4-BE49-F238E27FC236}">
                <a16:creationId xmlns:a16="http://schemas.microsoft.com/office/drawing/2014/main" id="{E38E5E55-FDA9-0EF3-13FA-C875D0327137}"/>
              </a:ext>
            </a:extLst>
          </p:cNvPr>
          <p:cNvGraphicFramePr>
            <a:graphicFrameLocks noGrp="1"/>
          </p:cNvGraphicFramePr>
          <p:nvPr>
            <p:ph idx="4294967295"/>
          </p:nvPr>
        </p:nvGraphicFramePr>
        <p:xfrm>
          <a:off x="162561" y="385763"/>
          <a:ext cx="11866878" cy="5303520"/>
        </p:xfrm>
        <a:graphic>
          <a:graphicData uri="http://schemas.openxmlformats.org/drawingml/2006/table">
            <a:tbl>
              <a:tblPr firstRow="1" bandRow="1">
                <a:tableStyleId>{5940675A-B579-460E-94D1-54222C63F5DA}</a:tableStyleId>
              </a:tblPr>
              <a:tblGrid>
                <a:gridCol w="3955626">
                  <a:extLst>
                    <a:ext uri="{9D8B030D-6E8A-4147-A177-3AD203B41FA5}">
                      <a16:colId xmlns:a16="http://schemas.microsoft.com/office/drawing/2014/main" val="50345232"/>
                    </a:ext>
                  </a:extLst>
                </a:gridCol>
                <a:gridCol w="3955626">
                  <a:extLst>
                    <a:ext uri="{9D8B030D-6E8A-4147-A177-3AD203B41FA5}">
                      <a16:colId xmlns:a16="http://schemas.microsoft.com/office/drawing/2014/main" val="3871955314"/>
                    </a:ext>
                  </a:extLst>
                </a:gridCol>
                <a:gridCol w="3955626">
                  <a:extLst>
                    <a:ext uri="{9D8B030D-6E8A-4147-A177-3AD203B41FA5}">
                      <a16:colId xmlns:a16="http://schemas.microsoft.com/office/drawing/2014/main" val="3531073226"/>
                    </a:ext>
                  </a:extLst>
                </a:gridCol>
              </a:tblGrid>
              <a:tr h="370840">
                <a:tc>
                  <a:txBody>
                    <a:bodyPr/>
                    <a:lstStyle/>
                    <a:p>
                      <a:r>
                        <a:rPr lang="en-US" sz="2400" b="1" dirty="0"/>
                        <a:t>Adjustment</a:t>
                      </a:r>
                    </a:p>
                  </a:txBody>
                  <a:tcPr/>
                </a:tc>
                <a:tc>
                  <a:txBody>
                    <a:bodyPr/>
                    <a:lstStyle/>
                    <a:p>
                      <a:r>
                        <a:rPr lang="en-US" sz="2400" b="1" dirty="0"/>
                        <a:t>If given in Trial Balance</a:t>
                      </a:r>
                    </a:p>
                  </a:txBody>
                  <a:tcPr/>
                </a:tc>
                <a:tc>
                  <a:txBody>
                    <a:bodyPr/>
                    <a:lstStyle/>
                    <a:p>
                      <a:r>
                        <a:rPr lang="en-US" sz="2400" b="1" dirty="0"/>
                        <a:t>If not given in Trial Balance</a:t>
                      </a:r>
                    </a:p>
                  </a:txBody>
                  <a:tcPr/>
                </a:tc>
                <a:extLst>
                  <a:ext uri="{0D108BD9-81ED-4DB2-BD59-A6C34878D82A}">
                    <a16:rowId xmlns:a16="http://schemas.microsoft.com/office/drawing/2014/main" val="3672012837"/>
                  </a:ext>
                </a:extLst>
              </a:tr>
              <a:tr h="370840">
                <a:tc>
                  <a:txBody>
                    <a:bodyPr/>
                    <a:lstStyle/>
                    <a:p>
                      <a:r>
                        <a:rPr lang="en-US" sz="2000" dirty="0"/>
                        <a:t>11. Interest on Drawings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Profit &amp; Loss A/c – Credit Side</a:t>
                      </a:r>
                    </a:p>
                  </a:txBody>
                  <a:tcPr/>
                </a:tc>
                <a:tc>
                  <a:txBody>
                    <a:bodyPr/>
                    <a:lstStyle/>
                    <a:p>
                      <a:pPr marL="457200" indent="-457200">
                        <a:buAutoNum type="alphaLcParenBoth"/>
                      </a:pPr>
                      <a:r>
                        <a:rPr lang="en-US" sz="2000" dirty="0"/>
                        <a:t>Profit &amp; Loss A/c – Credit Side. </a:t>
                      </a:r>
                    </a:p>
                    <a:p>
                      <a:pPr marL="457200" marR="0" lvl="0" indent="-457200" algn="l" defTabSz="914400" rtl="0" eaLnBrk="1" fontAlgn="auto" latinLnBrk="0" hangingPunct="1">
                        <a:lnSpc>
                          <a:spcPct val="100000"/>
                        </a:lnSpc>
                        <a:spcBef>
                          <a:spcPts val="0"/>
                        </a:spcBef>
                        <a:spcAft>
                          <a:spcPts val="0"/>
                        </a:spcAft>
                        <a:buClrTx/>
                        <a:buSzTx/>
                        <a:buFontTx/>
                        <a:buAutoNum type="alphaLcParenBoth"/>
                        <a:tabLst/>
                        <a:defRPr/>
                      </a:pPr>
                      <a:r>
                        <a:rPr lang="en-US" sz="2000" dirty="0"/>
                        <a:t>Balance Sheet – Liability Side. Deduct from Capital.</a:t>
                      </a:r>
                    </a:p>
                    <a:p>
                      <a:pPr marL="0" indent="0">
                        <a:buNone/>
                      </a:pPr>
                      <a:endParaRPr lang="en-US" sz="2000" dirty="0"/>
                    </a:p>
                  </a:txBody>
                  <a:tcPr/>
                </a:tc>
                <a:extLst>
                  <a:ext uri="{0D108BD9-81ED-4DB2-BD59-A6C34878D82A}">
                    <a16:rowId xmlns:a16="http://schemas.microsoft.com/office/drawing/2014/main" val="352387546"/>
                  </a:ext>
                </a:extLst>
              </a:tr>
              <a:tr h="370840">
                <a:tc>
                  <a:txBody>
                    <a:bodyPr/>
                    <a:lstStyle/>
                    <a:p>
                      <a:r>
                        <a:rPr lang="en-US" sz="2000" dirty="0"/>
                        <a:t>12. Loss by Fire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Profit &amp; Loss A/c – Debit Side</a:t>
                      </a:r>
                    </a:p>
                  </a:txBody>
                  <a:tcPr/>
                </a:tc>
                <a:tc>
                  <a:txBody>
                    <a:bodyPr/>
                    <a:lstStyle/>
                    <a:p>
                      <a:pPr marL="457200" indent="-457200">
                        <a:buAutoNum type="alphaLcParenBoth"/>
                      </a:pPr>
                      <a:r>
                        <a:rPr lang="en-US" sz="2000" dirty="0"/>
                        <a:t>Trading A/c – Credit Side (with full amount of loss)</a:t>
                      </a:r>
                    </a:p>
                    <a:p>
                      <a:pPr marL="457200" indent="-457200">
                        <a:buAutoNum type="alphaLcParenBoth"/>
                      </a:pPr>
                      <a:r>
                        <a:rPr lang="en-US" sz="2000" dirty="0"/>
                        <a:t>Profit &amp; Loss A/c – Debit Side</a:t>
                      </a:r>
                    </a:p>
                    <a:p>
                      <a:pPr marL="0" indent="0">
                        <a:buNone/>
                      </a:pPr>
                      <a:r>
                        <a:rPr lang="en-US" sz="2000" dirty="0"/>
                        <a:t>        (Actual loss, if any).</a:t>
                      </a:r>
                    </a:p>
                    <a:p>
                      <a:pPr marL="0" indent="0">
                        <a:buNone/>
                      </a:pPr>
                      <a:r>
                        <a:rPr lang="en-US" sz="2000" dirty="0"/>
                        <a:t>(c)  Balance Sheet – Asset Side (with                 insurance claim admitted by Insurance Co.)</a:t>
                      </a:r>
                    </a:p>
                  </a:txBody>
                  <a:tcPr/>
                </a:tc>
                <a:extLst>
                  <a:ext uri="{0D108BD9-81ED-4DB2-BD59-A6C34878D82A}">
                    <a16:rowId xmlns:a16="http://schemas.microsoft.com/office/drawing/2014/main" val="1380410863"/>
                  </a:ext>
                </a:extLst>
              </a:tr>
              <a:tr h="370840">
                <a:tc>
                  <a:txBody>
                    <a:bodyPr/>
                    <a:lstStyle/>
                    <a:p>
                      <a:r>
                        <a:rPr lang="en-US" sz="2000" dirty="0"/>
                        <a:t>13. Goods withdrawn for personal use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Trading A/c - Credit Side</a:t>
                      </a:r>
                    </a:p>
                  </a:txBody>
                  <a:tcPr/>
                </a:tc>
                <a:tc>
                  <a:txBody>
                    <a:bodyPr/>
                    <a:lstStyle/>
                    <a:p>
                      <a:r>
                        <a:rPr lang="en-US" sz="2000" dirty="0"/>
                        <a:t>(a) Trading A/c – Credit Side or</a:t>
                      </a:r>
                    </a:p>
                    <a:p>
                      <a:r>
                        <a:rPr lang="en-US" sz="2000" dirty="0"/>
                        <a:t>Deduct from purchases.</a:t>
                      </a:r>
                    </a:p>
                    <a:p>
                      <a:r>
                        <a:rPr lang="en-US" sz="2000" dirty="0"/>
                        <a:t>(b) Balance Sheet – Liability Side (Deduct from Capital as Drawings)</a:t>
                      </a:r>
                    </a:p>
                  </a:txBody>
                  <a:tcPr/>
                </a:tc>
                <a:extLst>
                  <a:ext uri="{0D108BD9-81ED-4DB2-BD59-A6C34878D82A}">
                    <a16:rowId xmlns:a16="http://schemas.microsoft.com/office/drawing/2014/main" val="2350044888"/>
                  </a:ext>
                </a:extLst>
              </a:tr>
            </a:tbl>
          </a:graphicData>
        </a:graphic>
      </p:graphicFrame>
    </p:spTree>
    <p:extLst>
      <p:ext uri="{BB962C8B-B14F-4D97-AF65-F5344CB8AC3E}">
        <p14:creationId xmlns:p14="http://schemas.microsoft.com/office/powerpoint/2010/main" val="2288417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6">
            <a:extLst>
              <a:ext uri="{FF2B5EF4-FFF2-40B4-BE49-F238E27FC236}">
                <a16:creationId xmlns:a16="http://schemas.microsoft.com/office/drawing/2014/main" id="{E38E5E55-FDA9-0EF3-13FA-C875D0327137}"/>
              </a:ext>
            </a:extLst>
          </p:cNvPr>
          <p:cNvGraphicFramePr>
            <a:graphicFrameLocks noGrp="1"/>
          </p:cNvGraphicFramePr>
          <p:nvPr>
            <p:ph idx="4294967295"/>
          </p:nvPr>
        </p:nvGraphicFramePr>
        <p:xfrm>
          <a:off x="162561" y="110190"/>
          <a:ext cx="11866878" cy="4297680"/>
        </p:xfrm>
        <a:graphic>
          <a:graphicData uri="http://schemas.openxmlformats.org/drawingml/2006/table">
            <a:tbl>
              <a:tblPr firstRow="1" bandRow="1">
                <a:tableStyleId>{5940675A-B579-460E-94D1-54222C63F5DA}</a:tableStyleId>
              </a:tblPr>
              <a:tblGrid>
                <a:gridCol w="3955626">
                  <a:extLst>
                    <a:ext uri="{9D8B030D-6E8A-4147-A177-3AD203B41FA5}">
                      <a16:colId xmlns:a16="http://schemas.microsoft.com/office/drawing/2014/main" val="50345232"/>
                    </a:ext>
                  </a:extLst>
                </a:gridCol>
                <a:gridCol w="3955626">
                  <a:extLst>
                    <a:ext uri="{9D8B030D-6E8A-4147-A177-3AD203B41FA5}">
                      <a16:colId xmlns:a16="http://schemas.microsoft.com/office/drawing/2014/main" val="3871955314"/>
                    </a:ext>
                  </a:extLst>
                </a:gridCol>
                <a:gridCol w="3955626">
                  <a:extLst>
                    <a:ext uri="{9D8B030D-6E8A-4147-A177-3AD203B41FA5}">
                      <a16:colId xmlns:a16="http://schemas.microsoft.com/office/drawing/2014/main" val="3531073226"/>
                    </a:ext>
                  </a:extLst>
                </a:gridCol>
              </a:tblGrid>
              <a:tr h="370840">
                <a:tc>
                  <a:txBody>
                    <a:bodyPr/>
                    <a:lstStyle/>
                    <a:p>
                      <a:r>
                        <a:rPr lang="en-US" sz="2400" b="1" dirty="0"/>
                        <a:t>Adjustment</a:t>
                      </a:r>
                    </a:p>
                  </a:txBody>
                  <a:tcPr/>
                </a:tc>
                <a:tc>
                  <a:txBody>
                    <a:bodyPr/>
                    <a:lstStyle/>
                    <a:p>
                      <a:r>
                        <a:rPr lang="en-US" sz="2400" b="1" dirty="0"/>
                        <a:t>If given in Trial Balance</a:t>
                      </a:r>
                    </a:p>
                  </a:txBody>
                  <a:tcPr/>
                </a:tc>
                <a:tc>
                  <a:txBody>
                    <a:bodyPr/>
                    <a:lstStyle/>
                    <a:p>
                      <a:r>
                        <a:rPr lang="en-US" sz="2400" b="1" dirty="0"/>
                        <a:t>If not given in Trial Balance</a:t>
                      </a:r>
                    </a:p>
                  </a:txBody>
                  <a:tcPr/>
                </a:tc>
                <a:extLst>
                  <a:ext uri="{0D108BD9-81ED-4DB2-BD59-A6C34878D82A}">
                    <a16:rowId xmlns:a16="http://schemas.microsoft.com/office/drawing/2014/main" val="3672012837"/>
                  </a:ext>
                </a:extLst>
              </a:tr>
              <a:tr h="370840">
                <a:tc>
                  <a:txBody>
                    <a:bodyPr/>
                    <a:lstStyle/>
                    <a:p>
                      <a:r>
                        <a:rPr lang="en-US" sz="2000" dirty="0"/>
                        <a:t>14. Goods Distributed as free samples</a:t>
                      </a:r>
                    </a:p>
                  </a:txBody>
                  <a:tcPr/>
                </a:tc>
                <a:tc>
                  <a:txBody>
                    <a:bodyPr/>
                    <a:lstStyle/>
                    <a:p>
                      <a:r>
                        <a:rPr lang="en-US" sz="2000"/>
                        <a:t>Profit &amp; Loss A/c – Debit Side</a:t>
                      </a:r>
                      <a:endParaRPr lang="en-US" sz="2000" dirty="0"/>
                    </a:p>
                  </a:txBody>
                  <a:tcPr/>
                </a:tc>
                <a:tc>
                  <a:txBody>
                    <a:bodyPr/>
                    <a:lstStyle/>
                    <a:p>
                      <a:pPr marL="457200" indent="-457200">
                        <a:buAutoNum type="alphaLcParenBoth"/>
                      </a:pPr>
                      <a:r>
                        <a:rPr lang="en-US" sz="2000" dirty="0"/>
                        <a:t>Trading A/c – Credit Side or Deduct from Purchases</a:t>
                      </a:r>
                    </a:p>
                    <a:p>
                      <a:pPr marL="457200" indent="-457200">
                        <a:buAutoNum type="alphaLcParenBoth"/>
                      </a:pPr>
                      <a:r>
                        <a:rPr lang="en-US" sz="2000" dirty="0"/>
                        <a:t>Profit &amp; Loss A/c – Debit Side </a:t>
                      </a:r>
                    </a:p>
                  </a:txBody>
                  <a:tcPr/>
                </a:tc>
                <a:extLst>
                  <a:ext uri="{0D108BD9-81ED-4DB2-BD59-A6C34878D82A}">
                    <a16:rowId xmlns:a16="http://schemas.microsoft.com/office/drawing/2014/main" val="4292481262"/>
                  </a:ext>
                </a:extLst>
              </a:tr>
              <a:tr h="370840">
                <a:tc>
                  <a:txBody>
                    <a:bodyPr/>
                    <a:lstStyle/>
                    <a:p>
                      <a:r>
                        <a:rPr lang="en-US" sz="2000" dirty="0"/>
                        <a:t>15. Sale of Goods on Approval Basis, approval not yet received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Usually it is not given in Trial Balance</a:t>
                      </a:r>
                    </a:p>
                  </a:txBody>
                  <a:tcPr/>
                </a:tc>
                <a:tc>
                  <a:txBody>
                    <a:bodyPr/>
                    <a:lstStyle/>
                    <a:p>
                      <a:pPr marL="457200" indent="-457200">
                        <a:buAutoNum type="alphaLcParenBoth"/>
                      </a:pPr>
                      <a:r>
                        <a:rPr lang="en-US" sz="2000" dirty="0"/>
                        <a:t>Trading A/c – Credit Side. Deduct from Sales the selling price of goods sold and add to stock at cost price.</a:t>
                      </a:r>
                    </a:p>
                    <a:p>
                      <a:pPr marL="457200" indent="-457200">
                        <a:buAutoNum type="alphaLcParenBoth"/>
                      </a:pPr>
                      <a:r>
                        <a:rPr lang="en-US" sz="2000" dirty="0"/>
                        <a:t>Balance Sheet – Asset Side. Deduct from Debtors the selling price of such sales and show the cost price of such sales along with closing stock. </a:t>
                      </a:r>
                    </a:p>
                  </a:txBody>
                  <a:tcPr/>
                </a:tc>
                <a:extLst>
                  <a:ext uri="{0D108BD9-81ED-4DB2-BD59-A6C34878D82A}">
                    <a16:rowId xmlns:a16="http://schemas.microsoft.com/office/drawing/2014/main" val="352387546"/>
                  </a:ext>
                </a:extLst>
              </a:tr>
            </a:tbl>
          </a:graphicData>
        </a:graphic>
      </p:graphicFrame>
    </p:spTree>
    <p:extLst>
      <p:ext uri="{BB962C8B-B14F-4D97-AF65-F5344CB8AC3E}">
        <p14:creationId xmlns:p14="http://schemas.microsoft.com/office/powerpoint/2010/main" val="2001342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t>EXERCISES</a:t>
            </a:r>
          </a:p>
        </p:txBody>
      </p:sp>
    </p:spTree>
    <p:extLst>
      <p:ext uri="{BB962C8B-B14F-4D97-AF65-F5344CB8AC3E}">
        <p14:creationId xmlns:p14="http://schemas.microsoft.com/office/powerpoint/2010/main" val="1907065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a:xfrm>
            <a:off x="1322504" y="1899309"/>
            <a:ext cx="10515600" cy="2852737"/>
          </a:xfrm>
        </p:spPr>
        <p:txBody>
          <a:bodyPr>
            <a:normAutofit fontScale="90000"/>
          </a:bodyPr>
          <a:lstStyle/>
          <a:p>
            <a:r>
              <a:rPr lang="en-US" dirty="0"/>
              <a:t>Limited </a:t>
            </a:r>
            <a:br>
              <a:rPr lang="en-US" dirty="0"/>
            </a:br>
            <a:r>
              <a:rPr lang="en-US" dirty="0"/>
              <a:t>Liability </a:t>
            </a:r>
            <a:br>
              <a:rPr lang="en-US" dirty="0"/>
            </a:br>
            <a:r>
              <a:rPr lang="en-US" dirty="0"/>
              <a:t>Partnership </a:t>
            </a:r>
            <a:br>
              <a:rPr lang="en-US" dirty="0"/>
            </a:br>
            <a:r>
              <a:rPr lang="en-US" dirty="0"/>
              <a:t>(LLP)</a:t>
            </a:r>
          </a:p>
        </p:txBody>
      </p:sp>
      <p:pic>
        <p:nvPicPr>
          <p:cNvPr id="1026" name="Picture 2" descr="Limited Liability Partnership">
            <a:extLst>
              <a:ext uri="{FF2B5EF4-FFF2-40B4-BE49-F238E27FC236}">
                <a16:creationId xmlns:a16="http://schemas.microsoft.com/office/drawing/2014/main" id="{CB65E838-9CD3-C962-FC7C-50906F9F7D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4471" y="1021499"/>
            <a:ext cx="5915025" cy="3409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6681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559B8-FFA0-EE44-5AC1-F37C00DD9FDC}"/>
              </a:ext>
            </a:extLst>
          </p:cNvPr>
          <p:cNvSpPr>
            <a:spLocks noGrp="1"/>
          </p:cNvSpPr>
          <p:nvPr>
            <p:ph idx="1"/>
          </p:nvPr>
        </p:nvSpPr>
        <p:spPr/>
        <p:txBody>
          <a:bodyPr/>
          <a:lstStyle/>
          <a:p>
            <a:r>
              <a:rPr lang="en-US" dirty="0"/>
              <a:t>A </a:t>
            </a:r>
            <a:r>
              <a:rPr lang="en-US" b="1" dirty="0">
                <a:solidFill>
                  <a:srgbClr val="C00000"/>
                </a:solidFill>
              </a:rPr>
              <a:t>limited liability partnership (LLP) </a:t>
            </a:r>
            <a:r>
              <a:rPr lang="en-US" dirty="0"/>
              <a:t>is a flexible legal and tax entity where every partner has a limited personal liability for the debts or claims of the partnership.</a:t>
            </a:r>
          </a:p>
          <a:p>
            <a:r>
              <a:rPr lang="en-US" dirty="0"/>
              <a:t>A limited liability partnership (LLP) is a partnership in which some or all partners (depending on the jurisdiction) have </a:t>
            </a:r>
            <a:r>
              <a:rPr lang="en-US" b="1" dirty="0">
                <a:solidFill>
                  <a:srgbClr val="C00000"/>
                </a:solidFill>
              </a:rPr>
              <a:t>limited liabilities</a:t>
            </a:r>
            <a:r>
              <a:rPr lang="en-US" dirty="0"/>
              <a:t>. </a:t>
            </a:r>
          </a:p>
          <a:p>
            <a:r>
              <a:rPr lang="en-US" dirty="0"/>
              <a:t>It therefore can exhibit aspects of both partnerships and corporations. </a:t>
            </a:r>
          </a:p>
          <a:p>
            <a:r>
              <a:rPr lang="en-US" dirty="0"/>
              <a:t>In an LLP, </a:t>
            </a:r>
            <a:r>
              <a:rPr lang="en-US" b="1" dirty="0">
                <a:solidFill>
                  <a:srgbClr val="C00000"/>
                </a:solidFill>
              </a:rPr>
              <a:t>each partner is not responsible or liable for another partner's misconduct or negligence. </a:t>
            </a:r>
          </a:p>
          <a:p>
            <a:r>
              <a:rPr lang="en-US" dirty="0"/>
              <a:t>Unlike corporate shareholders, the partners have the power to manage the business directly.</a:t>
            </a:r>
          </a:p>
          <a:p>
            <a:r>
              <a:rPr lang="en-US" dirty="0"/>
              <a:t>LLP is an alternative corporate business form that gives the benefits of limited liability of a company and the flexibility of a partnership.</a:t>
            </a:r>
          </a:p>
        </p:txBody>
      </p:sp>
      <p:sp>
        <p:nvSpPr>
          <p:cNvPr id="3" name="Title 2">
            <a:extLst>
              <a:ext uri="{FF2B5EF4-FFF2-40B4-BE49-F238E27FC236}">
                <a16:creationId xmlns:a16="http://schemas.microsoft.com/office/drawing/2014/main" id="{2F53653C-2280-3610-6D39-F15417697F76}"/>
              </a:ext>
            </a:extLst>
          </p:cNvPr>
          <p:cNvSpPr>
            <a:spLocks noGrp="1"/>
          </p:cNvSpPr>
          <p:nvPr>
            <p:ph type="title"/>
          </p:nvPr>
        </p:nvSpPr>
        <p:spPr/>
        <p:txBody>
          <a:bodyPr>
            <a:noAutofit/>
          </a:bodyPr>
          <a:lstStyle/>
          <a:p>
            <a:pPr>
              <a:lnSpc>
                <a:spcPct val="100000"/>
              </a:lnSpc>
            </a:pPr>
            <a:r>
              <a:rPr lang="en-US" dirty="0">
                <a:latin typeface="+mn-lt"/>
              </a:rPr>
              <a:t>Concept of LLP</a:t>
            </a:r>
          </a:p>
        </p:txBody>
      </p:sp>
    </p:spTree>
    <p:extLst>
      <p:ext uri="{BB962C8B-B14F-4D97-AF65-F5344CB8AC3E}">
        <p14:creationId xmlns:p14="http://schemas.microsoft.com/office/powerpoint/2010/main" val="1831952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559B8-FFA0-EE44-5AC1-F37C00DD9FDC}"/>
              </a:ext>
            </a:extLst>
          </p:cNvPr>
          <p:cNvSpPr>
            <a:spLocks noGrp="1"/>
          </p:cNvSpPr>
          <p:nvPr>
            <p:ph idx="1"/>
          </p:nvPr>
        </p:nvSpPr>
        <p:spPr/>
        <p:txBody>
          <a:bodyPr/>
          <a:lstStyle/>
          <a:p>
            <a:r>
              <a:rPr lang="en-US" dirty="0"/>
              <a:t>An </a:t>
            </a:r>
            <a:r>
              <a:rPr lang="en-US" b="1" dirty="0">
                <a:solidFill>
                  <a:srgbClr val="C00000"/>
                </a:solidFill>
              </a:rPr>
              <a:t>LLP can continue its existence irrespective of changes in partners</a:t>
            </a:r>
            <a:r>
              <a:rPr lang="en-US" dirty="0"/>
              <a:t>. It is capable of entering into contracts and holding property in its own name.</a:t>
            </a:r>
          </a:p>
          <a:p>
            <a:r>
              <a:rPr lang="en-US" dirty="0"/>
              <a:t>Since LLP contains elements of both ‘a corporate structure’ as well as ‘a partnership firm structure’ LLP is called a </a:t>
            </a:r>
            <a:r>
              <a:rPr lang="en-US" b="1" dirty="0">
                <a:solidFill>
                  <a:srgbClr val="C00000"/>
                </a:solidFill>
              </a:rPr>
              <a:t>hybrid between a company and a partnership</a:t>
            </a:r>
            <a:r>
              <a:rPr lang="en-US" dirty="0"/>
              <a:t>.</a:t>
            </a:r>
            <a:endParaRPr lang="en-US" baseline="30000" dirty="0"/>
          </a:p>
          <a:p>
            <a:endParaRPr lang="en-US" b="1" dirty="0">
              <a:solidFill>
                <a:srgbClr val="C00000"/>
              </a:solidFill>
            </a:endParaRPr>
          </a:p>
          <a:p>
            <a:r>
              <a:rPr lang="en-US" b="1" dirty="0">
                <a:solidFill>
                  <a:srgbClr val="C00000"/>
                </a:solidFill>
              </a:rPr>
              <a:t>Examples</a:t>
            </a:r>
            <a:r>
              <a:rPr lang="en-US" dirty="0"/>
              <a:t>:</a:t>
            </a:r>
          </a:p>
          <a:p>
            <a:pPr lvl="1"/>
            <a:r>
              <a:rPr lang="en-US" dirty="0"/>
              <a:t>Law firms (Smith &amp; Associates), Marketing agencies, etc…</a:t>
            </a:r>
          </a:p>
          <a:p>
            <a:r>
              <a:rPr lang="en-US" dirty="0"/>
              <a:t>In an LLP, partners share profits and liabilities, but their personal liability is limited.</a:t>
            </a:r>
          </a:p>
          <a:p>
            <a:r>
              <a:rPr lang="en-US" dirty="0"/>
              <a:t>This protect their assets from the firm’s obligations.</a:t>
            </a:r>
          </a:p>
          <a:p>
            <a:endParaRPr lang="en-US" dirty="0"/>
          </a:p>
        </p:txBody>
      </p:sp>
      <p:sp>
        <p:nvSpPr>
          <p:cNvPr id="3" name="Title 2">
            <a:extLst>
              <a:ext uri="{FF2B5EF4-FFF2-40B4-BE49-F238E27FC236}">
                <a16:creationId xmlns:a16="http://schemas.microsoft.com/office/drawing/2014/main" id="{2F53653C-2280-3610-6D39-F15417697F76}"/>
              </a:ext>
            </a:extLst>
          </p:cNvPr>
          <p:cNvSpPr>
            <a:spLocks noGrp="1"/>
          </p:cNvSpPr>
          <p:nvPr>
            <p:ph type="title"/>
          </p:nvPr>
        </p:nvSpPr>
        <p:spPr/>
        <p:txBody>
          <a:bodyPr>
            <a:noAutofit/>
          </a:bodyPr>
          <a:lstStyle/>
          <a:p>
            <a:pPr>
              <a:lnSpc>
                <a:spcPct val="100000"/>
              </a:lnSpc>
            </a:pPr>
            <a:r>
              <a:rPr lang="en-US" dirty="0">
                <a:latin typeface="+mn-lt"/>
              </a:rPr>
              <a:t>Examples of LLP</a:t>
            </a:r>
          </a:p>
        </p:txBody>
      </p:sp>
    </p:spTree>
    <p:extLst>
      <p:ext uri="{BB962C8B-B14F-4D97-AF65-F5344CB8AC3E}">
        <p14:creationId xmlns:p14="http://schemas.microsoft.com/office/powerpoint/2010/main" val="514776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559B8-FFA0-EE44-5AC1-F37C00DD9FDC}"/>
              </a:ext>
            </a:extLst>
          </p:cNvPr>
          <p:cNvSpPr>
            <a:spLocks noGrp="1"/>
          </p:cNvSpPr>
          <p:nvPr>
            <p:ph idx="1"/>
          </p:nvPr>
        </p:nvSpPr>
        <p:spPr/>
        <p:txBody>
          <a:bodyPr/>
          <a:lstStyle/>
          <a:p>
            <a:r>
              <a:rPr lang="en-US" sz="2400" b="1" dirty="0">
                <a:solidFill>
                  <a:srgbClr val="C00000"/>
                </a:solidFill>
              </a:rPr>
              <a:t>Liability of Partners - </a:t>
            </a:r>
            <a:r>
              <a:rPr lang="en-US" sz="2400" dirty="0"/>
              <a:t>The </a:t>
            </a:r>
            <a:r>
              <a:rPr lang="en-US" sz="2400" b="1" dirty="0">
                <a:solidFill>
                  <a:srgbClr val="C00000"/>
                </a:solidFill>
              </a:rPr>
              <a:t>liability of Partners is limited to their contribution of share in the business</a:t>
            </a:r>
            <a:r>
              <a:rPr lang="en-US" sz="2400" dirty="0"/>
              <a:t>. A partner is liable for his own wrongful acts. One Partner is not responsible for the acts of others due to negligence or misconduct.</a:t>
            </a:r>
          </a:p>
          <a:p>
            <a:r>
              <a:rPr lang="en-US" sz="2400" b="1" dirty="0">
                <a:solidFill>
                  <a:srgbClr val="C00000"/>
                </a:solidFill>
              </a:rPr>
              <a:t>Legal entity -</a:t>
            </a:r>
            <a:r>
              <a:rPr lang="en-US" sz="2400" dirty="0">
                <a:solidFill>
                  <a:srgbClr val="C00000"/>
                </a:solidFill>
              </a:rPr>
              <a:t> </a:t>
            </a:r>
            <a:r>
              <a:rPr lang="en-US" sz="2400" dirty="0"/>
              <a:t>LLP is a body incorporated and </a:t>
            </a:r>
            <a:r>
              <a:rPr lang="en-US" sz="2400" b="1" dirty="0">
                <a:solidFill>
                  <a:srgbClr val="C00000"/>
                </a:solidFill>
              </a:rPr>
              <a:t>a legal entity separate from its partners</a:t>
            </a:r>
            <a:r>
              <a:rPr lang="en-US" sz="2400" dirty="0"/>
              <a:t> having perpetual succession </a:t>
            </a:r>
            <a:r>
              <a:rPr lang="en-US" sz="2400" b="1" dirty="0">
                <a:solidFill>
                  <a:srgbClr val="C00000"/>
                </a:solidFill>
              </a:rPr>
              <a:t>as per Section 3 of the Limited Liability Partnership Act, 2008</a:t>
            </a:r>
            <a:r>
              <a:rPr lang="en-US" sz="2400" dirty="0"/>
              <a:t>.</a:t>
            </a:r>
          </a:p>
          <a:p>
            <a:r>
              <a:rPr lang="en-US" sz="2400" b="1" dirty="0">
                <a:solidFill>
                  <a:srgbClr val="C00000"/>
                </a:solidFill>
              </a:rPr>
              <a:t>Limit of Partners -</a:t>
            </a:r>
            <a:r>
              <a:rPr lang="en-US" sz="2400" dirty="0"/>
              <a:t> A </a:t>
            </a:r>
            <a:r>
              <a:rPr lang="en-US" sz="2400" b="1" dirty="0">
                <a:solidFill>
                  <a:srgbClr val="C00000"/>
                </a:solidFill>
              </a:rPr>
              <a:t>minimum of two partners </a:t>
            </a:r>
            <a:r>
              <a:rPr lang="en-US" sz="2400" dirty="0"/>
              <a:t>are required to form an LLP as per </a:t>
            </a:r>
            <a:r>
              <a:rPr lang="en-US" sz="2400" b="1" dirty="0">
                <a:solidFill>
                  <a:srgbClr val="C00000"/>
                </a:solidFill>
              </a:rPr>
              <a:t>Section 6(1)</a:t>
            </a:r>
            <a:r>
              <a:rPr lang="en-US" sz="2400" dirty="0"/>
              <a:t> of the Limited Liability Partnership Act, 2008. There is </a:t>
            </a:r>
            <a:r>
              <a:rPr lang="en-US" sz="2400" b="1" dirty="0">
                <a:solidFill>
                  <a:srgbClr val="C00000"/>
                </a:solidFill>
              </a:rPr>
              <a:t>no maximum limit on the number of partners</a:t>
            </a:r>
            <a:r>
              <a:rPr lang="en-US" sz="2400" dirty="0"/>
              <a:t>.</a:t>
            </a:r>
          </a:p>
          <a:p>
            <a:r>
              <a:rPr lang="en-US" sz="2400" b="1" dirty="0">
                <a:solidFill>
                  <a:srgbClr val="C00000"/>
                </a:solidFill>
              </a:rPr>
              <a:t>Audit of Accounts -</a:t>
            </a:r>
            <a:r>
              <a:rPr lang="en-US" sz="2400" b="1" dirty="0"/>
              <a:t> </a:t>
            </a:r>
            <a:r>
              <a:rPr lang="en-US" sz="2400" dirty="0"/>
              <a:t>LLP shall maintain annual accounts where </a:t>
            </a:r>
            <a:r>
              <a:rPr lang="en-US" sz="2400" b="1" dirty="0">
                <a:solidFill>
                  <a:srgbClr val="C00000"/>
                </a:solidFill>
              </a:rPr>
              <a:t>audit of the accounts is required only if the contribution exceeds Rs. 25 lakh or annual turnover exceeds Rs. 40 lakh</a:t>
            </a:r>
            <a:r>
              <a:rPr lang="en-US" sz="2400" dirty="0"/>
              <a:t>.  </a:t>
            </a:r>
          </a:p>
          <a:p>
            <a:r>
              <a:rPr lang="en-US" sz="2400" b="1" dirty="0">
                <a:solidFill>
                  <a:srgbClr val="C00000"/>
                </a:solidFill>
              </a:rPr>
              <a:t>Admission or Retirement of Partner -</a:t>
            </a:r>
            <a:r>
              <a:rPr lang="en-US" sz="2400" b="1" dirty="0"/>
              <a:t> </a:t>
            </a:r>
            <a:r>
              <a:rPr lang="en-US" sz="2400" dirty="0"/>
              <a:t>LLP can </a:t>
            </a:r>
            <a:r>
              <a:rPr lang="en-US" sz="2400" b="1" dirty="0">
                <a:solidFill>
                  <a:srgbClr val="C00000"/>
                </a:solidFill>
              </a:rPr>
              <a:t>continue its existence irrespective of changes in partners</a:t>
            </a:r>
            <a:r>
              <a:rPr lang="en-US" sz="2400" dirty="0"/>
              <a:t>. </a:t>
            </a:r>
          </a:p>
          <a:p>
            <a:r>
              <a:rPr lang="en-US" sz="2400" b="1" dirty="0">
                <a:solidFill>
                  <a:srgbClr val="C00000"/>
                </a:solidFill>
              </a:rPr>
              <a:t>Designated Partners -</a:t>
            </a:r>
            <a:r>
              <a:rPr lang="en-US" sz="2400" b="1" dirty="0"/>
              <a:t> </a:t>
            </a:r>
            <a:r>
              <a:rPr lang="en-US" sz="2400" dirty="0"/>
              <a:t>LLP shall have </a:t>
            </a:r>
            <a:r>
              <a:rPr lang="en-US" sz="2400" b="1" dirty="0">
                <a:solidFill>
                  <a:srgbClr val="C00000"/>
                </a:solidFill>
              </a:rPr>
              <a:t>two individuals as designated partners and one of them shall be resident of India</a:t>
            </a:r>
            <a:r>
              <a:rPr lang="en-US" sz="2400" dirty="0"/>
              <a:t>.</a:t>
            </a:r>
          </a:p>
        </p:txBody>
      </p:sp>
      <p:sp>
        <p:nvSpPr>
          <p:cNvPr id="3" name="Title 2">
            <a:extLst>
              <a:ext uri="{FF2B5EF4-FFF2-40B4-BE49-F238E27FC236}">
                <a16:creationId xmlns:a16="http://schemas.microsoft.com/office/drawing/2014/main" id="{2F53653C-2280-3610-6D39-F15417697F76}"/>
              </a:ext>
            </a:extLst>
          </p:cNvPr>
          <p:cNvSpPr>
            <a:spLocks noGrp="1"/>
          </p:cNvSpPr>
          <p:nvPr>
            <p:ph type="title"/>
          </p:nvPr>
        </p:nvSpPr>
        <p:spPr/>
        <p:txBody>
          <a:bodyPr/>
          <a:lstStyle/>
          <a:p>
            <a:r>
              <a:rPr lang="en-US" dirty="0"/>
              <a:t>Features of LLP</a:t>
            </a:r>
          </a:p>
        </p:txBody>
      </p:sp>
    </p:spTree>
    <p:extLst>
      <p:ext uri="{BB962C8B-B14F-4D97-AF65-F5344CB8AC3E}">
        <p14:creationId xmlns:p14="http://schemas.microsoft.com/office/powerpoint/2010/main" val="70959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9" name="Google Shape;609;p25"/>
          <p:cNvSpPr/>
          <p:nvPr/>
        </p:nvSpPr>
        <p:spPr>
          <a:xfrm>
            <a:off x="759454" y="2606062"/>
            <a:ext cx="10697005" cy="2282468"/>
          </a:xfrm>
          <a:custGeom>
            <a:avLst/>
            <a:gdLst/>
            <a:ahLst/>
            <a:cxnLst/>
            <a:rect l="l" t="t" r="r" b="b"/>
            <a:pathLst>
              <a:path w="98845" h="21091" extrusionOk="0">
                <a:moveTo>
                  <a:pt x="10546" y="0"/>
                </a:moveTo>
                <a:cubicBezTo>
                  <a:pt x="4731" y="0"/>
                  <a:pt x="1" y="4730"/>
                  <a:pt x="1" y="10545"/>
                </a:cubicBezTo>
                <a:lnTo>
                  <a:pt x="3430" y="10545"/>
                </a:lnTo>
                <a:cubicBezTo>
                  <a:pt x="3430" y="6621"/>
                  <a:pt x="6622" y="3430"/>
                  <a:pt x="10546" y="3430"/>
                </a:cubicBezTo>
                <a:cubicBezTo>
                  <a:pt x="14469" y="3430"/>
                  <a:pt x="17660" y="6621"/>
                  <a:pt x="17660" y="10545"/>
                </a:cubicBezTo>
                <a:lnTo>
                  <a:pt x="17661" y="10545"/>
                </a:lnTo>
                <a:cubicBezTo>
                  <a:pt x="17661" y="16360"/>
                  <a:pt x="22392" y="21090"/>
                  <a:pt x="28206" y="21090"/>
                </a:cubicBezTo>
                <a:cubicBezTo>
                  <a:pt x="34021" y="21090"/>
                  <a:pt x="38751" y="16360"/>
                  <a:pt x="38751" y="10545"/>
                </a:cubicBezTo>
                <a:cubicBezTo>
                  <a:pt x="38751" y="6621"/>
                  <a:pt x="41942" y="3430"/>
                  <a:pt x="45866" y="3430"/>
                </a:cubicBezTo>
                <a:cubicBezTo>
                  <a:pt x="49789" y="3430"/>
                  <a:pt x="52980" y="6621"/>
                  <a:pt x="52980" y="10545"/>
                </a:cubicBezTo>
                <a:cubicBezTo>
                  <a:pt x="52980" y="16360"/>
                  <a:pt x="57711" y="21090"/>
                  <a:pt x="63525" y="21090"/>
                </a:cubicBezTo>
                <a:cubicBezTo>
                  <a:pt x="69340" y="21090"/>
                  <a:pt x="74070" y="16360"/>
                  <a:pt x="74070" y="10545"/>
                </a:cubicBezTo>
                <a:cubicBezTo>
                  <a:pt x="74070" y="6621"/>
                  <a:pt x="77263" y="3430"/>
                  <a:pt x="81185" y="3430"/>
                </a:cubicBezTo>
                <a:cubicBezTo>
                  <a:pt x="85108" y="3430"/>
                  <a:pt x="88301" y="6621"/>
                  <a:pt x="88301" y="10545"/>
                </a:cubicBezTo>
                <a:cubicBezTo>
                  <a:pt x="88301" y="16360"/>
                  <a:pt x="93031" y="21090"/>
                  <a:pt x="98845" y="21090"/>
                </a:cubicBezTo>
                <a:lnTo>
                  <a:pt x="98845" y="17660"/>
                </a:lnTo>
                <a:cubicBezTo>
                  <a:pt x="94922" y="17660"/>
                  <a:pt x="91730" y="14468"/>
                  <a:pt x="91730" y="10545"/>
                </a:cubicBezTo>
                <a:cubicBezTo>
                  <a:pt x="91730" y="4730"/>
                  <a:pt x="87000" y="0"/>
                  <a:pt x="81185" y="0"/>
                </a:cubicBezTo>
                <a:cubicBezTo>
                  <a:pt x="75371" y="0"/>
                  <a:pt x="70640" y="4730"/>
                  <a:pt x="70640" y="10545"/>
                </a:cubicBezTo>
                <a:cubicBezTo>
                  <a:pt x="70640" y="14468"/>
                  <a:pt x="67449" y="17660"/>
                  <a:pt x="63526" y="17660"/>
                </a:cubicBezTo>
                <a:cubicBezTo>
                  <a:pt x="59602" y="17660"/>
                  <a:pt x="56411" y="14468"/>
                  <a:pt x="56411" y="10545"/>
                </a:cubicBezTo>
                <a:cubicBezTo>
                  <a:pt x="56411" y="4730"/>
                  <a:pt x="51680" y="0"/>
                  <a:pt x="45866" y="0"/>
                </a:cubicBezTo>
                <a:cubicBezTo>
                  <a:pt x="40051" y="0"/>
                  <a:pt x="35321" y="4730"/>
                  <a:pt x="35321" y="10545"/>
                </a:cubicBezTo>
                <a:cubicBezTo>
                  <a:pt x="35321" y="14468"/>
                  <a:pt x="32130" y="17660"/>
                  <a:pt x="28207" y="17660"/>
                </a:cubicBezTo>
                <a:cubicBezTo>
                  <a:pt x="24283" y="17660"/>
                  <a:pt x="21092" y="14468"/>
                  <a:pt x="21092" y="10545"/>
                </a:cubicBezTo>
                <a:lnTo>
                  <a:pt x="21091" y="10545"/>
                </a:lnTo>
                <a:cubicBezTo>
                  <a:pt x="21091" y="4730"/>
                  <a:pt x="16359" y="0"/>
                  <a:pt x="10546" y="0"/>
                </a:cubicBezTo>
                <a:close/>
              </a:path>
            </a:pathLst>
          </a:custGeom>
          <a:gradFill>
            <a:gsLst>
              <a:gs pos="0">
                <a:schemeClr val="accent1"/>
              </a:gs>
              <a:gs pos="25000">
                <a:schemeClr val="accent2"/>
              </a:gs>
              <a:gs pos="50000">
                <a:schemeClr val="accent3"/>
              </a:gs>
              <a:gs pos="74000">
                <a:schemeClr val="accent4"/>
              </a:gs>
              <a:gs pos="100000">
                <a:schemeClr val="accent5"/>
              </a:gs>
            </a:gsLst>
            <a:lin ang="0" scaled="0"/>
          </a:gradFill>
          <a:ln>
            <a:noFill/>
          </a:ln>
        </p:spPr>
        <p:txBody>
          <a:bodyPr spcFirstLastPara="1" wrap="square" lIns="121900" tIns="121900" rIns="121900" bIns="121900" anchor="ctr" anchorCtr="0">
            <a:noAutofit/>
          </a:bodyPr>
          <a:lstStyle/>
          <a:p>
            <a:endParaRPr sz="2400"/>
          </a:p>
        </p:txBody>
      </p:sp>
      <p:sp>
        <p:nvSpPr>
          <p:cNvPr id="613" name="Google Shape;613;p25"/>
          <p:cNvSpPr txBox="1"/>
          <p:nvPr/>
        </p:nvSpPr>
        <p:spPr>
          <a:xfrm>
            <a:off x="6666910" y="1378596"/>
            <a:ext cx="1936684" cy="509600"/>
          </a:xfrm>
          <a:prstGeom prst="rect">
            <a:avLst/>
          </a:prstGeom>
          <a:noFill/>
          <a:ln>
            <a:noFill/>
          </a:ln>
        </p:spPr>
        <p:txBody>
          <a:bodyPr spcFirstLastPara="1" wrap="square" lIns="121900" tIns="121900" rIns="121900" bIns="121900" anchor="t" anchorCtr="0">
            <a:noAutofit/>
          </a:bodyPr>
          <a:lstStyle/>
          <a:p>
            <a:pPr algn="ctr">
              <a:lnSpc>
                <a:spcPct val="115000"/>
              </a:lnSpc>
              <a:spcAft>
                <a:spcPts val="2133"/>
              </a:spcAft>
            </a:pPr>
            <a:r>
              <a:rPr lang="en-IN" sz="2400" b="1" dirty="0">
                <a:solidFill>
                  <a:schemeClr val="accent4"/>
                </a:solidFill>
                <a:latin typeface="Fira Sans Extra Condensed"/>
                <a:ea typeface="Fira Sans Extra Condensed"/>
                <a:cs typeface="Fira Sans Extra Condensed"/>
                <a:sym typeface="Fira Sans Extra Condensed"/>
              </a:rPr>
              <a:t>Incorporation of LLP</a:t>
            </a:r>
          </a:p>
        </p:txBody>
      </p:sp>
      <p:sp>
        <p:nvSpPr>
          <p:cNvPr id="614" name="Google Shape;614;p25"/>
          <p:cNvSpPr txBox="1"/>
          <p:nvPr/>
        </p:nvSpPr>
        <p:spPr>
          <a:xfrm>
            <a:off x="8361763" y="4949767"/>
            <a:ext cx="2362124" cy="509600"/>
          </a:xfrm>
          <a:prstGeom prst="rect">
            <a:avLst/>
          </a:prstGeom>
          <a:noFill/>
          <a:ln>
            <a:noFill/>
          </a:ln>
        </p:spPr>
        <p:txBody>
          <a:bodyPr spcFirstLastPara="1" wrap="square" lIns="121900" tIns="121900" rIns="121900" bIns="121900" anchor="t" anchorCtr="0">
            <a:noAutofit/>
          </a:bodyPr>
          <a:lstStyle/>
          <a:p>
            <a:pPr algn="ctr">
              <a:lnSpc>
                <a:spcPct val="115000"/>
              </a:lnSpc>
              <a:spcAft>
                <a:spcPts val="2133"/>
              </a:spcAft>
            </a:pPr>
            <a:r>
              <a:rPr lang="en-IN" sz="2400" b="1" dirty="0">
                <a:solidFill>
                  <a:schemeClr val="accent5"/>
                </a:solidFill>
                <a:latin typeface="Fira Sans Extra Condensed"/>
                <a:ea typeface="Fira Sans Extra Condensed"/>
                <a:cs typeface="Fira Sans Extra Condensed"/>
                <a:sym typeface="Fira Sans Extra Condensed"/>
              </a:rPr>
              <a:t>File LLP Agreement</a:t>
            </a:r>
          </a:p>
        </p:txBody>
      </p:sp>
      <p:sp>
        <p:nvSpPr>
          <p:cNvPr id="615" name="Google Shape;615;p25"/>
          <p:cNvSpPr txBox="1"/>
          <p:nvPr/>
        </p:nvSpPr>
        <p:spPr>
          <a:xfrm>
            <a:off x="964140" y="4941076"/>
            <a:ext cx="1987711" cy="509600"/>
          </a:xfrm>
          <a:prstGeom prst="rect">
            <a:avLst/>
          </a:prstGeom>
          <a:noFill/>
          <a:ln>
            <a:noFill/>
          </a:ln>
        </p:spPr>
        <p:txBody>
          <a:bodyPr spcFirstLastPara="1" wrap="square" lIns="121900" tIns="121900" rIns="121900" bIns="121900" anchor="t" anchorCtr="0">
            <a:noAutofit/>
          </a:bodyPr>
          <a:lstStyle/>
          <a:p>
            <a:pPr algn="ctr">
              <a:lnSpc>
                <a:spcPct val="115000"/>
              </a:lnSpc>
              <a:spcAft>
                <a:spcPts val="2133"/>
              </a:spcAft>
            </a:pPr>
            <a:r>
              <a:rPr lang="en-IN" sz="2400" b="1" dirty="0">
                <a:solidFill>
                  <a:schemeClr val="accent1"/>
                </a:solidFill>
                <a:latin typeface="Fira Sans Extra Condensed"/>
                <a:ea typeface="Fira Sans Extra Condensed"/>
                <a:cs typeface="Fira Sans Extra Condensed"/>
                <a:sym typeface="Fira Sans Extra Condensed"/>
              </a:rPr>
              <a:t>Obtain DSC</a:t>
            </a:r>
          </a:p>
        </p:txBody>
      </p:sp>
      <p:sp>
        <p:nvSpPr>
          <p:cNvPr id="616" name="Google Shape;616;p25"/>
          <p:cNvSpPr txBox="1"/>
          <p:nvPr/>
        </p:nvSpPr>
        <p:spPr>
          <a:xfrm>
            <a:off x="2858584" y="1444949"/>
            <a:ext cx="1936684" cy="509600"/>
          </a:xfrm>
          <a:prstGeom prst="rect">
            <a:avLst/>
          </a:prstGeom>
          <a:noFill/>
          <a:ln>
            <a:noFill/>
          </a:ln>
        </p:spPr>
        <p:txBody>
          <a:bodyPr spcFirstLastPara="1" wrap="square" lIns="121900" tIns="121900" rIns="121900" bIns="121900" anchor="t" anchorCtr="0">
            <a:noAutofit/>
          </a:bodyPr>
          <a:lstStyle/>
          <a:p>
            <a:pPr algn="ctr">
              <a:lnSpc>
                <a:spcPct val="115000"/>
              </a:lnSpc>
              <a:spcAft>
                <a:spcPts val="2133"/>
              </a:spcAft>
            </a:pPr>
            <a:r>
              <a:rPr lang="en-IN" sz="2400" b="1" dirty="0">
                <a:solidFill>
                  <a:schemeClr val="accent2"/>
                </a:solidFill>
                <a:latin typeface="Fira Sans Extra Condensed"/>
                <a:ea typeface="Fira Sans Extra Condensed"/>
                <a:cs typeface="Fira Sans Extra Condensed"/>
                <a:sym typeface="Fira Sans Extra Condensed"/>
              </a:rPr>
              <a:t>Apply for DIN</a:t>
            </a:r>
          </a:p>
        </p:txBody>
      </p:sp>
      <p:sp>
        <p:nvSpPr>
          <p:cNvPr id="618" name="Google Shape;618;p25"/>
          <p:cNvSpPr txBox="1">
            <a:spLocks noGrp="1"/>
          </p:cNvSpPr>
          <p:nvPr>
            <p:ph type="body" idx="1"/>
          </p:nvPr>
        </p:nvSpPr>
        <p:spPr>
          <a:xfrm>
            <a:off x="4493606" y="5085358"/>
            <a:ext cx="2450059" cy="509600"/>
          </a:xfrm>
          <a:prstGeom prst="rect">
            <a:avLst/>
          </a:prstGeom>
        </p:spPr>
        <p:txBody>
          <a:bodyPr spcFirstLastPara="1" vert="horz" wrap="square" lIns="121900" tIns="121900" rIns="121900" bIns="121900" rtlCol="0" anchor="t" anchorCtr="0">
            <a:noAutofit/>
          </a:bodyPr>
          <a:lstStyle/>
          <a:p>
            <a:pPr marL="0" indent="0" algn="ctr">
              <a:spcAft>
                <a:spcPts val="2133"/>
              </a:spcAft>
              <a:buNone/>
            </a:pPr>
            <a:r>
              <a:rPr lang="en-IN" sz="2400" b="1" dirty="0">
                <a:solidFill>
                  <a:schemeClr val="accent3"/>
                </a:solidFill>
                <a:latin typeface="Fira Sans Extra Condensed"/>
                <a:ea typeface="Fira Sans Extra Condensed"/>
                <a:cs typeface="Fira Sans Extra Condensed"/>
                <a:sym typeface="Fira Sans Extra Condensed"/>
              </a:rPr>
              <a:t>Name Approval</a:t>
            </a:r>
          </a:p>
        </p:txBody>
      </p:sp>
      <p:grpSp>
        <p:nvGrpSpPr>
          <p:cNvPr id="620" name="Google Shape;620;p25"/>
          <p:cNvGrpSpPr/>
          <p:nvPr/>
        </p:nvGrpSpPr>
        <p:grpSpPr>
          <a:xfrm>
            <a:off x="6793149" y="2666447"/>
            <a:ext cx="1684336" cy="1919276"/>
            <a:chOff x="5094862" y="1999835"/>
            <a:chExt cx="1263252" cy="1439457"/>
          </a:xfrm>
        </p:grpSpPr>
        <p:sp>
          <p:nvSpPr>
            <p:cNvPr id="621" name="Google Shape;621;p25"/>
            <p:cNvSpPr/>
            <p:nvPr/>
          </p:nvSpPr>
          <p:spPr>
            <a:xfrm>
              <a:off x="5566260" y="1999835"/>
              <a:ext cx="320358" cy="562636"/>
            </a:xfrm>
            <a:custGeom>
              <a:avLst/>
              <a:gdLst/>
              <a:ahLst/>
              <a:cxnLst/>
              <a:rect l="l" t="t" r="r" b="b"/>
              <a:pathLst>
                <a:path w="3947" h="6932" extrusionOk="0">
                  <a:moveTo>
                    <a:pt x="1974" y="1"/>
                  </a:moveTo>
                  <a:lnTo>
                    <a:pt x="1" y="1422"/>
                  </a:lnTo>
                  <a:lnTo>
                    <a:pt x="2" y="6932"/>
                  </a:lnTo>
                  <a:lnTo>
                    <a:pt x="3946" y="6932"/>
                  </a:lnTo>
                  <a:lnTo>
                    <a:pt x="3946" y="1423"/>
                  </a:lnTo>
                  <a:lnTo>
                    <a:pt x="1974" y="1"/>
                  </a:ln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622" name="Google Shape;622;p25"/>
            <p:cNvSpPr/>
            <p:nvPr/>
          </p:nvSpPr>
          <p:spPr>
            <a:xfrm>
              <a:off x="5126354" y="2207532"/>
              <a:ext cx="1200187" cy="1200106"/>
            </a:xfrm>
            <a:custGeom>
              <a:avLst/>
              <a:gdLst/>
              <a:ahLst/>
              <a:cxnLst/>
              <a:rect l="l" t="t" r="r" b="b"/>
              <a:pathLst>
                <a:path w="14787" h="14786" extrusionOk="0">
                  <a:moveTo>
                    <a:pt x="7394" y="1"/>
                  </a:moveTo>
                  <a:cubicBezTo>
                    <a:pt x="3311" y="1"/>
                    <a:pt x="1" y="3311"/>
                    <a:pt x="1" y="7393"/>
                  </a:cubicBezTo>
                  <a:cubicBezTo>
                    <a:pt x="1" y="11478"/>
                    <a:pt x="3310" y="14786"/>
                    <a:pt x="7394" y="14786"/>
                  </a:cubicBezTo>
                  <a:cubicBezTo>
                    <a:pt x="11476" y="14786"/>
                    <a:pt x="14786" y="11477"/>
                    <a:pt x="14786" y="7392"/>
                  </a:cubicBezTo>
                  <a:cubicBezTo>
                    <a:pt x="14786" y="3310"/>
                    <a:pt x="11477" y="1"/>
                    <a:pt x="7394" y="1"/>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623" name="Google Shape;623;p25"/>
            <p:cNvSpPr/>
            <p:nvPr/>
          </p:nvSpPr>
          <p:spPr>
            <a:xfrm>
              <a:off x="5094862" y="2176040"/>
              <a:ext cx="1263252" cy="1263252"/>
            </a:xfrm>
            <a:custGeom>
              <a:avLst/>
              <a:gdLst/>
              <a:ahLst/>
              <a:cxnLst/>
              <a:rect l="l" t="t" r="r" b="b"/>
              <a:pathLst>
                <a:path w="15564" h="15564" extrusionOk="0">
                  <a:moveTo>
                    <a:pt x="7783" y="420"/>
                  </a:moveTo>
                  <a:cubicBezTo>
                    <a:pt x="11842" y="420"/>
                    <a:pt x="15144" y="3721"/>
                    <a:pt x="15144" y="7780"/>
                  </a:cubicBezTo>
                  <a:cubicBezTo>
                    <a:pt x="15144" y="9748"/>
                    <a:pt x="14378" y="11597"/>
                    <a:pt x="12987" y="12987"/>
                  </a:cubicBezTo>
                  <a:cubicBezTo>
                    <a:pt x="11597" y="14379"/>
                    <a:pt x="9748" y="15144"/>
                    <a:pt x="7782" y="15144"/>
                  </a:cubicBezTo>
                  <a:cubicBezTo>
                    <a:pt x="3723" y="15144"/>
                    <a:pt x="420" y="11841"/>
                    <a:pt x="419" y="7781"/>
                  </a:cubicBezTo>
                  <a:cubicBezTo>
                    <a:pt x="419" y="3721"/>
                    <a:pt x="3721" y="420"/>
                    <a:pt x="7783" y="420"/>
                  </a:cubicBezTo>
                  <a:close/>
                  <a:moveTo>
                    <a:pt x="7782" y="0"/>
                  </a:moveTo>
                  <a:cubicBezTo>
                    <a:pt x="3484" y="0"/>
                    <a:pt x="0" y="3484"/>
                    <a:pt x="0" y="7781"/>
                  </a:cubicBezTo>
                  <a:cubicBezTo>
                    <a:pt x="0" y="12081"/>
                    <a:pt x="3483" y="15563"/>
                    <a:pt x="7782" y="15564"/>
                  </a:cubicBezTo>
                  <a:cubicBezTo>
                    <a:pt x="12079" y="15564"/>
                    <a:pt x="15564" y="12080"/>
                    <a:pt x="15563" y="7780"/>
                  </a:cubicBezTo>
                  <a:cubicBezTo>
                    <a:pt x="15563" y="3483"/>
                    <a:pt x="12080" y="0"/>
                    <a:pt x="7782"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624" name="Google Shape;624;p25"/>
            <p:cNvSpPr txBox="1"/>
            <p:nvPr/>
          </p:nvSpPr>
          <p:spPr>
            <a:xfrm>
              <a:off x="5347407" y="2438041"/>
              <a:ext cx="721200" cy="517800"/>
            </a:xfrm>
            <a:prstGeom prst="rect">
              <a:avLst/>
            </a:prstGeom>
            <a:noFill/>
            <a:ln>
              <a:noFill/>
            </a:ln>
          </p:spPr>
          <p:txBody>
            <a:bodyPr spcFirstLastPara="1" wrap="square" lIns="121900" tIns="121900" rIns="121900" bIns="121900" anchor="t" anchorCtr="0">
              <a:noAutofit/>
            </a:bodyPr>
            <a:lstStyle/>
            <a:p>
              <a:pPr algn="ctr">
                <a:lnSpc>
                  <a:spcPct val="115000"/>
                </a:lnSpc>
                <a:spcAft>
                  <a:spcPts val="2133"/>
                </a:spcAft>
              </a:pPr>
              <a:r>
                <a:rPr lang="es" sz="4800" b="1" dirty="0">
                  <a:solidFill>
                    <a:schemeClr val="accent4"/>
                  </a:solidFill>
                  <a:latin typeface="Fira Sans Extra Condensed"/>
                  <a:ea typeface="Fira Sans Extra Condensed"/>
                  <a:cs typeface="Fira Sans Extra Condensed"/>
                  <a:sym typeface="Fira Sans Extra Condensed"/>
                </a:rPr>
                <a:t>04</a:t>
              </a:r>
              <a:endParaRPr sz="4800" b="1" dirty="0">
                <a:solidFill>
                  <a:schemeClr val="accent4"/>
                </a:solidFill>
                <a:latin typeface="Fira Sans Extra Condensed"/>
                <a:ea typeface="Fira Sans Extra Condensed"/>
                <a:cs typeface="Fira Sans Extra Condensed"/>
                <a:sym typeface="Fira Sans Extra Condensed"/>
              </a:endParaRPr>
            </a:p>
          </p:txBody>
        </p:sp>
      </p:grpSp>
      <p:grpSp>
        <p:nvGrpSpPr>
          <p:cNvPr id="625" name="Google Shape;625;p25"/>
          <p:cNvGrpSpPr/>
          <p:nvPr/>
        </p:nvGrpSpPr>
        <p:grpSpPr>
          <a:xfrm>
            <a:off x="4875093" y="2901387"/>
            <a:ext cx="1684336" cy="1919148"/>
            <a:chOff x="3656320" y="2176040"/>
            <a:chExt cx="1263252" cy="1439361"/>
          </a:xfrm>
        </p:grpSpPr>
        <p:sp>
          <p:nvSpPr>
            <p:cNvPr id="626" name="Google Shape;626;p25"/>
            <p:cNvSpPr/>
            <p:nvPr/>
          </p:nvSpPr>
          <p:spPr>
            <a:xfrm>
              <a:off x="4127718" y="3052765"/>
              <a:ext cx="320358" cy="562636"/>
            </a:xfrm>
            <a:custGeom>
              <a:avLst/>
              <a:gdLst/>
              <a:ahLst/>
              <a:cxnLst/>
              <a:rect l="l" t="t" r="r" b="b"/>
              <a:pathLst>
                <a:path w="3947" h="6932" extrusionOk="0">
                  <a:moveTo>
                    <a:pt x="0" y="1"/>
                  </a:moveTo>
                  <a:lnTo>
                    <a:pt x="1" y="5510"/>
                  </a:lnTo>
                  <a:lnTo>
                    <a:pt x="1974" y="6932"/>
                  </a:lnTo>
                  <a:lnTo>
                    <a:pt x="3947" y="5511"/>
                  </a:lnTo>
                  <a:lnTo>
                    <a:pt x="3947" y="1"/>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627" name="Google Shape;627;p25"/>
            <p:cNvSpPr/>
            <p:nvPr/>
          </p:nvSpPr>
          <p:spPr>
            <a:xfrm>
              <a:off x="3687893" y="2207532"/>
              <a:ext cx="1200106" cy="1200106"/>
            </a:xfrm>
            <a:custGeom>
              <a:avLst/>
              <a:gdLst/>
              <a:ahLst/>
              <a:cxnLst/>
              <a:rect l="l" t="t" r="r" b="b"/>
              <a:pathLst>
                <a:path w="14786" h="14786" extrusionOk="0">
                  <a:moveTo>
                    <a:pt x="7393" y="1"/>
                  </a:moveTo>
                  <a:cubicBezTo>
                    <a:pt x="3310" y="1"/>
                    <a:pt x="0" y="3310"/>
                    <a:pt x="0" y="7393"/>
                  </a:cubicBezTo>
                  <a:cubicBezTo>
                    <a:pt x="0" y="11477"/>
                    <a:pt x="3310" y="14786"/>
                    <a:pt x="7393" y="14786"/>
                  </a:cubicBezTo>
                  <a:cubicBezTo>
                    <a:pt x="11475" y="14786"/>
                    <a:pt x="14785" y="11477"/>
                    <a:pt x="14785" y="7393"/>
                  </a:cubicBezTo>
                  <a:cubicBezTo>
                    <a:pt x="14785" y="3311"/>
                    <a:pt x="11475" y="1"/>
                    <a:pt x="7393" y="1"/>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628" name="Google Shape;628;p25"/>
            <p:cNvSpPr/>
            <p:nvPr/>
          </p:nvSpPr>
          <p:spPr>
            <a:xfrm>
              <a:off x="3656320" y="2176040"/>
              <a:ext cx="1263252" cy="1263252"/>
            </a:xfrm>
            <a:custGeom>
              <a:avLst/>
              <a:gdLst/>
              <a:ahLst/>
              <a:cxnLst/>
              <a:rect l="l" t="t" r="r" b="b"/>
              <a:pathLst>
                <a:path w="15564" h="15564" extrusionOk="0">
                  <a:moveTo>
                    <a:pt x="7782" y="420"/>
                  </a:moveTo>
                  <a:cubicBezTo>
                    <a:pt x="9748" y="420"/>
                    <a:pt x="11597" y="1185"/>
                    <a:pt x="12988" y="2575"/>
                  </a:cubicBezTo>
                  <a:cubicBezTo>
                    <a:pt x="14378" y="3966"/>
                    <a:pt x="15145" y="5815"/>
                    <a:pt x="15145" y="7781"/>
                  </a:cubicBezTo>
                  <a:cubicBezTo>
                    <a:pt x="15145" y="9748"/>
                    <a:pt x="14378" y="11598"/>
                    <a:pt x="12988" y="12988"/>
                  </a:cubicBezTo>
                  <a:cubicBezTo>
                    <a:pt x="11597" y="14379"/>
                    <a:pt x="9748" y="15144"/>
                    <a:pt x="7782" y="15144"/>
                  </a:cubicBezTo>
                  <a:cubicBezTo>
                    <a:pt x="5815" y="15144"/>
                    <a:pt x="3966" y="14379"/>
                    <a:pt x="2576" y="12988"/>
                  </a:cubicBezTo>
                  <a:cubicBezTo>
                    <a:pt x="1185" y="11598"/>
                    <a:pt x="419" y="9748"/>
                    <a:pt x="420" y="7781"/>
                  </a:cubicBezTo>
                  <a:cubicBezTo>
                    <a:pt x="419" y="5815"/>
                    <a:pt x="1185" y="3966"/>
                    <a:pt x="2576" y="2575"/>
                  </a:cubicBezTo>
                  <a:cubicBezTo>
                    <a:pt x="3966" y="1185"/>
                    <a:pt x="5815" y="420"/>
                    <a:pt x="7782" y="420"/>
                  </a:cubicBezTo>
                  <a:close/>
                  <a:moveTo>
                    <a:pt x="7782" y="0"/>
                  </a:moveTo>
                  <a:cubicBezTo>
                    <a:pt x="3483" y="0"/>
                    <a:pt x="1" y="3483"/>
                    <a:pt x="1" y="7781"/>
                  </a:cubicBezTo>
                  <a:cubicBezTo>
                    <a:pt x="1" y="12080"/>
                    <a:pt x="3483" y="15564"/>
                    <a:pt x="7782" y="15564"/>
                  </a:cubicBezTo>
                  <a:cubicBezTo>
                    <a:pt x="12079" y="15564"/>
                    <a:pt x="15563" y="12080"/>
                    <a:pt x="15563" y="7781"/>
                  </a:cubicBezTo>
                  <a:cubicBezTo>
                    <a:pt x="15563" y="3484"/>
                    <a:pt x="12079" y="0"/>
                    <a:pt x="7782"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629" name="Google Shape;629;p25"/>
            <p:cNvSpPr txBox="1"/>
            <p:nvPr/>
          </p:nvSpPr>
          <p:spPr>
            <a:xfrm>
              <a:off x="3923783" y="2438041"/>
              <a:ext cx="721200" cy="517800"/>
            </a:xfrm>
            <a:prstGeom prst="rect">
              <a:avLst/>
            </a:prstGeom>
            <a:noFill/>
            <a:ln>
              <a:noFill/>
            </a:ln>
          </p:spPr>
          <p:txBody>
            <a:bodyPr spcFirstLastPara="1" wrap="square" lIns="121900" tIns="121900" rIns="121900" bIns="121900" anchor="t" anchorCtr="0">
              <a:noAutofit/>
            </a:bodyPr>
            <a:lstStyle/>
            <a:p>
              <a:pPr algn="ctr">
                <a:lnSpc>
                  <a:spcPct val="115000"/>
                </a:lnSpc>
                <a:spcAft>
                  <a:spcPts val="2133"/>
                </a:spcAft>
              </a:pPr>
              <a:r>
                <a:rPr lang="es" sz="4800" b="1" dirty="0">
                  <a:solidFill>
                    <a:schemeClr val="accent3"/>
                  </a:solidFill>
                  <a:latin typeface="Fira Sans Extra Condensed"/>
                  <a:ea typeface="Fira Sans Extra Condensed"/>
                  <a:cs typeface="Fira Sans Extra Condensed"/>
                  <a:sym typeface="Fira Sans Extra Condensed"/>
                </a:rPr>
                <a:t>03</a:t>
              </a:r>
              <a:endParaRPr sz="4800" b="1" dirty="0">
                <a:solidFill>
                  <a:schemeClr val="accent3"/>
                </a:solidFill>
                <a:latin typeface="Fira Sans Extra Condensed"/>
                <a:ea typeface="Fira Sans Extra Condensed"/>
                <a:cs typeface="Fira Sans Extra Condensed"/>
                <a:sym typeface="Fira Sans Extra Condensed"/>
              </a:endParaRPr>
            </a:p>
          </p:txBody>
        </p:sp>
      </p:grpSp>
      <p:grpSp>
        <p:nvGrpSpPr>
          <p:cNvPr id="630" name="Google Shape;630;p25"/>
          <p:cNvGrpSpPr/>
          <p:nvPr/>
        </p:nvGrpSpPr>
        <p:grpSpPr>
          <a:xfrm>
            <a:off x="1115893" y="2901387"/>
            <a:ext cx="1684336" cy="1919148"/>
            <a:chOff x="836920" y="2176040"/>
            <a:chExt cx="1263252" cy="1439361"/>
          </a:xfrm>
        </p:grpSpPr>
        <p:sp>
          <p:nvSpPr>
            <p:cNvPr id="631" name="Google Shape;631;p25"/>
            <p:cNvSpPr/>
            <p:nvPr/>
          </p:nvSpPr>
          <p:spPr>
            <a:xfrm>
              <a:off x="1308318" y="3052765"/>
              <a:ext cx="320358" cy="562636"/>
            </a:xfrm>
            <a:custGeom>
              <a:avLst/>
              <a:gdLst/>
              <a:ahLst/>
              <a:cxnLst/>
              <a:rect l="l" t="t" r="r" b="b"/>
              <a:pathLst>
                <a:path w="3947" h="6932" extrusionOk="0">
                  <a:moveTo>
                    <a:pt x="0" y="1"/>
                  </a:moveTo>
                  <a:lnTo>
                    <a:pt x="1" y="5510"/>
                  </a:lnTo>
                  <a:lnTo>
                    <a:pt x="1974" y="6932"/>
                  </a:lnTo>
                  <a:lnTo>
                    <a:pt x="3947" y="5511"/>
                  </a:lnTo>
                  <a:lnTo>
                    <a:pt x="3947" y="1"/>
                  </a:ln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632" name="Google Shape;632;p25"/>
            <p:cNvSpPr/>
            <p:nvPr/>
          </p:nvSpPr>
          <p:spPr>
            <a:xfrm>
              <a:off x="868493" y="2207532"/>
              <a:ext cx="1200106" cy="1200106"/>
            </a:xfrm>
            <a:custGeom>
              <a:avLst/>
              <a:gdLst/>
              <a:ahLst/>
              <a:cxnLst/>
              <a:rect l="l" t="t" r="r" b="b"/>
              <a:pathLst>
                <a:path w="14786" h="14786" extrusionOk="0">
                  <a:moveTo>
                    <a:pt x="7393" y="1"/>
                  </a:moveTo>
                  <a:cubicBezTo>
                    <a:pt x="3310" y="1"/>
                    <a:pt x="0" y="3310"/>
                    <a:pt x="0" y="7393"/>
                  </a:cubicBezTo>
                  <a:cubicBezTo>
                    <a:pt x="0" y="11477"/>
                    <a:pt x="3310" y="14786"/>
                    <a:pt x="7393" y="14786"/>
                  </a:cubicBezTo>
                  <a:cubicBezTo>
                    <a:pt x="11475" y="14786"/>
                    <a:pt x="14785" y="11477"/>
                    <a:pt x="14785" y="7393"/>
                  </a:cubicBezTo>
                  <a:cubicBezTo>
                    <a:pt x="14785" y="3311"/>
                    <a:pt x="11475" y="1"/>
                    <a:pt x="7393" y="1"/>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633" name="Google Shape;633;p25"/>
            <p:cNvSpPr/>
            <p:nvPr/>
          </p:nvSpPr>
          <p:spPr>
            <a:xfrm>
              <a:off x="836920" y="2176040"/>
              <a:ext cx="1263252" cy="1263252"/>
            </a:xfrm>
            <a:custGeom>
              <a:avLst/>
              <a:gdLst/>
              <a:ahLst/>
              <a:cxnLst/>
              <a:rect l="l" t="t" r="r" b="b"/>
              <a:pathLst>
                <a:path w="15564" h="15564" extrusionOk="0">
                  <a:moveTo>
                    <a:pt x="7782" y="420"/>
                  </a:moveTo>
                  <a:cubicBezTo>
                    <a:pt x="9748" y="420"/>
                    <a:pt x="11597" y="1185"/>
                    <a:pt x="12988" y="2575"/>
                  </a:cubicBezTo>
                  <a:cubicBezTo>
                    <a:pt x="14378" y="3966"/>
                    <a:pt x="15145" y="5815"/>
                    <a:pt x="15145" y="7781"/>
                  </a:cubicBezTo>
                  <a:cubicBezTo>
                    <a:pt x="15145" y="9748"/>
                    <a:pt x="14378" y="11598"/>
                    <a:pt x="12988" y="12988"/>
                  </a:cubicBezTo>
                  <a:cubicBezTo>
                    <a:pt x="11597" y="14379"/>
                    <a:pt x="9748" y="15144"/>
                    <a:pt x="7782" y="15144"/>
                  </a:cubicBezTo>
                  <a:cubicBezTo>
                    <a:pt x="5815" y="15144"/>
                    <a:pt x="3966" y="14379"/>
                    <a:pt x="2576" y="12988"/>
                  </a:cubicBezTo>
                  <a:cubicBezTo>
                    <a:pt x="1185" y="11598"/>
                    <a:pt x="419" y="9748"/>
                    <a:pt x="420" y="7781"/>
                  </a:cubicBezTo>
                  <a:cubicBezTo>
                    <a:pt x="419" y="5815"/>
                    <a:pt x="1185" y="3966"/>
                    <a:pt x="2576" y="2575"/>
                  </a:cubicBezTo>
                  <a:cubicBezTo>
                    <a:pt x="3966" y="1185"/>
                    <a:pt x="5815" y="420"/>
                    <a:pt x="7782" y="420"/>
                  </a:cubicBezTo>
                  <a:close/>
                  <a:moveTo>
                    <a:pt x="7782" y="0"/>
                  </a:moveTo>
                  <a:cubicBezTo>
                    <a:pt x="3483" y="0"/>
                    <a:pt x="1" y="3483"/>
                    <a:pt x="1" y="7781"/>
                  </a:cubicBezTo>
                  <a:cubicBezTo>
                    <a:pt x="1" y="12080"/>
                    <a:pt x="3483" y="15564"/>
                    <a:pt x="7782" y="15564"/>
                  </a:cubicBezTo>
                  <a:cubicBezTo>
                    <a:pt x="12079" y="15564"/>
                    <a:pt x="15563" y="12080"/>
                    <a:pt x="15563" y="7781"/>
                  </a:cubicBezTo>
                  <a:cubicBezTo>
                    <a:pt x="15563" y="3484"/>
                    <a:pt x="12079" y="0"/>
                    <a:pt x="7782" y="0"/>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634" name="Google Shape;634;p25"/>
            <p:cNvSpPr txBox="1"/>
            <p:nvPr/>
          </p:nvSpPr>
          <p:spPr>
            <a:xfrm>
              <a:off x="1096684" y="2438041"/>
              <a:ext cx="721200" cy="517800"/>
            </a:xfrm>
            <a:prstGeom prst="rect">
              <a:avLst/>
            </a:prstGeom>
            <a:noFill/>
            <a:ln>
              <a:noFill/>
            </a:ln>
          </p:spPr>
          <p:txBody>
            <a:bodyPr spcFirstLastPara="1" wrap="square" lIns="121900" tIns="121900" rIns="121900" bIns="121900" anchor="t" anchorCtr="0">
              <a:noAutofit/>
            </a:bodyPr>
            <a:lstStyle/>
            <a:p>
              <a:pPr algn="ctr">
                <a:lnSpc>
                  <a:spcPct val="115000"/>
                </a:lnSpc>
                <a:spcAft>
                  <a:spcPts val="2133"/>
                </a:spcAft>
              </a:pPr>
              <a:r>
                <a:rPr lang="es" sz="4800" b="1">
                  <a:solidFill>
                    <a:schemeClr val="accent1"/>
                  </a:solidFill>
                  <a:latin typeface="Fira Sans Extra Condensed"/>
                  <a:ea typeface="Fira Sans Extra Condensed"/>
                  <a:cs typeface="Fira Sans Extra Condensed"/>
                  <a:sym typeface="Fira Sans Extra Condensed"/>
                </a:rPr>
                <a:t>01</a:t>
              </a:r>
              <a:endParaRPr sz="4800" b="1">
                <a:solidFill>
                  <a:schemeClr val="accent1"/>
                </a:solidFill>
                <a:latin typeface="Fira Sans Extra Condensed"/>
                <a:ea typeface="Fira Sans Extra Condensed"/>
                <a:cs typeface="Fira Sans Extra Condensed"/>
                <a:sym typeface="Fira Sans Extra Condensed"/>
              </a:endParaRPr>
            </a:p>
          </p:txBody>
        </p:sp>
      </p:grpSp>
      <p:grpSp>
        <p:nvGrpSpPr>
          <p:cNvPr id="635" name="Google Shape;635;p25"/>
          <p:cNvGrpSpPr/>
          <p:nvPr/>
        </p:nvGrpSpPr>
        <p:grpSpPr>
          <a:xfrm>
            <a:off x="2976192" y="2666447"/>
            <a:ext cx="1684552" cy="1919276"/>
            <a:chOff x="2232144" y="1999835"/>
            <a:chExt cx="1263414" cy="1439457"/>
          </a:xfrm>
        </p:grpSpPr>
        <p:sp>
          <p:nvSpPr>
            <p:cNvPr id="636" name="Google Shape;636;p25"/>
            <p:cNvSpPr/>
            <p:nvPr/>
          </p:nvSpPr>
          <p:spPr>
            <a:xfrm>
              <a:off x="2703704" y="1999835"/>
              <a:ext cx="320277" cy="562636"/>
            </a:xfrm>
            <a:custGeom>
              <a:avLst/>
              <a:gdLst/>
              <a:ahLst/>
              <a:cxnLst/>
              <a:rect l="l" t="t" r="r" b="b"/>
              <a:pathLst>
                <a:path w="3946" h="6932" extrusionOk="0">
                  <a:moveTo>
                    <a:pt x="1973" y="1"/>
                  </a:moveTo>
                  <a:lnTo>
                    <a:pt x="1" y="1423"/>
                  </a:lnTo>
                  <a:lnTo>
                    <a:pt x="1" y="6932"/>
                  </a:lnTo>
                  <a:lnTo>
                    <a:pt x="3946" y="6932"/>
                  </a:lnTo>
                  <a:lnTo>
                    <a:pt x="3946" y="1423"/>
                  </a:lnTo>
                  <a:lnTo>
                    <a:pt x="1973" y="1"/>
                  </a:ln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637" name="Google Shape;637;p25"/>
            <p:cNvSpPr/>
            <p:nvPr/>
          </p:nvSpPr>
          <p:spPr>
            <a:xfrm>
              <a:off x="2263716" y="2207532"/>
              <a:ext cx="1200268" cy="1200187"/>
            </a:xfrm>
            <a:custGeom>
              <a:avLst/>
              <a:gdLst/>
              <a:ahLst/>
              <a:cxnLst/>
              <a:rect l="l" t="t" r="r" b="b"/>
              <a:pathLst>
                <a:path w="14788" h="14787" extrusionOk="0">
                  <a:moveTo>
                    <a:pt x="7394" y="1"/>
                  </a:moveTo>
                  <a:cubicBezTo>
                    <a:pt x="3312" y="1"/>
                    <a:pt x="2" y="3310"/>
                    <a:pt x="1" y="7393"/>
                  </a:cubicBezTo>
                  <a:cubicBezTo>
                    <a:pt x="1" y="11477"/>
                    <a:pt x="3312" y="14786"/>
                    <a:pt x="7394" y="14787"/>
                  </a:cubicBezTo>
                  <a:cubicBezTo>
                    <a:pt x="11477" y="14787"/>
                    <a:pt x="14787" y="11477"/>
                    <a:pt x="14787" y="7393"/>
                  </a:cubicBezTo>
                  <a:cubicBezTo>
                    <a:pt x="14788" y="3311"/>
                    <a:pt x="11477" y="1"/>
                    <a:pt x="7394" y="1"/>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638" name="Google Shape;638;p25"/>
            <p:cNvSpPr/>
            <p:nvPr/>
          </p:nvSpPr>
          <p:spPr>
            <a:xfrm>
              <a:off x="2232144" y="2175878"/>
              <a:ext cx="1263414" cy="1263414"/>
            </a:xfrm>
            <a:custGeom>
              <a:avLst/>
              <a:gdLst/>
              <a:ahLst/>
              <a:cxnLst/>
              <a:rect l="l" t="t" r="r" b="b"/>
              <a:pathLst>
                <a:path w="15566" h="15566" extrusionOk="0">
                  <a:moveTo>
                    <a:pt x="7783" y="505"/>
                  </a:moveTo>
                  <a:cubicBezTo>
                    <a:pt x="9727" y="505"/>
                    <a:pt x="11555" y="1263"/>
                    <a:pt x="12929" y="2638"/>
                  </a:cubicBezTo>
                  <a:cubicBezTo>
                    <a:pt x="14304" y="4012"/>
                    <a:pt x="15061" y="5839"/>
                    <a:pt x="15061" y="7783"/>
                  </a:cubicBezTo>
                  <a:cubicBezTo>
                    <a:pt x="15061" y="11796"/>
                    <a:pt x="11796" y="15061"/>
                    <a:pt x="7783" y="15061"/>
                  </a:cubicBezTo>
                  <a:cubicBezTo>
                    <a:pt x="3770" y="15061"/>
                    <a:pt x="505" y="11796"/>
                    <a:pt x="505" y="7783"/>
                  </a:cubicBezTo>
                  <a:cubicBezTo>
                    <a:pt x="505" y="3770"/>
                    <a:pt x="3770" y="506"/>
                    <a:pt x="7783" y="505"/>
                  </a:cubicBezTo>
                  <a:close/>
                  <a:moveTo>
                    <a:pt x="7783" y="1"/>
                  </a:moveTo>
                  <a:cubicBezTo>
                    <a:pt x="3485" y="2"/>
                    <a:pt x="2" y="3485"/>
                    <a:pt x="1" y="7783"/>
                  </a:cubicBezTo>
                  <a:cubicBezTo>
                    <a:pt x="1" y="12082"/>
                    <a:pt x="3486" y="15565"/>
                    <a:pt x="7783" y="15566"/>
                  </a:cubicBezTo>
                  <a:cubicBezTo>
                    <a:pt x="12081" y="15566"/>
                    <a:pt x="15566" y="12082"/>
                    <a:pt x="15566" y="7783"/>
                  </a:cubicBezTo>
                  <a:cubicBezTo>
                    <a:pt x="15566" y="3486"/>
                    <a:pt x="12081" y="2"/>
                    <a:pt x="7783"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639" name="Google Shape;639;p25"/>
            <p:cNvSpPr txBox="1"/>
            <p:nvPr/>
          </p:nvSpPr>
          <p:spPr>
            <a:xfrm>
              <a:off x="2502865" y="2438041"/>
              <a:ext cx="721200" cy="517800"/>
            </a:xfrm>
            <a:prstGeom prst="rect">
              <a:avLst/>
            </a:prstGeom>
            <a:noFill/>
            <a:ln>
              <a:noFill/>
            </a:ln>
          </p:spPr>
          <p:txBody>
            <a:bodyPr spcFirstLastPara="1" wrap="square" lIns="121900" tIns="121900" rIns="121900" bIns="121900" anchor="t" anchorCtr="0">
              <a:noAutofit/>
            </a:bodyPr>
            <a:lstStyle/>
            <a:p>
              <a:pPr algn="ctr">
                <a:lnSpc>
                  <a:spcPct val="115000"/>
                </a:lnSpc>
                <a:spcAft>
                  <a:spcPts val="2133"/>
                </a:spcAft>
              </a:pPr>
              <a:r>
                <a:rPr lang="es" sz="4800" b="1">
                  <a:solidFill>
                    <a:schemeClr val="accent2"/>
                  </a:solidFill>
                  <a:latin typeface="Fira Sans Extra Condensed"/>
                  <a:ea typeface="Fira Sans Extra Condensed"/>
                  <a:cs typeface="Fira Sans Extra Condensed"/>
                  <a:sym typeface="Fira Sans Extra Condensed"/>
                </a:rPr>
                <a:t>02</a:t>
              </a:r>
              <a:endParaRPr sz="4800" b="1">
                <a:solidFill>
                  <a:schemeClr val="accent2"/>
                </a:solidFill>
                <a:latin typeface="Fira Sans Extra Condensed"/>
                <a:ea typeface="Fira Sans Extra Condensed"/>
                <a:cs typeface="Fira Sans Extra Condensed"/>
                <a:sym typeface="Fira Sans Extra Condensed"/>
              </a:endParaRPr>
            </a:p>
          </p:txBody>
        </p:sp>
      </p:grpSp>
      <p:grpSp>
        <p:nvGrpSpPr>
          <p:cNvPr id="640" name="Google Shape;640;p25"/>
          <p:cNvGrpSpPr/>
          <p:nvPr/>
        </p:nvGrpSpPr>
        <p:grpSpPr>
          <a:xfrm>
            <a:off x="8702224" y="2901387"/>
            <a:ext cx="1684552" cy="1919148"/>
            <a:chOff x="6526668" y="2176040"/>
            <a:chExt cx="1263414" cy="1439361"/>
          </a:xfrm>
        </p:grpSpPr>
        <p:sp>
          <p:nvSpPr>
            <p:cNvPr id="641" name="Google Shape;641;p25"/>
            <p:cNvSpPr/>
            <p:nvPr/>
          </p:nvSpPr>
          <p:spPr>
            <a:xfrm>
              <a:off x="6998147" y="3052765"/>
              <a:ext cx="320439" cy="562636"/>
            </a:xfrm>
            <a:custGeom>
              <a:avLst/>
              <a:gdLst/>
              <a:ahLst/>
              <a:cxnLst/>
              <a:rect l="l" t="t" r="r" b="b"/>
              <a:pathLst>
                <a:path w="3948" h="6932" extrusionOk="0">
                  <a:moveTo>
                    <a:pt x="1" y="1"/>
                  </a:moveTo>
                  <a:lnTo>
                    <a:pt x="1" y="5510"/>
                  </a:lnTo>
                  <a:lnTo>
                    <a:pt x="1974" y="6932"/>
                  </a:lnTo>
                  <a:lnTo>
                    <a:pt x="3947" y="5511"/>
                  </a:lnTo>
                  <a:lnTo>
                    <a:pt x="3947" y="1"/>
                  </a:ln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642" name="Google Shape;642;p25"/>
            <p:cNvSpPr/>
            <p:nvPr/>
          </p:nvSpPr>
          <p:spPr>
            <a:xfrm>
              <a:off x="6558322" y="2207532"/>
              <a:ext cx="1200106" cy="1200187"/>
            </a:xfrm>
            <a:custGeom>
              <a:avLst/>
              <a:gdLst/>
              <a:ahLst/>
              <a:cxnLst/>
              <a:rect l="l" t="t" r="r" b="b"/>
              <a:pathLst>
                <a:path w="14786" h="14787" extrusionOk="0">
                  <a:moveTo>
                    <a:pt x="7393" y="1"/>
                  </a:moveTo>
                  <a:cubicBezTo>
                    <a:pt x="3311" y="1"/>
                    <a:pt x="1" y="3310"/>
                    <a:pt x="1" y="7393"/>
                  </a:cubicBezTo>
                  <a:cubicBezTo>
                    <a:pt x="1" y="11477"/>
                    <a:pt x="3311" y="14786"/>
                    <a:pt x="7392" y="14787"/>
                  </a:cubicBezTo>
                  <a:cubicBezTo>
                    <a:pt x="11476" y="14787"/>
                    <a:pt x="14786" y="11477"/>
                    <a:pt x="14786" y="7393"/>
                  </a:cubicBezTo>
                  <a:cubicBezTo>
                    <a:pt x="14786" y="3311"/>
                    <a:pt x="11476" y="1"/>
                    <a:pt x="7393" y="1"/>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643" name="Google Shape;643;p25"/>
            <p:cNvSpPr/>
            <p:nvPr/>
          </p:nvSpPr>
          <p:spPr>
            <a:xfrm>
              <a:off x="6526668" y="2176040"/>
              <a:ext cx="1263414" cy="1263252"/>
            </a:xfrm>
            <a:custGeom>
              <a:avLst/>
              <a:gdLst/>
              <a:ahLst/>
              <a:cxnLst/>
              <a:rect l="l" t="t" r="r" b="b"/>
              <a:pathLst>
                <a:path w="15566" h="15564" extrusionOk="0">
                  <a:moveTo>
                    <a:pt x="7783" y="418"/>
                  </a:moveTo>
                  <a:cubicBezTo>
                    <a:pt x="9750" y="418"/>
                    <a:pt x="11599" y="1185"/>
                    <a:pt x="12989" y="2575"/>
                  </a:cubicBezTo>
                  <a:cubicBezTo>
                    <a:pt x="14380" y="3966"/>
                    <a:pt x="15146" y="5815"/>
                    <a:pt x="15145" y="7781"/>
                  </a:cubicBezTo>
                  <a:cubicBezTo>
                    <a:pt x="15145" y="11841"/>
                    <a:pt x="11842" y="15144"/>
                    <a:pt x="7782" y="15144"/>
                  </a:cubicBezTo>
                  <a:cubicBezTo>
                    <a:pt x="3723" y="15144"/>
                    <a:pt x="420" y="11841"/>
                    <a:pt x="420" y="7781"/>
                  </a:cubicBezTo>
                  <a:cubicBezTo>
                    <a:pt x="420" y="3721"/>
                    <a:pt x="3723" y="418"/>
                    <a:pt x="7783" y="418"/>
                  </a:cubicBezTo>
                  <a:close/>
                  <a:moveTo>
                    <a:pt x="7783" y="0"/>
                  </a:moveTo>
                  <a:cubicBezTo>
                    <a:pt x="3486" y="0"/>
                    <a:pt x="1" y="3483"/>
                    <a:pt x="1" y="7781"/>
                  </a:cubicBezTo>
                  <a:cubicBezTo>
                    <a:pt x="1" y="12080"/>
                    <a:pt x="3485" y="15564"/>
                    <a:pt x="7782" y="15564"/>
                  </a:cubicBezTo>
                  <a:cubicBezTo>
                    <a:pt x="12081" y="15564"/>
                    <a:pt x="15565" y="12080"/>
                    <a:pt x="15565" y="7781"/>
                  </a:cubicBezTo>
                  <a:cubicBezTo>
                    <a:pt x="15566" y="3484"/>
                    <a:pt x="12081" y="0"/>
                    <a:pt x="7783" y="0"/>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644" name="Google Shape;644;p25"/>
            <p:cNvSpPr txBox="1"/>
            <p:nvPr/>
          </p:nvSpPr>
          <p:spPr>
            <a:xfrm>
              <a:off x="6796519" y="2438041"/>
              <a:ext cx="721200" cy="517800"/>
            </a:xfrm>
            <a:prstGeom prst="rect">
              <a:avLst/>
            </a:prstGeom>
            <a:noFill/>
            <a:ln>
              <a:noFill/>
            </a:ln>
          </p:spPr>
          <p:txBody>
            <a:bodyPr spcFirstLastPara="1" wrap="square" lIns="121900" tIns="121900" rIns="121900" bIns="121900" anchor="t" anchorCtr="0">
              <a:noAutofit/>
            </a:bodyPr>
            <a:lstStyle/>
            <a:p>
              <a:pPr algn="ctr">
                <a:lnSpc>
                  <a:spcPct val="115000"/>
                </a:lnSpc>
                <a:spcAft>
                  <a:spcPts val="2133"/>
                </a:spcAft>
              </a:pPr>
              <a:r>
                <a:rPr lang="es" sz="4800" b="1">
                  <a:solidFill>
                    <a:schemeClr val="accent5"/>
                  </a:solidFill>
                  <a:latin typeface="Fira Sans Extra Condensed"/>
                  <a:ea typeface="Fira Sans Extra Condensed"/>
                  <a:cs typeface="Fira Sans Extra Condensed"/>
                  <a:sym typeface="Fira Sans Extra Condensed"/>
                </a:rPr>
                <a:t>05</a:t>
              </a:r>
              <a:endParaRPr sz="4800" b="1">
                <a:solidFill>
                  <a:schemeClr val="accent5"/>
                </a:solidFill>
                <a:latin typeface="Fira Sans Extra Condensed"/>
                <a:ea typeface="Fira Sans Extra Condensed"/>
                <a:cs typeface="Fira Sans Extra Condensed"/>
                <a:sym typeface="Fira Sans Extra Condensed"/>
              </a:endParaRPr>
            </a:p>
          </p:txBody>
        </p:sp>
      </p:grpSp>
      <p:sp>
        <p:nvSpPr>
          <p:cNvPr id="41" name="Title 2"/>
          <p:cNvSpPr>
            <a:spLocks noGrp="1"/>
          </p:cNvSpPr>
          <p:nvPr>
            <p:ph type="title"/>
          </p:nvPr>
        </p:nvSpPr>
        <p:spPr>
          <a:xfrm>
            <a:off x="0" y="1"/>
            <a:ext cx="12192000" cy="711200"/>
          </a:xfrm>
        </p:spPr>
        <p:txBody>
          <a:bodyPr>
            <a:normAutofit/>
          </a:bodyPr>
          <a:lstStyle/>
          <a:p>
            <a:r>
              <a:rPr lang="en-US" sz="3400" b="1" dirty="0"/>
              <a:t>Process of Registration of LLP</a:t>
            </a:r>
            <a:endParaRPr lang="en-IN" altLang="en-US" sz="3400" b="1" dirty="0">
              <a:latin typeface="Times New Roman" panose="02020603050405020304" pitchFamily="18" charset="0"/>
              <a:cs typeface="Times New Roman" panose="02020603050405020304" pitchFamily="18" charset="0"/>
              <a:sym typeface="+mn-ea"/>
            </a:endParaRPr>
          </a:p>
        </p:txBody>
      </p:sp>
    </p:spTree>
    <p:extLst>
      <p:ext uri="{BB962C8B-B14F-4D97-AF65-F5344CB8AC3E}">
        <p14:creationId xmlns:p14="http://schemas.microsoft.com/office/powerpoint/2010/main" val="7332342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9"/>
                                        </p:tgtEl>
                                        <p:attrNameLst>
                                          <p:attrName>style.visibility</p:attrName>
                                        </p:attrNameLst>
                                      </p:cBhvr>
                                      <p:to>
                                        <p:strVal val="visible"/>
                                      </p:to>
                                    </p:set>
                                    <p:animEffect transition="in" filter="wipe(left)">
                                      <p:cBhvr>
                                        <p:cTn id="7" dur="500"/>
                                        <p:tgtEl>
                                          <p:spTgt spid="60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3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1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3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2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18">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62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1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64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6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 grpId="0" animBg="1"/>
      <p:bldP spid="613" grpId="0"/>
      <p:bldP spid="614" grpId="0"/>
      <p:bldP spid="615" grpId="0"/>
      <p:bldP spid="616" grpId="0"/>
      <p:bldP spid="618"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559B8-FFA0-EE44-5AC1-F37C00DD9FDC}"/>
              </a:ext>
            </a:extLst>
          </p:cNvPr>
          <p:cNvSpPr>
            <a:spLocks noGrp="1"/>
          </p:cNvSpPr>
          <p:nvPr>
            <p:ph idx="1"/>
          </p:nvPr>
        </p:nvSpPr>
        <p:spPr>
          <a:xfrm>
            <a:off x="453483" y="1326995"/>
            <a:ext cx="5320214" cy="3326028"/>
          </a:xfrm>
        </p:spPr>
        <p:txBody>
          <a:bodyPr/>
          <a:lstStyle/>
          <a:p>
            <a:r>
              <a:rPr lang="en-US" dirty="0"/>
              <a:t>Obtain Digital Signature Certificate (DSC)</a:t>
            </a:r>
          </a:p>
          <a:p>
            <a:r>
              <a:rPr lang="en-US" dirty="0"/>
              <a:t>Apply for Director Identification Number (DIN)</a:t>
            </a:r>
          </a:p>
          <a:p>
            <a:r>
              <a:rPr lang="en-US" dirty="0"/>
              <a:t>Name Approval</a:t>
            </a:r>
          </a:p>
          <a:p>
            <a:r>
              <a:rPr lang="en-US" dirty="0"/>
              <a:t>Incorporation of LLP</a:t>
            </a:r>
          </a:p>
          <a:p>
            <a:r>
              <a:rPr lang="en-US" dirty="0"/>
              <a:t>File LLP Agreement</a:t>
            </a:r>
          </a:p>
        </p:txBody>
      </p:sp>
      <p:sp>
        <p:nvSpPr>
          <p:cNvPr id="3" name="Title 2">
            <a:extLst>
              <a:ext uri="{FF2B5EF4-FFF2-40B4-BE49-F238E27FC236}">
                <a16:creationId xmlns:a16="http://schemas.microsoft.com/office/drawing/2014/main" id="{2F53653C-2280-3610-6D39-F15417697F76}"/>
              </a:ext>
            </a:extLst>
          </p:cNvPr>
          <p:cNvSpPr>
            <a:spLocks noGrp="1"/>
          </p:cNvSpPr>
          <p:nvPr>
            <p:ph type="title"/>
          </p:nvPr>
        </p:nvSpPr>
        <p:spPr/>
        <p:txBody>
          <a:bodyPr/>
          <a:lstStyle/>
          <a:p>
            <a:r>
              <a:rPr lang="en-US" dirty="0"/>
              <a:t>Process of Registration of LLP</a:t>
            </a:r>
          </a:p>
        </p:txBody>
      </p:sp>
      <p:pic>
        <p:nvPicPr>
          <p:cNvPr id="2050" name="Picture 2" descr="process of forming LLP">
            <a:extLst>
              <a:ext uri="{FF2B5EF4-FFF2-40B4-BE49-F238E27FC236}">
                <a16:creationId xmlns:a16="http://schemas.microsoft.com/office/drawing/2014/main" id="{7C595D4A-52BB-0EB9-E96A-4D6A9EA88D5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1326995"/>
            <a:ext cx="5642517" cy="3326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369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559B8-FFA0-EE44-5AC1-F37C00DD9FDC}"/>
              </a:ext>
            </a:extLst>
          </p:cNvPr>
          <p:cNvSpPr>
            <a:spLocks noGrp="1"/>
          </p:cNvSpPr>
          <p:nvPr>
            <p:ph idx="1"/>
          </p:nvPr>
        </p:nvSpPr>
        <p:spPr/>
        <p:txBody>
          <a:bodyPr/>
          <a:lstStyle/>
          <a:p>
            <a:pPr fontAlgn="base"/>
            <a:r>
              <a:rPr lang="en-US" dirty="0"/>
              <a:t>An LLP functions as a </a:t>
            </a:r>
            <a:r>
              <a:rPr lang="en-US" b="1" dirty="0">
                <a:solidFill>
                  <a:srgbClr val="C00000"/>
                </a:solidFill>
              </a:rPr>
              <a:t>distinct legal entity</a:t>
            </a:r>
            <a:r>
              <a:rPr lang="en-US" dirty="0"/>
              <a:t>, similar to a company. It can enter into contracts and legal proceedings in its name. </a:t>
            </a:r>
          </a:p>
          <a:p>
            <a:pPr fontAlgn="base"/>
            <a:r>
              <a:rPr lang="en-US" dirty="0"/>
              <a:t>An LLP also gives the benefit of </a:t>
            </a:r>
            <a:r>
              <a:rPr lang="en-US" b="1" dirty="0">
                <a:solidFill>
                  <a:srgbClr val="C00000"/>
                </a:solidFill>
              </a:rPr>
              <a:t>perpetual succession </a:t>
            </a:r>
            <a:r>
              <a:rPr lang="en-US" dirty="0"/>
              <a:t>– this means that the partnership continues to exist even if a partner drops out of the business.</a:t>
            </a:r>
          </a:p>
          <a:p>
            <a:pPr fontAlgn="base"/>
            <a:r>
              <a:rPr lang="en-US" b="1" dirty="0">
                <a:solidFill>
                  <a:srgbClr val="C00000"/>
                </a:solidFill>
              </a:rPr>
              <a:t>Partners can add new partners</a:t>
            </a:r>
            <a:r>
              <a:rPr lang="en-US" dirty="0"/>
              <a:t> who can bring more expertise or resources to the business.</a:t>
            </a:r>
          </a:p>
          <a:p>
            <a:pPr fontAlgn="base"/>
            <a:r>
              <a:rPr lang="en-US" dirty="0"/>
              <a:t>Limited Liability Partnerships are </a:t>
            </a:r>
            <a:r>
              <a:rPr lang="en-US" b="1" dirty="0">
                <a:solidFill>
                  <a:srgbClr val="C00000"/>
                </a:solidFill>
              </a:rPr>
              <a:t>ideal forms of business for professionals</a:t>
            </a:r>
            <a:r>
              <a:rPr lang="en-US" dirty="0"/>
              <a:t> who want to start their own practice. For example, many law firms choose to register as LLPs.</a:t>
            </a:r>
          </a:p>
        </p:txBody>
      </p:sp>
      <p:sp>
        <p:nvSpPr>
          <p:cNvPr id="3" name="Title 2">
            <a:extLst>
              <a:ext uri="{FF2B5EF4-FFF2-40B4-BE49-F238E27FC236}">
                <a16:creationId xmlns:a16="http://schemas.microsoft.com/office/drawing/2014/main" id="{2F53653C-2280-3610-6D39-F15417697F76}"/>
              </a:ext>
            </a:extLst>
          </p:cNvPr>
          <p:cNvSpPr>
            <a:spLocks noGrp="1"/>
          </p:cNvSpPr>
          <p:nvPr>
            <p:ph type="title"/>
          </p:nvPr>
        </p:nvSpPr>
        <p:spPr/>
        <p:txBody>
          <a:bodyPr/>
          <a:lstStyle/>
          <a:p>
            <a:r>
              <a:rPr lang="en-US" dirty="0"/>
              <a:t>Benefits of LLP</a:t>
            </a:r>
          </a:p>
        </p:txBody>
      </p:sp>
    </p:spTree>
    <p:extLst>
      <p:ext uri="{BB962C8B-B14F-4D97-AF65-F5344CB8AC3E}">
        <p14:creationId xmlns:p14="http://schemas.microsoft.com/office/powerpoint/2010/main" val="2032381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4E646-D5FA-80E3-B0B4-FCE73286710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857F9F-0002-AB0C-09A4-41CC770EDCE8}"/>
              </a:ext>
            </a:extLst>
          </p:cNvPr>
          <p:cNvSpPr>
            <a:spLocks noGrp="1"/>
          </p:cNvSpPr>
          <p:nvPr>
            <p:ph idx="1"/>
          </p:nvPr>
        </p:nvSpPr>
        <p:spPr/>
        <p:txBody>
          <a:bodyPr/>
          <a:lstStyle/>
          <a:p>
            <a:r>
              <a:rPr lang="en-US" dirty="0"/>
              <a:t>Partners enjoy </a:t>
            </a:r>
            <a:r>
              <a:rPr lang="en-US" b="1" dirty="0">
                <a:solidFill>
                  <a:srgbClr val="C00000"/>
                </a:solidFill>
              </a:rPr>
              <a:t>limited liability</a:t>
            </a:r>
            <a:r>
              <a:rPr lang="en-US" dirty="0"/>
              <a:t>, restricting their financial exposure to their contributed capital. In insolvency cases, only LLP assets are used to settle debts, shielding partners from personal financial obligations. </a:t>
            </a:r>
            <a:r>
              <a:rPr lang="en-US" b="1" dirty="0">
                <a:solidFill>
                  <a:srgbClr val="C00000"/>
                </a:solidFill>
              </a:rPr>
              <a:t>It protects the personal liability of its founders in case of litigation and losses.</a:t>
            </a:r>
          </a:p>
          <a:p>
            <a:r>
              <a:rPr lang="en-US" dirty="0"/>
              <a:t>Forming an </a:t>
            </a:r>
            <a:r>
              <a:rPr lang="en-US" b="1" dirty="0">
                <a:solidFill>
                  <a:srgbClr val="C00000"/>
                </a:solidFill>
              </a:rPr>
              <a:t>LLP is cost-effective</a:t>
            </a:r>
            <a:r>
              <a:rPr lang="en-US" dirty="0"/>
              <a:t> compared to public or private limited companies. You only need to file two statements annually: the Annual Return and the Statement of Accounts and Solvency for the compliance requirements.</a:t>
            </a:r>
          </a:p>
          <a:p>
            <a:r>
              <a:rPr lang="en-US" dirty="0"/>
              <a:t>LLP formation </a:t>
            </a:r>
            <a:r>
              <a:rPr lang="en-US" b="1" dirty="0">
                <a:solidFill>
                  <a:srgbClr val="C00000"/>
                </a:solidFill>
              </a:rPr>
              <a:t>doesn't demand a minimum capital contribution</a:t>
            </a:r>
            <a:r>
              <a:rPr lang="en-US" dirty="0"/>
              <a:t>, offering flexibility to partners.</a:t>
            </a:r>
          </a:p>
        </p:txBody>
      </p:sp>
      <p:sp>
        <p:nvSpPr>
          <p:cNvPr id="3" name="Title 2">
            <a:extLst>
              <a:ext uri="{FF2B5EF4-FFF2-40B4-BE49-F238E27FC236}">
                <a16:creationId xmlns:a16="http://schemas.microsoft.com/office/drawing/2014/main" id="{D25B32DD-17D8-F4B4-E1ED-266A4905D3C9}"/>
              </a:ext>
            </a:extLst>
          </p:cNvPr>
          <p:cNvSpPr>
            <a:spLocks noGrp="1"/>
          </p:cNvSpPr>
          <p:nvPr>
            <p:ph type="title"/>
          </p:nvPr>
        </p:nvSpPr>
        <p:spPr/>
        <p:txBody>
          <a:bodyPr/>
          <a:lstStyle/>
          <a:p>
            <a:r>
              <a:rPr lang="en-US" dirty="0"/>
              <a:t>Benefits of LLP (Cont.)</a:t>
            </a:r>
          </a:p>
        </p:txBody>
      </p:sp>
    </p:spTree>
    <p:extLst>
      <p:ext uri="{BB962C8B-B14F-4D97-AF65-F5344CB8AC3E}">
        <p14:creationId xmlns:p14="http://schemas.microsoft.com/office/powerpoint/2010/main" val="3350760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Private Limited Companies and Public Limited Companies</a:t>
            </a:r>
          </a:p>
        </p:txBody>
      </p:sp>
    </p:spTree>
    <p:extLst>
      <p:ext uri="{BB962C8B-B14F-4D97-AF65-F5344CB8AC3E}">
        <p14:creationId xmlns:p14="http://schemas.microsoft.com/office/powerpoint/2010/main" val="2018023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559B8-FFA0-EE44-5AC1-F37C00DD9FDC}"/>
              </a:ext>
            </a:extLst>
          </p:cNvPr>
          <p:cNvSpPr>
            <a:spLocks noGrp="1"/>
          </p:cNvSpPr>
          <p:nvPr>
            <p:ph idx="1"/>
          </p:nvPr>
        </p:nvSpPr>
        <p:spPr/>
        <p:txBody>
          <a:bodyPr/>
          <a:lstStyle/>
          <a:p>
            <a:r>
              <a:rPr lang="en-US" dirty="0"/>
              <a:t>A private limited company, also known as </a:t>
            </a:r>
            <a:r>
              <a:rPr lang="en-US" b="1" dirty="0">
                <a:solidFill>
                  <a:srgbClr val="C00000"/>
                </a:solidFill>
              </a:rPr>
              <a:t>Pvt Ltd company</a:t>
            </a:r>
            <a:r>
              <a:rPr lang="en-US" b="1" dirty="0"/>
              <a:t>,</a:t>
            </a:r>
            <a:r>
              <a:rPr lang="en-US" dirty="0"/>
              <a:t> is an organization that </a:t>
            </a:r>
            <a:r>
              <a:rPr lang="en-US" b="1" dirty="0">
                <a:solidFill>
                  <a:srgbClr val="C00000"/>
                </a:solidFill>
              </a:rPr>
              <a:t>limits the owners' liability and restricts the ability to transfer its shares</a:t>
            </a:r>
            <a:r>
              <a:rPr lang="en-US" dirty="0"/>
              <a:t>. </a:t>
            </a:r>
          </a:p>
          <a:p>
            <a:r>
              <a:rPr lang="en-US" dirty="0"/>
              <a:t>The </a:t>
            </a:r>
            <a:r>
              <a:rPr lang="en-US" b="1" dirty="0">
                <a:solidFill>
                  <a:srgbClr val="C00000"/>
                </a:solidFill>
              </a:rPr>
              <a:t>maximum number of shareholders is 200</a:t>
            </a:r>
            <a:r>
              <a:rPr lang="en-US" dirty="0"/>
              <a:t>. A private limited company is registered under the </a:t>
            </a:r>
            <a:r>
              <a:rPr lang="en-US" b="1" dirty="0">
                <a:solidFill>
                  <a:srgbClr val="C00000"/>
                </a:solidFill>
              </a:rPr>
              <a:t>Companies Act 2013</a:t>
            </a:r>
            <a:r>
              <a:rPr lang="en-US" dirty="0"/>
              <a:t>.</a:t>
            </a:r>
          </a:p>
          <a:p>
            <a:r>
              <a:rPr lang="en-US" dirty="0"/>
              <a:t>Private limited companies are popular among small and medium-sized businesses (SMEs) due to their </a:t>
            </a:r>
            <a:r>
              <a:rPr lang="en-US" b="1" dirty="0">
                <a:solidFill>
                  <a:srgbClr val="C00000"/>
                </a:solidFill>
              </a:rPr>
              <a:t>flexibility, limited liability protection, and simplicity of ownership control</a:t>
            </a:r>
            <a:r>
              <a:rPr lang="en-US" dirty="0"/>
              <a:t>.</a:t>
            </a:r>
          </a:p>
          <a:p>
            <a:r>
              <a:rPr lang="en-US" dirty="0"/>
              <a:t>Private limited companies have an advantage over public companies in terms of </a:t>
            </a:r>
            <a:r>
              <a:rPr lang="en-US" b="1" dirty="0">
                <a:solidFill>
                  <a:srgbClr val="C00000"/>
                </a:solidFill>
              </a:rPr>
              <a:t>long-term investment, keeping data confidential, operational independence, and flexibility</a:t>
            </a:r>
            <a:r>
              <a:rPr lang="en-US" dirty="0"/>
              <a:t>.</a:t>
            </a:r>
          </a:p>
        </p:txBody>
      </p:sp>
      <p:sp>
        <p:nvSpPr>
          <p:cNvPr id="3" name="Title 2">
            <a:extLst>
              <a:ext uri="{FF2B5EF4-FFF2-40B4-BE49-F238E27FC236}">
                <a16:creationId xmlns:a16="http://schemas.microsoft.com/office/drawing/2014/main" id="{2F53653C-2280-3610-6D39-F15417697F76}"/>
              </a:ext>
            </a:extLst>
          </p:cNvPr>
          <p:cNvSpPr>
            <a:spLocks noGrp="1"/>
          </p:cNvSpPr>
          <p:nvPr>
            <p:ph type="title"/>
          </p:nvPr>
        </p:nvSpPr>
        <p:spPr/>
        <p:txBody>
          <a:bodyPr/>
          <a:lstStyle/>
          <a:p>
            <a:r>
              <a:rPr lang="en-US" dirty="0"/>
              <a:t>Private Limited Companies</a:t>
            </a:r>
          </a:p>
        </p:txBody>
      </p:sp>
    </p:spTree>
    <p:extLst>
      <p:ext uri="{BB962C8B-B14F-4D97-AF65-F5344CB8AC3E}">
        <p14:creationId xmlns:p14="http://schemas.microsoft.com/office/powerpoint/2010/main" val="2732105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559B8-FFA0-EE44-5AC1-F37C00DD9FDC}"/>
              </a:ext>
            </a:extLst>
          </p:cNvPr>
          <p:cNvSpPr>
            <a:spLocks noGrp="1"/>
          </p:cNvSpPr>
          <p:nvPr>
            <p:ph idx="1"/>
          </p:nvPr>
        </p:nvSpPr>
        <p:spPr>
          <a:xfrm>
            <a:off x="156117" y="711202"/>
            <a:ext cx="11786840" cy="5742808"/>
          </a:xfrm>
        </p:spPr>
        <p:txBody>
          <a:bodyPr/>
          <a:lstStyle/>
          <a:p>
            <a:pPr fontAlgn="base"/>
            <a:r>
              <a:rPr lang="en-US" sz="2400" b="1" dirty="0">
                <a:solidFill>
                  <a:srgbClr val="C00000"/>
                </a:solidFill>
              </a:rPr>
              <a:t>Membership</a:t>
            </a:r>
          </a:p>
          <a:p>
            <a:pPr lvl="1" fontAlgn="base"/>
            <a:r>
              <a:rPr lang="en-US" sz="2200" dirty="0"/>
              <a:t>Like any other company, a </a:t>
            </a:r>
            <a:r>
              <a:rPr lang="en-US" sz="2200" b="1" dirty="0">
                <a:solidFill>
                  <a:srgbClr val="C00000"/>
                </a:solidFill>
              </a:rPr>
              <a:t>minimum of 2 shareholders</a:t>
            </a:r>
            <a:r>
              <a:rPr lang="en-US" sz="2200" dirty="0"/>
              <a:t> are required to start such a company. But since it remains a small entity, there is also a </a:t>
            </a:r>
            <a:r>
              <a:rPr lang="en-US" sz="2200" b="1" dirty="0">
                <a:solidFill>
                  <a:srgbClr val="C00000"/>
                </a:solidFill>
              </a:rPr>
              <a:t>maximum</a:t>
            </a:r>
            <a:r>
              <a:rPr lang="en-US" sz="2200" dirty="0"/>
              <a:t> cap on the number of members fixed at </a:t>
            </a:r>
            <a:r>
              <a:rPr lang="en-US" sz="2200" b="1" dirty="0">
                <a:solidFill>
                  <a:srgbClr val="C00000"/>
                </a:solidFill>
              </a:rPr>
              <a:t>200</a:t>
            </a:r>
            <a:r>
              <a:rPr lang="en-US" sz="2200" dirty="0"/>
              <a:t>. </a:t>
            </a:r>
          </a:p>
          <a:p>
            <a:pPr fontAlgn="base"/>
            <a:r>
              <a:rPr lang="en-US" sz="2400" b="1" dirty="0">
                <a:solidFill>
                  <a:srgbClr val="C00000"/>
                </a:solidFill>
              </a:rPr>
              <a:t>Limited Liability Structure</a:t>
            </a:r>
          </a:p>
          <a:p>
            <a:pPr lvl="1" fontAlgn="base"/>
            <a:r>
              <a:rPr lang="en-US" sz="2200" dirty="0"/>
              <a:t>In a private limited company, </a:t>
            </a:r>
            <a:r>
              <a:rPr lang="en-US" sz="2200" b="1" dirty="0">
                <a:solidFill>
                  <a:srgbClr val="C00000"/>
                </a:solidFill>
              </a:rPr>
              <a:t>the liability of each member or shareholder is limited</a:t>
            </a:r>
            <a:r>
              <a:rPr lang="en-US" sz="2200" dirty="0"/>
              <a:t>. Therefore, even in the case of loss under any circumstances, the shareholders are liable to sell their assets for repayment. However, the personal and individual assets of the shareholders are not at risk.</a:t>
            </a:r>
          </a:p>
          <a:p>
            <a:pPr fontAlgn="base"/>
            <a:r>
              <a:rPr lang="en-US" sz="2400" b="1" dirty="0">
                <a:solidFill>
                  <a:srgbClr val="C00000"/>
                </a:solidFill>
              </a:rPr>
              <a:t>Separate Legal Entity</a:t>
            </a:r>
          </a:p>
          <a:p>
            <a:pPr lvl="1" fontAlgn="base"/>
            <a:r>
              <a:rPr lang="en-US" sz="2200" dirty="0"/>
              <a:t>This is a </a:t>
            </a:r>
            <a:r>
              <a:rPr lang="en-US" sz="2200" b="1" dirty="0">
                <a:solidFill>
                  <a:srgbClr val="C00000"/>
                </a:solidFill>
              </a:rPr>
              <a:t>separate legal entity and continues in perpetual succession</a:t>
            </a:r>
            <a:r>
              <a:rPr lang="en-US" sz="2200" dirty="0"/>
              <a:t>. This means that even if all the members die, or the company becomes insolvent or bankrupt, the company still exists in the eyes of the law. The life of the company will be perpetual, not affected by the lives of its shareholders or members unless dissolved by way of resolution.</a:t>
            </a:r>
          </a:p>
          <a:p>
            <a:pPr fontAlgn="base"/>
            <a:r>
              <a:rPr lang="en-US" sz="2400" b="1" dirty="0">
                <a:solidFill>
                  <a:srgbClr val="C00000"/>
                </a:solidFill>
              </a:rPr>
              <a:t>Minimum Paid-Up Capital</a:t>
            </a:r>
          </a:p>
          <a:p>
            <a:pPr lvl="1" fontAlgn="base"/>
            <a:r>
              <a:rPr lang="en-US" sz="2200" dirty="0"/>
              <a:t>A private limited company is required to have and </a:t>
            </a:r>
            <a:r>
              <a:rPr lang="en-US" sz="2200" b="1" dirty="0">
                <a:solidFill>
                  <a:srgbClr val="C00000"/>
                </a:solidFill>
              </a:rPr>
              <a:t>maintain a minimum paid-up capital of ₹1 lakh</a:t>
            </a:r>
            <a:r>
              <a:rPr lang="en-US" sz="2200" dirty="0"/>
              <a:t>.</a:t>
            </a:r>
          </a:p>
        </p:txBody>
      </p:sp>
      <p:sp>
        <p:nvSpPr>
          <p:cNvPr id="3" name="Title 2">
            <a:extLst>
              <a:ext uri="{FF2B5EF4-FFF2-40B4-BE49-F238E27FC236}">
                <a16:creationId xmlns:a16="http://schemas.microsoft.com/office/drawing/2014/main" id="{2F53653C-2280-3610-6D39-F15417697F76}"/>
              </a:ext>
            </a:extLst>
          </p:cNvPr>
          <p:cNvSpPr>
            <a:spLocks noGrp="1"/>
          </p:cNvSpPr>
          <p:nvPr>
            <p:ph type="title"/>
          </p:nvPr>
        </p:nvSpPr>
        <p:spPr/>
        <p:txBody>
          <a:bodyPr/>
          <a:lstStyle/>
          <a:p>
            <a:r>
              <a:rPr lang="en-US" dirty="0"/>
              <a:t>Features of Private Limited Companies</a:t>
            </a:r>
          </a:p>
        </p:txBody>
      </p:sp>
    </p:spTree>
    <p:extLst>
      <p:ext uri="{BB962C8B-B14F-4D97-AF65-F5344CB8AC3E}">
        <p14:creationId xmlns:p14="http://schemas.microsoft.com/office/powerpoint/2010/main" val="858262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559B8-FFA0-EE44-5AC1-F37C00DD9FDC}"/>
              </a:ext>
            </a:extLst>
          </p:cNvPr>
          <p:cNvSpPr>
            <a:spLocks noGrp="1"/>
          </p:cNvSpPr>
          <p:nvPr>
            <p:ph idx="1"/>
          </p:nvPr>
        </p:nvSpPr>
        <p:spPr/>
        <p:txBody>
          <a:bodyPr/>
          <a:lstStyle/>
          <a:p>
            <a:pPr>
              <a:lnSpc>
                <a:spcPct val="100000"/>
              </a:lnSpc>
            </a:pPr>
            <a:r>
              <a:rPr lang="en-US" sz="2400" dirty="0"/>
              <a:t>The Companies Act, 2013 regulates the establishment and working of a public limited company. </a:t>
            </a:r>
          </a:p>
          <a:p>
            <a:pPr>
              <a:lnSpc>
                <a:spcPct val="100000"/>
              </a:lnSpc>
            </a:pPr>
            <a:r>
              <a:rPr lang="en-US" sz="2400" dirty="0"/>
              <a:t>A public limited company </a:t>
            </a:r>
            <a:r>
              <a:rPr lang="en-US" sz="2400" b="1" dirty="0">
                <a:solidFill>
                  <a:srgbClr val="C00000"/>
                </a:solidFill>
              </a:rPr>
              <a:t>offers shares to the general public and has limited liability</a:t>
            </a:r>
            <a:r>
              <a:rPr lang="en-US" sz="2400" dirty="0"/>
              <a:t>. </a:t>
            </a:r>
          </a:p>
          <a:p>
            <a:pPr>
              <a:lnSpc>
                <a:spcPct val="100000"/>
              </a:lnSpc>
            </a:pPr>
            <a:r>
              <a:rPr lang="en-US" sz="2400" dirty="0"/>
              <a:t>Its stock can be acquired by anyone, either privately </a:t>
            </a:r>
            <a:r>
              <a:rPr lang="en-US" sz="2400" b="1" dirty="0">
                <a:solidFill>
                  <a:srgbClr val="C00000"/>
                </a:solidFill>
              </a:rPr>
              <a:t>through Initial Public Offering (IPO) or via trades on the stock market</a:t>
            </a:r>
            <a:r>
              <a:rPr lang="en-US" sz="2400" dirty="0"/>
              <a:t>. </a:t>
            </a:r>
          </a:p>
          <a:p>
            <a:pPr>
              <a:lnSpc>
                <a:spcPct val="100000"/>
              </a:lnSpc>
            </a:pPr>
            <a:r>
              <a:rPr lang="en-US" sz="2400" dirty="0"/>
              <a:t>It is strictly regulated and is required to publish its true financial health to its shareholders.</a:t>
            </a:r>
          </a:p>
          <a:p>
            <a:pPr>
              <a:lnSpc>
                <a:spcPct val="100000"/>
              </a:lnSpc>
            </a:pPr>
            <a:r>
              <a:rPr lang="en-US" sz="2400" b="1" dirty="0">
                <a:solidFill>
                  <a:srgbClr val="C00000"/>
                </a:solidFill>
              </a:rPr>
              <a:t>Public Limited Company is governed by the Companies Act of 2013, which defines it as a company which is not a “private company”, “has a minimum amount of capital as prescribed” and “has a minimum of seven shareholders”.</a:t>
            </a:r>
            <a:r>
              <a:rPr lang="en-US" sz="2400" dirty="0">
                <a:solidFill>
                  <a:srgbClr val="C00000"/>
                </a:solidFill>
              </a:rPr>
              <a:t> </a:t>
            </a:r>
          </a:p>
          <a:p>
            <a:r>
              <a:rPr lang="en-US" sz="2400" dirty="0"/>
              <a:t>Few examples of Public Limited Company are:</a:t>
            </a:r>
          </a:p>
          <a:p>
            <a:pPr lvl="1"/>
            <a:r>
              <a:rPr lang="en-US" sz="2200" b="1" dirty="0">
                <a:solidFill>
                  <a:srgbClr val="C00000"/>
                </a:solidFill>
              </a:rPr>
              <a:t>Indian Oil Corporation Ltd</a:t>
            </a:r>
            <a:r>
              <a:rPr lang="en-US" sz="2200" dirty="0">
                <a:solidFill>
                  <a:srgbClr val="C00000"/>
                </a:solidFill>
              </a:rPr>
              <a:t>, </a:t>
            </a:r>
            <a:r>
              <a:rPr lang="en-US" sz="2200" b="1" dirty="0">
                <a:solidFill>
                  <a:srgbClr val="C00000"/>
                </a:solidFill>
              </a:rPr>
              <a:t>Bharat Petroleum Corporation Ltd</a:t>
            </a:r>
            <a:r>
              <a:rPr lang="en-US" sz="2200" dirty="0">
                <a:solidFill>
                  <a:srgbClr val="C00000"/>
                </a:solidFill>
              </a:rPr>
              <a:t>, </a:t>
            </a:r>
            <a:r>
              <a:rPr lang="en-US" sz="2200" b="1" dirty="0">
                <a:solidFill>
                  <a:srgbClr val="C00000"/>
                </a:solidFill>
              </a:rPr>
              <a:t>State Bank of India, Hindustan Petroleum Corporation Ltd</a:t>
            </a:r>
            <a:r>
              <a:rPr lang="en-US" sz="2200" dirty="0">
                <a:solidFill>
                  <a:srgbClr val="C00000"/>
                </a:solidFill>
              </a:rPr>
              <a:t>, </a:t>
            </a:r>
            <a:r>
              <a:rPr lang="en-US" sz="2200" b="1" dirty="0">
                <a:solidFill>
                  <a:srgbClr val="C00000"/>
                </a:solidFill>
              </a:rPr>
              <a:t>Oil and Natural Gas Corporation Ltd</a:t>
            </a:r>
            <a:endParaRPr lang="en-US" sz="2200" dirty="0">
              <a:solidFill>
                <a:srgbClr val="C00000"/>
              </a:solidFill>
            </a:endParaRPr>
          </a:p>
        </p:txBody>
      </p:sp>
      <p:sp>
        <p:nvSpPr>
          <p:cNvPr id="3" name="Title 2">
            <a:extLst>
              <a:ext uri="{FF2B5EF4-FFF2-40B4-BE49-F238E27FC236}">
                <a16:creationId xmlns:a16="http://schemas.microsoft.com/office/drawing/2014/main" id="{2F53653C-2280-3610-6D39-F15417697F76}"/>
              </a:ext>
            </a:extLst>
          </p:cNvPr>
          <p:cNvSpPr>
            <a:spLocks noGrp="1"/>
          </p:cNvSpPr>
          <p:nvPr>
            <p:ph type="title"/>
          </p:nvPr>
        </p:nvSpPr>
        <p:spPr/>
        <p:txBody>
          <a:bodyPr/>
          <a:lstStyle/>
          <a:p>
            <a:r>
              <a:rPr lang="en-US" dirty="0"/>
              <a:t>Public Limited Companies</a:t>
            </a:r>
          </a:p>
        </p:txBody>
      </p:sp>
    </p:spTree>
    <p:extLst>
      <p:ext uri="{BB962C8B-B14F-4D97-AF65-F5344CB8AC3E}">
        <p14:creationId xmlns:p14="http://schemas.microsoft.com/office/powerpoint/2010/main" val="1628369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559B8-FFA0-EE44-5AC1-F37C00DD9FDC}"/>
              </a:ext>
            </a:extLst>
          </p:cNvPr>
          <p:cNvSpPr>
            <a:spLocks noGrp="1"/>
          </p:cNvSpPr>
          <p:nvPr>
            <p:ph idx="1"/>
          </p:nvPr>
        </p:nvSpPr>
        <p:spPr>
          <a:xfrm>
            <a:off x="131180" y="856526"/>
            <a:ext cx="11929641" cy="5597483"/>
          </a:xfrm>
        </p:spPr>
        <p:txBody>
          <a:bodyPr/>
          <a:lstStyle/>
          <a:p>
            <a:r>
              <a:rPr lang="en-US" b="1" dirty="0">
                <a:solidFill>
                  <a:srgbClr val="C00000"/>
                </a:solidFill>
              </a:rPr>
              <a:t>Separate legal entity: </a:t>
            </a:r>
            <a:r>
              <a:rPr lang="en-US" dirty="0"/>
              <a:t>This is a </a:t>
            </a:r>
            <a:r>
              <a:rPr lang="en-US" b="1" dirty="0">
                <a:solidFill>
                  <a:srgbClr val="C00000"/>
                </a:solidFill>
              </a:rPr>
              <a:t>separate legal entity and continues in perpetual succession</a:t>
            </a:r>
            <a:r>
              <a:rPr lang="en-US" dirty="0"/>
              <a:t>. This means that even if all the members die, or the company becomes insolvent or bankrupt, the company still exists in the eyes of the law.</a:t>
            </a:r>
            <a:endParaRPr lang="en-US" dirty="0">
              <a:solidFill>
                <a:srgbClr val="C00000"/>
              </a:solidFill>
            </a:endParaRPr>
          </a:p>
          <a:p>
            <a:r>
              <a:rPr lang="en-US" b="1" dirty="0">
                <a:solidFill>
                  <a:srgbClr val="C00000"/>
                </a:solidFill>
              </a:rPr>
              <a:t>Easy Transferability: Shares of public limited companies can be easily transferred </a:t>
            </a:r>
            <a:r>
              <a:rPr lang="en-US" dirty="0"/>
              <a:t>by one member to other members.</a:t>
            </a:r>
            <a:endParaRPr lang="en-US" dirty="0">
              <a:solidFill>
                <a:srgbClr val="C00000"/>
              </a:solidFill>
            </a:endParaRPr>
          </a:p>
          <a:p>
            <a:r>
              <a:rPr lang="en-US" b="1" dirty="0">
                <a:solidFill>
                  <a:srgbClr val="C00000"/>
                </a:solidFill>
              </a:rPr>
              <a:t>Name: </a:t>
            </a:r>
            <a:r>
              <a:rPr lang="en-US" dirty="0"/>
              <a:t>In the Public limited company, they add </a:t>
            </a:r>
            <a:r>
              <a:rPr lang="en-US" b="1" dirty="0">
                <a:solidFill>
                  <a:srgbClr val="C00000"/>
                </a:solidFill>
              </a:rPr>
              <a:t>(Ltd.) at the end of the name of a company.</a:t>
            </a:r>
          </a:p>
          <a:p>
            <a:r>
              <a:rPr lang="en-US" b="1" dirty="0">
                <a:solidFill>
                  <a:srgbClr val="C00000"/>
                </a:solidFill>
              </a:rPr>
              <a:t>Number of members</a:t>
            </a:r>
            <a:r>
              <a:rPr lang="en-US" b="1" dirty="0"/>
              <a:t> </a:t>
            </a:r>
            <a:r>
              <a:rPr lang="en-US" dirty="0"/>
              <a:t>There must be </a:t>
            </a:r>
            <a:r>
              <a:rPr lang="en-US" b="1" dirty="0">
                <a:solidFill>
                  <a:srgbClr val="C00000"/>
                </a:solidFill>
              </a:rPr>
              <a:t>7 members</a:t>
            </a:r>
            <a:r>
              <a:rPr lang="en-US" dirty="0"/>
              <a:t> in a Public company, there is </a:t>
            </a:r>
            <a:r>
              <a:rPr lang="en-US" b="1" dirty="0">
                <a:solidFill>
                  <a:srgbClr val="C00000"/>
                </a:solidFill>
              </a:rPr>
              <a:t>no upper or lower limit to this number.</a:t>
            </a:r>
          </a:p>
          <a:p>
            <a:r>
              <a:rPr lang="en-US" b="1" dirty="0">
                <a:solidFill>
                  <a:srgbClr val="C00000"/>
                </a:solidFill>
              </a:rPr>
              <a:t>Prospectus:</a:t>
            </a:r>
            <a:r>
              <a:rPr lang="en-US" b="1" dirty="0"/>
              <a:t> </a:t>
            </a:r>
            <a:r>
              <a:rPr lang="en-US" dirty="0"/>
              <a:t>A prospectus can be </a:t>
            </a:r>
            <a:r>
              <a:rPr lang="en-US" b="1" dirty="0">
                <a:solidFill>
                  <a:srgbClr val="C00000"/>
                </a:solidFill>
              </a:rPr>
              <a:t>issued to invite the public to subscribe to its shares</a:t>
            </a:r>
            <a:r>
              <a:rPr lang="en-US" dirty="0"/>
              <a:t> by registering a public limited company. A prospectus is </a:t>
            </a:r>
            <a:r>
              <a:rPr lang="en-US" b="1" dirty="0">
                <a:solidFill>
                  <a:srgbClr val="C00000"/>
                </a:solidFill>
              </a:rPr>
              <a:t>a statement that contains detailed information about the company as well as the number of shares requested by the company for an IPO or subsequent listing</a:t>
            </a:r>
            <a:r>
              <a:rPr lang="en-US" dirty="0"/>
              <a:t>.</a:t>
            </a:r>
          </a:p>
        </p:txBody>
      </p:sp>
      <p:sp>
        <p:nvSpPr>
          <p:cNvPr id="3" name="Title 2">
            <a:extLst>
              <a:ext uri="{FF2B5EF4-FFF2-40B4-BE49-F238E27FC236}">
                <a16:creationId xmlns:a16="http://schemas.microsoft.com/office/drawing/2014/main" id="{2F53653C-2280-3610-6D39-F15417697F76}"/>
              </a:ext>
            </a:extLst>
          </p:cNvPr>
          <p:cNvSpPr>
            <a:spLocks noGrp="1"/>
          </p:cNvSpPr>
          <p:nvPr>
            <p:ph type="title"/>
          </p:nvPr>
        </p:nvSpPr>
        <p:spPr/>
        <p:txBody>
          <a:bodyPr/>
          <a:lstStyle/>
          <a:p>
            <a:r>
              <a:rPr lang="en-US" dirty="0"/>
              <a:t>Features of Public Limited Companies</a:t>
            </a:r>
          </a:p>
        </p:txBody>
      </p:sp>
    </p:spTree>
    <p:extLst>
      <p:ext uri="{BB962C8B-B14F-4D97-AF65-F5344CB8AC3E}">
        <p14:creationId xmlns:p14="http://schemas.microsoft.com/office/powerpoint/2010/main" val="1407158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559B8-FFA0-EE44-5AC1-F37C00DD9FDC}"/>
              </a:ext>
            </a:extLst>
          </p:cNvPr>
          <p:cNvSpPr>
            <a:spLocks noGrp="1"/>
          </p:cNvSpPr>
          <p:nvPr>
            <p:ph idx="1"/>
          </p:nvPr>
        </p:nvSpPr>
        <p:spPr>
          <a:xfrm>
            <a:off x="131180" y="825190"/>
            <a:ext cx="11929641" cy="5628819"/>
          </a:xfrm>
        </p:spPr>
        <p:txBody>
          <a:bodyPr/>
          <a:lstStyle/>
          <a:p>
            <a:r>
              <a:rPr lang="en-US" sz="2600" b="1" dirty="0">
                <a:solidFill>
                  <a:srgbClr val="C00000"/>
                </a:solidFill>
              </a:rPr>
              <a:t>Borrowing capacity:</a:t>
            </a:r>
            <a:r>
              <a:rPr lang="en-US" sz="2600" dirty="0">
                <a:solidFill>
                  <a:srgbClr val="C00000"/>
                </a:solidFill>
              </a:rPr>
              <a:t> </a:t>
            </a:r>
            <a:r>
              <a:rPr lang="en-US" sz="2600" dirty="0"/>
              <a:t>Public companies have the advantage of being able to </a:t>
            </a:r>
            <a:r>
              <a:rPr lang="en-US" sz="2600" b="1" dirty="0">
                <a:solidFill>
                  <a:srgbClr val="C00000"/>
                </a:solidFill>
              </a:rPr>
              <a:t>borrow money from many sources</a:t>
            </a:r>
            <a:r>
              <a:rPr lang="en-US" sz="2600" dirty="0"/>
              <a:t>. Public companies can issue debts (secured and unsecured) to raise money. It can also issue preference or equity shares to the public. The company can receive financial aid and loans from banks and other financial institutions.</a:t>
            </a:r>
          </a:p>
          <a:p>
            <a:r>
              <a:rPr lang="en-US" sz="2600" b="1" dirty="0">
                <a:solidFill>
                  <a:srgbClr val="C00000"/>
                </a:solidFill>
              </a:rPr>
              <a:t>Voluntary Association: </a:t>
            </a:r>
            <a:r>
              <a:rPr lang="en-US" sz="2600" dirty="0"/>
              <a:t>It’s </a:t>
            </a:r>
            <a:r>
              <a:rPr lang="en-US" sz="2600" b="1" dirty="0">
                <a:solidFill>
                  <a:srgbClr val="C00000"/>
                </a:solidFill>
              </a:rPr>
              <a:t>easy to purchase shares </a:t>
            </a:r>
            <a:r>
              <a:rPr lang="en-US" sz="2600" dirty="0"/>
              <a:t>in a public company, and it’s just as </a:t>
            </a:r>
            <a:r>
              <a:rPr lang="en-US" sz="2600" b="1" dirty="0">
                <a:solidFill>
                  <a:srgbClr val="C00000"/>
                </a:solidFill>
              </a:rPr>
              <a:t>easy to leave the public company</a:t>
            </a:r>
            <a:r>
              <a:rPr lang="en-US" sz="2600" dirty="0"/>
              <a:t>.</a:t>
            </a:r>
          </a:p>
          <a:p>
            <a:r>
              <a:rPr lang="en-US" sz="2600" b="1" dirty="0">
                <a:solidFill>
                  <a:srgbClr val="C00000"/>
                </a:solidFill>
              </a:rPr>
              <a:t>Certificate of Commencement: </a:t>
            </a:r>
            <a:r>
              <a:rPr lang="en-US" sz="2600" dirty="0"/>
              <a:t>This is a vital document that must be obtained by the public company before starting a business. The Certificate of Incorporation is the last document needed for a private company. But, </a:t>
            </a:r>
            <a:r>
              <a:rPr lang="en-US" sz="2600" b="1" dirty="0">
                <a:solidFill>
                  <a:srgbClr val="C00000"/>
                </a:solidFill>
              </a:rPr>
              <a:t>for public companies, both the Certificate of Incorporation and Certificate of Commencement is required</a:t>
            </a:r>
            <a:r>
              <a:rPr lang="en-US" sz="2600" dirty="0"/>
              <a:t>.</a:t>
            </a:r>
          </a:p>
          <a:p>
            <a:r>
              <a:rPr lang="en-US" sz="2600" b="1" dirty="0">
                <a:solidFill>
                  <a:srgbClr val="C00000"/>
                </a:solidFill>
              </a:rPr>
              <a:t>Memorandum of Association: </a:t>
            </a:r>
            <a:r>
              <a:rPr lang="en-US" sz="2600" dirty="0"/>
              <a:t>The MOA, which is an important document for the formation of a public company, is essential. After completing the Articles of Association, a private company can begin its business. But, </a:t>
            </a:r>
            <a:r>
              <a:rPr lang="en-US" sz="2600" b="1" dirty="0">
                <a:solidFill>
                  <a:srgbClr val="C00000"/>
                </a:solidFill>
              </a:rPr>
              <a:t>for a public company, the Memorandum must be submitted along with the company’s registration.</a:t>
            </a:r>
          </a:p>
        </p:txBody>
      </p:sp>
      <p:sp>
        <p:nvSpPr>
          <p:cNvPr id="3" name="Title 2">
            <a:extLst>
              <a:ext uri="{FF2B5EF4-FFF2-40B4-BE49-F238E27FC236}">
                <a16:creationId xmlns:a16="http://schemas.microsoft.com/office/drawing/2014/main" id="{2F53653C-2280-3610-6D39-F15417697F76}"/>
              </a:ext>
            </a:extLst>
          </p:cNvPr>
          <p:cNvSpPr>
            <a:spLocks noGrp="1"/>
          </p:cNvSpPr>
          <p:nvPr>
            <p:ph type="title"/>
          </p:nvPr>
        </p:nvSpPr>
        <p:spPr/>
        <p:txBody>
          <a:bodyPr/>
          <a:lstStyle/>
          <a:p>
            <a:r>
              <a:rPr lang="en-US" dirty="0"/>
              <a:t>Features of Public Limited Companies</a:t>
            </a:r>
          </a:p>
        </p:txBody>
      </p:sp>
    </p:spTree>
    <p:extLst>
      <p:ext uri="{BB962C8B-B14F-4D97-AF65-F5344CB8AC3E}">
        <p14:creationId xmlns:p14="http://schemas.microsoft.com/office/powerpoint/2010/main" val="22522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53653C-2280-3610-6D39-F15417697F76}"/>
              </a:ext>
            </a:extLst>
          </p:cNvPr>
          <p:cNvSpPr>
            <a:spLocks noGrp="1"/>
          </p:cNvSpPr>
          <p:nvPr>
            <p:ph type="title"/>
          </p:nvPr>
        </p:nvSpPr>
        <p:spPr/>
        <p:txBody>
          <a:bodyPr/>
          <a:lstStyle/>
          <a:p>
            <a:r>
              <a:rPr lang="en-US" dirty="0"/>
              <a:t>Private Limited Companies VS Public Limited Companies</a:t>
            </a:r>
          </a:p>
        </p:txBody>
      </p:sp>
      <p:graphicFrame>
        <p:nvGraphicFramePr>
          <p:cNvPr id="4" name="Table 3">
            <a:extLst>
              <a:ext uri="{FF2B5EF4-FFF2-40B4-BE49-F238E27FC236}">
                <a16:creationId xmlns:a16="http://schemas.microsoft.com/office/drawing/2014/main" id="{88194712-4EEC-E93F-8D19-C9A889EE6870}"/>
              </a:ext>
            </a:extLst>
          </p:cNvPr>
          <p:cNvGraphicFramePr>
            <a:graphicFrameLocks noGrp="1"/>
          </p:cNvGraphicFramePr>
          <p:nvPr>
            <p:extLst>
              <p:ext uri="{D42A27DB-BD31-4B8C-83A1-F6EECF244321}">
                <p14:modId xmlns:p14="http://schemas.microsoft.com/office/powerpoint/2010/main" val="126939729"/>
              </p:ext>
            </p:extLst>
          </p:nvPr>
        </p:nvGraphicFramePr>
        <p:xfrm>
          <a:off x="702528" y="719665"/>
          <a:ext cx="9879978" cy="5684607"/>
        </p:xfrm>
        <a:graphic>
          <a:graphicData uri="http://schemas.openxmlformats.org/drawingml/2006/table">
            <a:tbl>
              <a:tblPr firstRow="1" bandRow="1">
                <a:tableStyleId>{5C22544A-7EE6-4342-B048-85BDC9FD1C3A}</a:tableStyleId>
              </a:tblPr>
              <a:tblGrid>
                <a:gridCol w="1867052">
                  <a:extLst>
                    <a:ext uri="{9D8B030D-6E8A-4147-A177-3AD203B41FA5}">
                      <a16:colId xmlns:a16="http://schemas.microsoft.com/office/drawing/2014/main" val="4122127827"/>
                    </a:ext>
                  </a:extLst>
                </a:gridCol>
                <a:gridCol w="3909279">
                  <a:extLst>
                    <a:ext uri="{9D8B030D-6E8A-4147-A177-3AD203B41FA5}">
                      <a16:colId xmlns:a16="http://schemas.microsoft.com/office/drawing/2014/main" val="2796557541"/>
                    </a:ext>
                  </a:extLst>
                </a:gridCol>
                <a:gridCol w="4103647">
                  <a:extLst>
                    <a:ext uri="{9D8B030D-6E8A-4147-A177-3AD203B41FA5}">
                      <a16:colId xmlns:a16="http://schemas.microsoft.com/office/drawing/2014/main" val="1659079330"/>
                    </a:ext>
                  </a:extLst>
                </a:gridCol>
              </a:tblGrid>
              <a:tr h="472527">
                <a:tc>
                  <a:txBody>
                    <a:bodyPr/>
                    <a:lstStyle/>
                    <a:p>
                      <a:endParaRPr lang="en-IN" sz="2200" dirty="0"/>
                    </a:p>
                  </a:txBody>
                  <a:tcPr/>
                </a:tc>
                <a:tc>
                  <a:txBody>
                    <a:bodyPr/>
                    <a:lstStyle/>
                    <a:p>
                      <a:pPr algn="ctr"/>
                      <a:r>
                        <a:rPr lang="en-IN" sz="2200" dirty="0"/>
                        <a:t>Private Limited Company</a:t>
                      </a:r>
                    </a:p>
                  </a:txBody>
                  <a:tcPr/>
                </a:tc>
                <a:tc>
                  <a:txBody>
                    <a:bodyPr/>
                    <a:lstStyle/>
                    <a:p>
                      <a:pPr algn="ctr"/>
                      <a:r>
                        <a:rPr lang="en-IN" sz="2200" dirty="0"/>
                        <a:t>Public Limited Company</a:t>
                      </a:r>
                    </a:p>
                  </a:txBody>
                  <a:tcPr/>
                </a:tc>
                <a:extLst>
                  <a:ext uri="{0D108BD9-81ED-4DB2-BD59-A6C34878D82A}">
                    <a16:rowId xmlns:a16="http://schemas.microsoft.com/office/drawing/2014/main" val="2976004398"/>
                  </a:ext>
                </a:extLst>
              </a:tr>
              <a:tr h="2442849">
                <a:tc>
                  <a:txBody>
                    <a:bodyPr/>
                    <a:lstStyle/>
                    <a:p>
                      <a:r>
                        <a:rPr lang="en-IN" sz="2200" b="1" dirty="0">
                          <a:solidFill>
                            <a:srgbClr val="C00000"/>
                          </a:solidFill>
                        </a:rPr>
                        <a:t>Ownership </a:t>
                      </a:r>
                    </a:p>
                  </a:txBody>
                  <a:tcPr/>
                </a:tc>
                <a:tc>
                  <a:txBody>
                    <a:bodyPr/>
                    <a:lstStyle/>
                    <a:p>
                      <a:pPr algn="just"/>
                      <a:r>
                        <a:rPr lang="en-US" sz="2200" dirty="0"/>
                        <a:t>A private limited company is </a:t>
                      </a:r>
                      <a:r>
                        <a:rPr lang="en-US" sz="2200" b="1" dirty="0">
                          <a:solidFill>
                            <a:srgbClr val="C00000"/>
                          </a:solidFill>
                        </a:rPr>
                        <a:t>privately held and owned by a small group of individuals</a:t>
                      </a:r>
                      <a:r>
                        <a:rPr lang="en-US" sz="2200" dirty="0"/>
                        <a:t> or entities. </a:t>
                      </a:r>
                      <a:r>
                        <a:rPr lang="en-US" sz="2200" b="1" dirty="0">
                          <a:solidFill>
                            <a:srgbClr val="C00000"/>
                          </a:solidFill>
                        </a:rPr>
                        <a:t>The number of shareholders is limited</a:t>
                      </a:r>
                      <a:r>
                        <a:rPr lang="en-US" sz="2200" dirty="0"/>
                        <a:t>, often to a </a:t>
                      </a:r>
                      <a:r>
                        <a:rPr lang="en-US" sz="2200" b="1" dirty="0">
                          <a:solidFill>
                            <a:srgbClr val="C00000"/>
                          </a:solidFill>
                        </a:rPr>
                        <a:t>maximum of 50</a:t>
                      </a:r>
                      <a:r>
                        <a:rPr lang="en-US" sz="2200" dirty="0"/>
                        <a:t>. </a:t>
                      </a:r>
                      <a:r>
                        <a:rPr lang="en-US" sz="2200" b="1" dirty="0">
                          <a:solidFill>
                            <a:srgbClr val="C00000"/>
                          </a:solidFill>
                        </a:rPr>
                        <a:t>Shares of a private company are not traded on the stock exchange</a:t>
                      </a:r>
                      <a:r>
                        <a:rPr lang="en-US" sz="2200" dirty="0"/>
                        <a:t>. </a:t>
                      </a:r>
                      <a:endParaRPr lang="en-IN" sz="2200" dirty="0"/>
                    </a:p>
                  </a:txBody>
                  <a:tcPr/>
                </a:tc>
                <a:tc>
                  <a:txBody>
                    <a:bodyPr/>
                    <a:lstStyle/>
                    <a:p>
                      <a:pPr algn="just"/>
                      <a:r>
                        <a:rPr lang="en-US" sz="2200" dirty="0"/>
                        <a:t>A public company, on the other hand, is </a:t>
                      </a:r>
                      <a:r>
                        <a:rPr lang="en-US" sz="2200" b="1" dirty="0">
                          <a:solidFill>
                            <a:srgbClr val="C00000"/>
                          </a:solidFill>
                        </a:rPr>
                        <a:t>owned by a large number of shareholders and the shares are freely traded on the stock exchange</a:t>
                      </a:r>
                      <a:r>
                        <a:rPr lang="en-US" sz="2200" dirty="0"/>
                        <a:t>. There is </a:t>
                      </a:r>
                      <a:r>
                        <a:rPr lang="en-US" sz="2200" b="1" dirty="0">
                          <a:solidFill>
                            <a:srgbClr val="C00000"/>
                          </a:solidFill>
                        </a:rPr>
                        <a:t>no limit to the number of shareholders in a public company</a:t>
                      </a:r>
                      <a:r>
                        <a:rPr lang="en-US" sz="2200" dirty="0"/>
                        <a:t>.</a:t>
                      </a:r>
                      <a:endParaRPr lang="en-IN" sz="2200" dirty="0"/>
                    </a:p>
                  </a:txBody>
                  <a:tcPr/>
                </a:tc>
                <a:extLst>
                  <a:ext uri="{0D108BD9-81ED-4DB2-BD59-A6C34878D82A}">
                    <a16:rowId xmlns:a16="http://schemas.microsoft.com/office/drawing/2014/main" val="3637854266"/>
                  </a:ext>
                </a:extLst>
              </a:tr>
              <a:tr h="2328337">
                <a:tc>
                  <a:txBody>
                    <a:bodyPr/>
                    <a:lstStyle/>
                    <a:p>
                      <a:r>
                        <a:rPr lang="en-IN" sz="2200" b="1" dirty="0">
                          <a:solidFill>
                            <a:srgbClr val="C00000"/>
                          </a:solidFill>
                        </a:rPr>
                        <a:t>Share Transferability</a:t>
                      </a:r>
                    </a:p>
                  </a:txBody>
                  <a:tcPr/>
                </a:tc>
                <a:tc>
                  <a:txBody>
                    <a:bodyPr/>
                    <a:lstStyle/>
                    <a:p>
                      <a:pPr algn="just"/>
                      <a:r>
                        <a:rPr lang="en-US" sz="2200" dirty="0"/>
                        <a:t>In a private limited company, </a:t>
                      </a:r>
                      <a:r>
                        <a:rPr lang="en-US" sz="2200" b="1" dirty="0">
                          <a:solidFill>
                            <a:srgbClr val="C00000"/>
                          </a:solidFill>
                        </a:rPr>
                        <a:t>the transfer of shares is usually restricted and requires the approval of existing shareholders</a:t>
                      </a:r>
                      <a:r>
                        <a:rPr lang="en-US" sz="2200" dirty="0"/>
                        <a:t>. This restriction helps maintain control over </a:t>
                      </a:r>
                      <a:r>
                        <a:rPr lang="en-IN" sz="2200" dirty="0"/>
                        <a:t>ownership and decision-making.</a:t>
                      </a:r>
                    </a:p>
                  </a:txBody>
                  <a:tcPr/>
                </a:tc>
                <a:tc>
                  <a:txBody>
                    <a:bodyPr/>
                    <a:lstStyle/>
                    <a:p>
                      <a:pPr algn="just"/>
                      <a:r>
                        <a:rPr lang="en-US" sz="2200" dirty="0"/>
                        <a:t>Shares of a public company </a:t>
                      </a:r>
                      <a:r>
                        <a:rPr lang="en-US" sz="2200" b="1" dirty="0">
                          <a:solidFill>
                            <a:srgbClr val="C00000"/>
                          </a:solidFill>
                        </a:rPr>
                        <a:t>can be freely bought and sold on the stock exchange </a:t>
                      </a:r>
                      <a:r>
                        <a:rPr lang="en-US" sz="2200" dirty="0"/>
                        <a:t>without the need for approval from other shareholders. This liquidity makes it easier for investors to enter or exit their positions.</a:t>
                      </a:r>
                      <a:endParaRPr lang="en-IN" sz="2200" dirty="0"/>
                    </a:p>
                  </a:txBody>
                  <a:tcPr/>
                </a:tc>
                <a:extLst>
                  <a:ext uri="{0D108BD9-81ED-4DB2-BD59-A6C34878D82A}">
                    <a16:rowId xmlns:a16="http://schemas.microsoft.com/office/drawing/2014/main" val="1246988824"/>
                  </a:ext>
                </a:extLst>
              </a:tr>
            </a:tbl>
          </a:graphicData>
        </a:graphic>
      </p:graphicFrame>
    </p:spTree>
    <p:extLst>
      <p:ext uri="{BB962C8B-B14F-4D97-AF65-F5344CB8AC3E}">
        <p14:creationId xmlns:p14="http://schemas.microsoft.com/office/powerpoint/2010/main" val="258234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53653C-2280-3610-6D39-F15417697F76}"/>
              </a:ext>
            </a:extLst>
          </p:cNvPr>
          <p:cNvSpPr>
            <a:spLocks noGrp="1"/>
          </p:cNvSpPr>
          <p:nvPr>
            <p:ph type="title"/>
          </p:nvPr>
        </p:nvSpPr>
        <p:spPr/>
        <p:txBody>
          <a:bodyPr/>
          <a:lstStyle/>
          <a:p>
            <a:r>
              <a:rPr lang="en-US" dirty="0"/>
              <a:t>Private Limited Companies VS Public Limited Companies</a:t>
            </a:r>
          </a:p>
        </p:txBody>
      </p:sp>
      <p:graphicFrame>
        <p:nvGraphicFramePr>
          <p:cNvPr id="4" name="Table 3">
            <a:extLst>
              <a:ext uri="{FF2B5EF4-FFF2-40B4-BE49-F238E27FC236}">
                <a16:creationId xmlns:a16="http://schemas.microsoft.com/office/drawing/2014/main" id="{88194712-4EEC-E93F-8D19-C9A889EE6870}"/>
              </a:ext>
            </a:extLst>
          </p:cNvPr>
          <p:cNvGraphicFramePr>
            <a:graphicFrameLocks noGrp="1"/>
          </p:cNvGraphicFramePr>
          <p:nvPr>
            <p:extLst>
              <p:ext uri="{D42A27DB-BD31-4B8C-83A1-F6EECF244321}">
                <p14:modId xmlns:p14="http://schemas.microsoft.com/office/powerpoint/2010/main" val="2116847539"/>
              </p:ext>
            </p:extLst>
          </p:nvPr>
        </p:nvGraphicFramePr>
        <p:xfrm>
          <a:off x="702528" y="719665"/>
          <a:ext cx="9879978" cy="5676331"/>
        </p:xfrm>
        <a:graphic>
          <a:graphicData uri="http://schemas.openxmlformats.org/drawingml/2006/table">
            <a:tbl>
              <a:tblPr firstRow="1" bandRow="1">
                <a:tableStyleId>{5C22544A-7EE6-4342-B048-85BDC9FD1C3A}</a:tableStyleId>
              </a:tblPr>
              <a:tblGrid>
                <a:gridCol w="1519811">
                  <a:extLst>
                    <a:ext uri="{9D8B030D-6E8A-4147-A177-3AD203B41FA5}">
                      <a16:colId xmlns:a16="http://schemas.microsoft.com/office/drawing/2014/main" val="4122127827"/>
                    </a:ext>
                  </a:extLst>
                </a:gridCol>
                <a:gridCol w="3912243">
                  <a:extLst>
                    <a:ext uri="{9D8B030D-6E8A-4147-A177-3AD203B41FA5}">
                      <a16:colId xmlns:a16="http://schemas.microsoft.com/office/drawing/2014/main" val="2796557541"/>
                    </a:ext>
                  </a:extLst>
                </a:gridCol>
                <a:gridCol w="4447924">
                  <a:extLst>
                    <a:ext uri="{9D8B030D-6E8A-4147-A177-3AD203B41FA5}">
                      <a16:colId xmlns:a16="http://schemas.microsoft.com/office/drawing/2014/main" val="1659079330"/>
                    </a:ext>
                  </a:extLst>
                </a:gridCol>
              </a:tblGrid>
              <a:tr h="460953">
                <a:tc>
                  <a:txBody>
                    <a:bodyPr/>
                    <a:lstStyle/>
                    <a:p>
                      <a:endParaRPr lang="en-IN" sz="2200" b="1" dirty="0"/>
                    </a:p>
                  </a:txBody>
                  <a:tcPr/>
                </a:tc>
                <a:tc>
                  <a:txBody>
                    <a:bodyPr/>
                    <a:lstStyle/>
                    <a:p>
                      <a:pPr algn="ctr"/>
                      <a:r>
                        <a:rPr lang="en-IN" sz="2200" dirty="0"/>
                        <a:t>Private Limited Company</a:t>
                      </a:r>
                    </a:p>
                  </a:txBody>
                  <a:tcPr/>
                </a:tc>
                <a:tc>
                  <a:txBody>
                    <a:bodyPr/>
                    <a:lstStyle/>
                    <a:p>
                      <a:pPr algn="ctr"/>
                      <a:r>
                        <a:rPr lang="en-IN" sz="2200" dirty="0"/>
                        <a:t>Public Limited Company</a:t>
                      </a:r>
                    </a:p>
                  </a:txBody>
                  <a:tcPr/>
                </a:tc>
                <a:extLst>
                  <a:ext uri="{0D108BD9-81ED-4DB2-BD59-A6C34878D82A}">
                    <a16:rowId xmlns:a16="http://schemas.microsoft.com/office/drawing/2014/main" val="2976004398"/>
                  </a:ext>
                </a:extLst>
              </a:tr>
              <a:tr h="2441698">
                <a:tc>
                  <a:txBody>
                    <a:bodyPr/>
                    <a:lstStyle/>
                    <a:p>
                      <a:r>
                        <a:rPr lang="en-IN" sz="2200" b="1" dirty="0">
                          <a:solidFill>
                            <a:srgbClr val="C00000"/>
                          </a:solidFill>
                        </a:rPr>
                        <a:t>Capital Raising</a:t>
                      </a:r>
                    </a:p>
                  </a:txBody>
                  <a:tcPr/>
                </a:tc>
                <a:tc>
                  <a:txBody>
                    <a:bodyPr/>
                    <a:lstStyle/>
                    <a:p>
                      <a:pPr algn="just"/>
                      <a:r>
                        <a:rPr lang="en-US" sz="2200" dirty="0"/>
                        <a:t>Private companies typically </a:t>
                      </a:r>
                      <a:r>
                        <a:rPr lang="en-US" sz="2200" b="1" dirty="0">
                          <a:solidFill>
                            <a:srgbClr val="C00000"/>
                          </a:solidFill>
                        </a:rPr>
                        <a:t>raise capital through contributions from a small group of investors, loans, or retained earnings</a:t>
                      </a:r>
                      <a:r>
                        <a:rPr lang="en-US" sz="2200" dirty="0"/>
                        <a:t>. They cannot raise capital by issuing shares to the public.</a:t>
                      </a:r>
                      <a:endParaRPr lang="en-IN" sz="2200" dirty="0"/>
                    </a:p>
                  </a:txBody>
                  <a:tcPr/>
                </a:tc>
                <a:tc>
                  <a:txBody>
                    <a:bodyPr/>
                    <a:lstStyle/>
                    <a:p>
                      <a:pPr algn="just"/>
                      <a:r>
                        <a:rPr lang="en-US" sz="2200" dirty="0"/>
                        <a:t>Public companies can </a:t>
                      </a:r>
                      <a:r>
                        <a:rPr lang="en-US" sz="2200" b="1" dirty="0">
                          <a:solidFill>
                            <a:srgbClr val="C00000"/>
                          </a:solidFill>
                        </a:rPr>
                        <a:t>raise capital by issuing shares to the public through an initial public offering (IPO) </a:t>
                      </a:r>
                      <a:r>
                        <a:rPr lang="en-US" sz="2200" dirty="0"/>
                        <a:t>and subsequent offerings on the stock market. This allows them to access a larger pool of investors and raise substantial funds for expansion.</a:t>
                      </a:r>
                      <a:endParaRPr lang="en-IN" sz="2200" dirty="0"/>
                    </a:p>
                  </a:txBody>
                  <a:tcPr/>
                </a:tc>
                <a:extLst>
                  <a:ext uri="{0D108BD9-81ED-4DB2-BD59-A6C34878D82A}">
                    <a16:rowId xmlns:a16="http://schemas.microsoft.com/office/drawing/2014/main" val="3354787990"/>
                  </a:ext>
                </a:extLst>
              </a:tr>
              <a:tr h="2441698">
                <a:tc>
                  <a:txBody>
                    <a:bodyPr/>
                    <a:lstStyle/>
                    <a:p>
                      <a:r>
                        <a:rPr lang="en-IN" sz="2200" b="1" dirty="0">
                          <a:solidFill>
                            <a:srgbClr val="C00000"/>
                          </a:solidFill>
                        </a:rPr>
                        <a:t>Regulatory Compliance</a:t>
                      </a:r>
                    </a:p>
                  </a:txBody>
                  <a:tcPr/>
                </a:tc>
                <a:tc>
                  <a:txBody>
                    <a:bodyPr/>
                    <a:lstStyle/>
                    <a:p>
                      <a:pPr algn="just"/>
                      <a:r>
                        <a:rPr lang="en-US" sz="2200" dirty="0"/>
                        <a:t>Private companies </a:t>
                      </a:r>
                      <a:r>
                        <a:rPr lang="en-US" sz="2200" b="1" dirty="0">
                          <a:solidFill>
                            <a:srgbClr val="C00000"/>
                          </a:solidFill>
                        </a:rPr>
                        <a:t>usually have less stringent regulatory requirements compared to public companies</a:t>
                      </a:r>
                      <a:r>
                        <a:rPr lang="en-US" sz="2200" dirty="0"/>
                        <a:t>. The reporting and disclosure obligations are generally limited, and they are not required to publish their financial statements for public scrutiny. </a:t>
                      </a:r>
                      <a:endParaRPr lang="en-IN" sz="2200" dirty="0"/>
                    </a:p>
                  </a:txBody>
                  <a:tcPr/>
                </a:tc>
                <a:tc>
                  <a:txBody>
                    <a:bodyPr/>
                    <a:lstStyle/>
                    <a:p>
                      <a:pPr algn="just"/>
                      <a:r>
                        <a:rPr lang="en-US" sz="2200" dirty="0"/>
                        <a:t>Public companies are </a:t>
                      </a:r>
                      <a:r>
                        <a:rPr lang="en-US" sz="2200" b="1" dirty="0">
                          <a:solidFill>
                            <a:srgbClr val="C00000"/>
                          </a:solidFill>
                        </a:rPr>
                        <a:t>subject to more extensive regulatory requirements. They must adhere to strict reporting standards, disclose financial information regularly, and comply with regulations set by the securities exchange</a:t>
                      </a:r>
                      <a:r>
                        <a:rPr lang="en-US" sz="2200" dirty="0"/>
                        <a:t> where their shares are listed. </a:t>
                      </a:r>
                      <a:endParaRPr lang="en-IN" sz="2200" dirty="0"/>
                    </a:p>
                  </a:txBody>
                  <a:tcPr/>
                </a:tc>
                <a:extLst>
                  <a:ext uri="{0D108BD9-81ED-4DB2-BD59-A6C34878D82A}">
                    <a16:rowId xmlns:a16="http://schemas.microsoft.com/office/drawing/2014/main" val="1977404806"/>
                  </a:ext>
                </a:extLst>
              </a:tr>
            </a:tbl>
          </a:graphicData>
        </a:graphic>
      </p:graphicFrame>
    </p:spTree>
    <p:extLst>
      <p:ext uri="{BB962C8B-B14F-4D97-AF65-F5344CB8AC3E}">
        <p14:creationId xmlns:p14="http://schemas.microsoft.com/office/powerpoint/2010/main" val="3667820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53653C-2280-3610-6D39-F15417697F76}"/>
              </a:ext>
            </a:extLst>
          </p:cNvPr>
          <p:cNvSpPr>
            <a:spLocks noGrp="1"/>
          </p:cNvSpPr>
          <p:nvPr>
            <p:ph type="title"/>
          </p:nvPr>
        </p:nvSpPr>
        <p:spPr/>
        <p:txBody>
          <a:bodyPr/>
          <a:lstStyle/>
          <a:p>
            <a:r>
              <a:rPr lang="en-US" dirty="0"/>
              <a:t>LLP VS Company</a:t>
            </a:r>
          </a:p>
        </p:txBody>
      </p:sp>
      <p:graphicFrame>
        <p:nvGraphicFramePr>
          <p:cNvPr id="4" name="Table 3">
            <a:extLst>
              <a:ext uri="{FF2B5EF4-FFF2-40B4-BE49-F238E27FC236}">
                <a16:creationId xmlns:a16="http://schemas.microsoft.com/office/drawing/2014/main" id="{88194712-4EEC-E93F-8D19-C9A889EE6870}"/>
              </a:ext>
            </a:extLst>
          </p:cNvPr>
          <p:cNvGraphicFramePr>
            <a:graphicFrameLocks noGrp="1"/>
          </p:cNvGraphicFramePr>
          <p:nvPr>
            <p:extLst>
              <p:ext uri="{D42A27DB-BD31-4B8C-83A1-F6EECF244321}">
                <p14:modId xmlns:p14="http://schemas.microsoft.com/office/powerpoint/2010/main" val="4069588135"/>
              </p:ext>
            </p:extLst>
          </p:nvPr>
        </p:nvGraphicFramePr>
        <p:xfrm>
          <a:off x="613318" y="928321"/>
          <a:ext cx="11039706" cy="4937219"/>
        </p:xfrm>
        <a:graphic>
          <a:graphicData uri="http://schemas.openxmlformats.org/drawingml/2006/table">
            <a:tbl>
              <a:tblPr firstRow="1" bandRow="1">
                <a:tableStyleId>{5C22544A-7EE6-4342-B048-85BDC9FD1C3A}</a:tableStyleId>
              </a:tblPr>
              <a:tblGrid>
                <a:gridCol w="2252545">
                  <a:extLst>
                    <a:ext uri="{9D8B030D-6E8A-4147-A177-3AD203B41FA5}">
                      <a16:colId xmlns:a16="http://schemas.microsoft.com/office/drawing/2014/main" val="4122127827"/>
                    </a:ext>
                  </a:extLst>
                </a:gridCol>
                <a:gridCol w="4304371">
                  <a:extLst>
                    <a:ext uri="{9D8B030D-6E8A-4147-A177-3AD203B41FA5}">
                      <a16:colId xmlns:a16="http://schemas.microsoft.com/office/drawing/2014/main" val="2796557541"/>
                    </a:ext>
                  </a:extLst>
                </a:gridCol>
                <a:gridCol w="4482790">
                  <a:extLst>
                    <a:ext uri="{9D8B030D-6E8A-4147-A177-3AD203B41FA5}">
                      <a16:colId xmlns:a16="http://schemas.microsoft.com/office/drawing/2014/main" val="1659079330"/>
                    </a:ext>
                  </a:extLst>
                </a:gridCol>
              </a:tblGrid>
              <a:tr h="443977">
                <a:tc>
                  <a:txBody>
                    <a:bodyPr/>
                    <a:lstStyle/>
                    <a:p>
                      <a:endParaRPr lang="en-IN" sz="2200" dirty="0"/>
                    </a:p>
                  </a:txBody>
                  <a:tcPr/>
                </a:tc>
                <a:tc>
                  <a:txBody>
                    <a:bodyPr/>
                    <a:lstStyle/>
                    <a:p>
                      <a:pPr algn="ctr"/>
                      <a:r>
                        <a:rPr lang="en-IN" sz="2200" dirty="0"/>
                        <a:t>LLP</a:t>
                      </a:r>
                    </a:p>
                  </a:txBody>
                  <a:tcPr/>
                </a:tc>
                <a:tc>
                  <a:txBody>
                    <a:bodyPr/>
                    <a:lstStyle/>
                    <a:p>
                      <a:pPr algn="ctr"/>
                      <a:r>
                        <a:rPr lang="en-IN" sz="2200" dirty="0"/>
                        <a:t>Company</a:t>
                      </a:r>
                    </a:p>
                  </a:txBody>
                  <a:tcPr/>
                </a:tc>
                <a:extLst>
                  <a:ext uri="{0D108BD9-81ED-4DB2-BD59-A6C34878D82A}">
                    <a16:rowId xmlns:a16="http://schemas.microsoft.com/office/drawing/2014/main" val="2976004398"/>
                  </a:ext>
                </a:extLst>
              </a:tr>
              <a:tr h="1490495">
                <a:tc>
                  <a:txBody>
                    <a:bodyPr/>
                    <a:lstStyle/>
                    <a:p>
                      <a:r>
                        <a:rPr lang="en-IN" sz="2200" b="1" i="0" kern="1200" dirty="0">
                          <a:solidFill>
                            <a:schemeClr val="dk1"/>
                          </a:solidFill>
                          <a:effectLst/>
                          <a:latin typeface="+mn-lt"/>
                          <a:ea typeface="+mn-ea"/>
                          <a:cs typeface="+mn-cs"/>
                        </a:rPr>
                        <a:t>Definition</a:t>
                      </a:r>
                      <a:r>
                        <a:rPr lang="en-IN" sz="2200" b="1" dirty="0"/>
                        <a:t> </a:t>
                      </a:r>
                    </a:p>
                  </a:txBody>
                  <a:tcPr/>
                </a:tc>
                <a:tc>
                  <a:txBody>
                    <a:bodyPr/>
                    <a:lstStyle/>
                    <a:p>
                      <a:pPr algn="just"/>
                      <a:r>
                        <a:rPr lang="en-US" sz="2200" b="0" i="0" kern="1200" dirty="0">
                          <a:solidFill>
                            <a:schemeClr val="dk1"/>
                          </a:solidFill>
                          <a:effectLst/>
                          <a:latin typeface="+mn-lt"/>
                          <a:ea typeface="+mn-ea"/>
                          <a:cs typeface="+mn-cs"/>
                        </a:rPr>
                        <a:t>A Limited Liability Partnership is a </a:t>
                      </a:r>
                      <a:r>
                        <a:rPr lang="en-US" sz="2200" b="1" i="0" kern="1200" dirty="0">
                          <a:solidFill>
                            <a:srgbClr val="C00000"/>
                          </a:solidFill>
                          <a:effectLst/>
                          <a:latin typeface="+mn-lt"/>
                          <a:ea typeface="+mn-ea"/>
                          <a:cs typeface="+mn-cs"/>
                        </a:rPr>
                        <a:t>hybrid combination having features similar to a partnership firm and liabilities similar to a company</a:t>
                      </a:r>
                      <a:r>
                        <a:rPr lang="en-US" sz="2200" b="0" i="0" kern="1200" dirty="0">
                          <a:solidFill>
                            <a:schemeClr val="dk1"/>
                          </a:solidFill>
                          <a:effectLst/>
                          <a:latin typeface="+mn-lt"/>
                          <a:ea typeface="+mn-ea"/>
                          <a:cs typeface="+mn-cs"/>
                        </a:rPr>
                        <a:t>.</a:t>
                      </a:r>
                      <a:endParaRPr lang="en-IN" sz="2200" dirty="0"/>
                    </a:p>
                  </a:txBody>
                  <a:tcPr/>
                </a:tc>
                <a:tc>
                  <a:txBody>
                    <a:bodyPr/>
                    <a:lstStyle/>
                    <a:p>
                      <a:pPr algn="just"/>
                      <a:r>
                        <a:rPr lang="en-US" sz="2200" b="0" i="0" kern="1200" dirty="0">
                          <a:solidFill>
                            <a:schemeClr val="dk1"/>
                          </a:solidFill>
                          <a:effectLst/>
                          <a:latin typeface="+mn-lt"/>
                          <a:ea typeface="+mn-ea"/>
                          <a:cs typeface="+mn-cs"/>
                        </a:rPr>
                        <a:t>Registered type of </a:t>
                      </a:r>
                      <a:r>
                        <a:rPr lang="en-US" sz="2200" b="1" i="0" kern="1200" dirty="0">
                          <a:solidFill>
                            <a:srgbClr val="C00000"/>
                          </a:solidFill>
                          <a:effectLst/>
                          <a:latin typeface="+mn-lt"/>
                          <a:ea typeface="+mn-ea"/>
                          <a:cs typeface="+mn-cs"/>
                        </a:rPr>
                        <a:t>entity with limited liability to the owners and shareholders</a:t>
                      </a:r>
                      <a:r>
                        <a:rPr lang="en-US" sz="2200" b="0" i="0" kern="1200" dirty="0">
                          <a:solidFill>
                            <a:schemeClr val="dk1"/>
                          </a:solidFill>
                          <a:effectLst/>
                          <a:latin typeface="+mn-lt"/>
                          <a:ea typeface="+mn-ea"/>
                          <a:cs typeface="+mn-cs"/>
                        </a:rPr>
                        <a:t>.</a:t>
                      </a:r>
                      <a:endParaRPr lang="en-IN" sz="2200" dirty="0"/>
                    </a:p>
                  </a:txBody>
                  <a:tcPr/>
                </a:tc>
                <a:extLst>
                  <a:ext uri="{0D108BD9-81ED-4DB2-BD59-A6C34878D82A}">
                    <a16:rowId xmlns:a16="http://schemas.microsoft.com/office/drawing/2014/main" val="3637854266"/>
                  </a:ext>
                </a:extLst>
              </a:tr>
              <a:tr h="792816">
                <a:tc>
                  <a:txBody>
                    <a:bodyPr/>
                    <a:lstStyle/>
                    <a:p>
                      <a:r>
                        <a:rPr lang="en-IN" sz="2200" b="1" i="0" kern="1200" dirty="0">
                          <a:solidFill>
                            <a:schemeClr val="dk1"/>
                          </a:solidFill>
                          <a:effectLst/>
                          <a:latin typeface="+mn-lt"/>
                          <a:ea typeface="+mn-ea"/>
                          <a:cs typeface="+mn-cs"/>
                        </a:rPr>
                        <a:t>Ownership</a:t>
                      </a:r>
                      <a:endParaRPr lang="en-IN" sz="2200" b="1" dirty="0"/>
                    </a:p>
                  </a:txBody>
                  <a:tcPr/>
                </a:tc>
                <a:tc>
                  <a:txBody>
                    <a:bodyPr/>
                    <a:lstStyle/>
                    <a:p>
                      <a:pPr algn="just"/>
                      <a:r>
                        <a:rPr lang="en-IN" sz="2200" b="1" i="0" u="none" strike="noStrike" kern="1200" dirty="0">
                          <a:solidFill>
                            <a:srgbClr val="C00000"/>
                          </a:solidFill>
                          <a:effectLst/>
                          <a:latin typeface="+mn-lt"/>
                          <a:ea typeface="+mn-ea"/>
                          <a:cs typeface="+mn-cs"/>
                        </a:rPr>
                        <a:t>Designated Partners</a:t>
                      </a:r>
                    </a:p>
                  </a:txBody>
                  <a:tcPr/>
                </a:tc>
                <a:tc>
                  <a:txBody>
                    <a:bodyPr/>
                    <a:lstStyle/>
                    <a:p>
                      <a:pPr algn="just"/>
                      <a:r>
                        <a:rPr lang="en-US" sz="2200" b="1" i="0" u="none" strike="noStrike" kern="1200" dirty="0">
                          <a:solidFill>
                            <a:srgbClr val="C00000"/>
                          </a:solidFill>
                          <a:effectLst/>
                          <a:latin typeface="+mn-lt"/>
                          <a:ea typeface="+mn-ea"/>
                          <a:cs typeface="+mn-cs"/>
                        </a:rPr>
                        <a:t>Min 2 Directors</a:t>
                      </a:r>
                    </a:p>
                    <a:p>
                      <a:pPr algn="just"/>
                      <a:r>
                        <a:rPr lang="en-US" sz="2200" b="1" i="0" u="none" strike="noStrike" kern="1200" dirty="0">
                          <a:solidFill>
                            <a:srgbClr val="C00000"/>
                          </a:solidFill>
                          <a:effectLst/>
                          <a:latin typeface="+mn-lt"/>
                          <a:ea typeface="+mn-ea"/>
                          <a:cs typeface="+mn-cs"/>
                        </a:rPr>
                        <a:t>Min 2 Shareholders</a:t>
                      </a:r>
                    </a:p>
                  </a:txBody>
                  <a:tcPr/>
                </a:tc>
                <a:extLst>
                  <a:ext uri="{0D108BD9-81ED-4DB2-BD59-A6C34878D82A}">
                    <a16:rowId xmlns:a16="http://schemas.microsoft.com/office/drawing/2014/main" val="1246988824"/>
                  </a:ext>
                </a:extLst>
              </a:tr>
              <a:tr h="443977">
                <a:tc>
                  <a:txBody>
                    <a:bodyPr/>
                    <a:lstStyle/>
                    <a:p>
                      <a:r>
                        <a:rPr lang="en-IN" sz="2200" b="1" dirty="0"/>
                        <a:t>Liability</a:t>
                      </a:r>
                    </a:p>
                  </a:txBody>
                  <a:tcPr/>
                </a:tc>
                <a:tc>
                  <a:txBody>
                    <a:bodyPr/>
                    <a:lstStyle/>
                    <a:p>
                      <a:pPr algn="just"/>
                      <a:r>
                        <a:rPr lang="en-IN" sz="2200" b="1" i="0" u="none" strike="noStrike" kern="1200" dirty="0">
                          <a:solidFill>
                            <a:srgbClr val="C00000"/>
                          </a:solidFill>
                          <a:effectLst/>
                          <a:latin typeface="+mn-lt"/>
                          <a:ea typeface="+mn-ea"/>
                          <a:cs typeface="+mn-cs"/>
                        </a:rPr>
                        <a:t>Limited</a:t>
                      </a:r>
                    </a:p>
                  </a:txBody>
                  <a:tcPr/>
                </a:tc>
                <a:tc>
                  <a:txBody>
                    <a:bodyPr/>
                    <a:lstStyle/>
                    <a:p>
                      <a:pPr algn="just"/>
                      <a:r>
                        <a:rPr lang="en-US" sz="2200" b="1" i="0" u="none" strike="noStrike" kern="1200" dirty="0">
                          <a:solidFill>
                            <a:srgbClr val="C00000"/>
                          </a:solidFill>
                          <a:effectLst/>
                          <a:latin typeface="+mn-lt"/>
                          <a:ea typeface="+mn-ea"/>
                          <a:cs typeface="+mn-cs"/>
                        </a:rPr>
                        <a:t>Limited</a:t>
                      </a:r>
                    </a:p>
                  </a:txBody>
                  <a:tcPr/>
                </a:tc>
                <a:extLst>
                  <a:ext uri="{0D108BD9-81ED-4DB2-BD59-A6C34878D82A}">
                    <a16:rowId xmlns:a16="http://schemas.microsoft.com/office/drawing/2014/main" val="2595818665"/>
                  </a:ext>
                </a:extLst>
              </a:tr>
              <a:tr h="1141656">
                <a:tc>
                  <a:txBody>
                    <a:bodyPr/>
                    <a:lstStyle/>
                    <a:p>
                      <a:r>
                        <a:rPr lang="en-IN" sz="2200" b="1" i="0" kern="1200" dirty="0">
                          <a:solidFill>
                            <a:schemeClr val="dk1"/>
                          </a:solidFill>
                          <a:effectLst/>
                          <a:latin typeface="+mn-lt"/>
                          <a:ea typeface="+mn-ea"/>
                          <a:cs typeface="+mn-cs"/>
                        </a:rPr>
                        <a:t>Documentation</a:t>
                      </a:r>
                      <a:endParaRPr lang="en-IN" sz="2200" b="1" dirty="0"/>
                    </a:p>
                  </a:txBody>
                  <a:tcPr/>
                </a:tc>
                <a:tc>
                  <a:txBody>
                    <a:bodyPr/>
                    <a:lstStyle/>
                    <a:p>
                      <a:pPr algn="just"/>
                      <a:r>
                        <a:rPr lang="en-IN" sz="2200" b="1" i="0" u="none" strike="noStrike" kern="1200" dirty="0">
                          <a:solidFill>
                            <a:srgbClr val="C00000"/>
                          </a:solidFill>
                          <a:effectLst/>
                          <a:latin typeface="+mn-lt"/>
                          <a:ea typeface="+mn-ea"/>
                          <a:cs typeface="+mn-cs"/>
                        </a:rPr>
                        <a:t>LLP Deed</a:t>
                      </a:r>
                    </a:p>
                    <a:p>
                      <a:pPr algn="just"/>
                      <a:r>
                        <a:rPr lang="en-IN" sz="2200" b="1" i="0" u="none" strike="noStrike" kern="1200" dirty="0">
                          <a:solidFill>
                            <a:srgbClr val="C00000"/>
                          </a:solidFill>
                          <a:effectLst/>
                          <a:latin typeface="+mn-lt"/>
                          <a:ea typeface="+mn-ea"/>
                          <a:cs typeface="+mn-cs"/>
                        </a:rPr>
                        <a:t>Incorporation Certificate</a:t>
                      </a:r>
                    </a:p>
                    <a:p>
                      <a:pPr algn="just"/>
                      <a:endParaRPr lang="en-IN" sz="2200" b="1" i="0" u="none" strike="noStrike" kern="1200" dirty="0">
                        <a:solidFill>
                          <a:srgbClr val="C00000"/>
                        </a:solidFill>
                        <a:effectLst/>
                        <a:latin typeface="+mn-lt"/>
                        <a:ea typeface="+mn-ea"/>
                        <a:cs typeface="+mn-cs"/>
                      </a:endParaRPr>
                    </a:p>
                  </a:txBody>
                  <a:tcPr/>
                </a:tc>
                <a:tc>
                  <a:txBody>
                    <a:bodyPr/>
                    <a:lstStyle/>
                    <a:p>
                      <a:pPr algn="just"/>
                      <a:r>
                        <a:rPr lang="en-IN" sz="2200" b="1" i="0" u="none" strike="noStrike" kern="1200" dirty="0">
                          <a:solidFill>
                            <a:srgbClr val="C00000"/>
                          </a:solidFill>
                          <a:effectLst/>
                          <a:latin typeface="+mn-lt"/>
                          <a:ea typeface="+mn-ea"/>
                          <a:cs typeface="+mn-cs"/>
                        </a:rPr>
                        <a:t>MOA</a:t>
                      </a:r>
                    </a:p>
                    <a:p>
                      <a:pPr algn="just"/>
                      <a:r>
                        <a:rPr lang="en-IN" sz="2200" b="1" i="0" u="none" strike="noStrike" kern="1200" dirty="0">
                          <a:solidFill>
                            <a:srgbClr val="C00000"/>
                          </a:solidFill>
                          <a:effectLst/>
                          <a:latin typeface="+mn-lt"/>
                          <a:ea typeface="+mn-ea"/>
                          <a:cs typeface="+mn-cs"/>
                        </a:rPr>
                        <a:t>AOA</a:t>
                      </a:r>
                    </a:p>
                    <a:p>
                      <a:pPr algn="just"/>
                      <a:r>
                        <a:rPr lang="en-IN" sz="2200" b="1" i="0" u="none" strike="noStrike" kern="1200" dirty="0">
                          <a:solidFill>
                            <a:srgbClr val="C00000"/>
                          </a:solidFill>
                          <a:effectLst/>
                          <a:latin typeface="+mn-lt"/>
                          <a:ea typeface="+mn-ea"/>
                          <a:cs typeface="+mn-cs"/>
                        </a:rPr>
                        <a:t>Incorporation Certificate</a:t>
                      </a:r>
                    </a:p>
                  </a:txBody>
                  <a:tcPr/>
                </a:tc>
                <a:extLst>
                  <a:ext uri="{0D108BD9-81ED-4DB2-BD59-A6C34878D82A}">
                    <a16:rowId xmlns:a16="http://schemas.microsoft.com/office/drawing/2014/main" val="2539242805"/>
                  </a:ext>
                </a:extLst>
              </a:tr>
              <a:tr h="624298">
                <a:tc>
                  <a:txBody>
                    <a:bodyPr/>
                    <a:lstStyle/>
                    <a:p>
                      <a:r>
                        <a:rPr lang="en-IN" sz="2200" b="1" i="0" kern="1200" dirty="0">
                          <a:solidFill>
                            <a:schemeClr val="dk1"/>
                          </a:solidFill>
                          <a:effectLst/>
                          <a:latin typeface="+mn-lt"/>
                          <a:ea typeface="+mn-ea"/>
                          <a:cs typeface="+mn-cs"/>
                        </a:rPr>
                        <a:t>Governance</a:t>
                      </a:r>
                      <a:endParaRPr lang="en-IN" sz="2200" b="1" dirty="0"/>
                    </a:p>
                  </a:txBody>
                  <a:tcPr/>
                </a:tc>
                <a:tc>
                  <a:txBody>
                    <a:bodyPr/>
                    <a:lstStyle/>
                    <a:p>
                      <a:pPr algn="just"/>
                      <a:r>
                        <a:rPr lang="en-IN" sz="2200" b="1" i="0" u="none" strike="noStrike" kern="1200" dirty="0">
                          <a:solidFill>
                            <a:srgbClr val="C00000"/>
                          </a:solidFill>
                          <a:effectLst/>
                          <a:latin typeface="+mn-lt"/>
                          <a:ea typeface="+mn-ea"/>
                          <a:cs typeface="+mn-cs"/>
                        </a:rPr>
                        <a:t>LLP Act, 2008</a:t>
                      </a:r>
                    </a:p>
                  </a:txBody>
                  <a:tcPr/>
                </a:tc>
                <a:tc>
                  <a:txBody>
                    <a:bodyPr/>
                    <a:lstStyle/>
                    <a:p>
                      <a:pPr algn="just"/>
                      <a:r>
                        <a:rPr lang="en-IN" sz="2200" b="1" i="0" u="none" strike="noStrike" kern="1200" dirty="0">
                          <a:solidFill>
                            <a:srgbClr val="C00000"/>
                          </a:solidFill>
                          <a:effectLst/>
                          <a:latin typeface="+mn-lt"/>
                          <a:ea typeface="+mn-ea"/>
                          <a:cs typeface="+mn-cs"/>
                        </a:rPr>
                        <a:t>Companies Act, 2013</a:t>
                      </a:r>
                      <a:endParaRPr lang="en-US" sz="2200" b="1" i="0" u="none" strike="noStrike" kern="1200" dirty="0">
                        <a:solidFill>
                          <a:srgbClr val="C00000"/>
                        </a:solidFill>
                        <a:effectLst/>
                        <a:latin typeface="+mn-lt"/>
                        <a:ea typeface="+mn-ea"/>
                        <a:cs typeface="+mn-cs"/>
                      </a:endParaRPr>
                    </a:p>
                  </a:txBody>
                  <a:tcPr/>
                </a:tc>
                <a:extLst>
                  <a:ext uri="{0D108BD9-81ED-4DB2-BD59-A6C34878D82A}">
                    <a16:rowId xmlns:a16="http://schemas.microsoft.com/office/drawing/2014/main" val="3688171747"/>
                  </a:ext>
                </a:extLst>
              </a:tr>
            </a:tbl>
          </a:graphicData>
        </a:graphic>
      </p:graphicFrame>
    </p:spTree>
    <p:extLst>
      <p:ext uri="{BB962C8B-B14F-4D97-AF65-F5344CB8AC3E}">
        <p14:creationId xmlns:p14="http://schemas.microsoft.com/office/powerpoint/2010/main" val="35064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2553250"/>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5704</TotalTime>
  <Words>4398</Words>
  <Application>Microsoft Office PowerPoint</Application>
  <PresentationFormat>Widescreen</PresentationFormat>
  <Paragraphs>703</Paragraphs>
  <Slides>46</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Roboto Condensed Light</vt:lpstr>
      <vt:lpstr>Times New Roman</vt:lpstr>
      <vt:lpstr>Fira Sans Extra Condensed</vt:lpstr>
      <vt:lpstr>Calibri</vt:lpstr>
      <vt:lpstr>Wingdings 2</vt:lpstr>
      <vt:lpstr>Arial</vt:lpstr>
      <vt:lpstr>Wingdings</vt:lpstr>
      <vt:lpstr>Roboto Condensed</vt:lpstr>
      <vt:lpstr>Wingdings 3</vt:lpstr>
      <vt:lpstr>Office Theme</vt:lpstr>
      <vt:lpstr>Unit-4 Financial Statements of Sole Proprietorship</vt:lpstr>
      <vt:lpstr>PowerPoint Presentation</vt:lpstr>
      <vt:lpstr>Sole Proprietorship</vt:lpstr>
      <vt:lpstr>Meaning of Sole Proprietorship</vt:lpstr>
      <vt:lpstr>Financial Statement</vt:lpstr>
      <vt:lpstr>Meaning of Financial Statement (FS) (નાણાકીય પત્રક)</vt:lpstr>
      <vt:lpstr>Objectives of Financial Statements</vt:lpstr>
      <vt:lpstr>Importance of Financial Statements</vt:lpstr>
      <vt:lpstr>Meaning of Financial Statement/Final Accounts</vt:lpstr>
      <vt:lpstr>Financial Statement/Final Accounts</vt:lpstr>
      <vt:lpstr>Trading Account</vt:lpstr>
      <vt:lpstr>Trading Account</vt:lpstr>
      <vt:lpstr>Dr.        Trading Account of……for the year ended……       Cr.</vt:lpstr>
      <vt:lpstr>Profit and Loss Account</vt:lpstr>
      <vt:lpstr>Dr.        Profit and Loss Account of……for the year ended……       Cr.</vt:lpstr>
      <vt:lpstr>Dr.        Profit and Loss Account of……for the year ended……       Cr.</vt:lpstr>
      <vt:lpstr>Dr.        Profit and Loss Account of……for the year ended……       Cr.</vt:lpstr>
      <vt:lpstr>Balance Sheet</vt:lpstr>
      <vt:lpstr>Characteristics of Balance Sheet</vt:lpstr>
      <vt:lpstr>   Balance Sheet of……as on……       </vt:lpstr>
      <vt:lpstr>   Balance Sheet of……as on……       </vt:lpstr>
      <vt:lpstr>Closing  Adjustment  Entries</vt:lpstr>
      <vt:lpstr>Closing Adjustment Entries</vt:lpstr>
      <vt:lpstr>PowerPoint Presentation</vt:lpstr>
      <vt:lpstr>PowerPoint Presentation</vt:lpstr>
      <vt:lpstr>PowerPoint Presentation</vt:lpstr>
      <vt:lpstr>PowerPoint Presentation</vt:lpstr>
      <vt:lpstr>EXERCISES</vt:lpstr>
      <vt:lpstr>Limited  Liability  Partnership  (LLP)</vt:lpstr>
      <vt:lpstr>Concept of LLP</vt:lpstr>
      <vt:lpstr>Examples of LLP</vt:lpstr>
      <vt:lpstr>Features of LLP</vt:lpstr>
      <vt:lpstr>Process of Registration of LLP</vt:lpstr>
      <vt:lpstr>Process of Registration of LLP</vt:lpstr>
      <vt:lpstr>Benefits of LLP</vt:lpstr>
      <vt:lpstr>Benefits of LLP (Cont.)</vt:lpstr>
      <vt:lpstr>Private Limited Companies and Public Limited Companies</vt:lpstr>
      <vt:lpstr>Private Limited Companies</vt:lpstr>
      <vt:lpstr>Features of Private Limited Companies</vt:lpstr>
      <vt:lpstr>Public Limited Companies</vt:lpstr>
      <vt:lpstr>Features of Public Limited Companies</vt:lpstr>
      <vt:lpstr>Features of Public Limited Companies</vt:lpstr>
      <vt:lpstr>Private Limited Companies VS Public Limited Companies</vt:lpstr>
      <vt:lpstr>Private Limited Companies VS Public Limited Companies</vt:lpstr>
      <vt:lpstr>LLP VS Company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nathani javedsahist</cp:lastModifiedBy>
  <cp:revision>359</cp:revision>
  <dcterms:created xsi:type="dcterms:W3CDTF">2020-05-01T05:09:15Z</dcterms:created>
  <dcterms:modified xsi:type="dcterms:W3CDTF">2026-01-27T04:44:04Z</dcterms:modified>
</cp:coreProperties>
</file>